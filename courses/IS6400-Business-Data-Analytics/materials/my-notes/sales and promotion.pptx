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5"/>
  </p:notesMasterIdLst>
  <p:sldIdLst>
    <p:sldId id="384" r:id="rId4"/>
    <p:sldId id="386" r:id="rId6"/>
    <p:sldId id="389" r:id="rId7"/>
    <p:sldId id="374" r:id="rId8"/>
    <p:sldId id="388" r:id="rId9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D4E1"/>
    <a:srgbClr val="67C94B"/>
    <a:srgbClr val="71AFC9"/>
    <a:srgbClr val="417F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57" d="100"/>
          <a:sy n="157" d="100"/>
        </p:scale>
        <p:origin x="39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gs" Target="tags/tag4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BB1522-D8B8-4EE2-937D-B0D68622BD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1A422E9-A9BF-425C-B04D-4FEF9BD7DB05}" type="slidenum">
              <a:rPr lang="zh-CN" altLang="en-US" sz="1200">
                <a:latin typeface="Calibri" panose="020F050202020403020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1A422E9-A9BF-425C-B04D-4FEF9BD7DB05}" type="slidenum">
              <a:rPr lang="zh-CN" altLang="en-US" sz="1200">
                <a:latin typeface="Calibri" panose="020F050202020403020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1638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B8DF804-B82B-4B07-8316-DA79F39D509E}" type="slidenum">
              <a:rPr lang="zh-CN" altLang="en-US" sz="1200">
                <a:latin typeface="Calibri" panose="020F050202020403020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6042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2145115-A29C-44D8-A835-BB5AEB9FE679}" type="slidenum">
              <a:rPr lang="zh-CN" altLang="en-US" sz="1200">
                <a:latin typeface="Calibri" panose="020F050202020403020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>
    <mc:Choice xmlns:p14="http://schemas.microsoft.com/office/powerpoint/2010/main" Requires="p14">
      <p:transition spd="slow" p14:dur="4400"/>
    </mc:Choice>
    <mc:Fallback>
      <p:transition spd="slow"/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ts val="13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mc:AlternateContent xmlns:mc="http://schemas.openxmlformats.org/markup-compatibility/2006">
    <mc:Choice xmlns:p14="http://schemas.microsoft.com/office/powerpoint/2010/main" Requires="p14">
      <p:transition spd="slow" p14:dur="4400"/>
    </mc:Choice>
    <mc:Fallback>
      <p:transition spd="slow"/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ts val="13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3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762940" y="2481084"/>
            <a:ext cx="6330761" cy="11079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160"/>
          </a:p>
        </p:txBody>
      </p:sp>
      <p:sp>
        <p:nvSpPr>
          <p:cNvPr id="5" name="泪滴形 4"/>
          <p:cNvSpPr/>
          <p:nvPr/>
        </p:nvSpPr>
        <p:spPr>
          <a:xfrm>
            <a:off x="2380388" y="2481084"/>
            <a:ext cx="1252471" cy="1252471"/>
          </a:xfrm>
          <a:prstGeom prst="teardrop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7200" dirty="0"/>
              <a:t>4</a:t>
            </a:r>
            <a:endParaRPr lang="zh-CN" altLang="en-US" sz="7200" dirty="0"/>
          </a:p>
        </p:txBody>
      </p:sp>
      <p:sp>
        <p:nvSpPr>
          <p:cNvPr id="7" name="矩形 2"/>
          <p:cNvSpPr/>
          <p:nvPr/>
        </p:nvSpPr>
        <p:spPr>
          <a:xfrm>
            <a:off x="0" y="6324600"/>
            <a:ext cx="12192000" cy="539751"/>
          </a:xfrm>
          <a:custGeom>
            <a:avLst/>
            <a:gdLst>
              <a:gd name="connsiteX0" fmla="*/ 0 w 9144000"/>
              <a:gd name="connsiteY0" fmla="*/ 0 h 216000"/>
              <a:gd name="connsiteX1" fmla="*/ 9144000 w 9144000"/>
              <a:gd name="connsiteY1" fmla="*/ 0 h 216000"/>
              <a:gd name="connsiteX2" fmla="*/ 9144000 w 9144000"/>
              <a:gd name="connsiteY2" fmla="*/ 216000 h 216000"/>
              <a:gd name="connsiteX3" fmla="*/ 0 w 9144000"/>
              <a:gd name="connsiteY3" fmla="*/ 216000 h 216000"/>
              <a:gd name="connsiteX4" fmla="*/ 0 w 9144000"/>
              <a:gd name="connsiteY4" fmla="*/ 0 h 216000"/>
              <a:gd name="connsiteX0-1" fmla="*/ 0 w 9144000"/>
              <a:gd name="connsiteY0-2" fmla="*/ 113792 h 329792"/>
              <a:gd name="connsiteX1-3" fmla="*/ 9144000 w 9144000"/>
              <a:gd name="connsiteY1-4" fmla="*/ 113792 h 329792"/>
              <a:gd name="connsiteX2-5" fmla="*/ 9144000 w 9144000"/>
              <a:gd name="connsiteY2-6" fmla="*/ 329792 h 329792"/>
              <a:gd name="connsiteX3-7" fmla="*/ 0 w 9144000"/>
              <a:gd name="connsiteY3-8" fmla="*/ 329792 h 329792"/>
              <a:gd name="connsiteX4-9" fmla="*/ 0 w 9144000"/>
              <a:gd name="connsiteY4-10" fmla="*/ 113792 h 329792"/>
              <a:gd name="connsiteX0-11" fmla="*/ 0 w 9144000"/>
              <a:gd name="connsiteY0-12" fmla="*/ 165719 h 381719"/>
              <a:gd name="connsiteX1-13" fmla="*/ 9144000 w 9144000"/>
              <a:gd name="connsiteY1-14" fmla="*/ 165719 h 381719"/>
              <a:gd name="connsiteX2-15" fmla="*/ 9144000 w 9144000"/>
              <a:gd name="connsiteY2-16" fmla="*/ 381719 h 381719"/>
              <a:gd name="connsiteX3-17" fmla="*/ 0 w 9144000"/>
              <a:gd name="connsiteY3-18" fmla="*/ 381719 h 381719"/>
              <a:gd name="connsiteX4-19" fmla="*/ 0 w 9144000"/>
              <a:gd name="connsiteY4-20" fmla="*/ 165719 h 381719"/>
              <a:gd name="connsiteX0-21" fmla="*/ 0 w 9144000"/>
              <a:gd name="connsiteY0-22" fmla="*/ 132628 h 348628"/>
              <a:gd name="connsiteX1-23" fmla="*/ 9144000 w 9144000"/>
              <a:gd name="connsiteY1-24" fmla="*/ 132628 h 348628"/>
              <a:gd name="connsiteX2-25" fmla="*/ 9144000 w 9144000"/>
              <a:gd name="connsiteY2-26" fmla="*/ 348628 h 348628"/>
              <a:gd name="connsiteX3-27" fmla="*/ 0 w 9144000"/>
              <a:gd name="connsiteY3-28" fmla="*/ 348628 h 348628"/>
              <a:gd name="connsiteX4-29" fmla="*/ 0 w 9144000"/>
              <a:gd name="connsiteY4-30" fmla="*/ 132628 h 348628"/>
              <a:gd name="connsiteX0-31" fmla="*/ 0 w 9144000"/>
              <a:gd name="connsiteY0-32" fmla="*/ 119048 h 335048"/>
              <a:gd name="connsiteX1-33" fmla="*/ 9144000 w 9144000"/>
              <a:gd name="connsiteY1-34" fmla="*/ 119048 h 335048"/>
              <a:gd name="connsiteX2-35" fmla="*/ 9144000 w 9144000"/>
              <a:gd name="connsiteY2-36" fmla="*/ 335048 h 335048"/>
              <a:gd name="connsiteX3-37" fmla="*/ 0 w 9144000"/>
              <a:gd name="connsiteY3-38" fmla="*/ 335048 h 335048"/>
              <a:gd name="connsiteX4-39" fmla="*/ 0 w 9144000"/>
              <a:gd name="connsiteY4-40" fmla="*/ 119048 h 335048"/>
              <a:gd name="connsiteX0-41" fmla="*/ 0 w 9144000"/>
              <a:gd name="connsiteY0-42" fmla="*/ 158633 h 374633"/>
              <a:gd name="connsiteX1-43" fmla="*/ 9144000 w 9144000"/>
              <a:gd name="connsiteY1-44" fmla="*/ 158633 h 374633"/>
              <a:gd name="connsiteX2-45" fmla="*/ 9144000 w 9144000"/>
              <a:gd name="connsiteY2-46" fmla="*/ 374633 h 374633"/>
              <a:gd name="connsiteX3-47" fmla="*/ 0 w 9144000"/>
              <a:gd name="connsiteY3-48" fmla="*/ 374633 h 374633"/>
              <a:gd name="connsiteX4-49" fmla="*/ 0 w 9144000"/>
              <a:gd name="connsiteY4-50" fmla="*/ 158633 h 3746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144000" h="374633">
                <a:moveTo>
                  <a:pt x="0" y="158633"/>
                </a:moveTo>
                <a:cubicBezTo>
                  <a:pt x="4165456" y="-109488"/>
                  <a:pt x="5852160" y="12329"/>
                  <a:pt x="9144000" y="158633"/>
                </a:cubicBezTo>
                <a:lnTo>
                  <a:pt x="9144000" y="374633"/>
                </a:lnTo>
                <a:lnTo>
                  <a:pt x="0" y="374633"/>
                </a:lnTo>
                <a:lnTo>
                  <a:pt x="0" y="15863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文本框 27"/>
          <p:cNvSpPr txBox="1"/>
          <p:nvPr/>
        </p:nvSpPr>
        <p:spPr>
          <a:xfrm>
            <a:off x="4192878" y="2645707"/>
            <a:ext cx="494728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Sales and Promotio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n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4" name="Picture 3" descr="C:\Users\Administrator\Desktop\微立体创业计划\002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" y="121920"/>
            <a:ext cx="832273" cy="832273"/>
          </a:xfrm>
          <a:prstGeom prst="rect">
            <a:avLst/>
          </a:prstGeom>
          <a:noFill/>
          <a:effectLst>
            <a:outerShdw blurRad="292100" dist="177800" dir="2460000" sx="99000" sy="99000" algn="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3"/>
          <p:cNvSpPr txBox="1"/>
          <p:nvPr/>
        </p:nvSpPr>
        <p:spPr>
          <a:xfrm>
            <a:off x="0" y="6156113"/>
            <a:ext cx="12191153" cy="674370"/>
          </a:xfrm>
          <a:prstGeom prst="rect">
            <a:avLst/>
          </a:prstGeom>
          <a:noFill/>
        </p:spPr>
        <p:txBody>
          <a:bodyPr wrap="square" lIns="121884" tIns="60941" rIns="121884" bIns="60941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effectLst/>
                <a:latin typeface="+mj-ea"/>
                <a:ea typeface="+mj-ea"/>
              </a:rPr>
              <a:t>your can add a school logo here!</a:t>
            </a:r>
            <a:endParaRPr lang="en-US" altLang="zh-CN" sz="240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istrator\Desktop\微立体创业计划\002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" y="121920"/>
            <a:ext cx="832273" cy="832273"/>
          </a:xfrm>
          <a:prstGeom prst="rect">
            <a:avLst/>
          </a:prstGeom>
          <a:noFill/>
          <a:effectLst>
            <a:outerShdw blurRad="292100" dist="177800" dir="2460000" sx="99000" sy="99000" algn="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1054735" y="237913"/>
            <a:ext cx="10233660" cy="66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735" b="1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Sales Strategies-Online Sales:</a:t>
            </a:r>
            <a:endParaRPr lang="en-US" altLang="zh-CN" sz="3735" b="1" dirty="0">
              <a:solidFill>
                <a:schemeClr val="accent1"/>
              </a:solidFill>
              <a:latin typeface="+mj-ea"/>
              <a:ea typeface="+mj-ea"/>
              <a:sym typeface="+mn-ea"/>
            </a:endParaRPr>
          </a:p>
        </p:txBody>
      </p:sp>
      <p:grpSp>
        <p:nvGrpSpPr>
          <p:cNvPr id="181" name="组合 180"/>
          <p:cNvGrpSpPr/>
          <p:nvPr userDrawn="1"/>
        </p:nvGrpSpPr>
        <p:grpSpPr>
          <a:xfrm>
            <a:off x="1114213" y="983827"/>
            <a:ext cx="10763673" cy="101600"/>
            <a:chOff x="3060700" y="4724400"/>
            <a:chExt cx="5955507" cy="31432"/>
          </a:xfrm>
        </p:grpSpPr>
        <p:cxnSp>
          <p:nvCxnSpPr>
            <p:cNvPr id="182" name="直接连接符 181"/>
            <p:cNvCxnSpPr/>
            <p:nvPr/>
          </p:nvCxnSpPr>
          <p:spPr>
            <a:xfrm>
              <a:off x="3060700" y="4724400"/>
              <a:ext cx="5955507" cy="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/>
            <p:cNvCxnSpPr/>
            <p:nvPr/>
          </p:nvCxnSpPr>
          <p:spPr>
            <a:xfrm>
              <a:off x="3060700" y="4755832"/>
              <a:ext cx="5955507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623147" y="1198033"/>
            <a:ext cx="11051540" cy="5416973"/>
            <a:chOff x="467338" y="913588"/>
            <a:chExt cx="11208725" cy="5395135"/>
          </a:xfrm>
        </p:grpSpPr>
        <p:sp>
          <p:nvSpPr>
            <p:cNvPr id="10" name="矩形 9"/>
            <p:cNvSpPr/>
            <p:nvPr/>
          </p:nvSpPr>
          <p:spPr>
            <a:xfrm>
              <a:off x="467338" y="985345"/>
              <a:ext cx="720000" cy="72000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2" name="矩形: 折角 11"/>
            <p:cNvSpPr/>
            <p:nvPr/>
          </p:nvSpPr>
          <p:spPr>
            <a:xfrm>
              <a:off x="515938" y="1030514"/>
              <a:ext cx="11160125" cy="5278209"/>
            </a:xfrm>
            <a:prstGeom prst="foldedCorner">
              <a:avLst>
                <a:gd name="adj" fmla="val 6190"/>
              </a:avLst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3" name="平行四边形 12"/>
            <p:cNvSpPr/>
            <p:nvPr/>
          </p:nvSpPr>
          <p:spPr>
            <a:xfrm>
              <a:off x="10985500" y="913588"/>
              <a:ext cx="254000" cy="233852"/>
            </a:xfrm>
            <a:prstGeom prst="parallelogram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4" name="平行四边形 13"/>
            <p:cNvSpPr/>
            <p:nvPr/>
          </p:nvSpPr>
          <p:spPr>
            <a:xfrm>
              <a:off x="11275400" y="913588"/>
              <a:ext cx="254000" cy="233852"/>
            </a:xfrm>
            <a:prstGeom prst="parallelogram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1950720" y="1993053"/>
            <a:ext cx="8711353" cy="391837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 fontAlgn="auto">
              <a:lnSpc>
                <a:spcPct val="150000"/>
              </a:lnSpc>
              <a:spcAft>
                <a:spcPts val="1800"/>
              </a:spcAft>
              <a:buFont typeface="Wingdings" panose="05000000000000000000" charset="0"/>
              <a:buChar char="l"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All-in-one APP with location-based next-day delivery; family subscription packages (e.g., 10 boxes/month) with 8% discount + 20% extra Green Energy.</a:t>
            </a: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fontAlgn="auto">
              <a:lnSpc>
                <a:spcPct val="150000"/>
              </a:lnSpc>
              <a:spcAft>
                <a:spcPts val="1800"/>
              </a:spcAft>
              <a:buFont typeface="Wingdings" panose="05000000000000000000" charset="0"/>
              <a:buChar char="l"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Three-tier membership system (Regular/Silver/Gold) with escalating discounts (95%</a:t>
            </a:r>
            <a:r>
              <a:rPr lang="en-US" altLang="en-US">
                <a:latin typeface="微软雅黑" panose="020B0503020204020204" charset="-122"/>
                <a:ea typeface="微软雅黑" panose="020B0503020204020204" charset="-122"/>
              </a:rPr>
              <a:t>→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90%</a:t>
            </a:r>
            <a:r>
              <a:rPr lang="en-US" altLang="en-US">
                <a:latin typeface="微软雅黑" panose="020B0503020204020204" charset="-122"/>
                <a:ea typeface="微软雅黑" panose="020B0503020204020204" charset="-122"/>
              </a:rPr>
              <a:t>→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85% off), point rates (1:1</a:t>
            </a:r>
            <a:r>
              <a:rPr lang="en-US" altLang="en-US">
                <a:latin typeface="微软雅黑" panose="020B0503020204020204" charset="-122"/>
                <a:ea typeface="微软雅黑" panose="020B0503020204020204" charset="-122"/>
              </a:rPr>
              <a:t>→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1:1.5), and exclusive perks.</a:t>
            </a: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fontAlgn="auto">
              <a:lnSpc>
                <a:spcPct val="150000"/>
              </a:lnSpc>
              <a:spcAft>
                <a:spcPts val="1800"/>
              </a:spcAft>
              <a:buFont typeface="Wingdings" panose="05000000000000000000" charset="0"/>
              <a:buChar char="l"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AR-triggered product recommendations (e.g., "mineral water + Tea π" combo) during traceability checks.</a:t>
            </a: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fontAlgn="auto">
              <a:lnSpc>
                <a:spcPct val="150000"/>
              </a:lnSpc>
              <a:spcAft>
                <a:spcPts val="1800"/>
              </a:spcAft>
              <a:buFont typeface="Wingdings" panose="05000000000000000000" charset="0"/>
              <a:buChar char="l"/>
            </a:pP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 rot="10800000">
            <a:off x="1054997" y="1575741"/>
            <a:ext cx="826819" cy="764687"/>
          </a:xfrm>
          <a:custGeom>
            <a:avLst/>
            <a:gdLst/>
            <a:ahLst/>
            <a:cxnLst/>
            <a:rect l="l" t="t" r="r" b="b"/>
            <a:pathLst>
              <a:path w="533451" h="493365">
                <a:moveTo>
                  <a:pt x="335077" y="0"/>
                </a:moveTo>
                <a:lnTo>
                  <a:pt x="533451" y="0"/>
                </a:lnTo>
                <a:lnTo>
                  <a:pt x="533451" y="169594"/>
                </a:lnTo>
                <a:cubicBezTo>
                  <a:pt x="533451" y="261415"/>
                  <a:pt x="522830" y="327539"/>
                  <a:pt x="501588" y="367968"/>
                </a:cubicBezTo>
                <a:cubicBezTo>
                  <a:pt x="472123" y="423472"/>
                  <a:pt x="426213" y="465271"/>
                  <a:pt x="363857" y="493365"/>
                </a:cubicBezTo>
                <a:lnTo>
                  <a:pt x="318632" y="420388"/>
                </a:lnTo>
                <a:cubicBezTo>
                  <a:pt x="355634" y="405313"/>
                  <a:pt x="383215" y="381501"/>
                  <a:pt x="401373" y="348953"/>
                </a:cubicBezTo>
                <a:cubicBezTo>
                  <a:pt x="419532" y="316405"/>
                  <a:pt x="429639" y="271693"/>
                  <a:pt x="431695" y="214819"/>
                </a:cubicBezTo>
                <a:lnTo>
                  <a:pt x="335077" y="214819"/>
                </a:lnTo>
                <a:close/>
                <a:moveTo>
                  <a:pt x="16445" y="0"/>
                </a:moveTo>
                <a:lnTo>
                  <a:pt x="214819" y="0"/>
                </a:lnTo>
                <a:lnTo>
                  <a:pt x="214819" y="169594"/>
                </a:lnTo>
                <a:cubicBezTo>
                  <a:pt x="214819" y="261415"/>
                  <a:pt x="204198" y="327539"/>
                  <a:pt x="182956" y="367968"/>
                </a:cubicBezTo>
                <a:cubicBezTo>
                  <a:pt x="153491" y="423472"/>
                  <a:pt x="107581" y="465271"/>
                  <a:pt x="45225" y="493365"/>
                </a:cubicBezTo>
                <a:lnTo>
                  <a:pt x="0" y="420388"/>
                </a:lnTo>
                <a:cubicBezTo>
                  <a:pt x="37002" y="405313"/>
                  <a:pt x="64583" y="381501"/>
                  <a:pt x="82741" y="348953"/>
                </a:cubicBezTo>
                <a:cubicBezTo>
                  <a:pt x="100900" y="316405"/>
                  <a:pt x="111007" y="271693"/>
                  <a:pt x="113063" y="214819"/>
                </a:cubicBezTo>
                <a:lnTo>
                  <a:pt x="16445" y="214819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alpha val="30000"/>
                </a:schemeClr>
              </a:gs>
            </a:gsLst>
            <a:lin ang="10800000" scaled="1"/>
            <a:tileRect/>
          </a:gradFill>
          <a:ln>
            <a:noFill/>
          </a:ln>
          <a:effectLst>
            <a:outerShdw blurRad="254000" sx="102000" sy="102000" algn="ctr" rotWithShape="0">
              <a:srgbClr val="A92B33">
                <a:alpha val="12000"/>
              </a:srgbClr>
            </a:outerShdw>
          </a:effectLst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noAutofit/>
          </a:bodyPr>
          <a:lstStyle>
            <a:defPPr>
              <a:defRPr lang="zh-CN"/>
            </a:defPPr>
            <a:lvl1pPr algn="ctr">
              <a:defRPr sz="13800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 rot="10800000" flipH="1" flipV="1">
            <a:off x="10521929" y="5595181"/>
            <a:ext cx="826819" cy="764687"/>
          </a:xfrm>
          <a:custGeom>
            <a:avLst/>
            <a:gdLst/>
            <a:ahLst/>
            <a:cxnLst/>
            <a:rect l="l" t="t" r="r" b="b"/>
            <a:pathLst>
              <a:path w="533451" h="493365">
                <a:moveTo>
                  <a:pt x="335077" y="0"/>
                </a:moveTo>
                <a:lnTo>
                  <a:pt x="533451" y="0"/>
                </a:lnTo>
                <a:lnTo>
                  <a:pt x="533451" y="169594"/>
                </a:lnTo>
                <a:cubicBezTo>
                  <a:pt x="533451" y="261415"/>
                  <a:pt x="522830" y="327539"/>
                  <a:pt x="501588" y="367968"/>
                </a:cubicBezTo>
                <a:cubicBezTo>
                  <a:pt x="472123" y="423472"/>
                  <a:pt x="426213" y="465271"/>
                  <a:pt x="363857" y="493365"/>
                </a:cubicBezTo>
                <a:lnTo>
                  <a:pt x="318632" y="420388"/>
                </a:lnTo>
                <a:cubicBezTo>
                  <a:pt x="355634" y="405313"/>
                  <a:pt x="383215" y="381501"/>
                  <a:pt x="401373" y="348953"/>
                </a:cubicBezTo>
                <a:cubicBezTo>
                  <a:pt x="419532" y="316405"/>
                  <a:pt x="429639" y="271693"/>
                  <a:pt x="431695" y="214819"/>
                </a:cubicBezTo>
                <a:lnTo>
                  <a:pt x="335077" y="214819"/>
                </a:lnTo>
                <a:close/>
                <a:moveTo>
                  <a:pt x="16445" y="0"/>
                </a:moveTo>
                <a:lnTo>
                  <a:pt x="214819" y="0"/>
                </a:lnTo>
                <a:lnTo>
                  <a:pt x="214819" y="169594"/>
                </a:lnTo>
                <a:cubicBezTo>
                  <a:pt x="214819" y="261415"/>
                  <a:pt x="204198" y="327539"/>
                  <a:pt x="182956" y="367968"/>
                </a:cubicBezTo>
                <a:cubicBezTo>
                  <a:pt x="153491" y="423472"/>
                  <a:pt x="107581" y="465271"/>
                  <a:pt x="45225" y="493365"/>
                </a:cubicBezTo>
                <a:lnTo>
                  <a:pt x="0" y="420388"/>
                </a:lnTo>
                <a:cubicBezTo>
                  <a:pt x="37002" y="405313"/>
                  <a:pt x="64583" y="381501"/>
                  <a:pt x="82741" y="348953"/>
                </a:cubicBezTo>
                <a:cubicBezTo>
                  <a:pt x="100900" y="316405"/>
                  <a:pt x="111007" y="271693"/>
                  <a:pt x="113063" y="214819"/>
                </a:cubicBezTo>
                <a:lnTo>
                  <a:pt x="16445" y="214819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alpha val="30000"/>
                </a:schemeClr>
              </a:gs>
            </a:gsLst>
            <a:lin ang="10800000" scaled="1"/>
            <a:tileRect/>
          </a:gradFill>
          <a:ln>
            <a:noFill/>
          </a:ln>
          <a:effectLst>
            <a:outerShdw blurRad="254000" sx="102000" sy="102000" algn="ctr" rotWithShape="0">
              <a:srgbClr val="A92B33">
                <a:alpha val="12000"/>
              </a:srgbClr>
            </a:outerShdw>
          </a:effectLst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noAutofit/>
          </a:bodyPr>
          <a:lstStyle>
            <a:defPPr>
              <a:defRPr lang="zh-CN"/>
            </a:defPPr>
            <a:lvl1pPr algn="ctr">
              <a:defRPr sz="13800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istrator\Desktop\微立体创业计划\002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" y="121920"/>
            <a:ext cx="832273" cy="832273"/>
          </a:xfrm>
          <a:prstGeom prst="rect">
            <a:avLst/>
          </a:prstGeom>
          <a:noFill/>
          <a:effectLst>
            <a:outerShdw blurRad="292100" dist="177800" dir="2460000" sx="99000" sy="99000" algn="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1054735" y="237913"/>
            <a:ext cx="10233660" cy="66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735" b="1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Sales Strategies-</a:t>
            </a:r>
            <a:r>
              <a:rPr lang="en-US" altLang="zh-CN" sz="3735" b="1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offline Sales:</a:t>
            </a:r>
            <a:endParaRPr lang="en-US" altLang="zh-CN" sz="3735" b="1" dirty="0">
              <a:solidFill>
                <a:schemeClr val="accent1"/>
              </a:solidFill>
              <a:latin typeface="+mj-ea"/>
              <a:ea typeface="+mj-ea"/>
              <a:sym typeface="+mn-ea"/>
            </a:endParaRPr>
          </a:p>
        </p:txBody>
      </p:sp>
      <p:grpSp>
        <p:nvGrpSpPr>
          <p:cNvPr id="181" name="组合 180"/>
          <p:cNvGrpSpPr/>
          <p:nvPr userDrawn="1"/>
        </p:nvGrpSpPr>
        <p:grpSpPr>
          <a:xfrm>
            <a:off x="1114213" y="983827"/>
            <a:ext cx="10763673" cy="101600"/>
            <a:chOff x="3060700" y="4724400"/>
            <a:chExt cx="5955507" cy="31432"/>
          </a:xfrm>
        </p:grpSpPr>
        <p:cxnSp>
          <p:nvCxnSpPr>
            <p:cNvPr id="182" name="直接连接符 181"/>
            <p:cNvCxnSpPr/>
            <p:nvPr/>
          </p:nvCxnSpPr>
          <p:spPr>
            <a:xfrm>
              <a:off x="3060700" y="4724400"/>
              <a:ext cx="5955507" cy="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/>
            <p:cNvCxnSpPr/>
            <p:nvPr/>
          </p:nvCxnSpPr>
          <p:spPr>
            <a:xfrm>
              <a:off x="3060700" y="4755832"/>
              <a:ext cx="5955507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623147" y="1198033"/>
            <a:ext cx="11051540" cy="5416973"/>
            <a:chOff x="467338" y="913588"/>
            <a:chExt cx="11208725" cy="5395135"/>
          </a:xfrm>
        </p:grpSpPr>
        <p:sp>
          <p:nvSpPr>
            <p:cNvPr id="10" name="矩形 9"/>
            <p:cNvSpPr/>
            <p:nvPr/>
          </p:nvSpPr>
          <p:spPr>
            <a:xfrm>
              <a:off x="467338" y="985345"/>
              <a:ext cx="720000" cy="72000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2" name="矩形: 折角 11"/>
            <p:cNvSpPr/>
            <p:nvPr/>
          </p:nvSpPr>
          <p:spPr>
            <a:xfrm>
              <a:off x="515938" y="1030514"/>
              <a:ext cx="11160125" cy="5278209"/>
            </a:xfrm>
            <a:prstGeom prst="foldedCorner">
              <a:avLst>
                <a:gd name="adj" fmla="val 6190"/>
              </a:avLst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3" name="平行四边形 12"/>
            <p:cNvSpPr/>
            <p:nvPr/>
          </p:nvSpPr>
          <p:spPr>
            <a:xfrm>
              <a:off x="10985500" y="913588"/>
              <a:ext cx="254000" cy="233852"/>
            </a:xfrm>
            <a:prstGeom prst="parallelogram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4" name="平行四边形 13"/>
            <p:cNvSpPr/>
            <p:nvPr/>
          </p:nvSpPr>
          <p:spPr>
            <a:xfrm>
              <a:off x="11275400" y="913588"/>
              <a:ext cx="254000" cy="233852"/>
            </a:xfrm>
            <a:prstGeom prst="parallelogram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1950720" y="1993053"/>
            <a:ext cx="8711353" cy="391837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 fontAlgn="auto">
              <a:lnSpc>
                <a:spcPct val="150000"/>
              </a:lnSpc>
              <a:spcAft>
                <a:spcPts val="1800"/>
              </a:spcAft>
              <a:buFont typeface="Wingdings" panose="05000000000000000000" charset="0"/>
              <a:buChar char="l"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QR codes on retail shelves for 100-point sign-up bonus; post-purchase AR activation drives online repurchases.</a:t>
            </a: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fontAlgn="auto">
              <a:lnSpc>
                <a:spcPct val="150000"/>
              </a:lnSpc>
              <a:spcAft>
                <a:spcPts val="1800"/>
              </a:spcAft>
              <a:buFont typeface="Wingdings" panose="05000000000000000000" charset="0"/>
              <a:buChar char="l"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Recycling point promotions: scan-to-earn points + offline store coupons boost foot traffic.</a:t>
            </a: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 rot="10800000">
            <a:off x="1054997" y="1575741"/>
            <a:ext cx="826819" cy="764687"/>
          </a:xfrm>
          <a:custGeom>
            <a:avLst/>
            <a:gdLst/>
            <a:ahLst/>
            <a:cxnLst/>
            <a:rect l="l" t="t" r="r" b="b"/>
            <a:pathLst>
              <a:path w="533451" h="493365">
                <a:moveTo>
                  <a:pt x="335077" y="0"/>
                </a:moveTo>
                <a:lnTo>
                  <a:pt x="533451" y="0"/>
                </a:lnTo>
                <a:lnTo>
                  <a:pt x="533451" y="169594"/>
                </a:lnTo>
                <a:cubicBezTo>
                  <a:pt x="533451" y="261415"/>
                  <a:pt x="522830" y="327539"/>
                  <a:pt x="501588" y="367968"/>
                </a:cubicBezTo>
                <a:cubicBezTo>
                  <a:pt x="472123" y="423472"/>
                  <a:pt x="426213" y="465271"/>
                  <a:pt x="363857" y="493365"/>
                </a:cubicBezTo>
                <a:lnTo>
                  <a:pt x="318632" y="420388"/>
                </a:lnTo>
                <a:cubicBezTo>
                  <a:pt x="355634" y="405313"/>
                  <a:pt x="383215" y="381501"/>
                  <a:pt x="401373" y="348953"/>
                </a:cubicBezTo>
                <a:cubicBezTo>
                  <a:pt x="419532" y="316405"/>
                  <a:pt x="429639" y="271693"/>
                  <a:pt x="431695" y="214819"/>
                </a:cubicBezTo>
                <a:lnTo>
                  <a:pt x="335077" y="214819"/>
                </a:lnTo>
                <a:close/>
                <a:moveTo>
                  <a:pt x="16445" y="0"/>
                </a:moveTo>
                <a:lnTo>
                  <a:pt x="214819" y="0"/>
                </a:lnTo>
                <a:lnTo>
                  <a:pt x="214819" y="169594"/>
                </a:lnTo>
                <a:cubicBezTo>
                  <a:pt x="214819" y="261415"/>
                  <a:pt x="204198" y="327539"/>
                  <a:pt x="182956" y="367968"/>
                </a:cubicBezTo>
                <a:cubicBezTo>
                  <a:pt x="153491" y="423472"/>
                  <a:pt x="107581" y="465271"/>
                  <a:pt x="45225" y="493365"/>
                </a:cubicBezTo>
                <a:lnTo>
                  <a:pt x="0" y="420388"/>
                </a:lnTo>
                <a:cubicBezTo>
                  <a:pt x="37002" y="405313"/>
                  <a:pt x="64583" y="381501"/>
                  <a:pt x="82741" y="348953"/>
                </a:cubicBezTo>
                <a:cubicBezTo>
                  <a:pt x="100900" y="316405"/>
                  <a:pt x="111007" y="271693"/>
                  <a:pt x="113063" y="214819"/>
                </a:cubicBezTo>
                <a:lnTo>
                  <a:pt x="16445" y="214819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alpha val="30000"/>
                </a:schemeClr>
              </a:gs>
            </a:gsLst>
            <a:lin ang="10800000" scaled="1"/>
            <a:tileRect/>
          </a:gradFill>
          <a:ln>
            <a:noFill/>
          </a:ln>
          <a:effectLst>
            <a:outerShdw blurRad="254000" sx="102000" sy="102000" algn="ctr" rotWithShape="0">
              <a:srgbClr val="A92B33">
                <a:alpha val="12000"/>
              </a:srgbClr>
            </a:outerShdw>
          </a:effectLst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noAutofit/>
          </a:bodyPr>
          <a:lstStyle>
            <a:defPPr>
              <a:defRPr lang="zh-CN"/>
            </a:defPPr>
            <a:lvl1pPr algn="ctr">
              <a:defRPr sz="13800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 rot="10800000" flipH="1" flipV="1">
            <a:off x="10521929" y="5595181"/>
            <a:ext cx="826819" cy="764687"/>
          </a:xfrm>
          <a:custGeom>
            <a:avLst/>
            <a:gdLst/>
            <a:ahLst/>
            <a:cxnLst/>
            <a:rect l="l" t="t" r="r" b="b"/>
            <a:pathLst>
              <a:path w="533451" h="493365">
                <a:moveTo>
                  <a:pt x="335077" y="0"/>
                </a:moveTo>
                <a:lnTo>
                  <a:pt x="533451" y="0"/>
                </a:lnTo>
                <a:lnTo>
                  <a:pt x="533451" y="169594"/>
                </a:lnTo>
                <a:cubicBezTo>
                  <a:pt x="533451" y="261415"/>
                  <a:pt x="522830" y="327539"/>
                  <a:pt x="501588" y="367968"/>
                </a:cubicBezTo>
                <a:cubicBezTo>
                  <a:pt x="472123" y="423472"/>
                  <a:pt x="426213" y="465271"/>
                  <a:pt x="363857" y="493365"/>
                </a:cubicBezTo>
                <a:lnTo>
                  <a:pt x="318632" y="420388"/>
                </a:lnTo>
                <a:cubicBezTo>
                  <a:pt x="355634" y="405313"/>
                  <a:pt x="383215" y="381501"/>
                  <a:pt x="401373" y="348953"/>
                </a:cubicBezTo>
                <a:cubicBezTo>
                  <a:pt x="419532" y="316405"/>
                  <a:pt x="429639" y="271693"/>
                  <a:pt x="431695" y="214819"/>
                </a:cubicBezTo>
                <a:lnTo>
                  <a:pt x="335077" y="214819"/>
                </a:lnTo>
                <a:close/>
                <a:moveTo>
                  <a:pt x="16445" y="0"/>
                </a:moveTo>
                <a:lnTo>
                  <a:pt x="214819" y="0"/>
                </a:lnTo>
                <a:lnTo>
                  <a:pt x="214819" y="169594"/>
                </a:lnTo>
                <a:cubicBezTo>
                  <a:pt x="214819" y="261415"/>
                  <a:pt x="204198" y="327539"/>
                  <a:pt x="182956" y="367968"/>
                </a:cubicBezTo>
                <a:cubicBezTo>
                  <a:pt x="153491" y="423472"/>
                  <a:pt x="107581" y="465271"/>
                  <a:pt x="45225" y="493365"/>
                </a:cubicBezTo>
                <a:lnTo>
                  <a:pt x="0" y="420388"/>
                </a:lnTo>
                <a:cubicBezTo>
                  <a:pt x="37002" y="405313"/>
                  <a:pt x="64583" y="381501"/>
                  <a:pt x="82741" y="348953"/>
                </a:cubicBezTo>
                <a:cubicBezTo>
                  <a:pt x="100900" y="316405"/>
                  <a:pt x="111007" y="271693"/>
                  <a:pt x="113063" y="214819"/>
                </a:cubicBezTo>
                <a:lnTo>
                  <a:pt x="16445" y="214819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alpha val="30000"/>
                </a:schemeClr>
              </a:gs>
            </a:gsLst>
            <a:lin ang="10800000" scaled="1"/>
            <a:tileRect/>
          </a:gradFill>
          <a:ln>
            <a:noFill/>
          </a:ln>
          <a:effectLst>
            <a:outerShdw blurRad="254000" sx="102000" sy="102000" algn="ctr" rotWithShape="0">
              <a:srgbClr val="A92B33">
                <a:alpha val="12000"/>
              </a:srgbClr>
            </a:outerShdw>
          </a:effectLst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noAutofit/>
          </a:bodyPr>
          <a:lstStyle>
            <a:defPPr>
              <a:defRPr lang="zh-CN"/>
            </a:defPPr>
            <a:lvl1pPr algn="ctr">
              <a:defRPr sz="13800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6"/>
          <p:cNvSpPr txBox="1"/>
          <p:nvPr/>
        </p:nvSpPr>
        <p:spPr>
          <a:xfrm>
            <a:off x="623570" y="1052830"/>
            <a:ext cx="11254105" cy="55162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 algn="l" defTabSz="683895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  <a:defRPr/>
            </a:pPr>
            <a:r>
              <a:rPr lang="en-US" altLang="zh-CN" sz="2400" dirty="0">
                <a:latin typeface="+mj-ea"/>
                <a:ea typeface="+mj-ea"/>
              </a:rPr>
              <a:t>Brand Collaborations:</a:t>
            </a:r>
            <a:endParaRPr lang="en-US" altLang="zh-CN" sz="2400" dirty="0">
              <a:latin typeface="+mj-ea"/>
              <a:ea typeface="+mj-ea"/>
            </a:endParaRPr>
          </a:p>
          <a:p>
            <a:pPr indent="0" algn="l" defTabSz="683895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/>
            </a:pPr>
            <a:r>
              <a:rPr lang="en-US" altLang="zh-CN" sz="1600" dirty="0">
                <a:latin typeface="+mj-ea"/>
                <a:ea typeface="+mj-ea"/>
                <a:sym typeface="+mn-ea"/>
              </a:rPr>
              <a:t>Health partnerships (Keep, Bohe Health) with "Exercise + Hydration" challenges and double points.</a:t>
            </a:r>
            <a:endParaRPr lang="en-US" altLang="zh-CN" sz="1600" dirty="0">
              <a:latin typeface="+mj-ea"/>
              <a:ea typeface="+mj-ea"/>
            </a:endParaRPr>
          </a:p>
          <a:p>
            <a:pPr indent="0" algn="l" defTabSz="683895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/>
            </a:pPr>
            <a:r>
              <a:rPr lang="en-US" altLang="zh-CN" sz="1600" dirty="0">
                <a:latin typeface="+mj-ea"/>
                <a:ea typeface="+mj-ea"/>
                <a:sym typeface="+mn-ea"/>
              </a:rPr>
              <a:t>WWF co-branded packaging and "Million Empty Bottle Plan" (1M yuan donation for river protection).</a:t>
            </a:r>
            <a:endParaRPr lang="en-US" altLang="zh-CN" sz="2400" dirty="0">
              <a:latin typeface="+mj-ea"/>
              <a:ea typeface="+mj-ea"/>
            </a:endParaRPr>
          </a:p>
          <a:p>
            <a:pPr marL="285750" indent="-285750" algn="l" defTabSz="683895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  <a:defRPr/>
            </a:pPr>
            <a:r>
              <a:rPr lang="en-US" altLang="zh-CN" sz="2400" dirty="0">
                <a:latin typeface="+mj-ea"/>
                <a:ea typeface="+mj-ea"/>
              </a:rPr>
              <a:t>Social Campaigns:</a:t>
            </a:r>
            <a:endParaRPr lang="en-US" altLang="zh-CN" sz="2400" dirty="0">
              <a:latin typeface="+mj-ea"/>
              <a:ea typeface="+mj-ea"/>
            </a:endParaRPr>
          </a:p>
          <a:p>
            <a:pPr indent="0" algn="l" defTabSz="683895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/>
            </a:pPr>
            <a:r>
              <a:rPr lang="en-US" altLang="zh-CN" sz="1600" dirty="0">
                <a:latin typeface="+mj-ea"/>
                <a:ea typeface="+mj-ea"/>
              </a:rPr>
              <a:t>KOL-driven #MyWaterTraceabilityDiary# challenge with point rewards for top content.</a:t>
            </a:r>
            <a:endParaRPr lang="en-US" altLang="zh-CN" sz="1600" dirty="0">
              <a:latin typeface="+mj-ea"/>
              <a:ea typeface="+mj-ea"/>
            </a:endParaRPr>
          </a:p>
          <a:p>
            <a:pPr indent="0" algn="l" defTabSz="683895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/>
            </a:pPr>
            <a:r>
              <a:rPr lang="en-US" altLang="zh-CN" sz="1600" dirty="0">
                <a:latin typeface="+mj-ea"/>
                <a:ea typeface="+mj-ea"/>
              </a:rPr>
              <a:t>Referral program (500 points for both parties); new users get 5-yuan coupon + custom cup via social share.</a:t>
            </a:r>
            <a:endParaRPr lang="en-US" altLang="zh-CN" sz="1600" dirty="0">
              <a:latin typeface="+mj-ea"/>
              <a:ea typeface="+mj-ea"/>
            </a:endParaRPr>
          </a:p>
          <a:p>
            <a:pPr marL="285750" indent="-285750" algn="l" defTabSz="683895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  <a:defRPr/>
            </a:pPr>
            <a:r>
              <a:rPr lang="en-US" altLang="zh-CN" sz="2400" dirty="0">
                <a:latin typeface="+mj-ea"/>
                <a:ea typeface="+mj-ea"/>
              </a:rPr>
              <a:t>Targeted Advertising:</a:t>
            </a:r>
            <a:endParaRPr lang="en-US" altLang="zh-CN" sz="2400" dirty="0">
              <a:latin typeface="+mj-ea"/>
              <a:ea typeface="+mj-ea"/>
            </a:endParaRPr>
          </a:p>
          <a:p>
            <a:pPr indent="0" algn="l" defTabSz="683895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/>
            </a:pPr>
            <a:r>
              <a:rPr lang="en-US" altLang="zh-CN" sz="1600" dirty="0">
                <a:latin typeface="+mj-ea"/>
                <a:ea typeface="+mj-ea"/>
              </a:rPr>
              <a:t>Outdoor AR screens in business districts; subway/elevator ads highlighting "scan to see water source".</a:t>
            </a:r>
            <a:endParaRPr lang="en-US" altLang="zh-CN" sz="1600" dirty="0">
              <a:latin typeface="+mj-ea"/>
              <a:ea typeface="+mj-ea"/>
            </a:endParaRPr>
          </a:p>
          <a:p>
            <a:pPr indent="0" algn="l" defTabSz="683895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/>
            </a:pPr>
            <a:r>
              <a:rPr lang="en-US" altLang="zh-CN" sz="1600" dirty="0">
                <a:latin typeface="+mj-ea"/>
                <a:ea typeface="+mj-ea"/>
              </a:rPr>
              <a:t>Platform-specific content: Douyin/Xiaohongshu videos; Zhihu/Weibo discussions on water transparency.</a:t>
            </a:r>
            <a:endParaRPr lang="en-US" altLang="zh-CN" sz="1600" dirty="0">
              <a:latin typeface="+mj-ea"/>
              <a:ea typeface="+mj-ea"/>
            </a:endParaRPr>
          </a:p>
          <a:p>
            <a:pPr marL="285750" indent="-285750" algn="l" defTabSz="683895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  <a:defRPr/>
            </a:pPr>
            <a:r>
              <a:rPr lang="en-US" altLang="zh-CN" sz="2400" dirty="0">
                <a:latin typeface="+mj-ea"/>
                <a:ea typeface="+mj-ea"/>
              </a:rPr>
              <a:t>Offline Activities:</a:t>
            </a:r>
            <a:endParaRPr lang="en-US" altLang="zh-CN" sz="2400" dirty="0">
              <a:latin typeface="+mj-ea"/>
              <a:ea typeface="+mj-ea"/>
            </a:endParaRPr>
          </a:p>
          <a:p>
            <a:pPr indent="0" algn="l" defTabSz="683895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/>
            </a:pPr>
            <a:r>
              <a:rPr lang="en-US" altLang="zh-CN" sz="1600" dirty="0">
                <a:latin typeface="+mj-ea"/>
                <a:ea typeface="+mj-ea"/>
              </a:rPr>
              <a:t>Qiandao Lake tours (live-streamed with online participation points).</a:t>
            </a:r>
            <a:endParaRPr lang="en-US" altLang="zh-CN" sz="1600" dirty="0">
              <a:latin typeface="+mj-ea"/>
              <a:ea typeface="+mj-ea"/>
            </a:endParaRPr>
          </a:p>
          <a:p>
            <a:pPr indent="0" algn="l" defTabSz="683895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/>
            </a:pPr>
            <a:r>
              <a:rPr lang="en-US" altLang="zh-CN" sz="1600" dirty="0">
                <a:latin typeface="+mj-ea"/>
                <a:ea typeface="+mj-ea"/>
              </a:rPr>
              <a:t>University recycling competitions with welfare fund + point prizes.</a:t>
            </a:r>
            <a:endParaRPr lang="en-US" altLang="zh-CN" sz="1600" dirty="0">
              <a:latin typeface="+mj-ea"/>
              <a:ea typeface="+mj-ea"/>
            </a:endParaRPr>
          </a:p>
          <a:p>
            <a:pPr indent="0" algn="l" defTabSz="683895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/>
            </a:pPr>
            <a:endParaRPr lang="en-US" altLang="zh-CN" sz="1600" dirty="0">
              <a:latin typeface="+mj-ea"/>
              <a:ea typeface="+mj-ea"/>
            </a:endParaRPr>
          </a:p>
        </p:txBody>
      </p:sp>
      <p:pic>
        <p:nvPicPr>
          <p:cNvPr id="6" name="Picture 3" descr="C:\Users\Administrator\Desktop\微立体创业计划\002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" y="121920"/>
            <a:ext cx="832273" cy="832273"/>
          </a:xfrm>
          <a:prstGeom prst="rect">
            <a:avLst/>
          </a:prstGeom>
          <a:noFill/>
          <a:effectLst>
            <a:outerShdw blurRad="292100" dist="177800" dir="2460000" sx="99000" sy="99000" algn="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文本框 43"/>
          <p:cNvSpPr txBox="1"/>
          <p:nvPr>
            <p:custDataLst>
              <p:tags r:id="rId2"/>
            </p:custDataLst>
          </p:nvPr>
        </p:nvSpPr>
        <p:spPr>
          <a:xfrm>
            <a:off x="1115060" y="248073"/>
            <a:ext cx="10233660" cy="66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735" b="1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Promotion Strategies</a:t>
            </a:r>
            <a:endParaRPr lang="en-US" altLang="zh-CN" sz="3735" b="1" dirty="0">
              <a:solidFill>
                <a:schemeClr val="accent1"/>
              </a:solidFill>
              <a:latin typeface="+mj-ea"/>
              <a:ea typeface="+mj-ea"/>
              <a:sym typeface="+mn-ea"/>
            </a:endParaRPr>
          </a:p>
        </p:txBody>
      </p:sp>
      <p:grpSp>
        <p:nvGrpSpPr>
          <p:cNvPr id="181" name="组合 180"/>
          <p:cNvGrpSpPr/>
          <p:nvPr userDrawn="1"/>
        </p:nvGrpSpPr>
        <p:grpSpPr>
          <a:xfrm>
            <a:off x="1114213" y="983827"/>
            <a:ext cx="10763673" cy="101600"/>
            <a:chOff x="3060700" y="4724400"/>
            <a:chExt cx="5955507" cy="31432"/>
          </a:xfrm>
        </p:grpSpPr>
        <p:cxnSp>
          <p:nvCxnSpPr>
            <p:cNvPr id="182" name="直接连接符 181"/>
            <p:cNvCxnSpPr/>
            <p:nvPr/>
          </p:nvCxnSpPr>
          <p:spPr>
            <a:xfrm>
              <a:off x="3060700" y="4724400"/>
              <a:ext cx="5955507" cy="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/>
            <p:cNvCxnSpPr/>
            <p:nvPr/>
          </p:nvCxnSpPr>
          <p:spPr>
            <a:xfrm>
              <a:off x="3060700" y="4755832"/>
              <a:ext cx="5955507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3" descr="C:\Users\Administrator\Desktop\微立体创业计划\002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0960" y="60960"/>
            <a:ext cx="1523153" cy="1523153"/>
          </a:xfrm>
          <a:prstGeom prst="rect">
            <a:avLst/>
          </a:prstGeom>
          <a:noFill/>
          <a:effectLst>
            <a:outerShdw blurRad="292100" dist="177800" dir="2460000" sx="99000" sy="99000" algn="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/>
          <p:cNvSpPr txBox="1"/>
          <p:nvPr/>
        </p:nvSpPr>
        <p:spPr>
          <a:xfrm>
            <a:off x="3732953" y="3532293"/>
            <a:ext cx="7851987" cy="2336165"/>
          </a:xfrm>
          <a:prstGeom prst="rect">
            <a:avLst/>
          </a:prstGeom>
          <a:noFill/>
        </p:spPr>
        <p:txBody>
          <a:bodyPr wrap="square" lIns="121884" tIns="60941" rIns="121884" bIns="6094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accent1"/>
                </a:solidFill>
                <a:effectLst/>
                <a:latin typeface="+mj-ea"/>
                <a:ea typeface="+mj-ea"/>
              </a:rPr>
              <a:t>Speaker: 	</a:t>
            </a:r>
            <a:r>
              <a:rPr lang="en-US" altLang="zh-CN" sz="2400" dirty="0">
                <a:solidFill>
                  <a:schemeClr val="accent1"/>
                </a:solidFill>
                <a:effectLst/>
                <a:latin typeface="+mj-ea"/>
                <a:ea typeface="+mj-ea"/>
              </a:rPr>
              <a:t>Your name</a:t>
            </a:r>
            <a:endParaRPr lang="en-US" altLang="zh-CN" sz="2400" dirty="0">
              <a:solidFill>
                <a:schemeClr val="accent1"/>
              </a:solidFill>
              <a:effectLst/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accent1"/>
                </a:solidFill>
                <a:effectLst/>
                <a:latin typeface="+mj-ea"/>
                <a:ea typeface="+mj-ea"/>
              </a:rPr>
              <a:t>Major:</a:t>
            </a:r>
            <a:r>
              <a:rPr lang="en-US" altLang="zh-CN" sz="2400" dirty="0">
                <a:solidFill>
                  <a:schemeClr val="accent1"/>
                </a:solidFill>
                <a:effectLst/>
                <a:latin typeface="+mj-ea"/>
                <a:ea typeface="+mj-ea"/>
              </a:rPr>
              <a:t>     	Your major</a:t>
            </a:r>
            <a:endParaRPr lang="en-US" altLang="zh-CN" sz="2400" dirty="0">
              <a:solidFill>
                <a:schemeClr val="accent1"/>
              </a:solidFill>
              <a:effectLst/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accent1"/>
                </a:solidFill>
                <a:effectLst/>
                <a:latin typeface="+mj-ea"/>
                <a:ea typeface="+mj-ea"/>
              </a:rPr>
              <a:t>Supervisor:</a:t>
            </a:r>
            <a:r>
              <a:rPr lang="en-US" altLang="zh-CN" sz="2400" dirty="0">
                <a:solidFill>
                  <a:schemeClr val="accent1"/>
                </a:solidFill>
                <a:effectLst/>
                <a:latin typeface="+mj-ea"/>
                <a:ea typeface="+mj-ea"/>
              </a:rPr>
              <a:t> Teacher name</a:t>
            </a:r>
            <a:endParaRPr lang="en-US" altLang="zh-CN" sz="2400" dirty="0">
              <a:solidFill>
                <a:schemeClr val="accent1"/>
              </a:solidFill>
              <a:effectLst/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accent1"/>
                </a:solidFill>
                <a:effectLst/>
                <a:latin typeface="+mj-ea"/>
                <a:ea typeface="+mj-ea"/>
              </a:rPr>
              <a:t>Time:  	</a:t>
            </a:r>
            <a:r>
              <a:rPr lang="en-US" altLang="zh-CN" sz="2400" dirty="0">
                <a:solidFill>
                  <a:schemeClr val="accent1"/>
                </a:solidFill>
                <a:effectLst/>
                <a:latin typeface="+mj-ea"/>
                <a:ea typeface="+mj-ea"/>
              </a:rPr>
              <a:t>2024-9-10</a:t>
            </a:r>
            <a:endParaRPr lang="en-US" altLang="zh-CN" sz="2400" dirty="0">
              <a:solidFill>
                <a:schemeClr val="accent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5" name="TextBox 1"/>
          <p:cNvSpPr txBox="1"/>
          <p:nvPr/>
        </p:nvSpPr>
        <p:spPr>
          <a:xfrm>
            <a:off x="613833" y="1655233"/>
            <a:ext cx="10762827" cy="1355513"/>
          </a:xfrm>
          <a:prstGeom prst="rect">
            <a:avLst/>
          </a:prstGeom>
          <a:noFill/>
        </p:spPr>
        <p:txBody>
          <a:bodyPr wrap="square" lIns="121884" tIns="60941" rIns="121884" bIns="60941" rtlCol="0">
            <a:noAutofit/>
          </a:bodyPr>
          <a:lstStyle/>
          <a:p>
            <a:pPr algn="ctr"/>
            <a:r>
              <a:rPr lang="en-US" altLang="zh-CN" sz="8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Thank You!</a:t>
            </a:r>
            <a:endParaRPr lang="en-US" altLang="zh-CN" sz="80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2"/>
          <p:cNvSpPr/>
          <p:nvPr/>
        </p:nvSpPr>
        <p:spPr>
          <a:xfrm>
            <a:off x="-847" y="6156113"/>
            <a:ext cx="12192000" cy="701887"/>
          </a:xfrm>
          <a:custGeom>
            <a:avLst/>
            <a:gdLst>
              <a:gd name="connsiteX0" fmla="*/ 0 w 9144000"/>
              <a:gd name="connsiteY0" fmla="*/ 0 h 216000"/>
              <a:gd name="connsiteX1" fmla="*/ 9144000 w 9144000"/>
              <a:gd name="connsiteY1" fmla="*/ 0 h 216000"/>
              <a:gd name="connsiteX2" fmla="*/ 9144000 w 9144000"/>
              <a:gd name="connsiteY2" fmla="*/ 216000 h 216000"/>
              <a:gd name="connsiteX3" fmla="*/ 0 w 9144000"/>
              <a:gd name="connsiteY3" fmla="*/ 216000 h 216000"/>
              <a:gd name="connsiteX4" fmla="*/ 0 w 9144000"/>
              <a:gd name="connsiteY4" fmla="*/ 0 h 216000"/>
              <a:gd name="connsiteX0-1" fmla="*/ 0 w 9144000"/>
              <a:gd name="connsiteY0-2" fmla="*/ 113792 h 329792"/>
              <a:gd name="connsiteX1-3" fmla="*/ 9144000 w 9144000"/>
              <a:gd name="connsiteY1-4" fmla="*/ 113792 h 329792"/>
              <a:gd name="connsiteX2-5" fmla="*/ 9144000 w 9144000"/>
              <a:gd name="connsiteY2-6" fmla="*/ 329792 h 329792"/>
              <a:gd name="connsiteX3-7" fmla="*/ 0 w 9144000"/>
              <a:gd name="connsiteY3-8" fmla="*/ 329792 h 329792"/>
              <a:gd name="connsiteX4-9" fmla="*/ 0 w 9144000"/>
              <a:gd name="connsiteY4-10" fmla="*/ 113792 h 329792"/>
              <a:gd name="connsiteX0-11" fmla="*/ 0 w 9144000"/>
              <a:gd name="connsiteY0-12" fmla="*/ 165719 h 381719"/>
              <a:gd name="connsiteX1-13" fmla="*/ 9144000 w 9144000"/>
              <a:gd name="connsiteY1-14" fmla="*/ 165719 h 381719"/>
              <a:gd name="connsiteX2-15" fmla="*/ 9144000 w 9144000"/>
              <a:gd name="connsiteY2-16" fmla="*/ 381719 h 381719"/>
              <a:gd name="connsiteX3-17" fmla="*/ 0 w 9144000"/>
              <a:gd name="connsiteY3-18" fmla="*/ 381719 h 381719"/>
              <a:gd name="connsiteX4-19" fmla="*/ 0 w 9144000"/>
              <a:gd name="connsiteY4-20" fmla="*/ 165719 h 381719"/>
              <a:gd name="connsiteX0-21" fmla="*/ 0 w 9144000"/>
              <a:gd name="connsiteY0-22" fmla="*/ 132628 h 348628"/>
              <a:gd name="connsiteX1-23" fmla="*/ 9144000 w 9144000"/>
              <a:gd name="connsiteY1-24" fmla="*/ 132628 h 348628"/>
              <a:gd name="connsiteX2-25" fmla="*/ 9144000 w 9144000"/>
              <a:gd name="connsiteY2-26" fmla="*/ 348628 h 348628"/>
              <a:gd name="connsiteX3-27" fmla="*/ 0 w 9144000"/>
              <a:gd name="connsiteY3-28" fmla="*/ 348628 h 348628"/>
              <a:gd name="connsiteX4-29" fmla="*/ 0 w 9144000"/>
              <a:gd name="connsiteY4-30" fmla="*/ 132628 h 348628"/>
              <a:gd name="connsiteX0-31" fmla="*/ 0 w 9144000"/>
              <a:gd name="connsiteY0-32" fmla="*/ 119048 h 335048"/>
              <a:gd name="connsiteX1-33" fmla="*/ 9144000 w 9144000"/>
              <a:gd name="connsiteY1-34" fmla="*/ 119048 h 335048"/>
              <a:gd name="connsiteX2-35" fmla="*/ 9144000 w 9144000"/>
              <a:gd name="connsiteY2-36" fmla="*/ 335048 h 335048"/>
              <a:gd name="connsiteX3-37" fmla="*/ 0 w 9144000"/>
              <a:gd name="connsiteY3-38" fmla="*/ 335048 h 335048"/>
              <a:gd name="connsiteX4-39" fmla="*/ 0 w 9144000"/>
              <a:gd name="connsiteY4-40" fmla="*/ 119048 h 335048"/>
              <a:gd name="connsiteX0-41" fmla="*/ 0 w 9144000"/>
              <a:gd name="connsiteY0-42" fmla="*/ 158633 h 374633"/>
              <a:gd name="connsiteX1-43" fmla="*/ 9144000 w 9144000"/>
              <a:gd name="connsiteY1-44" fmla="*/ 158633 h 374633"/>
              <a:gd name="connsiteX2-45" fmla="*/ 9144000 w 9144000"/>
              <a:gd name="connsiteY2-46" fmla="*/ 374633 h 374633"/>
              <a:gd name="connsiteX3-47" fmla="*/ 0 w 9144000"/>
              <a:gd name="connsiteY3-48" fmla="*/ 374633 h 374633"/>
              <a:gd name="connsiteX4-49" fmla="*/ 0 w 9144000"/>
              <a:gd name="connsiteY4-50" fmla="*/ 158633 h 3746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144000" h="374633">
                <a:moveTo>
                  <a:pt x="0" y="158633"/>
                </a:moveTo>
                <a:cubicBezTo>
                  <a:pt x="4165456" y="-109488"/>
                  <a:pt x="5852160" y="12329"/>
                  <a:pt x="9144000" y="158633"/>
                </a:cubicBezTo>
                <a:lnTo>
                  <a:pt x="9144000" y="374633"/>
                </a:lnTo>
                <a:lnTo>
                  <a:pt x="0" y="374633"/>
                </a:lnTo>
                <a:lnTo>
                  <a:pt x="0" y="15863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181" name="组合 180"/>
          <p:cNvGrpSpPr/>
          <p:nvPr userDrawn="1"/>
        </p:nvGrpSpPr>
        <p:grpSpPr>
          <a:xfrm>
            <a:off x="612987" y="3142827"/>
            <a:ext cx="10763673" cy="101600"/>
            <a:chOff x="3060700" y="4724400"/>
            <a:chExt cx="5955507" cy="31432"/>
          </a:xfrm>
        </p:grpSpPr>
        <p:cxnSp>
          <p:nvCxnSpPr>
            <p:cNvPr id="182" name="直接连接符 181"/>
            <p:cNvCxnSpPr/>
            <p:nvPr/>
          </p:nvCxnSpPr>
          <p:spPr>
            <a:xfrm>
              <a:off x="3060700" y="4724400"/>
              <a:ext cx="5955507" cy="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/>
            <p:cNvCxnSpPr/>
            <p:nvPr/>
          </p:nvCxnSpPr>
          <p:spPr>
            <a:xfrm>
              <a:off x="3060700" y="4755832"/>
              <a:ext cx="5955507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23"/>
          <p:cNvSpPr txBox="1"/>
          <p:nvPr/>
        </p:nvSpPr>
        <p:spPr>
          <a:xfrm>
            <a:off x="0" y="6156113"/>
            <a:ext cx="12191153" cy="674370"/>
          </a:xfrm>
          <a:prstGeom prst="rect">
            <a:avLst/>
          </a:prstGeom>
          <a:noFill/>
        </p:spPr>
        <p:txBody>
          <a:bodyPr wrap="square" lIns="121884" tIns="60941" rIns="121884" bIns="60941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effectLst/>
                <a:latin typeface="+mj-ea"/>
                <a:ea typeface="+mj-ea"/>
              </a:rPr>
              <a:t>your can add a school logo here!</a:t>
            </a:r>
            <a:endParaRPr lang="en-US" altLang="zh-CN" sz="240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10607040" y="445135"/>
            <a:ext cx="769620" cy="76962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accent1"/>
                </a:solidFill>
                <a:latin typeface="+mj-ea"/>
                <a:ea typeface="+mj-ea"/>
              </a:rPr>
              <a:t>LOGO</a:t>
            </a:r>
            <a:endParaRPr lang="en-US" altLang="zh-CN" sz="90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83.8341732283464,&quot;left&quot;:312.2366141732283,&quot;top&quot;:93.25527559055118,&quot;width&quot;:598.2462992125985}"/>
</p:tagLst>
</file>

<file path=ppt/tags/tag2.xml><?xml version="1.0" encoding="utf-8"?>
<p:tagLst xmlns:p="http://schemas.openxmlformats.org/presentationml/2006/main">
  <p:tag name="KSO_WM_DIAGRAM_VIRTUALLY_FRAME" val="{&quot;height&quot;:383.8341732283464,&quot;left&quot;:312.2366141732283,&quot;top&quot;:93.25527559055118,&quot;width&quot;:598.2462992125985}"/>
</p:tagLst>
</file>

<file path=ppt/tags/tag3.xml><?xml version="1.0" encoding="utf-8"?>
<p:tagLst xmlns:p="http://schemas.openxmlformats.org/presentationml/2006/main">
  <p:tag name="KSO_WM_DIAGRAM_VIRTUALLY_FRAME" val="{&quot;height&quot;:383.8341732283464,&quot;left&quot;:312.2366141732283,&quot;top&quot;:93.25527559055118,&quot;width&quot;:598.2462992125985}"/>
</p:tagLst>
</file>

<file path=ppt/tags/tag4.xml><?xml version="1.0" encoding="utf-8"?>
<p:tagLst xmlns:p="http://schemas.openxmlformats.org/presentationml/2006/main">
  <p:tag name="COMMONDATA" val="eyJoZGlkIjoiOWY4ZTlkOTBlYTBlNDlmYjllYjg2MzQ0ZDA5NTE0MmYifQ=="/>
</p:tagLst>
</file>

<file path=ppt/theme/theme1.xml><?xml version="1.0" encoding="utf-8"?>
<a:theme xmlns:a="http://schemas.openxmlformats.org/drawingml/2006/main" name="自定义">
  <a:themeElements>
    <a:clrScheme name="">
      <a:dk1>
        <a:srgbClr val="000000"/>
      </a:dk1>
      <a:lt1>
        <a:srgbClr val="FFFFFF"/>
      </a:lt1>
      <a:dk2>
        <a:srgbClr val="4A927F"/>
      </a:dk2>
      <a:lt2>
        <a:srgbClr val="FFFFFF"/>
      </a:lt2>
      <a:accent1>
        <a:srgbClr val="4A927F"/>
      </a:accent1>
      <a:accent2>
        <a:srgbClr val="6FB6A3"/>
      </a:accent2>
      <a:accent3>
        <a:srgbClr val="A9D3C8"/>
      </a:accent3>
      <a:accent4>
        <a:srgbClr val="C5E2DA"/>
      </a:accent4>
      <a:accent5>
        <a:srgbClr val="E2F0ED"/>
      </a:accent5>
      <a:accent6>
        <a:srgbClr val="FFFFFF"/>
      </a:accent6>
      <a:hlink>
        <a:srgbClr val="FFFFFF"/>
      </a:hlink>
      <a:folHlink>
        <a:srgbClr val="FFFFF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1">
  <a:themeElements>
    <a:clrScheme name="">
      <a:dk1>
        <a:srgbClr val="000000"/>
      </a:dk1>
      <a:lt1>
        <a:srgbClr val="FFFFFF"/>
      </a:lt1>
      <a:dk2>
        <a:srgbClr val="418BAB"/>
      </a:dk2>
      <a:lt2>
        <a:srgbClr val="FFFFFF"/>
      </a:lt2>
      <a:accent1>
        <a:srgbClr val="418BAB"/>
      </a:accent1>
      <a:accent2>
        <a:srgbClr val="418BAB"/>
      </a:accent2>
      <a:accent3>
        <a:srgbClr val="B6D4E1"/>
      </a:accent3>
      <a:accent4>
        <a:srgbClr val="B6D4E1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1651</Words>
  <Application>WPS 演示</Application>
  <PresentationFormat>宽屏</PresentationFormat>
  <Paragraphs>45</Paragraphs>
  <Slides>5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Times New Roman</vt:lpstr>
      <vt:lpstr>Calibri</vt:lpstr>
      <vt:lpstr>Wingdings</vt:lpstr>
      <vt:lpstr>Arial Unicode MS</vt:lpstr>
      <vt:lpstr>思源黑体 CN Heavy</vt:lpstr>
      <vt:lpstr>黑体</vt:lpstr>
      <vt:lpstr>Arial Black</vt:lpstr>
      <vt:lpstr>自定义</vt:lpstr>
      <vt:lpstr>自定义1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Xyy</cp:lastModifiedBy>
  <cp:revision>20</cp:revision>
  <dcterms:created xsi:type="dcterms:W3CDTF">2023-08-09T12:44:00Z</dcterms:created>
  <dcterms:modified xsi:type="dcterms:W3CDTF">2025-10-06T05:55:13Z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1FA705B9E3224A6389FDE9EF74A2C313_13</vt:lpwstr>
  </property>
  <property fmtid="{D5CDD505-2E9C-101B-9397-08002B2CF9AE}" pid="3" name="KSOProductBuildVer">
    <vt:lpwstr>2052-12.1.0.22529</vt:lpwstr>
  </property>
</Properties>
</file>