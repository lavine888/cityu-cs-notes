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370" r:id="rId4"/>
    <p:sldId id="372" r:id="rId6"/>
    <p:sldId id="390" r:id="rId7"/>
    <p:sldId id="389" r:id="rId8"/>
    <p:sldId id="391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AFC9"/>
    <a:srgbClr val="B6D4E1"/>
    <a:srgbClr val="67C94B"/>
    <a:srgbClr val="417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44" autoAdjust="0"/>
    <p:restoredTop sz="94660"/>
  </p:normalViewPr>
  <p:slideViewPr>
    <p:cSldViewPr snapToGrid="0">
      <p:cViewPr>
        <p:scale>
          <a:sx n="140" d="100"/>
          <a:sy n="140" d="100"/>
        </p:scale>
        <p:origin x="54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45B74FA-865C-488C-8B5F-110D40782C16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45B74FA-865C-488C-8B5F-110D40782C16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45B74FA-865C-488C-8B5F-110D40782C16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45B74FA-865C-488C-8B5F-110D40782C16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.png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.pn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762940" y="2481084"/>
            <a:ext cx="6330761" cy="11079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160"/>
          </a:p>
        </p:txBody>
      </p:sp>
      <p:sp>
        <p:nvSpPr>
          <p:cNvPr id="5" name="泪滴形 4"/>
          <p:cNvSpPr/>
          <p:nvPr/>
        </p:nvSpPr>
        <p:spPr>
          <a:xfrm>
            <a:off x="2380388" y="2481084"/>
            <a:ext cx="1252471" cy="1252471"/>
          </a:xfrm>
          <a:prstGeom prst="teardrop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200" dirty="0"/>
              <a:t>1</a:t>
            </a:r>
            <a:endParaRPr lang="zh-CN" altLang="en-US" sz="7200" dirty="0"/>
          </a:p>
        </p:txBody>
      </p:sp>
      <p:sp>
        <p:nvSpPr>
          <p:cNvPr id="7" name="矩形 2"/>
          <p:cNvSpPr/>
          <p:nvPr/>
        </p:nvSpPr>
        <p:spPr>
          <a:xfrm>
            <a:off x="0" y="6324600"/>
            <a:ext cx="12192000" cy="539751"/>
          </a:xfrm>
          <a:custGeom>
            <a:avLst/>
            <a:gdLst>
              <a:gd name="connsiteX0" fmla="*/ 0 w 9144000"/>
              <a:gd name="connsiteY0" fmla="*/ 0 h 216000"/>
              <a:gd name="connsiteX1" fmla="*/ 9144000 w 9144000"/>
              <a:gd name="connsiteY1" fmla="*/ 0 h 216000"/>
              <a:gd name="connsiteX2" fmla="*/ 9144000 w 9144000"/>
              <a:gd name="connsiteY2" fmla="*/ 216000 h 216000"/>
              <a:gd name="connsiteX3" fmla="*/ 0 w 9144000"/>
              <a:gd name="connsiteY3" fmla="*/ 216000 h 216000"/>
              <a:gd name="connsiteX4" fmla="*/ 0 w 9144000"/>
              <a:gd name="connsiteY4" fmla="*/ 0 h 216000"/>
              <a:gd name="connsiteX0-1" fmla="*/ 0 w 9144000"/>
              <a:gd name="connsiteY0-2" fmla="*/ 113792 h 329792"/>
              <a:gd name="connsiteX1-3" fmla="*/ 9144000 w 9144000"/>
              <a:gd name="connsiteY1-4" fmla="*/ 113792 h 329792"/>
              <a:gd name="connsiteX2-5" fmla="*/ 9144000 w 9144000"/>
              <a:gd name="connsiteY2-6" fmla="*/ 329792 h 329792"/>
              <a:gd name="connsiteX3-7" fmla="*/ 0 w 9144000"/>
              <a:gd name="connsiteY3-8" fmla="*/ 329792 h 329792"/>
              <a:gd name="connsiteX4-9" fmla="*/ 0 w 9144000"/>
              <a:gd name="connsiteY4-10" fmla="*/ 113792 h 329792"/>
              <a:gd name="connsiteX0-11" fmla="*/ 0 w 9144000"/>
              <a:gd name="connsiteY0-12" fmla="*/ 165719 h 381719"/>
              <a:gd name="connsiteX1-13" fmla="*/ 9144000 w 9144000"/>
              <a:gd name="connsiteY1-14" fmla="*/ 165719 h 381719"/>
              <a:gd name="connsiteX2-15" fmla="*/ 9144000 w 9144000"/>
              <a:gd name="connsiteY2-16" fmla="*/ 381719 h 381719"/>
              <a:gd name="connsiteX3-17" fmla="*/ 0 w 9144000"/>
              <a:gd name="connsiteY3-18" fmla="*/ 381719 h 381719"/>
              <a:gd name="connsiteX4-19" fmla="*/ 0 w 9144000"/>
              <a:gd name="connsiteY4-20" fmla="*/ 165719 h 381719"/>
              <a:gd name="connsiteX0-21" fmla="*/ 0 w 9144000"/>
              <a:gd name="connsiteY0-22" fmla="*/ 132628 h 348628"/>
              <a:gd name="connsiteX1-23" fmla="*/ 9144000 w 9144000"/>
              <a:gd name="connsiteY1-24" fmla="*/ 132628 h 348628"/>
              <a:gd name="connsiteX2-25" fmla="*/ 9144000 w 9144000"/>
              <a:gd name="connsiteY2-26" fmla="*/ 348628 h 348628"/>
              <a:gd name="connsiteX3-27" fmla="*/ 0 w 9144000"/>
              <a:gd name="connsiteY3-28" fmla="*/ 348628 h 348628"/>
              <a:gd name="connsiteX4-29" fmla="*/ 0 w 9144000"/>
              <a:gd name="connsiteY4-30" fmla="*/ 132628 h 348628"/>
              <a:gd name="connsiteX0-31" fmla="*/ 0 w 9144000"/>
              <a:gd name="connsiteY0-32" fmla="*/ 119048 h 335048"/>
              <a:gd name="connsiteX1-33" fmla="*/ 9144000 w 9144000"/>
              <a:gd name="connsiteY1-34" fmla="*/ 119048 h 335048"/>
              <a:gd name="connsiteX2-35" fmla="*/ 9144000 w 9144000"/>
              <a:gd name="connsiteY2-36" fmla="*/ 335048 h 335048"/>
              <a:gd name="connsiteX3-37" fmla="*/ 0 w 9144000"/>
              <a:gd name="connsiteY3-38" fmla="*/ 335048 h 335048"/>
              <a:gd name="connsiteX4-39" fmla="*/ 0 w 9144000"/>
              <a:gd name="connsiteY4-40" fmla="*/ 119048 h 335048"/>
              <a:gd name="connsiteX0-41" fmla="*/ 0 w 9144000"/>
              <a:gd name="connsiteY0-42" fmla="*/ 158633 h 374633"/>
              <a:gd name="connsiteX1-43" fmla="*/ 9144000 w 9144000"/>
              <a:gd name="connsiteY1-44" fmla="*/ 158633 h 374633"/>
              <a:gd name="connsiteX2-45" fmla="*/ 9144000 w 9144000"/>
              <a:gd name="connsiteY2-46" fmla="*/ 374633 h 374633"/>
              <a:gd name="connsiteX3-47" fmla="*/ 0 w 9144000"/>
              <a:gd name="connsiteY3-48" fmla="*/ 374633 h 374633"/>
              <a:gd name="connsiteX4-49" fmla="*/ 0 w 9144000"/>
              <a:gd name="connsiteY4-50" fmla="*/ 158633 h 37463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144000" h="374633">
                <a:moveTo>
                  <a:pt x="0" y="158633"/>
                </a:moveTo>
                <a:cubicBezTo>
                  <a:pt x="4165456" y="-109488"/>
                  <a:pt x="5852160" y="12329"/>
                  <a:pt x="9144000" y="158633"/>
                </a:cubicBezTo>
                <a:lnTo>
                  <a:pt x="9144000" y="374633"/>
                </a:lnTo>
                <a:lnTo>
                  <a:pt x="0" y="374633"/>
                </a:lnTo>
                <a:lnTo>
                  <a:pt x="0" y="15863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18"/>
          <p:cNvSpPr txBox="1"/>
          <p:nvPr/>
        </p:nvSpPr>
        <p:spPr>
          <a:xfrm>
            <a:off x="4604993" y="2563157"/>
            <a:ext cx="3573780" cy="912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335" dirty="0">
                <a:solidFill>
                  <a:schemeClr val="bg1"/>
                </a:solidFill>
                <a:latin typeface="+mj-ea"/>
                <a:ea typeface="+mj-ea"/>
              </a:rPr>
              <a:t>最后</a:t>
            </a:r>
            <a:r>
              <a:rPr lang="zh-CN" altLang="en-US" sz="5335" dirty="0">
                <a:solidFill>
                  <a:schemeClr val="bg1"/>
                </a:solidFill>
                <a:latin typeface="+mj-ea"/>
                <a:ea typeface="+mj-ea"/>
              </a:rPr>
              <a:t>两部分</a:t>
            </a:r>
            <a:endParaRPr lang="zh-CN" altLang="en-US" sz="5335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121920"/>
            <a:ext cx="832273" cy="83227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121920"/>
            <a:ext cx="832273" cy="83227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文本框 43"/>
          <p:cNvSpPr txBox="1"/>
          <p:nvPr>
            <p:custDataLst>
              <p:tags r:id="rId2"/>
            </p:custDataLst>
          </p:nvPr>
        </p:nvSpPr>
        <p:spPr>
          <a:xfrm>
            <a:off x="1115060" y="248285"/>
            <a:ext cx="5715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Activity Diagram: 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view customer information and their submitted forms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181" name="组合 180"/>
          <p:cNvGrpSpPr/>
          <p:nvPr userDrawn="1"/>
        </p:nvGrpSpPr>
        <p:grpSpPr>
          <a:xfrm>
            <a:off x="850053" y="1554480"/>
            <a:ext cx="10763673" cy="101600"/>
            <a:chOff x="3060700" y="4724400"/>
            <a:chExt cx="5955507" cy="31432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51"/>
          <p:cNvSpPr txBox="1"/>
          <p:nvPr>
            <p:custDataLst>
              <p:tags r:id="rId3"/>
            </p:custDataLst>
          </p:nvPr>
        </p:nvSpPr>
        <p:spPr bwMode="auto">
          <a:xfrm>
            <a:off x="1115060" y="1823128"/>
            <a:ext cx="5263727" cy="4682913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This activity diagram illustrates the complete process for admins to view customer information and their submitted forms. The process involves two main participants: Admin and System.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6378575" y="376555"/>
            <a:ext cx="5630545" cy="6064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121920"/>
            <a:ext cx="832273" cy="83227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文本框 43"/>
          <p:cNvSpPr txBox="1"/>
          <p:nvPr>
            <p:custDataLst>
              <p:tags r:id="rId2"/>
            </p:custDataLst>
          </p:nvPr>
        </p:nvSpPr>
        <p:spPr>
          <a:xfrm>
            <a:off x="850265" y="261620"/>
            <a:ext cx="42525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Activity Diagram: 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</a:endParaRPr>
          </a:p>
          <a:p>
            <a:r>
              <a:rPr lang="en-US" altLang="zh-CN" sz="2400" b="1" dirty="0">
                <a:solidFill>
                  <a:schemeClr val="accent1"/>
                </a:solidFill>
                <a:latin typeface="+mj-ea"/>
                <a:ea typeface="+mj-ea"/>
              </a:rPr>
              <a:t>manage appointment requests</a:t>
            </a:r>
            <a:endParaRPr lang="en-US" altLang="zh-CN" sz="24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181" name="组合 180"/>
          <p:cNvGrpSpPr/>
          <p:nvPr userDrawn="1"/>
        </p:nvGrpSpPr>
        <p:grpSpPr>
          <a:xfrm>
            <a:off x="850053" y="1554480"/>
            <a:ext cx="10763673" cy="101600"/>
            <a:chOff x="3060700" y="4724400"/>
            <a:chExt cx="5955507" cy="31432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51"/>
          <p:cNvSpPr txBox="1"/>
          <p:nvPr>
            <p:custDataLst>
              <p:tags r:id="rId3"/>
            </p:custDataLst>
          </p:nvPr>
        </p:nvSpPr>
        <p:spPr bwMode="auto">
          <a:xfrm>
            <a:off x="810768" y="1651212"/>
            <a:ext cx="3962400" cy="4682913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/>
                </a:solidFill>
                <a:latin typeface="+mj-ea"/>
                <a:ea typeface="+mj-ea"/>
              </a:rPr>
              <a:t>This diagram illustrates the workflow for managing appointment requests, including viewing details, and approving or rejecting requests with system notifications.</a:t>
            </a:r>
            <a:endParaRPr lang="en-US" altLang="zh-CN" sz="2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5223510" y="386715"/>
            <a:ext cx="6888480" cy="5775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121920"/>
            <a:ext cx="832273" cy="83227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文本框 43"/>
          <p:cNvSpPr txBox="1"/>
          <p:nvPr>
            <p:custDataLst>
              <p:tags r:id="rId2"/>
            </p:custDataLst>
          </p:nvPr>
        </p:nvSpPr>
        <p:spPr>
          <a:xfrm>
            <a:off x="1115060" y="248285"/>
            <a:ext cx="545338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Sequence Diagram: 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view customer information and their submitted forms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181" name="组合 180"/>
          <p:cNvGrpSpPr/>
          <p:nvPr userDrawn="1"/>
        </p:nvGrpSpPr>
        <p:grpSpPr>
          <a:xfrm>
            <a:off x="850053" y="1554480"/>
            <a:ext cx="10763673" cy="101600"/>
            <a:chOff x="3060700" y="4724400"/>
            <a:chExt cx="5955507" cy="31432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51"/>
          <p:cNvSpPr txBox="1"/>
          <p:nvPr>
            <p:custDataLst>
              <p:tags r:id="rId3"/>
            </p:custDataLst>
          </p:nvPr>
        </p:nvSpPr>
        <p:spPr bwMode="auto">
          <a:xfrm>
            <a:off x="1115060" y="1823128"/>
            <a:ext cx="5263727" cy="4682913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This sequence diagram illustrates the process for retrieving customer profiles and their associated forms, including search, display, and detailed viewing interactions.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6481128" y="504825"/>
            <a:ext cx="4867275" cy="5467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" y="121920"/>
            <a:ext cx="832273" cy="83227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文本框 43"/>
          <p:cNvSpPr txBox="1"/>
          <p:nvPr>
            <p:custDataLst>
              <p:tags r:id="rId2"/>
            </p:custDataLst>
          </p:nvPr>
        </p:nvSpPr>
        <p:spPr>
          <a:xfrm>
            <a:off x="1115060" y="248285"/>
            <a:ext cx="56832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Sequence Diagram: 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manage appointment requests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grpSp>
        <p:nvGrpSpPr>
          <p:cNvPr id="181" name="组合 180"/>
          <p:cNvGrpSpPr/>
          <p:nvPr userDrawn="1"/>
        </p:nvGrpSpPr>
        <p:grpSpPr>
          <a:xfrm>
            <a:off x="850053" y="1554480"/>
            <a:ext cx="10763673" cy="101600"/>
            <a:chOff x="3060700" y="4724400"/>
            <a:chExt cx="5955507" cy="31432"/>
          </a:xfrm>
        </p:grpSpPr>
        <p:cxnSp>
          <p:nvCxnSpPr>
            <p:cNvPr id="182" name="直接连接符 181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51"/>
          <p:cNvSpPr txBox="1"/>
          <p:nvPr>
            <p:custDataLst>
              <p:tags r:id="rId3"/>
            </p:custDataLst>
          </p:nvPr>
        </p:nvSpPr>
        <p:spPr bwMode="auto">
          <a:xfrm>
            <a:off x="1115061" y="1823128"/>
            <a:ext cx="4819396" cy="4682913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l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This sequence diagram models the interaction for managing appointments, showing how users view lists, select specific requests, and approve or reject them.</a:t>
            </a:r>
            <a:endParaRPr lang="en-US" altLang="zh-CN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6558280" y="505460"/>
            <a:ext cx="5386705" cy="5847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83.8341732283464,&quot;left&quot;:312.2366141732283,&quot;top&quot;:93.25527559055118,&quot;width&quot;:598.2462992125985}"/>
</p:tagLst>
</file>

<file path=ppt/tags/tag2.xml><?xml version="1.0" encoding="utf-8"?>
<p:tagLst xmlns:p="http://schemas.openxmlformats.org/presentationml/2006/main">
  <p:tag name="KSO_WM_DIAGRAM_VIRTUALLY_FRAME" val="{&quot;height&quot;:177.37496062992128,&quot;left&quot;:76.62503937007874,&quot;top&quot;:99.87503937007874,&quot;width&quot;:559.1249606299212}"/>
</p:tagLst>
</file>

<file path=ppt/tags/tag3.xml><?xml version="1.0" encoding="utf-8"?>
<p:tagLst xmlns:p="http://schemas.openxmlformats.org/presentationml/2006/main">
  <p:tag name="KSO_WM_DIAGRAM_VIRTUALLY_FRAME" val="{&quot;height&quot;:383.8341732283464,&quot;left&quot;:312.2366141732283,&quot;top&quot;:93.25527559055118,&quot;width&quot;:598.2462992125985}"/>
</p:tagLst>
</file>

<file path=ppt/tags/tag4.xml><?xml version="1.0" encoding="utf-8"?>
<p:tagLst xmlns:p="http://schemas.openxmlformats.org/presentationml/2006/main">
  <p:tag name="KSO_WM_DIAGRAM_VIRTUALLY_FRAME" val="{&quot;height&quot;:177.37496062992128,&quot;left&quot;:76.62503937007874,&quot;top&quot;:99.87503937007874,&quot;width&quot;:559.1249606299212}"/>
</p:tagLst>
</file>

<file path=ppt/tags/tag5.xml><?xml version="1.0" encoding="utf-8"?>
<p:tagLst xmlns:p="http://schemas.openxmlformats.org/presentationml/2006/main">
  <p:tag name="KSO_WM_DIAGRAM_VIRTUALLY_FRAME" val="{&quot;height&quot;:383.8341732283464,&quot;left&quot;:312.2366141732283,&quot;top&quot;:93.25527559055118,&quot;width&quot;:598.2462992125985}"/>
</p:tagLst>
</file>

<file path=ppt/tags/tag6.xml><?xml version="1.0" encoding="utf-8"?>
<p:tagLst xmlns:p="http://schemas.openxmlformats.org/presentationml/2006/main">
  <p:tag name="KSO_WM_DIAGRAM_VIRTUALLY_FRAME" val="{&quot;height&quot;:177.37496062992128,&quot;left&quot;:76.62503937007874,&quot;top&quot;:99.87503937007874,&quot;width&quot;:559.1249606299212}"/>
</p:tagLst>
</file>

<file path=ppt/tags/tag7.xml><?xml version="1.0" encoding="utf-8"?>
<p:tagLst xmlns:p="http://schemas.openxmlformats.org/presentationml/2006/main">
  <p:tag name="KSO_WM_DIAGRAM_VIRTUALLY_FRAME" val="{&quot;height&quot;:383.8341732283464,&quot;left&quot;:312.2366141732283,&quot;top&quot;:93.25527559055118,&quot;width&quot;:598.2462992125985}"/>
</p:tagLst>
</file>

<file path=ppt/tags/tag8.xml><?xml version="1.0" encoding="utf-8"?>
<p:tagLst xmlns:p="http://schemas.openxmlformats.org/presentationml/2006/main">
  <p:tag name="KSO_WM_DIAGRAM_VIRTUALLY_FRAME" val="{&quot;height&quot;:177.37496062992128,&quot;left&quot;:76.62503937007874,&quot;top&quot;:99.87503937007874,&quot;width&quot;:559.1249606299212}"/>
</p:tagLst>
</file>

<file path=ppt/tags/tag9.xml><?xml version="1.0" encoding="utf-8"?>
<p:tagLst xmlns:p="http://schemas.openxmlformats.org/presentationml/2006/main">
  <p:tag name="COMMONDATA" val="eyJoZGlkIjoiOWY4ZTlkOTBlYTBlNDlmYjllYjg2MzQ0ZDA5NTE0MmYifQ=="/>
</p:tagLst>
</file>

<file path=ppt/theme/theme1.xml><?xml version="1.0" encoding="utf-8"?>
<a:theme xmlns:a="http://schemas.openxmlformats.org/drawingml/2006/main" name="自定义">
  <a:themeElements>
    <a:clrScheme name="">
      <a:dk1>
        <a:srgbClr val="000000"/>
      </a:dk1>
      <a:lt1>
        <a:srgbClr val="FFFFFF"/>
      </a:lt1>
      <a:dk2>
        <a:srgbClr val="4A927F"/>
      </a:dk2>
      <a:lt2>
        <a:srgbClr val="FFFFFF"/>
      </a:lt2>
      <a:accent1>
        <a:srgbClr val="4A927F"/>
      </a:accent1>
      <a:accent2>
        <a:srgbClr val="6FB6A3"/>
      </a:accent2>
      <a:accent3>
        <a:srgbClr val="A9D3C8"/>
      </a:accent3>
      <a:accent4>
        <a:srgbClr val="C5E2DA"/>
      </a:accent4>
      <a:accent5>
        <a:srgbClr val="E2F0ED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1">
  <a:themeElements>
    <a:clrScheme name="">
      <a:dk1>
        <a:srgbClr val="000000"/>
      </a:dk1>
      <a:lt1>
        <a:srgbClr val="FFFFFF"/>
      </a:lt1>
      <a:dk2>
        <a:srgbClr val="418BAB"/>
      </a:dk2>
      <a:lt2>
        <a:srgbClr val="FFFFFF"/>
      </a:lt2>
      <a:accent1>
        <a:srgbClr val="418BAB"/>
      </a:accent1>
      <a:accent2>
        <a:srgbClr val="418BAB"/>
      </a:accent2>
      <a:accent3>
        <a:srgbClr val="B6D4E1"/>
      </a:accent3>
      <a:accent4>
        <a:srgbClr val="B6D4E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902</Words>
  <Application>WPS 演示</Application>
  <PresentationFormat>宽屏</PresentationFormat>
  <Paragraphs>25</Paragraphs>
  <Slides>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Calibri</vt:lpstr>
      <vt:lpstr>Arial Unicode MS</vt:lpstr>
      <vt:lpstr>Arial Black</vt:lpstr>
      <vt:lpstr>黑体</vt:lpstr>
      <vt:lpstr>自定义</vt:lpstr>
      <vt:lpstr>自定义1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Xyy</cp:lastModifiedBy>
  <cp:revision>21</cp:revision>
  <dcterms:created xsi:type="dcterms:W3CDTF">2023-08-09T12:44:00Z</dcterms:created>
  <dcterms:modified xsi:type="dcterms:W3CDTF">2025-11-23T17:04:18Z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EE3C3FE805B84FA2AE11A494298EC6A7_13</vt:lpwstr>
  </property>
  <property fmtid="{D5CDD505-2E9C-101B-9397-08002B2CF9AE}" pid="3" name="KSOProductBuildVer">
    <vt:lpwstr>2052-12.1.0.23542</vt:lpwstr>
  </property>
</Properties>
</file>