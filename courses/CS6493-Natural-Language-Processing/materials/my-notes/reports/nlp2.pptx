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5" r:id="rId3"/>
    <p:sldId id="262" r:id="rId5"/>
    <p:sldId id="267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263347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91440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104241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82296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1042416" y="3310126"/>
            <a:ext cx="1920240" cy="1353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Designed and implemented prompting strategies</a:t>
            </a:r>
            <a:endParaRPr lang="en-US" sz="1600" b="1" dirty="0">
              <a:solidFill>
                <a:srgbClr val="17212B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6"/>
            </p:custDataLst>
          </p:nvPr>
        </p:nvSpPr>
        <p:spPr>
          <a:xfrm>
            <a:off x="542239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7"/>
            </p:custDataLst>
          </p:nvPr>
        </p:nvSpPr>
        <p:spPr>
          <a:xfrm>
            <a:off x="370332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383133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Shape 16"/>
          <p:cNvSpPr/>
          <p:nvPr>
            <p:custDataLst>
              <p:tags r:id="rId9"/>
            </p:custDataLst>
          </p:nvPr>
        </p:nvSpPr>
        <p:spPr>
          <a:xfrm>
            <a:off x="361188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10"/>
            </p:custDataLst>
          </p:nvPr>
        </p:nvSpPr>
        <p:spPr>
          <a:xfrm>
            <a:off x="3904488" y="3310129"/>
            <a:ext cx="1920240" cy="1353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Unified prompt templates</a:t>
            </a:r>
            <a:endParaRPr lang="en-US" sz="1600" b="1" dirty="0">
              <a:solidFill>
                <a:srgbClr val="17212B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1"/>
            </p:custDataLst>
          </p:nvPr>
        </p:nvSpPr>
        <p:spPr>
          <a:xfrm>
            <a:off x="821131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22" name="Shape 20"/>
          <p:cNvSpPr/>
          <p:nvPr>
            <p:custDataLst>
              <p:tags r:id="rId12"/>
            </p:custDataLst>
          </p:nvPr>
        </p:nvSpPr>
        <p:spPr>
          <a:xfrm>
            <a:off x="649224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3"/>
            </p:custDataLst>
          </p:nvPr>
        </p:nvSpPr>
        <p:spPr>
          <a:xfrm>
            <a:off x="662025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Shape 22"/>
          <p:cNvSpPr/>
          <p:nvPr>
            <p:custDataLst>
              <p:tags r:id="rId14"/>
            </p:custDataLst>
          </p:nvPr>
        </p:nvSpPr>
        <p:spPr>
          <a:xfrm>
            <a:off x="640080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/>
          <p:nvPr>
            <p:custDataLst>
              <p:tags r:id="rId15"/>
            </p:custDataLst>
          </p:nvPr>
        </p:nvSpPr>
        <p:spPr>
          <a:xfrm>
            <a:off x="6601968" y="3310128"/>
            <a:ext cx="1920240" cy="1353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Standardized answer format</a:t>
            </a:r>
            <a:endParaRPr lang="en-US" sz="1600" b="1" dirty="0">
              <a:solidFill>
                <a:srgbClr val="17212B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  <p:sp>
        <p:nvSpPr>
          <p:cNvPr id="27" name="Shape 25"/>
          <p:cNvSpPr/>
          <p:nvPr>
            <p:custDataLst>
              <p:tags r:id="rId16"/>
            </p:custDataLst>
          </p:nvPr>
        </p:nvSpPr>
        <p:spPr>
          <a:xfrm>
            <a:off x="928116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17"/>
            </p:custDataLst>
          </p:nvPr>
        </p:nvSpPr>
        <p:spPr>
          <a:xfrm>
            <a:off x="940917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Shape 27"/>
          <p:cNvSpPr/>
          <p:nvPr>
            <p:custDataLst>
              <p:tags r:id="rId18"/>
            </p:custDataLst>
          </p:nvPr>
        </p:nvSpPr>
        <p:spPr>
          <a:xfrm>
            <a:off x="918972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30" name="Text 28"/>
          <p:cNvSpPr/>
          <p:nvPr>
            <p:custDataLst>
              <p:tags r:id="rId19"/>
            </p:custDataLst>
          </p:nvPr>
        </p:nvSpPr>
        <p:spPr>
          <a:xfrm>
            <a:off x="9409176" y="3310126"/>
            <a:ext cx="1920240" cy="13533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Ensured reproducibility and extensibility</a:t>
            </a:r>
            <a:endParaRPr lang="en-US" sz="1600" b="1" dirty="0">
              <a:solidFill>
                <a:srgbClr val="17212B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41248" y="5193792"/>
            <a:ext cx="10972800" cy="768096"/>
          </a:xfrm>
          <a:prstGeom prst="roundRect">
            <a:avLst>
              <a:gd name="adj" fmla="val 9524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5404981"/>
            <a:ext cx="10597896" cy="3507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Implemented and standardized multiple prompting methods to support consistent and comparable experiments.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Prompting Strategies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868680" y="1865376"/>
            <a:ext cx="3154680" cy="1685753"/>
            <a:chOff x="868680" y="1865376"/>
            <a:chExt cx="3154680" cy="1685753"/>
          </a:xfrm>
        </p:grpSpPr>
        <p:sp>
          <p:nvSpPr>
            <p:cNvPr id="9" name="Shape 7"/>
            <p:cNvSpPr/>
            <p:nvPr/>
          </p:nvSpPr>
          <p:spPr>
            <a:xfrm>
              <a:off x="868680" y="1865376"/>
              <a:ext cx="3154680" cy="1685753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7DDD4"/>
              </a:solidFill>
              <a:prstDash val="solid"/>
            </a:ln>
            <a:effectLst>
              <a:outerShdw blurRad="19050" dist="12700" dir="2700000" algn="bl" rotWithShape="0">
                <a:srgbClr val="9AA5A0">
                  <a:alpha val="16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1088136" y="2139696"/>
              <a:ext cx="1097280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7212B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Direct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088136" y="2578608"/>
              <a:ext cx="2651760" cy="4206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sz="1400" dirty="0">
                  <a:solidFill>
                    <a:srgbClr val="334155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Baseline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088136" y="3218688"/>
              <a:ext cx="1005840" cy="0"/>
            </a:xfrm>
            <a:prstGeom prst="line">
              <a:avLst/>
            </a:prstGeom>
            <a:noFill/>
            <a:ln w="17780">
              <a:solidFill>
                <a:srgbClr val="0F766E"/>
              </a:solidFill>
              <a:prstDash val="solid"/>
            </a:ln>
          </p:spPr>
        </p:sp>
      </p:grpSp>
      <p:sp>
        <p:nvSpPr>
          <p:cNvPr id="13" name="Shape 11"/>
          <p:cNvSpPr/>
          <p:nvPr/>
        </p:nvSpPr>
        <p:spPr>
          <a:xfrm>
            <a:off x="4572000" y="1865376"/>
            <a:ext cx="3154680" cy="1685753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91456" y="213969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</a:rPr>
              <a:t>CoT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91456" y="25786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Step-by-step reasoning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91456" y="3218688"/>
            <a:ext cx="100584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865376"/>
            <a:ext cx="3154680" cy="16857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94776" y="213969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</a:rPr>
              <a:t>LtM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94776" y="257860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Decompose problems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94776" y="3218688"/>
            <a:ext cx="100584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</a:ln>
        </p:spPr>
      </p:sp>
      <p:grpSp>
        <p:nvGrpSpPr>
          <p:cNvPr id="34" name="组合 33"/>
          <p:cNvGrpSpPr/>
          <p:nvPr/>
        </p:nvGrpSpPr>
        <p:grpSpPr>
          <a:xfrm>
            <a:off x="2642616" y="4006699"/>
            <a:ext cx="3154680" cy="1685753"/>
            <a:chOff x="868680" y="1865376"/>
            <a:chExt cx="3154680" cy="1685753"/>
          </a:xfrm>
        </p:grpSpPr>
        <p:sp>
          <p:nvSpPr>
            <p:cNvPr id="35" name="Shape 7"/>
            <p:cNvSpPr/>
            <p:nvPr/>
          </p:nvSpPr>
          <p:spPr>
            <a:xfrm>
              <a:off x="868680" y="1865376"/>
              <a:ext cx="3154680" cy="1685753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7DDD4"/>
              </a:solidFill>
              <a:prstDash val="solid"/>
            </a:ln>
            <a:effectLst>
              <a:outerShdw blurRad="19050" dist="12700" dir="2700000" algn="bl" rotWithShape="0">
                <a:srgbClr val="9AA5A0">
                  <a:alpha val="16000"/>
                </a:srgbClr>
              </a:outerShdw>
            </a:effectLst>
          </p:spPr>
        </p:sp>
        <p:sp>
          <p:nvSpPr>
            <p:cNvPr id="36" name="Text 8"/>
            <p:cNvSpPr/>
            <p:nvPr/>
          </p:nvSpPr>
          <p:spPr>
            <a:xfrm>
              <a:off x="1088136" y="2139696"/>
              <a:ext cx="1906524" cy="21945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7212B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Self-Consistency</a:t>
              </a:r>
              <a:endParaRPr lang="en-US" sz="1600" dirty="0"/>
            </a:p>
          </p:txBody>
        </p:sp>
        <p:sp>
          <p:nvSpPr>
            <p:cNvPr id="37" name="Text 9"/>
            <p:cNvSpPr/>
            <p:nvPr/>
          </p:nvSpPr>
          <p:spPr>
            <a:xfrm>
              <a:off x="1088136" y="2578608"/>
              <a:ext cx="2651760" cy="4206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sz="1400" dirty="0">
                  <a:solidFill>
                    <a:srgbClr val="334155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Multiple sampling and voting</a:t>
              </a:r>
              <a:endParaRPr lang="en-US" sz="1400" dirty="0"/>
            </a:p>
          </p:txBody>
        </p:sp>
        <p:sp>
          <p:nvSpPr>
            <p:cNvPr id="38" name="Shape 10"/>
            <p:cNvSpPr/>
            <p:nvPr/>
          </p:nvSpPr>
          <p:spPr>
            <a:xfrm>
              <a:off x="1088136" y="3218688"/>
              <a:ext cx="1005840" cy="0"/>
            </a:xfrm>
            <a:prstGeom prst="line">
              <a:avLst/>
            </a:prstGeom>
            <a:noFill/>
            <a:ln w="17780">
              <a:solidFill>
                <a:srgbClr val="0F766E"/>
              </a:solidFill>
              <a:prstDash val="solid"/>
            </a:ln>
          </p:spPr>
        </p:sp>
      </p:grpSp>
      <p:grpSp>
        <p:nvGrpSpPr>
          <p:cNvPr id="39" name="组合 38"/>
          <p:cNvGrpSpPr/>
          <p:nvPr/>
        </p:nvGrpSpPr>
        <p:grpSpPr>
          <a:xfrm>
            <a:off x="6665976" y="4002023"/>
            <a:ext cx="3154680" cy="1685753"/>
            <a:chOff x="868680" y="1865376"/>
            <a:chExt cx="3154680" cy="1685753"/>
          </a:xfrm>
        </p:grpSpPr>
        <p:sp>
          <p:nvSpPr>
            <p:cNvPr id="40" name="Shape 7"/>
            <p:cNvSpPr/>
            <p:nvPr/>
          </p:nvSpPr>
          <p:spPr>
            <a:xfrm>
              <a:off x="868680" y="1865376"/>
              <a:ext cx="3154680" cy="1685753"/>
            </a:xfrm>
            <a:prstGeom prst="roundRect">
              <a:avLst>
                <a:gd name="adj" fmla="val 3846"/>
              </a:avLst>
            </a:prstGeom>
            <a:solidFill>
              <a:srgbClr val="FFFFFF"/>
            </a:solidFill>
            <a:ln w="12700">
              <a:solidFill>
                <a:srgbClr val="D7DDD4"/>
              </a:solidFill>
              <a:prstDash val="solid"/>
            </a:ln>
            <a:effectLst>
              <a:outerShdw blurRad="19050" dist="12700" dir="2700000" algn="bl" rotWithShape="0">
                <a:srgbClr val="9AA5A0">
                  <a:alpha val="16000"/>
                </a:srgbClr>
              </a:outerShdw>
            </a:effectLst>
          </p:spPr>
        </p:sp>
        <p:sp>
          <p:nvSpPr>
            <p:cNvPr id="41" name="Text 8"/>
            <p:cNvSpPr/>
            <p:nvPr/>
          </p:nvSpPr>
          <p:spPr>
            <a:xfrm>
              <a:off x="1088135" y="2139696"/>
              <a:ext cx="1500743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7212B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Plan-and-Solve</a:t>
              </a:r>
              <a:endParaRPr lang="en-US" sz="1600" dirty="0"/>
            </a:p>
          </p:txBody>
        </p:sp>
        <p:sp>
          <p:nvSpPr>
            <p:cNvPr id="42" name="Text 9"/>
            <p:cNvSpPr/>
            <p:nvPr/>
          </p:nvSpPr>
          <p:spPr>
            <a:xfrm>
              <a:off x="1088136" y="2578608"/>
              <a:ext cx="2651760" cy="42062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sz="1400" dirty="0">
                  <a:solidFill>
                    <a:srgbClr val="334155"/>
                  </a:solidFill>
                  <a:latin typeface="PingFang SC" pitchFamily="34" charset="0"/>
                  <a:ea typeface="PingFang SC" pitchFamily="34" charset="-122"/>
                  <a:cs typeface="PingFang SC" pitchFamily="34" charset="-120"/>
                </a:rPr>
                <a:t>Make a plan then solve</a:t>
              </a:r>
              <a:endParaRPr lang="en-US" sz="1400" dirty="0"/>
            </a:p>
          </p:txBody>
        </p:sp>
        <p:sp>
          <p:nvSpPr>
            <p:cNvPr id="43" name="Shape 10"/>
            <p:cNvSpPr/>
            <p:nvPr/>
          </p:nvSpPr>
          <p:spPr>
            <a:xfrm>
              <a:off x="1088136" y="3218688"/>
              <a:ext cx="1005840" cy="0"/>
            </a:xfrm>
            <a:prstGeom prst="line">
              <a:avLst/>
            </a:prstGeom>
            <a:noFill/>
            <a:ln w="17780">
              <a:solidFill>
                <a:srgbClr val="0F766E"/>
              </a:solidFill>
              <a:prstDash val="solid"/>
            </a:ln>
          </p:spPr>
        </p:sp>
      </p:grpSp>
      <p:sp>
        <p:nvSpPr>
          <p:cNvPr id="44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METHOD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 Design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grpSp>
        <p:nvGrpSpPr>
          <p:cNvPr id="7" name="组合 6"/>
          <p:cNvGrpSpPr/>
          <p:nvPr/>
        </p:nvGrpSpPr>
        <p:grpSpPr>
          <a:xfrm>
            <a:off x="859537" y="1933517"/>
            <a:ext cx="658368" cy="658368"/>
            <a:chOff x="914400" y="2523744"/>
            <a:chExt cx="658368" cy="658368"/>
          </a:xfrm>
        </p:grpSpPr>
        <p:sp>
          <p:nvSpPr>
            <p:cNvPr id="10" name="Shape 8"/>
            <p:cNvSpPr/>
            <p:nvPr/>
          </p:nvSpPr>
          <p:spPr>
            <a:xfrm>
              <a:off x="914400" y="2523744"/>
              <a:ext cx="658368" cy="658368"/>
            </a:xfrm>
            <a:prstGeom prst="ellipse">
              <a:avLst/>
            </a:prstGeom>
            <a:solidFill>
              <a:srgbClr val="D9EEEA"/>
            </a:solidFill>
            <a:ln w="12700">
              <a:solidFill>
                <a:srgbClr val="D9EEEA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042416" y="2715768"/>
              <a:ext cx="384048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5E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01</a:t>
              </a:r>
              <a:endParaRPr lang="en-US" sz="12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841247" y="2752345"/>
            <a:ext cx="3180399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grpSp>
        <p:nvGrpSpPr>
          <p:cNvPr id="14" name="组合 13"/>
          <p:cNvGrpSpPr/>
          <p:nvPr/>
        </p:nvGrpSpPr>
        <p:grpSpPr>
          <a:xfrm>
            <a:off x="4596385" y="1933517"/>
            <a:ext cx="658368" cy="658368"/>
            <a:chOff x="3703320" y="2523744"/>
            <a:chExt cx="658368" cy="658368"/>
          </a:xfrm>
        </p:grpSpPr>
        <p:sp>
          <p:nvSpPr>
            <p:cNvPr id="16" name="Shape 14"/>
            <p:cNvSpPr/>
            <p:nvPr/>
          </p:nvSpPr>
          <p:spPr>
            <a:xfrm>
              <a:off x="3703320" y="2523744"/>
              <a:ext cx="658368" cy="658368"/>
            </a:xfrm>
            <a:prstGeom prst="ellipse">
              <a:avLst/>
            </a:prstGeom>
            <a:solidFill>
              <a:srgbClr val="D9EEEA"/>
            </a:solidFill>
            <a:ln w="12700">
              <a:solidFill>
                <a:srgbClr val="D9EEEA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831336" y="2715768"/>
              <a:ext cx="384048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5E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02</a:t>
              </a:r>
              <a:endParaRPr lang="en-US" sz="12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4596385" y="2783909"/>
            <a:ext cx="3180399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grpSp>
        <p:nvGrpSpPr>
          <p:cNvPr id="20" name="组合 19"/>
          <p:cNvGrpSpPr/>
          <p:nvPr/>
        </p:nvGrpSpPr>
        <p:grpSpPr>
          <a:xfrm>
            <a:off x="8351524" y="1933517"/>
            <a:ext cx="658368" cy="658368"/>
            <a:chOff x="6492240" y="2523744"/>
            <a:chExt cx="658368" cy="658368"/>
          </a:xfrm>
        </p:grpSpPr>
        <p:sp>
          <p:nvSpPr>
            <p:cNvPr id="22" name="Shape 20"/>
            <p:cNvSpPr/>
            <p:nvPr/>
          </p:nvSpPr>
          <p:spPr>
            <a:xfrm>
              <a:off x="6492240" y="2523744"/>
              <a:ext cx="658368" cy="658368"/>
            </a:xfrm>
            <a:prstGeom prst="ellipse">
              <a:avLst/>
            </a:prstGeom>
            <a:solidFill>
              <a:srgbClr val="D9EEEA"/>
            </a:solidFill>
            <a:ln w="12700">
              <a:solidFill>
                <a:srgbClr val="D9EEEA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620256" y="2715768"/>
              <a:ext cx="384048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15E59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03</a:t>
              </a:r>
              <a:endParaRPr lang="en-US" sz="1200" dirty="0"/>
            </a:p>
          </p:txBody>
        </p:sp>
      </p:grpSp>
      <p:sp>
        <p:nvSpPr>
          <p:cNvPr id="24" name="Shape 22"/>
          <p:cNvSpPr/>
          <p:nvPr/>
        </p:nvSpPr>
        <p:spPr>
          <a:xfrm>
            <a:off x="8351523" y="2752346"/>
            <a:ext cx="3297933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1248" y="4590287"/>
            <a:ext cx="10789920" cy="768096"/>
          </a:xfrm>
          <a:prstGeom prst="roundRect">
            <a:avLst>
              <a:gd name="adj" fmla="val 9524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4801476"/>
            <a:ext cx="10396728" cy="3648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Overall, prompt design is a critical factor in enhancing reasoning ability.</a:t>
            </a:r>
            <a:endParaRPr lang="en-US" altLang="zh-CN" sz="1400" dirty="0">
              <a:solidFill>
                <a:srgbClr val="334155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088135" y="2752345"/>
            <a:ext cx="2651760" cy="1353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system is built around a unified interface that integrates all prompting methods.</a:t>
            </a:r>
            <a:endParaRPr lang="en-US" altLang="zh-CN" sz="1400" dirty="0">
              <a:solidFill>
                <a:srgbClr val="334155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  <p:sp>
        <p:nvSpPr>
          <p:cNvPr id="31" name="Text 9"/>
          <p:cNvSpPr/>
          <p:nvPr/>
        </p:nvSpPr>
        <p:spPr>
          <a:xfrm>
            <a:off x="4860704" y="2752344"/>
            <a:ext cx="2651760" cy="1353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It handles prompt construction, model generation, and answer extraction in a consistent pipeline.</a:t>
            </a:r>
            <a:endParaRPr lang="en-US" altLang="zh-CN" sz="1400" dirty="0">
              <a:solidFill>
                <a:srgbClr val="334155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  <p:sp>
        <p:nvSpPr>
          <p:cNvPr id="34" name="Text 9"/>
          <p:cNvSpPr/>
          <p:nvPr/>
        </p:nvSpPr>
        <p:spPr>
          <a:xfrm>
            <a:off x="8698991" y="2752347"/>
            <a:ext cx="2651760" cy="13533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4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This modular design improves reproducibility and allows easy extension for future methods.</a:t>
            </a:r>
            <a:endParaRPr lang="en-US" altLang="zh-CN" sz="1400" dirty="0">
              <a:solidFill>
                <a:srgbClr val="334155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  <p:sp>
        <p:nvSpPr>
          <p:cNvPr id="35" name="Shape 7"/>
          <p:cNvSpPr/>
          <p:nvPr/>
        </p:nvSpPr>
        <p:spPr>
          <a:xfrm>
            <a:off x="3498560" y="2298150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36" name="Shape 7"/>
          <p:cNvSpPr/>
          <p:nvPr/>
        </p:nvSpPr>
        <p:spPr>
          <a:xfrm>
            <a:off x="7249313" y="2298150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2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3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4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5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6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7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8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9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0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1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2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3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4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5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6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7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8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ags/tag19.xml><?xml version="1.0" encoding="utf-8"?>
<p:tagLst xmlns:p="http://schemas.openxmlformats.org/presentationml/2006/main">
  <p:tag name="KSO_WM_DIAGRAM_VIRTUALLY_FRAME" val="{&quot;height&quot;:168.48,&quot;left&quot;:64.8,&quot;top&quot;:198.72,&quot;width&quot;:854.6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WPS 演示</Application>
  <PresentationFormat>宽屏</PresentationFormat>
  <Paragraphs>70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0" baseType="lpstr">
      <vt:lpstr>Arial</vt:lpstr>
      <vt:lpstr>宋体</vt:lpstr>
      <vt:lpstr>Wingdings</vt:lpstr>
      <vt:lpstr>PingFang SC</vt:lpstr>
      <vt:lpstr>Segoe Print</vt:lpstr>
      <vt:lpstr>PingFang SC</vt:lpstr>
      <vt:lpstr>PingFang SC</vt:lpstr>
      <vt:lpstr>Aptos</vt:lpstr>
      <vt:lpstr>Aptos</vt:lpstr>
      <vt:lpstr>Aptos</vt:lpstr>
      <vt:lpstr>Segoe UI</vt:lpstr>
      <vt:lpstr>微软雅黑</vt:lpstr>
      <vt:lpstr>Arial Unicode MS</vt:lpstr>
      <vt:lpstr>等线</vt:lpstr>
      <vt:lpstr>MingLiU-ExtB</vt:lpstr>
      <vt:lpstr>Calibri</vt:lpstr>
      <vt:lpstr>Office Theme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期末汇报模板_简洁版</dc:title>
  <dc:creator>OpenAI Codex</dc:creator>
  <dc:subject>期末汇报PPT模板</dc:subject>
  <cp:lastModifiedBy>Xyy</cp:lastModifiedBy>
  <cp:revision>9</cp:revision>
  <dcterms:created xsi:type="dcterms:W3CDTF">2026-04-11T10:37:00Z</dcterms:created>
  <dcterms:modified xsi:type="dcterms:W3CDTF">2026-04-14T17:15:31Z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9C4872DE4C9E402EA675C4FB6F5690EE_13</vt:lpwstr>
  </property>
  <property fmtid="{D5CDD505-2E9C-101B-9397-08002B2CF9AE}" pid="3" name="KSOProductBuildVer">
    <vt:lpwstr>2052-12.1.0.25225</vt:lpwstr>
  </property>
</Properties>
</file>