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62" r:id="rId4"/>
    <p:sldId id="260" r:id="rId6"/>
    <p:sldId id="261" r:id="rId7"/>
    <p:sldId id="264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F6E7D5"/>
    <a:srgbClr val="F6E8D7"/>
    <a:srgbClr val="F7F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0" Type="http://schemas.openxmlformats.org/officeDocument/2006/relationships/notesSlide" Target="../notesSlides/notesSlide5.xml"/><Relationship Id="rId3" Type="http://schemas.openxmlformats.org/officeDocument/2006/relationships/tags" Target="../tags/tag16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image" Target="../media/image13.svg"/><Relationship Id="rId25" Type="http://schemas.openxmlformats.org/officeDocument/2006/relationships/image" Target="../media/image12.png"/><Relationship Id="rId24" Type="http://schemas.openxmlformats.org/officeDocument/2006/relationships/tags" Target="../tags/tag31.xml"/><Relationship Id="rId23" Type="http://schemas.openxmlformats.org/officeDocument/2006/relationships/tags" Target="../tags/tag30.xml"/><Relationship Id="rId22" Type="http://schemas.openxmlformats.org/officeDocument/2006/relationships/tags" Target="../tags/tag29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tags" Target="../tags/tag15.xml"/><Relationship Id="rId19" Type="http://schemas.openxmlformats.org/officeDocument/2006/relationships/image" Target="../media/image11.svg"/><Relationship Id="rId18" Type="http://schemas.openxmlformats.org/officeDocument/2006/relationships/image" Target="../media/image10.png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73" y="785241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Experimental Setup and Methodology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865630"/>
            <a:ext cx="3154680" cy="4084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9" name="AutoShape 3"/>
          <p:cNvSpPr/>
          <p:nvPr/>
        </p:nvSpPr>
        <p:spPr>
          <a:xfrm>
            <a:off x="762000" y="1663700"/>
            <a:ext cx="3302000" cy="4432300"/>
          </a:xfrm>
          <a:prstGeom prst="roundRect">
            <a:avLst>
              <a:gd name="adj" fmla="val 4615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5"/>
          <p:cNvSpPr/>
          <p:nvPr/>
        </p:nvSpPr>
        <p:spPr>
          <a:xfrm>
            <a:off x="1106805" y="1951355"/>
            <a:ext cx="24606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Core Model Architecture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AutoShape 7"/>
          <p:cNvSpPr/>
          <p:nvPr/>
        </p:nvSpPr>
        <p:spPr>
          <a:xfrm>
            <a:off x="1016000" y="2794000"/>
            <a:ext cx="2794000" cy="2794635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8"/>
          <p:cNvSpPr/>
          <p:nvPr/>
        </p:nvSpPr>
        <p:spPr>
          <a:xfrm>
            <a:off x="1206500" y="2984500"/>
            <a:ext cx="2413000" cy="30480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Qwen2.5-Math-1.5B</a:t>
            </a:r>
            <a:endParaRPr lang="en-US" sz="14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1153795" y="3365500"/>
            <a:ext cx="2413000" cy="18103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A small language model (SLM) optimized specifically for mathematical reasoning tasks, which maintains excellent logical reasoning capabilities while remaining lightweight.</a:t>
            </a:r>
            <a:endParaRPr lang="en-US" altLang="zh-C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AutoShape 12"/>
          <p:cNvSpPr/>
          <p:nvPr/>
        </p:nvSpPr>
        <p:spPr>
          <a:xfrm>
            <a:off x="4518660" y="1663700"/>
            <a:ext cx="3302000" cy="4432300"/>
          </a:xfrm>
          <a:prstGeom prst="roundRect">
            <a:avLst>
              <a:gd name="adj" fmla="val 4615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14"/>
          <p:cNvSpPr/>
          <p:nvPr/>
        </p:nvSpPr>
        <p:spPr>
          <a:xfrm>
            <a:off x="5026660" y="1951355"/>
            <a:ext cx="228663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Evaluation Dataset Configuration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AutoShape 16"/>
          <p:cNvSpPr/>
          <p:nvPr/>
        </p:nvSpPr>
        <p:spPr>
          <a:xfrm>
            <a:off x="4752340" y="2794000"/>
            <a:ext cx="279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17"/>
          <p:cNvSpPr/>
          <p:nvPr/>
        </p:nvSpPr>
        <p:spPr>
          <a:xfrm>
            <a:off x="4889500" y="2794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GSM8K </a:t>
            </a:r>
            <a:endParaRPr lang="en-US" sz="14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18"/>
          <p:cNvSpPr/>
          <p:nvPr/>
        </p:nvSpPr>
        <p:spPr>
          <a:xfrm>
            <a:off x="4889500" y="3155950"/>
            <a:ext cx="2413000" cy="781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8000"/>
              </a:lnSpc>
              <a:buClrTx/>
              <a:buSzTx/>
              <a:buFontTx/>
              <a:defRPr/>
            </a:pPr>
            <a:r>
              <a:rPr lang="en-US" altLang="zh-CN" sz="1200">
                <a:latin typeface="Arial" panose="020B0604020202020204" pitchFamily="34" charset="0"/>
                <a:cs typeface="Arial" panose="020B0604020202020204" pitchFamily="34" charset="0"/>
              </a:rPr>
              <a:t>Contains 500 high-quality primary school math word problems, focusing on basic arithmetic operations and simple logic.</a:t>
            </a:r>
            <a:endParaRPr lang="en-US" altLang="zh-C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AutoShape 19"/>
          <p:cNvSpPr/>
          <p:nvPr/>
        </p:nvSpPr>
        <p:spPr>
          <a:xfrm>
            <a:off x="4752340" y="4318000"/>
            <a:ext cx="2794000" cy="1546225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20"/>
          <p:cNvSpPr/>
          <p:nvPr/>
        </p:nvSpPr>
        <p:spPr>
          <a:xfrm>
            <a:off x="4863465" y="4318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MATH500</a:t>
            </a:r>
            <a:r>
              <a:rPr lang="en-US" sz="14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100"/>
          </a:p>
        </p:txBody>
      </p:sp>
      <p:sp>
        <p:nvSpPr>
          <p:cNvPr id="42" name="AutoShape 21"/>
          <p:cNvSpPr/>
          <p:nvPr/>
        </p:nvSpPr>
        <p:spPr>
          <a:xfrm>
            <a:off x="4889500" y="4627245"/>
            <a:ext cx="2413000" cy="12122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8000"/>
              </a:lnSpc>
              <a:buClrTx/>
              <a:buSzTx/>
              <a:buFontTx/>
              <a:defRPr/>
            </a:pPr>
            <a:r>
              <a:rPr lang="en-US" altLang="zh-CN" sz="1200">
                <a:latin typeface="Arial" panose="020B0604020202020204" pitchFamily="34" charset="0"/>
                <a:cs typeface="Arial" panose="020B0604020202020204" pitchFamily="34" charset="0"/>
              </a:rPr>
              <a:t>500 carefully selected competition-level difficult problems, covering high school and college mathematics knowledge, challenging the upper limit of the model's complex reasoning.</a:t>
            </a:r>
            <a:endParaRPr lang="en-US" altLang="zh-C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AutoShape 22"/>
          <p:cNvSpPr/>
          <p:nvPr/>
        </p:nvSpPr>
        <p:spPr>
          <a:xfrm>
            <a:off x="8128000" y="1663700"/>
            <a:ext cx="3302000" cy="4432300"/>
          </a:xfrm>
          <a:prstGeom prst="roundRect">
            <a:avLst>
              <a:gd name="adj" fmla="val 4615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24"/>
          <p:cNvSpPr/>
          <p:nvPr/>
        </p:nvSpPr>
        <p:spPr>
          <a:xfrm>
            <a:off x="8772525" y="1951355"/>
            <a:ext cx="2032000" cy="4857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Prompt Reasoning Strategies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26"/>
          <p:cNvSpPr/>
          <p:nvPr>
            <p:custDataLst>
              <p:tags r:id="rId1"/>
            </p:custDataLst>
          </p:nvPr>
        </p:nvSpPr>
        <p:spPr>
          <a:xfrm>
            <a:off x="8382000" y="2794000"/>
            <a:ext cx="2794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127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27"/>
          <p:cNvSpPr/>
          <p:nvPr>
            <p:custDataLst>
              <p:tags r:id="rId2"/>
            </p:custDataLst>
          </p:nvPr>
        </p:nvSpPr>
        <p:spPr>
          <a:xfrm>
            <a:off x="8572500" y="28448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CoT (Chain-of-Thought)</a:t>
            </a:r>
            <a:endParaRPr lang="en-US" sz="14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28"/>
          <p:cNvSpPr/>
          <p:nvPr>
            <p:custDataLst>
              <p:tags r:id="rId3"/>
            </p:custDataLst>
          </p:nvPr>
        </p:nvSpPr>
        <p:spPr>
          <a:xfrm>
            <a:off x="8572500" y="3238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altLang="zh-CN" sz="1200" b="0" i="0" u="none" strike="noStrike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Guides the model to decompose problems step-by-step and output detailed reasoning paths.</a:t>
            </a:r>
            <a:endParaRPr lang="en-US" altLang="zh-CN" sz="1200" b="0" i="0" u="none" strike="noStrike">
              <a:solidFill>
                <a:schemeClr val="tx1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48" name="AutoShape 29"/>
          <p:cNvSpPr/>
          <p:nvPr>
            <p:custDataLst>
              <p:tags r:id="rId4"/>
            </p:custDataLst>
          </p:nvPr>
        </p:nvSpPr>
        <p:spPr>
          <a:xfrm>
            <a:off x="8382000" y="3873500"/>
            <a:ext cx="2794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127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30"/>
          <p:cNvSpPr/>
          <p:nvPr>
            <p:custDataLst>
              <p:tags r:id="rId5"/>
            </p:custDataLst>
          </p:nvPr>
        </p:nvSpPr>
        <p:spPr>
          <a:xfrm>
            <a:off x="8572500" y="38989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Least-to-Most</a:t>
            </a:r>
            <a:endParaRPr lang="en-US" sz="14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0" name="AutoShape 31"/>
          <p:cNvSpPr/>
          <p:nvPr>
            <p:custDataLst>
              <p:tags r:id="rId6"/>
            </p:custDataLst>
          </p:nvPr>
        </p:nvSpPr>
        <p:spPr>
          <a:xfrm>
            <a:off x="8572500" y="431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altLang="zh-CN" sz="1200"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Decomposes difficult problems into a sequence of solvable sub-problems, progressing step by step.</a:t>
            </a:r>
            <a:endParaRPr lang="en-US" altLang="zh-CN" sz="1200"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  <a:sym typeface="Noto Sans SC" panose="020B0200000000000000" charset="-122"/>
            </a:endParaRPr>
          </a:p>
          <a:p>
            <a:pPr indent="0" algn="l">
              <a:lnSpc>
                <a:spcPct val="92000"/>
              </a:lnSpc>
              <a:defRPr/>
            </a:pPr>
            <a:endParaRPr lang="en-US" altLang="zh-CN" sz="100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1" name="AutoShape 32"/>
          <p:cNvSpPr/>
          <p:nvPr>
            <p:custDataLst>
              <p:tags r:id="rId7"/>
            </p:custDataLst>
          </p:nvPr>
        </p:nvSpPr>
        <p:spPr>
          <a:xfrm>
            <a:off x="8382000" y="4953000"/>
            <a:ext cx="2794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127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AutoShape 33"/>
          <p:cNvSpPr/>
          <p:nvPr>
            <p:custDataLst>
              <p:tags r:id="rId8"/>
            </p:custDataLst>
          </p:nvPr>
        </p:nvSpPr>
        <p:spPr>
          <a:xfrm>
            <a:off x="8559800" y="49530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Self-Consistency (k=5)</a:t>
            </a:r>
            <a:endParaRPr lang="en-US" sz="14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3" name="AutoShape 34"/>
          <p:cNvSpPr/>
          <p:nvPr>
            <p:custDataLst>
              <p:tags r:id="rId9"/>
            </p:custDataLst>
          </p:nvPr>
        </p:nvSpPr>
        <p:spPr>
          <a:xfrm>
            <a:off x="8572500" y="5397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altLang="zh-CN" sz="1200"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Generates multiple reasoning paths and determines the final answer through a "majority voting" mechanism.</a:t>
            </a:r>
            <a:endParaRPr lang="en-US" altLang="zh-CN" sz="1200"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RESULTS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959231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Experimental Results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2480" y="1807210"/>
            <a:ext cx="6991350" cy="4025265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1"/>
            </p:custDataLst>
          </p:nvPr>
        </p:nvSpPr>
        <p:spPr>
          <a:xfrm>
            <a:off x="8158480" y="2400935"/>
            <a:ext cx="3070225" cy="91376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6" name="Text 14"/>
          <p:cNvSpPr/>
          <p:nvPr>
            <p:custDataLst>
              <p:tags r:id="rId2"/>
            </p:custDataLst>
          </p:nvPr>
        </p:nvSpPr>
        <p:spPr>
          <a:xfrm>
            <a:off x="9004935" y="272999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2200" dirty="0"/>
          </a:p>
        </p:txBody>
      </p:sp>
      <p:sp>
        <p:nvSpPr>
          <p:cNvPr id="18" name="Shape 16"/>
          <p:cNvSpPr/>
          <p:nvPr>
            <p:custDataLst>
              <p:tags r:id="rId3"/>
            </p:custDataLst>
          </p:nvPr>
        </p:nvSpPr>
        <p:spPr>
          <a:xfrm>
            <a:off x="8158480" y="4269740"/>
            <a:ext cx="3070225" cy="1051560"/>
          </a:xfrm>
          <a:prstGeom prst="roundRect">
            <a:avLst>
              <a:gd name="adj" fmla="val 6667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20" name="Text 18"/>
          <p:cNvSpPr/>
          <p:nvPr>
            <p:custDataLst>
              <p:tags r:id="rId4"/>
            </p:custDataLst>
          </p:nvPr>
        </p:nvSpPr>
        <p:spPr>
          <a:xfrm>
            <a:off x="8322310" y="4597400"/>
            <a:ext cx="28282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Avg_response_length</a:t>
            </a:r>
            <a:endParaRPr lang="en-US" sz="22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85" y="2390775"/>
            <a:ext cx="6501130" cy="29127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Analysis and Discussion of Results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34" name="AutoShape 4"/>
          <p:cNvSpPr/>
          <p:nvPr/>
        </p:nvSpPr>
        <p:spPr>
          <a:xfrm>
            <a:off x="950595" y="1861185"/>
            <a:ext cx="500253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Performance of Prompt Strategies on Different Datasets</a:t>
            </a:r>
            <a:endParaRPr lang="en-US" altLang="zh-CN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2286000"/>
            <a:ext cx="4699000" cy="355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7" name="AutoShape 8"/>
          <p:cNvSpPr/>
          <p:nvPr/>
        </p:nvSpPr>
        <p:spPr>
          <a:xfrm>
            <a:off x="6343015" y="1955800"/>
            <a:ext cx="502285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 Method Achieves Significant Advantages</a:t>
            </a:r>
            <a:endParaRPr lang="en-US" altLang="zh-CN" sz="20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10"/>
          <p:cNvSpPr/>
          <p:nvPr/>
        </p:nvSpPr>
        <p:spPr>
          <a:xfrm>
            <a:off x="6477000" y="2603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2563E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11"/>
          <p:cNvSpPr/>
          <p:nvPr/>
        </p:nvSpPr>
        <p:spPr>
          <a:xfrm>
            <a:off x="6667500" y="2794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61.8%</a:t>
            </a:r>
            <a:endParaRPr lang="en-US" sz="32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12"/>
          <p:cNvSpPr/>
          <p:nvPr/>
        </p:nvSpPr>
        <p:spPr>
          <a:xfrm>
            <a:off x="7937500" y="2724150"/>
            <a:ext cx="3223260" cy="1000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Best Performance on the GSM8K Dataset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l">
              <a:lnSpc>
                <a:spcPct val="108000"/>
              </a:lnSpc>
            </a:pPr>
            <a:r>
              <a:rPr lang="en-US" altLang="zh-CN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Significantly outperforms CoT (54.8%) and Least-to-Most (45.8%), with obvious gains in moderately difficult reasoning tasks.</a:t>
            </a:r>
            <a:endParaRPr lang="en-US" altLang="zh-CN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13"/>
          <p:cNvSpPr/>
          <p:nvPr/>
        </p:nvSpPr>
        <p:spPr>
          <a:xfrm>
            <a:off x="6477000" y="4064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2563E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14"/>
          <p:cNvSpPr/>
          <p:nvPr/>
        </p:nvSpPr>
        <p:spPr>
          <a:xfrm>
            <a:off x="6667500" y="4254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27.6%</a:t>
            </a:r>
            <a:endParaRPr lang="en-US" sz="32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15"/>
          <p:cNvSpPr/>
          <p:nvPr/>
        </p:nvSpPr>
        <p:spPr>
          <a:xfrm>
            <a:off x="7938135" y="4318000"/>
            <a:ext cx="308102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200" b="1" i="0" u="none" strike="noStrike">
                <a:latin typeface="Arial" panose="020B0604020202020204" pitchFamily="34" charset="0"/>
                <a:cs typeface="Arial" panose="020B0604020202020204" pitchFamily="34" charset="0"/>
                <a:sym typeface="Noto Sans SC" panose="020B0200000000000000" charset="-122"/>
              </a:rPr>
              <a:t>Maintaining the Lead on the MATH500 Dataset</a:t>
            </a:r>
            <a:endParaRPr lang="en-US" altLang="zh-CN" sz="1200" b="1" i="0" u="none" strike="noStrike">
              <a:latin typeface="Arial" panose="020B0604020202020204" pitchFamily="34" charset="0"/>
              <a:cs typeface="Arial" panose="020B0604020202020204" pitchFamily="34" charset="0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Still leading with an accuracy of 27.6% on high-difficulty competition-level questions, proving the robustness of the multi-path voting mechanism.</a:t>
            </a:r>
            <a:endParaRPr lang="en-US" altLang="zh-CN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105" y="740410"/>
            <a:ext cx="7788275" cy="598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Key Results: Response Length Comparison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2" name="AutoShape 4"/>
          <p:cNvSpPr/>
          <p:nvPr/>
        </p:nvSpPr>
        <p:spPr>
          <a:xfrm>
            <a:off x="1183640" y="1962785"/>
            <a:ext cx="4699000" cy="5473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Comparison of Average Response Length Across Different Prompt Methods (Number of Characters)</a:t>
            </a:r>
            <a:endParaRPr lang="en-US" altLang="zh-CN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920" y="2510155"/>
            <a:ext cx="4201795" cy="317944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7"/>
          <p:cNvSpPr/>
          <p:nvPr/>
        </p:nvSpPr>
        <p:spPr>
          <a:xfrm>
            <a:off x="6529705" y="1899285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Cost Analysis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8"/>
          <p:cNvSpPr/>
          <p:nvPr/>
        </p:nvSpPr>
        <p:spPr>
          <a:xfrm>
            <a:off x="6477000" y="2413000"/>
            <a:ext cx="4699000" cy="1143000"/>
          </a:xfrm>
          <a:prstGeom prst="roundRect">
            <a:avLst>
              <a:gd name="adj" fmla="val 13333"/>
            </a:avLst>
          </a:prstGeom>
          <a:noFill/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6E7D5"/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2"/>
          <p:cNvSpPr/>
          <p:nvPr/>
        </p:nvSpPr>
        <p:spPr>
          <a:xfrm>
            <a:off x="6477000" y="3810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3"/>
          <p:cNvSpPr/>
          <p:nvPr/>
        </p:nvSpPr>
        <p:spPr>
          <a:xfrm>
            <a:off x="6731000" y="3937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The comparison shows that the average response length of CoT and Least-to-Most is only around 2,000 characters. In contrast, the response length of Self-Consistency is more than 5 times longer. This significant increase is the inevitable cost of achieving high accuracy by generating multiple reasoning paths.</a:t>
            </a:r>
            <a:endParaRPr lang="en-US" altLang="zh-C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AutoShape 15"/>
          <p:cNvSpPr/>
          <p:nvPr/>
        </p:nvSpPr>
        <p:spPr>
          <a:xfrm>
            <a:off x="6433185" y="5113020"/>
            <a:ext cx="469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3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Cost of High Accuracy: Significant Consumption of Computational Resources and Time</a:t>
            </a:r>
            <a:endParaRPr lang="en-US" altLang="zh-CN" sz="13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0" y="2667000"/>
            <a:ext cx="635000" cy="635000"/>
          </a:xfrm>
          <a:prstGeom prst="rect">
            <a:avLst/>
          </a:prstGeom>
        </p:spPr>
      </p:pic>
      <p:sp>
        <p:nvSpPr>
          <p:cNvPr id="23" name="AutoShape 10"/>
          <p:cNvSpPr/>
          <p:nvPr/>
        </p:nvSpPr>
        <p:spPr>
          <a:xfrm>
            <a:off x="7620000" y="26035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Average Response Length of Self-Consistency</a:t>
            </a:r>
            <a:endParaRPr lang="en-US" altLang="zh-CN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AutoShape 11"/>
          <p:cNvSpPr/>
          <p:nvPr/>
        </p:nvSpPr>
        <p:spPr>
          <a:xfrm>
            <a:off x="7620000" y="2984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 10200 </a:t>
            </a:r>
            <a:r>
              <a:rPr lang="en-US" altLang="zh-CN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Characters</a:t>
            </a:r>
            <a:endParaRPr lang="en-US" altLang="zh-CN" sz="24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18"/>
          <p:cNvSpPr/>
          <p:nvPr>
            <p:custDataLst>
              <p:tags r:id="rId1"/>
            </p:custDataLst>
          </p:nvPr>
        </p:nvSpPr>
        <p:spPr>
          <a:xfrm>
            <a:off x="762000" y="3683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18"/>
          <p:cNvSpPr/>
          <p:nvPr>
            <p:custDataLst>
              <p:tags r:id="rId2"/>
            </p:custDataLst>
          </p:nvPr>
        </p:nvSpPr>
        <p:spPr>
          <a:xfrm>
            <a:off x="6280150" y="15875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18"/>
          <p:cNvSpPr/>
          <p:nvPr>
            <p:custDataLst>
              <p:tags r:id="rId3"/>
            </p:custDataLst>
          </p:nvPr>
        </p:nvSpPr>
        <p:spPr>
          <a:xfrm>
            <a:off x="774700" y="15875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11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Conclusion and Analysis</a:t>
            </a:r>
            <a:endParaRPr lang="en-US" sz="1100"/>
          </a:p>
        </p:txBody>
      </p:sp>
      <p:sp>
        <p:nvSpPr>
          <p:cNvPr id="12" name="AutoShape 4"/>
          <p:cNvSpPr/>
          <p:nvPr>
            <p:custDataLst>
              <p:tags r:id="rId4"/>
            </p:custDataLst>
          </p:nvPr>
        </p:nvSpPr>
        <p:spPr>
          <a:xfrm>
            <a:off x="1016000" y="1841500"/>
            <a:ext cx="812800" cy="812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1900" y="2057400"/>
            <a:ext cx="381000" cy="381000"/>
          </a:xfrm>
          <a:prstGeom prst="rect">
            <a:avLst/>
          </a:prstGeom>
        </p:spPr>
      </p:pic>
      <p:sp>
        <p:nvSpPr>
          <p:cNvPr id="14" name="AutoShape 6"/>
          <p:cNvSpPr/>
          <p:nvPr>
            <p:custDataLst>
              <p:tags r:id="rId8"/>
            </p:custDataLst>
          </p:nvPr>
        </p:nvSpPr>
        <p:spPr>
          <a:xfrm>
            <a:off x="2032000" y="1803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Self-Consistency is the Optimal Strategy</a:t>
            </a:r>
            <a:endParaRPr lang="en-US" sz="1100"/>
          </a:p>
        </p:txBody>
      </p:sp>
      <p:sp>
        <p:nvSpPr>
          <p:cNvPr id="15" name="AutoShape 7"/>
          <p:cNvSpPr/>
          <p:nvPr>
            <p:custDataLst>
              <p:tags r:id="rId9"/>
            </p:custDataLst>
          </p:nvPr>
        </p:nvSpPr>
        <p:spPr>
          <a:xfrm>
            <a:off x="2032000" y="2286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 small-scale models, the multi-path reasoning and voting mechanism significantly improve the solution accuracy across mathematical problems of varying difficulty.</a:t>
            </a:r>
            <a:endParaRPr lang="en-US" sz="1100"/>
          </a:p>
        </p:txBody>
      </p:sp>
      <p:sp>
        <p:nvSpPr>
          <p:cNvPr id="16" name="AutoShape 9"/>
          <p:cNvSpPr/>
          <p:nvPr>
            <p:custDataLst>
              <p:tags r:id="rId10"/>
            </p:custDataLst>
          </p:nvPr>
        </p:nvSpPr>
        <p:spPr>
          <a:xfrm>
            <a:off x="6477000" y="1841500"/>
            <a:ext cx="812800" cy="812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92900" y="2057400"/>
            <a:ext cx="381000" cy="381000"/>
          </a:xfrm>
          <a:prstGeom prst="rect">
            <a:avLst/>
          </a:prstGeom>
        </p:spPr>
      </p:pic>
      <p:sp>
        <p:nvSpPr>
          <p:cNvPr id="18" name="AutoShape 11"/>
          <p:cNvSpPr/>
          <p:nvPr>
            <p:custDataLst>
              <p:tags r:id="rId14"/>
            </p:custDataLst>
          </p:nvPr>
        </p:nvSpPr>
        <p:spPr>
          <a:xfrm>
            <a:off x="7493000" y="1803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Trade-off between Accuracy and Computational Cost</a:t>
            </a:r>
            <a:endParaRPr lang="en-US" sz="1100"/>
          </a:p>
        </p:txBody>
      </p:sp>
      <p:sp>
        <p:nvSpPr>
          <p:cNvPr id="19" name="AutoShape 12"/>
          <p:cNvSpPr/>
          <p:nvPr>
            <p:custDataLst>
              <p:tags r:id="rId15"/>
            </p:custDataLst>
          </p:nvPr>
        </p:nvSpPr>
        <p:spPr>
          <a:xfrm>
            <a:off x="7493000" y="2286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high accuracy of Self-Consistency comes at the cost of exponentially increased response length. In practical applications, a careful balance between accuracy and resource consumption is required.</a:t>
            </a:r>
            <a:endParaRPr lang="en-US" sz="1100"/>
          </a:p>
        </p:txBody>
      </p:sp>
      <p:sp>
        <p:nvSpPr>
          <p:cNvPr id="20" name="AutoShape 14"/>
          <p:cNvSpPr/>
          <p:nvPr>
            <p:custDataLst>
              <p:tags r:id="rId16"/>
            </p:custDataLst>
          </p:nvPr>
        </p:nvSpPr>
        <p:spPr>
          <a:xfrm>
            <a:off x="1016000" y="3873500"/>
            <a:ext cx="812800" cy="812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31900" y="4089400"/>
            <a:ext cx="381000" cy="381000"/>
          </a:xfrm>
          <a:prstGeom prst="rect">
            <a:avLst/>
          </a:prstGeom>
        </p:spPr>
      </p:pic>
      <p:sp>
        <p:nvSpPr>
          <p:cNvPr id="22" name="AutoShape 16"/>
          <p:cNvSpPr/>
          <p:nvPr>
            <p:custDataLst>
              <p:tags r:id="rId20"/>
            </p:custDataLst>
          </p:nvPr>
        </p:nvSpPr>
        <p:spPr>
          <a:xfrm>
            <a:off x="2032000" y="3835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Limitations of the Least-to-Most Method</a:t>
            </a:r>
            <a:endParaRPr lang="en-US" sz="1100"/>
          </a:p>
        </p:txBody>
      </p:sp>
      <p:sp>
        <p:nvSpPr>
          <p:cNvPr id="23" name="AutoShape 17"/>
          <p:cNvSpPr/>
          <p:nvPr>
            <p:custDataLst>
              <p:tags r:id="rId21"/>
            </p:custDataLst>
          </p:nvPr>
        </p:nvSpPr>
        <p:spPr>
          <a:xfrm>
            <a:off x="2032000" y="43180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This method performed poorest in the experiment. Its complex problem-decomposition strategy may be too difficult for a 1.5B parameter small model, failing to demonstrate its theoretical advantages.</a:t>
            </a:r>
            <a:endParaRPr lang="en-US" sz="1100"/>
          </a:p>
        </p:txBody>
      </p:sp>
      <p:sp>
        <p:nvSpPr>
          <p:cNvPr id="24" name="AutoShape 18"/>
          <p:cNvSpPr/>
          <p:nvPr>
            <p:custDataLst>
              <p:tags r:id="rId22"/>
            </p:custDataLst>
          </p:nvPr>
        </p:nvSpPr>
        <p:spPr>
          <a:xfrm>
            <a:off x="6223000" y="3683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19"/>
          <p:cNvSpPr/>
          <p:nvPr>
            <p:custDataLst>
              <p:tags r:id="rId23"/>
            </p:custDataLst>
          </p:nvPr>
        </p:nvSpPr>
        <p:spPr>
          <a:xfrm>
            <a:off x="6477000" y="3873500"/>
            <a:ext cx="812800" cy="812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92900" y="4089400"/>
            <a:ext cx="381000" cy="381000"/>
          </a:xfrm>
          <a:prstGeom prst="rect">
            <a:avLst/>
          </a:prstGeom>
        </p:spPr>
      </p:pic>
      <p:sp>
        <p:nvSpPr>
          <p:cNvPr id="27" name="AutoShape 21"/>
          <p:cNvSpPr/>
          <p:nvPr>
            <p:custDataLst>
              <p:tags r:id="rId27"/>
            </p:custDataLst>
          </p:nvPr>
        </p:nvSpPr>
        <p:spPr>
          <a:xfrm>
            <a:off x="7493000" y="3835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Correlation between Model Capacity and Dataset Difficulty</a:t>
            </a:r>
            <a:endParaRPr lang="en-US" sz="1100"/>
          </a:p>
        </p:txBody>
      </p:sp>
      <p:sp>
        <p:nvSpPr>
          <p:cNvPr id="28" name="AutoShape 22"/>
          <p:cNvSpPr/>
          <p:nvPr>
            <p:custDataLst>
              <p:tags r:id="rId28"/>
            </p:custDataLst>
          </p:nvPr>
        </p:nvSpPr>
        <p:spPr>
          <a:xfrm>
            <a:off x="7493000" y="43180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All methods showed significant performance degradation on the high-difficulty MATH500 dataset, indicating that the current model's capability is limited by its parameter size, making it difficult to tackle high-level mathematical competition problems.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2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3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4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5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6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7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8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9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10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2}"/>
</p:tagLst>
</file>

<file path=ppt/tags/tag11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2}"/>
</p:tagLst>
</file>

<file path=ppt/tags/tag12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2}"/>
</p:tagLst>
</file>

<file path=ppt/tags/tag13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2}"/>
</p:tagLst>
</file>

<file path=ppt/tags/tag14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15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16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17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18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19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20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21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22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23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24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25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26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27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28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29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30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31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32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33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3157</Words>
  <Application>WPS 演示</Application>
  <PresentationFormat>On-screen Show (16:9)</PresentationFormat>
  <Paragraphs>99</Paragraphs>
  <Slides>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宋体</vt:lpstr>
      <vt:lpstr>Wingdings</vt:lpstr>
      <vt:lpstr>Noto Sans SC</vt:lpstr>
      <vt:lpstr>PingFang SC</vt:lpstr>
      <vt:lpstr>Segoe Print</vt:lpstr>
      <vt:lpstr>PingFang SC</vt:lpstr>
      <vt:lpstr>PingFang SC</vt:lpstr>
      <vt:lpstr>Aptos</vt:lpstr>
      <vt:lpstr>Aptos</vt:lpstr>
      <vt:lpstr>Aptos</vt:lpstr>
      <vt:lpstr>微软雅黑</vt:lpstr>
      <vt:lpstr>Arial Unicode MS</vt:lpstr>
      <vt:lpstr>等线</vt:lpstr>
      <vt:lpstr>Segoe UI</vt:lpstr>
      <vt:lpstr>MingLiU-ExtB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期末汇报模板_简洁版</dc:title>
  <dc:creator>OpenAI Codex</dc:creator>
  <dc:subject>期末汇报PPT模板</dc:subject>
  <cp:lastModifiedBy>Xyy</cp:lastModifiedBy>
  <cp:revision>19</cp:revision>
  <dcterms:created xsi:type="dcterms:W3CDTF">2026-04-11T10:37:00Z</dcterms:created>
  <dcterms:modified xsi:type="dcterms:W3CDTF">2026-04-14T15:36:31Z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9C35A5D26C0C4202A6C6BB5ACEA4D7F8_13</vt:lpwstr>
  </property>
  <property fmtid="{D5CDD505-2E9C-101B-9397-08002B2CF9AE}" pid="3" name="KSOProductBuildVer">
    <vt:lpwstr>2052-12.1.0.25225</vt:lpwstr>
  </property>
</Properties>
</file>