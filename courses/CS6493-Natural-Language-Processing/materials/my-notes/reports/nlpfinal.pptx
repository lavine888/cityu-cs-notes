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92" r:id="rId4"/>
    <p:sldId id="272" r:id="rId6"/>
    <p:sldId id="268" r:id="rId7"/>
    <p:sldId id="256" r:id="rId8"/>
    <p:sldId id="264" r:id="rId9"/>
    <p:sldId id="265" r:id="rId10"/>
    <p:sldId id="266" r:id="rId11"/>
    <p:sldId id="269" r:id="rId12"/>
    <p:sldId id="275" r:id="rId13"/>
    <p:sldId id="276" r:id="rId14"/>
    <p:sldId id="277" r:id="rId15"/>
    <p:sldId id="273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3" r:id="rId30"/>
    <p:sldId id="294" r:id="rId31"/>
    <p:sldId id="29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.png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.png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1" Type="http://schemas.openxmlformats.org/officeDocument/2006/relationships/notesSlide" Target="../notesSlides/notesSlide17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9" Type="http://schemas.openxmlformats.org/officeDocument/2006/relationships/image" Target="../media/image1.png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image" Target="../media/image14.svg"/><Relationship Id="rId25" Type="http://schemas.openxmlformats.org/officeDocument/2006/relationships/image" Target="../media/image13.png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34.xml"/><Relationship Id="rId19" Type="http://schemas.openxmlformats.org/officeDocument/2006/relationships/image" Target="../media/image12.svg"/><Relationship Id="rId18" Type="http://schemas.openxmlformats.org/officeDocument/2006/relationships/image" Target="../media/image11.png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.png"/><Relationship Id="rId13" Type="http://schemas.openxmlformats.org/officeDocument/2006/relationships/image" Target="../media/image15.png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277745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Group:Lakers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29032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3200" b="1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Mathematical Reasoning Ability of Large Language Models</a:t>
            </a:r>
            <a:endParaRPr lang="en-US" sz="3200" b="1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endParaRPr lang="en-US" sz="3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8160" y="3601720"/>
            <a:ext cx="4165600" cy="250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1. LiXianlin 60003835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2. ZhangKaige 60065468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3. WangBoheng 59624730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4. Ho Ka Chun 55216809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5. HaoJiacheng59931279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6. Huangdehao 60021619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7. XieYi 59658209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Preprocessing </a:t>
            </a:r>
            <a:endParaRPr lang="en-US" sz="1100"/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429" y="1865757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FINAL PRESENTATION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Overview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Developed a preprocessing pipeline that converts multiple mathematics benchmarks into a unified JSONL format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Integrates GSM8K, Hendrycks MATH, MATH-500, and AIME 2024 datasets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Produces timestamped outputs to ensure 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</a:rPr>
              <a:t>the latest results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429" y="1792097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FINAL PRESENTATION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3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Pipeline Structure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Supports execution through both a command-line script and a Jupyter notebook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Both modes follow identical preprocessing logic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Allows full execution or step-by-step inspection of the pipeline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549" y="1865122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FINAL PRESENTATION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Answer Normalization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Applies helper functions to standardize numeric answers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Recovers final answers from solution text and LaTeX boxed formats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Handles common inconsistencies such as spacing and number separators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574" y="1865757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FINAL PRESENTATION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Dataset Handling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Processes GSM8K, Hendrycks MATH, and MATH-500 using dedicated functions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Assigns consistent subject and difficulty tags where applicable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Handles AIME 2024 via local CSV input due to </a:t>
            </a:r>
            <a:r>
              <a:rPr dirty="0" err="1">
                <a:latin typeface="微软雅黑" panose="020B0503020204020204" charset="-122"/>
                <a:ea typeface="微软雅黑" panose="020B0503020204020204" charset="-122"/>
              </a:rPr>
              <a:t>AoPS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 access restrictions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429" y="1865757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FINAL PRESENTATION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Creates a consistent and repeatable preprocessing workflow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Unifies multiple public math benchmarks under a single schema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lvl="1"/>
            <a:r>
              <a:rPr>
                <a:latin typeface="微软雅黑" panose="020B0503020204020204" charset="-122"/>
                <a:ea typeface="微软雅黑" panose="020B0503020204020204" charset="-122"/>
              </a:rPr>
              <a:t>Ensures completeness while respecting anti-scraping constraints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METHOD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Prompt</a:t>
            </a:r>
            <a:endParaRPr lang="en-US" sz="24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263347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91440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04241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01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82296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042416" y="3310126"/>
            <a:ext cx="19202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Designed and implemented prompting strategies</a:t>
            </a:r>
            <a:endParaRPr lang="en-US" sz="16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542239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370332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383133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02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361188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10"/>
            </p:custDataLst>
          </p:nvPr>
        </p:nvSpPr>
        <p:spPr>
          <a:xfrm>
            <a:off x="3904488" y="3310129"/>
            <a:ext cx="1920240" cy="1353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Unified prompt templates</a:t>
            </a:r>
            <a:endParaRPr lang="en-US" sz="16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1"/>
            </p:custDataLst>
          </p:nvPr>
        </p:nvSpPr>
        <p:spPr>
          <a:xfrm>
            <a:off x="821131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2"/>
            </p:custDataLst>
          </p:nvPr>
        </p:nvSpPr>
        <p:spPr>
          <a:xfrm>
            <a:off x="649224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3"/>
            </p:custDataLst>
          </p:nvPr>
        </p:nvSpPr>
        <p:spPr>
          <a:xfrm>
            <a:off x="662025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03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24" name="Shape 22"/>
          <p:cNvSpPr/>
          <p:nvPr>
            <p:custDataLst>
              <p:tags r:id="rId14"/>
            </p:custDataLst>
          </p:nvPr>
        </p:nvSpPr>
        <p:spPr>
          <a:xfrm>
            <a:off x="640080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/>
          <p:nvPr>
            <p:custDataLst>
              <p:tags r:id="rId15"/>
            </p:custDataLst>
          </p:nvPr>
        </p:nvSpPr>
        <p:spPr>
          <a:xfrm>
            <a:off x="6601968" y="3310128"/>
            <a:ext cx="1920240" cy="1353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Standardized answer format</a:t>
            </a:r>
            <a:endParaRPr lang="en-US" sz="16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16"/>
            </p:custDataLst>
          </p:nvPr>
        </p:nvSpPr>
        <p:spPr>
          <a:xfrm>
            <a:off x="928116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7"/>
            </p:custDataLst>
          </p:nvPr>
        </p:nvSpPr>
        <p:spPr>
          <a:xfrm>
            <a:off x="940917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04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29" name="Shape 27"/>
          <p:cNvSpPr/>
          <p:nvPr>
            <p:custDataLst>
              <p:tags r:id="rId18"/>
            </p:custDataLst>
          </p:nvPr>
        </p:nvSpPr>
        <p:spPr>
          <a:xfrm>
            <a:off x="918972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0" name="Text 28"/>
          <p:cNvSpPr/>
          <p:nvPr>
            <p:custDataLst>
              <p:tags r:id="rId19"/>
            </p:custDataLst>
          </p:nvPr>
        </p:nvSpPr>
        <p:spPr>
          <a:xfrm>
            <a:off x="9409176" y="3310126"/>
            <a:ext cx="1920240" cy="1353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Ensured reproducibility and extensibility</a:t>
            </a:r>
            <a:endParaRPr lang="en-US" sz="16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41248" y="5193792"/>
            <a:ext cx="10972800" cy="768096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5404981"/>
            <a:ext cx="10597896" cy="3507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Implemented and standardized multiple prompting methods to support consistent and comparable experiments.</a:t>
            </a:r>
            <a:endParaRPr lang="en-US" altLang="zh-CN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14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Prompting Strategies</a:t>
            </a:r>
            <a:endParaRPr lang="en-US" sz="24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868680" y="1865376"/>
            <a:ext cx="3154680" cy="1685753"/>
            <a:chOff x="868680" y="1865376"/>
            <a:chExt cx="3154680" cy="1685753"/>
          </a:xfrm>
        </p:grpSpPr>
        <p:sp>
          <p:nvSpPr>
            <p:cNvPr id="9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088136" y="2139696"/>
              <a:ext cx="109728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Direct</a:t>
              </a:r>
              <a:endPara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Baseline</a:t>
              </a:r>
              <a:endPara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sp>
        <p:nvSpPr>
          <p:cNvPr id="13" name="Shape 11"/>
          <p:cNvSpPr/>
          <p:nvPr/>
        </p:nvSpPr>
        <p:spPr>
          <a:xfrm>
            <a:off x="4572000" y="1865376"/>
            <a:ext cx="3154680" cy="168575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91456" y="2139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CoT</a:t>
            </a:r>
            <a:endParaRPr lang="en-US" sz="1600" b="1" dirty="0" err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91456" y="25786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Step-by-step reasoning</a:t>
            </a:r>
            <a:endParaRPr lang="en-US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91456" y="3218688"/>
            <a:ext cx="10058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865376"/>
            <a:ext cx="3154680" cy="1685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94776" y="2139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LtM</a:t>
            </a:r>
            <a:endParaRPr lang="en-US" sz="1600" b="1" dirty="0" err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94776" y="25786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Decompose problems</a:t>
            </a:r>
            <a:endParaRPr lang="en-US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494776" y="3218688"/>
            <a:ext cx="10058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grpSp>
        <p:nvGrpSpPr>
          <p:cNvPr id="34" name="组合 33"/>
          <p:cNvGrpSpPr/>
          <p:nvPr/>
        </p:nvGrpSpPr>
        <p:grpSpPr>
          <a:xfrm>
            <a:off x="2642616" y="4006699"/>
            <a:ext cx="3154680" cy="1685753"/>
            <a:chOff x="868680" y="1865376"/>
            <a:chExt cx="3154680" cy="1685753"/>
          </a:xfrm>
        </p:grpSpPr>
        <p:sp>
          <p:nvSpPr>
            <p:cNvPr id="35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36" name="Text 8"/>
            <p:cNvSpPr/>
            <p:nvPr/>
          </p:nvSpPr>
          <p:spPr>
            <a:xfrm>
              <a:off x="1088136" y="2139696"/>
              <a:ext cx="1906524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Self-Consistency</a:t>
              </a:r>
              <a:endPara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37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Multiple sampling and voting</a:t>
              </a:r>
              <a:endPara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38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grpSp>
        <p:nvGrpSpPr>
          <p:cNvPr id="39" name="组合 38"/>
          <p:cNvGrpSpPr/>
          <p:nvPr/>
        </p:nvGrpSpPr>
        <p:grpSpPr>
          <a:xfrm>
            <a:off x="6665976" y="4002023"/>
            <a:ext cx="3154680" cy="1685753"/>
            <a:chOff x="868680" y="1865376"/>
            <a:chExt cx="3154680" cy="1685753"/>
          </a:xfrm>
        </p:grpSpPr>
        <p:sp>
          <p:nvSpPr>
            <p:cNvPr id="40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41" name="Text 8"/>
            <p:cNvSpPr/>
            <p:nvPr/>
          </p:nvSpPr>
          <p:spPr>
            <a:xfrm>
              <a:off x="1088135" y="2139696"/>
              <a:ext cx="1500743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Plan-and-Solve</a:t>
              </a:r>
              <a:endParaRPr lang="en-US" sz="16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42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微软雅黑" panose="020B0503020204020204" charset="-122"/>
                  <a:ea typeface="微软雅黑" panose="020B0503020204020204" charset="-122"/>
                  <a:cs typeface="PingFang SC" pitchFamily="34" charset="-120"/>
                </a:rPr>
                <a:t>Make a plan then solve</a:t>
              </a:r>
              <a:endPara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endParaRPr>
            </a:p>
          </p:txBody>
        </p:sp>
        <p:sp>
          <p:nvSpPr>
            <p:cNvPr id="43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sp>
        <p:nvSpPr>
          <p:cNvPr id="44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METHOD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METHOD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System Design</a:t>
            </a:r>
            <a:endParaRPr lang="en-US" sz="24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859537" y="1933517"/>
            <a:ext cx="658368" cy="658368"/>
            <a:chOff x="914400" y="2523744"/>
            <a:chExt cx="658368" cy="658368"/>
          </a:xfrm>
        </p:grpSpPr>
        <p:sp>
          <p:nvSpPr>
            <p:cNvPr id="10" name="Shape 8"/>
            <p:cNvSpPr/>
            <p:nvPr/>
          </p:nvSpPr>
          <p:spPr>
            <a:xfrm>
              <a:off x="91440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04241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微软雅黑" panose="020B0503020204020204" charset="-122"/>
                  <a:ea typeface="微软雅黑" panose="020B0503020204020204" charset="-122"/>
                  <a:cs typeface="Aptos" pitchFamily="34" charset="-120"/>
                </a:rPr>
                <a:t>01</a:t>
              </a:r>
              <a:endPara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endParaRPr>
            </a:p>
          </p:txBody>
        </p:sp>
      </p:grpSp>
      <p:sp>
        <p:nvSpPr>
          <p:cNvPr id="12" name="Shape 10"/>
          <p:cNvSpPr/>
          <p:nvPr/>
        </p:nvSpPr>
        <p:spPr>
          <a:xfrm>
            <a:off x="841247" y="2752345"/>
            <a:ext cx="3180399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grpSp>
        <p:nvGrpSpPr>
          <p:cNvPr id="14" name="组合 13"/>
          <p:cNvGrpSpPr/>
          <p:nvPr/>
        </p:nvGrpSpPr>
        <p:grpSpPr>
          <a:xfrm>
            <a:off x="4596385" y="1933517"/>
            <a:ext cx="658368" cy="658368"/>
            <a:chOff x="3703320" y="2523744"/>
            <a:chExt cx="658368" cy="658368"/>
          </a:xfrm>
        </p:grpSpPr>
        <p:sp>
          <p:nvSpPr>
            <p:cNvPr id="16" name="Shape 14"/>
            <p:cNvSpPr/>
            <p:nvPr/>
          </p:nvSpPr>
          <p:spPr>
            <a:xfrm>
              <a:off x="370332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83133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微软雅黑" panose="020B0503020204020204" charset="-122"/>
                  <a:ea typeface="微软雅黑" panose="020B0503020204020204" charset="-122"/>
                  <a:cs typeface="Aptos" pitchFamily="34" charset="-120"/>
                </a:rPr>
                <a:t>02</a:t>
              </a:r>
              <a:endPara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4596385" y="2783909"/>
            <a:ext cx="3180399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grpSp>
        <p:nvGrpSpPr>
          <p:cNvPr id="20" name="组合 19"/>
          <p:cNvGrpSpPr/>
          <p:nvPr/>
        </p:nvGrpSpPr>
        <p:grpSpPr>
          <a:xfrm>
            <a:off x="8351524" y="1933517"/>
            <a:ext cx="658368" cy="658368"/>
            <a:chOff x="6492240" y="2523744"/>
            <a:chExt cx="658368" cy="658368"/>
          </a:xfrm>
        </p:grpSpPr>
        <p:sp>
          <p:nvSpPr>
            <p:cNvPr id="22" name="Shape 20"/>
            <p:cNvSpPr/>
            <p:nvPr/>
          </p:nvSpPr>
          <p:spPr>
            <a:xfrm>
              <a:off x="649224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2025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微软雅黑" panose="020B0503020204020204" charset="-122"/>
                  <a:ea typeface="微软雅黑" panose="020B0503020204020204" charset="-122"/>
                  <a:cs typeface="Aptos" pitchFamily="34" charset="-120"/>
                </a:rPr>
                <a:t>03</a:t>
              </a:r>
              <a:endPara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endParaRPr>
            </a:p>
          </p:txBody>
        </p:sp>
      </p:grpSp>
      <p:sp>
        <p:nvSpPr>
          <p:cNvPr id="24" name="Shape 22"/>
          <p:cNvSpPr/>
          <p:nvPr/>
        </p:nvSpPr>
        <p:spPr>
          <a:xfrm>
            <a:off x="8351523" y="2752346"/>
            <a:ext cx="3297933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1248" y="4590287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4801476"/>
            <a:ext cx="10396728" cy="3648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Overall, prompt design is a critical factor in enhancing reasoning ability.</a:t>
            </a:r>
            <a:endParaRPr lang="en-US" altLang="zh-CN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088135" y="2752345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The system is built around a unified interface that integrates all prompting methods.</a:t>
            </a:r>
            <a:endParaRPr lang="en-US" altLang="zh-CN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860704" y="2752344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It handles prompt construction, model generation, and answer extraction in a consistent pipeline.</a:t>
            </a:r>
            <a:endParaRPr lang="en-US" altLang="zh-CN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34" name="Text 9"/>
          <p:cNvSpPr/>
          <p:nvPr/>
        </p:nvSpPr>
        <p:spPr>
          <a:xfrm>
            <a:off x="8698991" y="2752347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This modular design improves reproducibility and allows easy extension for future methods.</a:t>
            </a:r>
            <a:endParaRPr lang="en-US" altLang="zh-CN" sz="140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3498560" y="2298150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7249313" y="2298150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pic>
        <p:nvPicPr>
          <p:cNvPr id="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Qwen </a:t>
            </a: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873" y="78524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Experimental Setup and Methodology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1865630"/>
            <a:ext cx="3154680" cy="4084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3"/>
          <p:cNvSpPr/>
          <p:nvPr/>
        </p:nvSpPr>
        <p:spPr>
          <a:xfrm>
            <a:off x="76200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5"/>
          <p:cNvSpPr/>
          <p:nvPr/>
        </p:nvSpPr>
        <p:spPr>
          <a:xfrm>
            <a:off x="1106805" y="1951355"/>
            <a:ext cx="24606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Core Model Architecture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AutoShape 7"/>
          <p:cNvSpPr/>
          <p:nvPr/>
        </p:nvSpPr>
        <p:spPr>
          <a:xfrm>
            <a:off x="1016000" y="2794000"/>
            <a:ext cx="2794000" cy="2794635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AutoShape 8"/>
          <p:cNvSpPr/>
          <p:nvPr/>
        </p:nvSpPr>
        <p:spPr>
          <a:xfrm>
            <a:off x="1206500" y="2984500"/>
            <a:ext cx="2413000" cy="30480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Qwen2.5-Math-1.5B</a:t>
            </a:r>
            <a:endParaRPr lang="en-US" sz="1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1153795" y="3365500"/>
            <a:ext cx="2413000" cy="18103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 small language model (SLM) optimized specifically for mathematical reasoning tasks, which maintains excellent logical reasoning capabilities while remaining lightweight.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AutoShape 12"/>
          <p:cNvSpPr/>
          <p:nvPr/>
        </p:nvSpPr>
        <p:spPr>
          <a:xfrm>
            <a:off x="451866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AutoShape 14"/>
          <p:cNvSpPr/>
          <p:nvPr/>
        </p:nvSpPr>
        <p:spPr>
          <a:xfrm>
            <a:off x="5026660" y="1951355"/>
            <a:ext cx="22866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Evaluation Dataset Configuration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" name="AutoShape 16"/>
          <p:cNvSpPr/>
          <p:nvPr/>
        </p:nvSpPr>
        <p:spPr>
          <a:xfrm>
            <a:off x="4752340" y="2794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AutoShape 17"/>
          <p:cNvSpPr/>
          <p:nvPr/>
        </p:nvSpPr>
        <p:spPr>
          <a:xfrm>
            <a:off x="4889500" y="2794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GSM8K </a:t>
            </a:r>
            <a:endParaRPr lang="en-US" sz="1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8"/>
          <p:cNvSpPr/>
          <p:nvPr/>
        </p:nvSpPr>
        <p:spPr>
          <a:xfrm>
            <a:off x="4889500" y="3155950"/>
            <a:ext cx="2413000" cy="781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Contains 500 high-quality primary school math word problems, focusing on basic arithmetic operations and simple logic.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AutoShape 19"/>
          <p:cNvSpPr/>
          <p:nvPr/>
        </p:nvSpPr>
        <p:spPr>
          <a:xfrm>
            <a:off x="4752340" y="4318000"/>
            <a:ext cx="2794000" cy="1546225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AutoShape 20"/>
          <p:cNvSpPr/>
          <p:nvPr/>
        </p:nvSpPr>
        <p:spPr>
          <a:xfrm>
            <a:off x="4863465" y="43180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MATH500</a:t>
            </a:r>
            <a:r>
              <a:rPr lang="en-US" sz="14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AutoShape 21"/>
          <p:cNvSpPr/>
          <p:nvPr/>
        </p:nvSpPr>
        <p:spPr>
          <a:xfrm>
            <a:off x="4889500" y="4627245"/>
            <a:ext cx="2413000" cy="12122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8000"/>
              </a:lnSpc>
              <a:buClrTx/>
              <a:buSzTx/>
              <a:buFontTx/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500 carefully selected competition-level difficult problems, covering high school and college mathematics knowledge, challenging the upper limit of the model's complex reasoning.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AutoShape 22"/>
          <p:cNvSpPr/>
          <p:nvPr/>
        </p:nvSpPr>
        <p:spPr>
          <a:xfrm>
            <a:off x="8128000" y="1663700"/>
            <a:ext cx="3302000" cy="4432300"/>
          </a:xfrm>
          <a:prstGeom prst="roundRect">
            <a:avLst>
              <a:gd name="adj" fmla="val 4615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AutoShape 24"/>
          <p:cNvSpPr/>
          <p:nvPr/>
        </p:nvSpPr>
        <p:spPr>
          <a:xfrm>
            <a:off x="8772525" y="1951355"/>
            <a:ext cx="2032000" cy="4857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Prompt Reasoning Strategies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5" name="AutoShape 26"/>
          <p:cNvSpPr/>
          <p:nvPr>
            <p:custDataLst>
              <p:tags r:id="rId1"/>
            </p:custDataLst>
          </p:nvPr>
        </p:nvSpPr>
        <p:spPr>
          <a:xfrm>
            <a:off x="8382000" y="27940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AutoShape 27"/>
          <p:cNvSpPr/>
          <p:nvPr>
            <p:custDataLst>
              <p:tags r:id="rId2"/>
            </p:custDataLst>
          </p:nvPr>
        </p:nvSpPr>
        <p:spPr>
          <a:xfrm>
            <a:off x="8572500" y="28448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01. CoT (Chain-of-Thought)</a:t>
            </a:r>
            <a:endParaRPr lang="en-US" sz="1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28"/>
          <p:cNvSpPr/>
          <p:nvPr>
            <p:custDataLst>
              <p:tags r:id="rId3"/>
            </p:custDataLst>
          </p:nvPr>
        </p:nvSpPr>
        <p:spPr>
          <a:xfrm>
            <a:off x="8572500" y="323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Noto Sans SC" panose="020B0200000000000000" charset="-122"/>
              </a:rPr>
              <a:t>Guides the model to decompose problems step-by-step and output detailed reasoning paths.</a:t>
            </a:r>
            <a:endParaRPr lang="en-US" altLang="zh-CN" sz="12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48" name="AutoShape 29"/>
          <p:cNvSpPr/>
          <p:nvPr>
            <p:custDataLst>
              <p:tags r:id="rId4"/>
            </p:custDataLst>
          </p:nvPr>
        </p:nvSpPr>
        <p:spPr>
          <a:xfrm>
            <a:off x="8382000" y="38735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AutoShape 30"/>
          <p:cNvSpPr/>
          <p:nvPr>
            <p:custDataLst>
              <p:tags r:id="rId5"/>
            </p:custDataLst>
          </p:nvPr>
        </p:nvSpPr>
        <p:spPr>
          <a:xfrm>
            <a:off x="8572500" y="38989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02. Least-to-Most</a:t>
            </a:r>
            <a:endParaRPr lang="en-US" sz="1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0" name="AutoShape 31"/>
          <p:cNvSpPr/>
          <p:nvPr>
            <p:custDataLst>
              <p:tags r:id="rId6"/>
            </p:custDataLst>
          </p:nvPr>
        </p:nvSpPr>
        <p:spPr>
          <a:xfrm>
            <a:off x="85725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Noto Sans SC" panose="020B0200000000000000" charset="-122"/>
              </a:rPr>
              <a:t>Decomposes difficult problems into a sequence of solvable sub-problems, progressing step by step.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indent="0" algn="l">
              <a:lnSpc>
                <a:spcPct val="92000"/>
              </a:lnSpc>
              <a:defRPr/>
            </a:pPr>
            <a:endParaRPr lang="en-US" altLang="zh-CN" sz="100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1" name="AutoShape 32"/>
          <p:cNvSpPr/>
          <p:nvPr>
            <p:custDataLst>
              <p:tags r:id="rId7"/>
            </p:custDataLst>
          </p:nvPr>
        </p:nvSpPr>
        <p:spPr>
          <a:xfrm>
            <a:off x="8382000" y="4953000"/>
            <a:ext cx="2794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127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AutoShape 33"/>
          <p:cNvSpPr/>
          <p:nvPr>
            <p:custDataLst>
              <p:tags r:id="rId8"/>
            </p:custDataLst>
          </p:nvPr>
        </p:nvSpPr>
        <p:spPr>
          <a:xfrm>
            <a:off x="8559800" y="4953000"/>
            <a:ext cx="241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03. Self-Consistency (k=5)</a:t>
            </a:r>
            <a:endParaRPr lang="en-US" sz="14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3" name="AutoShape 34"/>
          <p:cNvSpPr/>
          <p:nvPr>
            <p:custDataLst>
              <p:tags r:id="rId9"/>
            </p:custDataLst>
          </p:nvPr>
        </p:nvSpPr>
        <p:spPr>
          <a:xfrm>
            <a:off x="8572500" y="5397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Generates multiple reasoning paths and determines the final answer through a "majority voting" mechanism.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5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RESULTS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923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Experimental Results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05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2480" y="1807210"/>
            <a:ext cx="6991350" cy="4025265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8158480" y="2400935"/>
            <a:ext cx="3070225" cy="91376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9004935" y="272999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Accuracy</a:t>
            </a:r>
            <a:endParaRPr lang="en-US" sz="22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3"/>
            </p:custDataLst>
          </p:nvPr>
        </p:nvSpPr>
        <p:spPr>
          <a:xfrm>
            <a:off x="8158480" y="4269740"/>
            <a:ext cx="3070225" cy="105156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4"/>
            </p:custDataLst>
          </p:nvPr>
        </p:nvSpPr>
        <p:spPr>
          <a:xfrm>
            <a:off x="8322310" y="4597400"/>
            <a:ext cx="28282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Avg_response_length</a:t>
            </a:r>
            <a:endParaRPr lang="en-US" sz="2200" b="1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985" y="2390775"/>
            <a:ext cx="6501130" cy="2912745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ANALYSIS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Analysis and Discussion of Results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06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4" name="AutoShape 4"/>
          <p:cNvSpPr/>
          <p:nvPr/>
        </p:nvSpPr>
        <p:spPr>
          <a:xfrm>
            <a:off x="950595" y="1861185"/>
            <a:ext cx="50025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Performance of Prompt Strategies on Different Datasets</a:t>
            </a:r>
            <a:endParaRPr lang="en-US" altLang="zh-CN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0" y="2286000"/>
            <a:ext cx="4699000" cy="355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7" name="AutoShape 8"/>
          <p:cNvSpPr/>
          <p:nvPr/>
        </p:nvSpPr>
        <p:spPr>
          <a:xfrm>
            <a:off x="6343015" y="1955800"/>
            <a:ext cx="502285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SC Method Achieves Significant Advantages</a:t>
            </a:r>
            <a:endParaRPr lang="en-US" altLang="zh-CN" sz="20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10"/>
          <p:cNvSpPr/>
          <p:nvPr/>
        </p:nvSpPr>
        <p:spPr>
          <a:xfrm>
            <a:off x="6477000" y="2603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AutoShape 11"/>
          <p:cNvSpPr/>
          <p:nvPr/>
        </p:nvSpPr>
        <p:spPr>
          <a:xfrm>
            <a:off x="6667500" y="2794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61.8%</a:t>
            </a:r>
            <a:endParaRPr lang="en-US" sz="32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12"/>
          <p:cNvSpPr/>
          <p:nvPr/>
        </p:nvSpPr>
        <p:spPr>
          <a:xfrm>
            <a:off x="7937500" y="2724150"/>
            <a:ext cx="3223260" cy="1000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Best Performance on the GSM8K Dataset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Significantly outperforms CoT (54.8%) and Least-to-Most (45.8%), with obvious gains in moderately difficult reasoning tasks.</a:t>
            </a:r>
            <a:endParaRPr lang="en-US" altLang="zh-CN" sz="11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13"/>
          <p:cNvSpPr/>
          <p:nvPr/>
        </p:nvSpPr>
        <p:spPr>
          <a:xfrm>
            <a:off x="6477000" y="4064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AutoShape 14"/>
          <p:cNvSpPr/>
          <p:nvPr/>
        </p:nvSpPr>
        <p:spPr>
          <a:xfrm>
            <a:off x="6667500" y="4254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27.6%</a:t>
            </a:r>
            <a:endParaRPr lang="en-US" sz="3200" b="1" i="0" u="none" strike="noStrike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15"/>
          <p:cNvSpPr/>
          <p:nvPr/>
        </p:nvSpPr>
        <p:spPr>
          <a:xfrm>
            <a:off x="7938135" y="4318000"/>
            <a:ext cx="308102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200" b="1" i="0" u="none" strike="noStrike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Noto Sans SC" panose="020B0200000000000000" charset="-122"/>
              </a:rPr>
              <a:t>Maintaining the Lead on the MATH500 Dataset</a:t>
            </a:r>
            <a:endParaRPr lang="en-US" altLang="zh-CN" sz="1200" b="1" i="0" u="none" strike="noStrike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Still leading with an accuracy of 27.6% on high-difficulty competition-level questions, proving the robustness of the multi-path voting mechanism.</a:t>
            </a:r>
            <a:endParaRPr lang="en-US" altLang="zh-CN" sz="1100" b="0" i="0" u="none" strike="noStrike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ANALYSIS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105" y="740410"/>
            <a:ext cx="7788275" cy="598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Key Results: Response Length Comparison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2" name="AutoShape 4"/>
          <p:cNvSpPr/>
          <p:nvPr/>
        </p:nvSpPr>
        <p:spPr>
          <a:xfrm>
            <a:off x="1183640" y="1962785"/>
            <a:ext cx="4699000" cy="5473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Comparison of Average Response Length Across Different Prompt Methods (Number of Characters)</a:t>
            </a:r>
            <a:endParaRPr lang="en-US" altLang="zh-CN" sz="16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2510155"/>
            <a:ext cx="4201795" cy="31794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7"/>
          <p:cNvSpPr/>
          <p:nvPr/>
        </p:nvSpPr>
        <p:spPr>
          <a:xfrm>
            <a:off x="6529705" y="1899285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Cost Analysis</a:t>
            </a:r>
            <a:endParaRPr lang="en-US" sz="18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8"/>
          <p:cNvSpPr/>
          <p:nvPr/>
        </p:nvSpPr>
        <p:spPr>
          <a:xfrm>
            <a:off x="6477000" y="2413000"/>
            <a:ext cx="4699000" cy="1143000"/>
          </a:xfrm>
          <a:prstGeom prst="roundRect">
            <a:avLst>
              <a:gd name="adj" fmla="val 13333"/>
            </a:avLst>
          </a:prstGeom>
          <a:noFill/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6E7D5"/>
                </a:solidFill>
              </a14:hiddenFill>
            </a:ext>
          </a:ex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2"/>
          <p:cNvSpPr/>
          <p:nvPr/>
        </p:nvSpPr>
        <p:spPr>
          <a:xfrm>
            <a:off x="6477000" y="381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AutoShape 13"/>
          <p:cNvSpPr/>
          <p:nvPr/>
        </p:nvSpPr>
        <p:spPr>
          <a:xfrm>
            <a:off x="6731000" y="393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The comparison shows that the average response length of CoT and Least-to-Most is only around 2,000 characters. In contrast, the response length of Self-Consistency is more than 5 times longer. This significant increase is the inevitable cost of achieving high accuracy by generating multiple reasoning paths.</a:t>
            </a:r>
            <a:endParaRPr lang="en-US" altLang="zh-CN" sz="1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AutoShape 15"/>
          <p:cNvSpPr/>
          <p:nvPr/>
        </p:nvSpPr>
        <p:spPr>
          <a:xfrm>
            <a:off x="6433185" y="511302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3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The Cost of High Accuracy: Significant Consumption of Computational Resources and Time</a:t>
            </a:r>
            <a:endParaRPr lang="en-US" altLang="zh-CN" sz="13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667000"/>
            <a:ext cx="635000" cy="635000"/>
          </a:xfrm>
          <a:prstGeom prst="rect">
            <a:avLst/>
          </a:prstGeom>
        </p:spPr>
      </p:pic>
      <p:sp>
        <p:nvSpPr>
          <p:cNvPr id="23" name="AutoShape 10"/>
          <p:cNvSpPr/>
          <p:nvPr/>
        </p:nvSpPr>
        <p:spPr>
          <a:xfrm>
            <a:off x="7620000" y="26035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Average Response Length of Self-Consistency</a:t>
            </a:r>
            <a:endParaRPr lang="en-US" altLang="zh-CN" sz="11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4" name="AutoShape 11"/>
          <p:cNvSpPr/>
          <p:nvPr/>
        </p:nvSpPr>
        <p:spPr>
          <a:xfrm>
            <a:off x="7620000" y="2984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~ 10200 </a:t>
            </a:r>
            <a:r>
              <a:rPr lang="en-US" altLang="zh-CN" sz="24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Characters</a:t>
            </a:r>
            <a:endParaRPr lang="en-US" altLang="zh-CN" sz="24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18"/>
          <p:cNvSpPr/>
          <p:nvPr>
            <p:custDataLst>
              <p:tags r:id="rId1"/>
            </p:custDataLst>
          </p:nvPr>
        </p:nvSpPr>
        <p:spPr>
          <a:xfrm>
            <a:off x="762000" y="368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AutoShape 18"/>
          <p:cNvSpPr/>
          <p:nvPr>
            <p:custDataLst>
              <p:tags r:id="rId2"/>
            </p:custDataLst>
          </p:nvPr>
        </p:nvSpPr>
        <p:spPr>
          <a:xfrm>
            <a:off x="6280150" y="15875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AutoShape 18"/>
          <p:cNvSpPr/>
          <p:nvPr>
            <p:custDataLst>
              <p:tags r:id="rId3"/>
            </p:custDataLst>
          </p:nvPr>
        </p:nvSpPr>
        <p:spPr>
          <a:xfrm>
            <a:off x="774700" y="15875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1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Conclusion and Analysis</a:t>
            </a:r>
            <a:endParaRPr lang="en-US" sz="3200" b="1" i="0" u="none" strike="noStrike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4"/>
          <p:cNvSpPr/>
          <p:nvPr>
            <p:custDataLst>
              <p:tags r:id="rId4"/>
            </p:custDataLst>
          </p:nvPr>
        </p:nvSpPr>
        <p:spPr>
          <a:xfrm>
            <a:off x="1016000" y="1841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1900" y="2057400"/>
            <a:ext cx="381000" cy="381000"/>
          </a:xfrm>
          <a:prstGeom prst="rect">
            <a:avLst/>
          </a:prstGeom>
        </p:spPr>
      </p:pic>
      <p:sp>
        <p:nvSpPr>
          <p:cNvPr id="14" name="AutoShape 6"/>
          <p:cNvSpPr/>
          <p:nvPr>
            <p:custDataLst>
              <p:tags r:id="rId8"/>
            </p:custDataLst>
          </p:nvPr>
        </p:nvSpPr>
        <p:spPr>
          <a:xfrm>
            <a:off x="20320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Self-Consistency is the Optimal Strategy</a:t>
            </a:r>
            <a:endParaRPr lang="en-US" sz="1600" b="1" i="0" u="none" strike="noStrik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7"/>
          <p:cNvSpPr/>
          <p:nvPr>
            <p:custDataLst>
              <p:tags r:id="rId9"/>
            </p:custDataLst>
          </p:nvPr>
        </p:nvSpPr>
        <p:spPr>
          <a:xfrm>
            <a:off x="2032000" y="2286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On small-scale models, the multi-path reasoning and voting mechanism significantly improve the solution accuracy across mathematical problems of varying difficulty.</a:t>
            </a:r>
            <a:endParaRPr lang="en-US" sz="12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9"/>
          <p:cNvSpPr/>
          <p:nvPr>
            <p:custDataLst>
              <p:tags r:id="rId10"/>
            </p:custDataLst>
          </p:nvPr>
        </p:nvSpPr>
        <p:spPr>
          <a:xfrm>
            <a:off x="6477000" y="1841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92900" y="2057400"/>
            <a:ext cx="381000" cy="381000"/>
          </a:xfrm>
          <a:prstGeom prst="rect">
            <a:avLst/>
          </a:prstGeom>
        </p:spPr>
      </p:pic>
      <p:sp>
        <p:nvSpPr>
          <p:cNvPr id="18" name="AutoShape 11"/>
          <p:cNvSpPr/>
          <p:nvPr>
            <p:custDataLst>
              <p:tags r:id="rId14"/>
            </p:custDataLst>
          </p:nvPr>
        </p:nvSpPr>
        <p:spPr>
          <a:xfrm>
            <a:off x="7493000" y="1803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Trade-off between Accuracy and Computational Cost</a:t>
            </a:r>
            <a:endParaRPr lang="en-US" sz="1600" b="1" i="0" u="none" strike="noStrik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2"/>
          <p:cNvSpPr/>
          <p:nvPr>
            <p:custDataLst>
              <p:tags r:id="rId15"/>
            </p:custDataLst>
          </p:nvPr>
        </p:nvSpPr>
        <p:spPr>
          <a:xfrm>
            <a:off x="7493000" y="2286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The high accuracy of Self-Consistency comes at the cost of exponentially increased response length. In practical applications, a careful balance between accuracy and resource consumption is required.</a:t>
            </a:r>
            <a:endParaRPr lang="en-US" sz="12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4"/>
          <p:cNvSpPr/>
          <p:nvPr>
            <p:custDataLst>
              <p:tags r:id="rId16"/>
            </p:custDataLst>
          </p:nvPr>
        </p:nvSpPr>
        <p:spPr>
          <a:xfrm>
            <a:off x="1016000" y="3873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1900" y="4089400"/>
            <a:ext cx="381000" cy="381000"/>
          </a:xfrm>
          <a:prstGeom prst="rect">
            <a:avLst/>
          </a:prstGeom>
        </p:spPr>
      </p:pic>
      <p:sp>
        <p:nvSpPr>
          <p:cNvPr id="22" name="AutoShape 16"/>
          <p:cNvSpPr/>
          <p:nvPr>
            <p:custDataLst>
              <p:tags r:id="rId20"/>
            </p:custDataLst>
          </p:nvPr>
        </p:nvSpPr>
        <p:spPr>
          <a:xfrm>
            <a:off x="2032000" y="3835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Limitations of the Least-to-Most Method</a:t>
            </a:r>
            <a:endParaRPr lang="en-US" sz="1600" b="1" i="0" u="none" strike="noStrik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7"/>
          <p:cNvSpPr/>
          <p:nvPr>
            <p:custDataLst>
              <p:tags r:id="rId21"/>
            </p:custDataLst>
          </p:nvPr>
        </p:nvSpPr>
        <p:spPr>
          <a:xfrm>
            <a:off x="2032000" y="43180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This method performed poorest in the experiment. Its complex problem-decomposition strategy may be too difficult for a 1.5B parameter small model, failing to demonstrate its theoretical advantages.</a:t>
            </a:r>
            <a:endParaRPr lang="en-US" sz="12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8"/>
          <p:cNvSpPr/>
          <p:nvPr>
            <p:custDataLst>
              <p:tags r:id="rId22"/>
            </p:custDataLst>
          </p:nvPr>
        </p:nvSpPr>
        <p:spPr>
          <a:xfrm>
            <a:off x="6223000" y="3683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19"/>
          <p:cNvSpPr/>
          <p:nvPr>
            <p:custDataLst>
              <p:tags r:id="rId23"/>
            </p:custDataLst>
          </p:nvPr>
        </p:nvSpPr>
        <p:spPr>
          <a:xfrm>
            <a:off x="6477000" y="3873500"/>
            <a:ext cx="812800" cy="8128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Picture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92900" y="4089400"/>
            <a:ext cx="381000" cy="381000"/>
          </a:xfrm>
          <a:prstGeom prst="rect">
            <a:avLst/>
          </a:prstGeom>
        </p:spPr>
      </p:pic>
      <p:sp>
        <p:nvSpPr>
          <p:cNvPr id="27" name="AutoShape 21"/>
          <p:cNvSpPr/>
          <p:nvPr>
            <p:custDataLst>
              <p:tags r:id="rId27"/>
            </p:custDataLst>
          </p:nvPr>
        </p:nvSpPr>
        <p:spPr>
          <a:xfrm>
            <a:off x="7493000" y="3835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Correlation between Model Capacity and Dataset Difficulty</a:t>
            </a:r>
            <a:endParaRPr lang="en-US" sz="1600" b="1" i="0" u="none" strike="noStrik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2"/>
          <p:cNvSpPr/>
          <p:nvPr>
            <p:custDataLst>
              <p:tags r:id="rId28"/>
            </p:custDataLst>
          </p:nvPr>
        </p:nvSpPr>
        <p:spPr>
          <a:xfrm>
            <a:off x="7493000" y="43180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3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All methods showed significant performance degradation on the high-difficulty MATH500 dataset, indicating that the current model's capability is limited by its parameter size, making it difficult to tackle high-level mathematical competition problems.</a:t>
            </a:r>
            <a:endParaRPr lang="en-US" sz="1200" b="0" i="0" u="none" strike="noStrik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4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</a:t>
            </a: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87552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051560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2300" b="1">
                <a:latin typeface="微软雅黑" panose="020B0503020204020204" charset="-122"/>
                <a:ea typeface="微软雅黑" panose="020B0503020204020204" charset="-122"/>
              </a:rPr>
              <a:t>Part 4: DeepSeek Main Experiments</a:t>
            </a:r>
            <a:endParaRPr lang="en-US" sz="23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254" y="2011553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2000">
                <a:latin typeface="微软雅黑" panose="020B0503020204020204" charset="-122"/>
                <a:ea typeface="微软雅黑" panose="020B0503020204020204" charset="-122"/>
              </a:rPr>
              <a:t>DeepSeek-R1-Distill-Qwen-1.5B on MATH-500 and GSM8K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814" y="2898648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600">
                <a:latin typeface="微软雅黑" panose="020B0503020204020204" charset="-122"/>
                <a:ea typeface="微软雅黑" panose="020B0503020204020204" charset="-122"/>
              </a:rPr>
              <a:t>This section evaluates one math reasoning model under three prompting strategies.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600">
                <a:latin typeface="微软雅黑" panose="020B0503020204020204" charset="-122"/>
                <a:ea typeface="微软雅黑" panose="020B0503020204020204" charset="-122"/>
              </a:rPr>
              <a:t>It reports accuracy, response length, and runtime trade-offs using the final result files.</a:t>
            </a:r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004177" y="1380363"/>
            <a:ext cx="4224528" cy="4498848"/>
          </a:xfrm>
          <a:prstGeom prst="roundRect">
            <a:avLst>
              <a:gd name="adj" fmla="val 1732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260336" y="1335024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3807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微软雅黑" panose="020B0503020204020204" charset="-122"/>
                <a:ea typeface="微软雅黑" panose="020B0503020204020204" charset="-122"/>
              </a:rPr>
              <a:t>Experiment Scope</a:t>
            </a:r>
            <a:endParaRPr 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60336" y="1883664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90688" y="18653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90688" y="212140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260336" y="257860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90688" y="256032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90688" y="281635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60336" y="3273552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90688" y="3255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90688" y="3511296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260336" y="3968496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90688" y="39502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90688" y="420624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33488" y="1810512"/>
            <a:ext cx="3310128" cy="326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01  Datasets</a:t>
            </a:r>
            <a:endParaRPr sz="11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MATH-500: 500 questions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GSM8K: 800 questions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02  Prompting Methods</a:t>
            </a:r>
            <a:endParaRPr sz="11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CoT, LtM, and SC (k = 5)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03  Metrics</a:t>
            </a:r>
            <a:endParaRPr sz="11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Accuracy, response length,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and generation time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04  Main Observation</a:t>
            </a:r>
            <a:endParaRPr sz="11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微软雅黑" panose="020B0503020204020204" charset="-122"/>
                <a:ea typeface="微软雅黑" panose="020B0503020204020204" charset="-122"/>
              </a:rPr>
              <a:t>Self-Consistency achieves the best accuracy on both datasets, but it is also the most expensive setup.</a:t>
            </a:r>
            <a:endParaRPr sz="1100" b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RESULTS</a:t>
            </a:r>
            <a:endParaRPr lang="en-US" sz="11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800" b="1">
                <a:latin typeface="微软雅黑" panose="020B0503020204020204" charset="-122"/>
                <a:ea typeface="微软雅黑" panose="020B0503020204020204" charset="-122"/>
              </a:rPr>
              <a:t>Final Results</a:t>
            </a:r>
            <a:endParaRPr 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latin typeface="微软雅黑" panose="020B0503020204020204" charset="-122"/>
                <a:ea typeface="微软雅黑" panose="020B0503020204020204" charset="-122"/>
              </a:rPr>
              <a:t>The chart compares method-level accuracy and response length using the final summary file.</a:t>
            </a:r>
            <a:endParaRPr lang="en-US" sz="1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617220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24712" y="204825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93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微软雅黑" panose="020B0503020204020204" charset="-122"/>
                <a:ea typeface="微软雅黑" panose="020B0503020204020204" charset="-122"/>
              </a:rPr>
              <a:t>Result Overview</a:t>
            </a:r>
            <a:endParaRPr 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15568" y="2542032"/>
            <a:ext cx="5650992" cy="2816352"/>
          </a:xfrm>
          <a:prstGeom prst="roundRect">
            <a:avLst>
              <a:gd name="adj" fmla="val 1948"/>
            </a:avLst>
          </a:prstGeom>
          <a:solidFill>
            <a:srgbClr val="EEF2F1">
              <a:alpha val="55000"/>
            </a:srgbClr>
          </a:solidFill>
          <a:ln w="17780">
            <a:solidFill>
              <a:srgbClr val="D7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675888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endParaRPr lang="en-US" sz="1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7370064" y="1810512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2"/>
            </p:custDataLst>
          </p:nvPr>
        </p:nvSpPr>
        <p:spPr>
          <a:xfrm>
            <a:off x="7607808" y="201168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微软雅黑" panose="020B0503020204020204" charset="-122"/>
                <a:ea typeface="微软雅黑" panose="020B0503020204020204" charset="-122"/>
              </a:rPr>
              <a:t>Best GSM8K</a:t>
            </a:r>
            <a:endParaRPr 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7589520" y="226771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微软雅黑" panose="020B0503020204020204" charset="-122"/>
                <a:ea typeface="微软雅黑" panose="020B0503020204020204" charset="-122"/>
              </a:rPr>
              <a:t>55.87%</a:t>
            </a:r>
            <a:endParaRPr lang="en-US" sz="1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15"/>
          <p:cNvSpPr/>
          <p:nvPr>
            <p:custDataLst>
              <p:tags r:id="rId4"/>
            </p:custDataLst>
          </p:nvPr>
        </p:nvSpPr>
        <p:spPr>
          <a:xfrm>
            <a:off x="9162288" y="2286000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微软雅黑" panose="020B0503020204020204" charset="-122"/>
                <a:ea typeface="微软雅黑" panose="020B0503020204020204" charset="-122"/>
              </a:rPr>
              <a:t>Self-Consistency delivers the highest GSM8K accuracy.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hape 16"/>
          <p:cNvSpPr/>
          <p:nvPr>
            <p:custDataLst>
              <p:tags r:id="rId5"/>
            </p:custDataLst>
          </p:nvPr>
        </p:nvSpPr>
        <p:spPr>
          <a:xfrm>
            <a:off x="7370064" y="32004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7607808" y="340156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微软雅黑" panose="020B0503020204020204" charset="-122"/>
                <a:ea typeface="微软雅黑" panose="020B0503020204020204" charset="-122"/>
              </a:rPr>
              <a:t>Best MATH-500</a:t>
            </a:r>
            <a:endParaRPr 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 18"/>
          <p:cNvSpPr/>
          <p:nvPr>
            <p:custDataLst>
              <p:tags r:id="rId7"/>
            </p:custDataLst>
          </p:nvPr>
        </p:nvSpPr>
        <p:spPr>
          <a:xfrm>
            <a:off x="7589520" y="36576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微软雅黑" panose="020B0503020204020204" charset="-122"/>
                <a:ea typeface="微软雅黑" panose="020B0503020204020204" charset="-122"/>
              </a:rPr>
              <a:t>25.60%</a:t>
            </a:r>
            <a:endParaRPr lang="en-US" sz="1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9162288" y="3675888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微软雅黑" panose="020B0503020204020204" charset="-122"/>
                <a:ea typeface="微软雅黑" panose="020B0503020204020204" charset="-122"/>
              </a:rPr>
              <a:t>The same method also ranks first on MATH-500.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hape 20"/>
          <p:cNvSpPr/>
          <p:nvPr>
            <p:custDataLst>
              <p:tags r:id="rId9"/>
            </p:custDataLst>
          </p:nvPr>
        </p:nvSpPr>
        <p:spPr>
          <a:xfrm>
            <a:off x="7370064" y="4590288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7607808" y="47914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微软雅黑" panose="020B0503020204020204" charset="-122"/>
                <a:ea typeface="微软雅黑" panose="020B0503020204020204" charset="-122"/>
              </a:rPr>
              <a:t>Cost Signal</a:t>
            </a:r>
            <a:endParaRPr 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7589520" y="50474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微软雅黑" panose="020B0503020204020204" charset="-122"/>
                <a:ea typeface="微软雅黑" panose="020B0503020204020204" charset="-122"/>
              </a:rPr>
              <a:t>7.47k</a:t>
            </a:r>
            <a:endParaRPr lang="en-US" sz="1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9162288" y="506577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微软雅黑" panose="020B0503020204020204" charset="-122"/>
                <a:ea typeface="微软雅黑" panose="020B0503020204020204" charset="-122"/>
              </a:rPr>
              <a:t>SC produces much longer outputs, which explains the runtime increase.</a:t>
            </a:r>
            <a:endParaRPr 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70064" y="57607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589788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900">
                <a:latin typeface="微软雅黑" panose="020B0503020204020204" charset="-122"/>
                <a:ea typeface="微软雅黑" panose="020B0503020204020204" charset="-122"/>
              </a:rPr>
              <a:t>Key takeaway: the most accurate method is also the most expensive one in both output length and runtime.</a:t>
            </a:r>
            <a:endParaRPr lang="en-US" sz="9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Picture 27" descr="deepseek_part4_result_chart_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" y="2468880"/>
            <a:ext cx="5376672" cy="219456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87552" y="4919472"/>
          <a:ext cx="4992624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658368"/>
                <a:gridCol w="658368"/>
                <a:gridCol w="658368"/>
                <a:gridCol w="914400"/>
                <a:gridCol w="10241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Dataset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CoT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LtM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SC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Best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Avg Time</a:t>
                      </a:r>
                      <a:endParaRPr sz="9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GSM8K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48.75%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49.13%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55.87%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SC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90.44s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MATH-500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19.80%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23.00%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25.60%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SC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102.10s</a:t>
                      </a:r>
                      <a:endParaRPr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ANALYSIS</a:t>
            </a:r>
            <a:endParaRPr lang="en-US" sz="11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800" b="1">
                <a:latin typeface="微软雅黑" panose="020B0503020204020204" charset="-122"/>
                <a:ea typeface="微软雅黑" panose="020B0503020204020204" charset="-122"/>
              </a:rPr>
              <a:t>Analysis and Discussion</a:t>
            </a:r>
            <a:endParaRPr lang="en-US" sz="1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06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33856" y="2048256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093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Key Findings</a:t>
            </a:r>
            <a:endParaRPr lang="en-US" sz="11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64808" y="2048256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093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Discussion</a:t>
            </a:r>
            <a:endParaRPr lang="en-US" sz="11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33856" y="27249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261518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3856" y="31638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05409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33856" y="3602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3493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33856" y="4041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93192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64808" y="27249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61518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64808" y="31638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05409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64808" y="3602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930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64808" y="4041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319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68680" y="5815584"/>
            <a:ext cx="10497312" cy="493776"/>
          </a:xfrm>
          <a:prstGeom prst="roundRect">
            <a:avLst>
              <a:gd name="adj" fmla="val 14815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980176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</a:rPr>
              <a:t>Takeaway: DeepSeek shows meaningful reasoning ability, but the strongest setup still depends on a much more expensive generation process.</a:t>
            </a:r>
            <a:endParaRPr lang="en-US" sz="11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70432" y="2487168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Self-Consistency is the most accurate method on both datasets.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GSM8K is much easier than MATH-500 for this 1.5B model.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Many MATH-500 failures come from incomplete endings or unstable final formatting.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Accuracy gains come with much longer outputs and slower inference.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2487168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The model often reasons for a long time but still fails to end with a clean final answer.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That weakens automatic evaluation, especially on symbolic MATH-500 outputs.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A stricter final-answer format would likely improve extraction and scoring stability.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微软雅黑" panose="020B0503020204020204" charset="-122"/>
                <a:ea typeface="微软雅黑" panose="020B0503020204020204" charset="-122"/>
              </a:rPr>
              <a:t>Overall, DeepSeek is useful for basic math reasoning, but still weak on harder symbolic tasks.</a:t>
            </a:r>
            <a:endParaRPr sz="13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Aime </a:t>
            </a: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METHOD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950975"/>
            <a:ext cx="6400800" cy="488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AIME 2024 High‑Difficulty Experiment Setup</a:t>
            </a:r>
            <a:endParaRPr lang="en-US" altLang="zh-CN" sz="2400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04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3347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01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28681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Data &amp; Models</a:t>
            </a:r>
            <a:endParaRPr lang="en-US" altLang="zh-CN" sz="1500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2416" y="3373096"/>
            <a:ext cx="2084832" cy="11989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Dataset: </a:t>
            </a:r>
            <a:endParaRPr lang="en-US" altLang="zh-CN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AIME 2024 (15 problems, three‑digit integer answers)</a:t>
            </a:r>
            <a:endParaRPr lang="en-US" altLang="zh-CN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Models: </a:t>
            </a:r>
            <a:endParaRPr lang="en-US" altLang="zh-CN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Qwen2.5‑Math‑1.5B, DeepSeek‑R1‑Distill‑Qwen‑1.5B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2239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3133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02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1188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21608" y="29077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Prompting Methods</a:t>
            </a:r>
            <a:endParaRPr lang="en-US" sz="1500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828968" y="3392425"/>
            <a:ext cx="2223087" cy="11795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Chain‑of‑Thought (</a:t>
            </a:r>
            <a:r>
              <a:rPr lang="en-US" sz="1050" dirty="0" err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CoT</a:t>
            </a: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) – step‑by‑step reasoning</a:t>
            </a: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Least‑to‑Most (</a:t>
            </a:r>
            <a:r>
              <a:rPr lang="en-US" sz="1050" dirty="0" err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LtM</a:t>
            </a: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) – decompose into subproblems</a:t>
            </a: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Self‑Consistency (SC, k=5) – majority vote over 5 samples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1131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03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823799"/>
            <a:ext cx="3048000" cy="414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Execution Environment</a:t>
            </a:r>
            <a:endParaRPr lang="en-US" altLang="zh-CN" sz="1500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20256" y="3432984"/>
            <a:ext cx="2084832" cy="10984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Google </a:t>
            </a:r>
            <a:r>
              <a:rPr lang="en-US" sz="1050" dirty="0" err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Colab</a:t>
            </a: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 (Tesla T4, 16GB)</a:t>
            </a: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Generation parameters: </a:t>
            </a:r>
            <a:r>
              <a:rPr lang="en-US" sz="1050" dirty="0" err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max_new_tokens</a:t>
            </a: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=512, temperature=0.7, </a:t>
            </a:r>
            <a:r>
              <a:rPr lang="en-US" sz="1050" dirty="0" err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top_p</a:t>
            </a: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=0.9</a:t>
            </a: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Unified interface via prompt.py</a:t>
            </a:r>
            <a:endParaRPr lang="en-US" sz="10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8116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917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04</a:t>
            </a:r>
            <a:endParaRPr lang="en-US" sz="12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18972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81160" y="2928681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Output Records</a:t>
            </a:r>
            <a:endParaRPr lang="en-US" altLang="zh-CN" sz="1500" dirty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409176" y="3402156"/>
            <a:ext cx="2150710" cy="1276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Each record contains: 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raw_output</a:t>
            </a: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(full generation), </a:t>
            </a:r>
            <a:r>
              <a:rPr lang="en-US" altLang="zh-CN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final_answer</a:t>
            </a: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(simple regex extraction), status, generation time, etc.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Saved as JSONL files.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Aime </a:t>
            </a: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result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PingFang SC" pitchFamily="34" charset="-120"/>
              </a:rPr>
              <a:t>METHOD</a:t>
            </a:r>
            <a:endParaRPr lang="en-US" sz="1100" b="1" dirty="0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PingFang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078611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04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sp>
        <p:nvSpPr>
          <p:cNvPr id="29" name="Shape 27"/>
          <p:cNvSpPr/>
          <p:nvPr>
            <p:custDataLst>
              <p:tags r:id="rId1"/>
            </p:custDataLst>
          </p:nvPr>
        </p:nvSpPr>
        <p:spPr>
          <a:xfrm>
            <a:off x="713105" y="1373505"/>
            <a:ext cx="10963910" cy="328993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  <p:txBody>
          <a:bodyPr/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We tested two models on the AIME dataset: DeepSeek-R1-Distill-Qwen-1.5B and Qwen2.5-Math-1.5B, with a total of 45 questions.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Overall accuracy: 0% for DeepSeek and only 2.22% for Qwen2.5-Math, showing generally low performance.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Response length: Both models averaged about 5,000–6,000 characters and 400–1,000 words, with overly long outputs.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Error distribution: DeepSeek mainly suffered from format/noise issues and no extractable answer; Qwen2.5-Math was dominated by format/noise issues and reasoning/calculation errors, with minor template residue.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Extraction method: Most answers were extracted from the last number at the tail, while standard boxed answers accounted for a small proportion.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Method comparison: The sc method performed slightly better than cot and ltm; Qwen2.5-Math only got 1 correct answer using sc.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13740" y="4871085"/>
            <a:ext cx="11100435" cy="1109345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  <p:txBody>
          <a:bodyPr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Core issues: non-standard answer output, weak reasoning and calculation, and low extraction robustness. I think we can improve extraction rules and model output formatting to boost accuracy.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Conclusion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139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Aptos" pitchFamily="34" charset="-120"/>
              </a:rPr>
              <a:t>04</a:t>
            </a:r>
            <a:endParaRPr lang="en-US" sz="10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Aptos" pitchFamily="34" charset="-12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  <p:sp>
        <p:nvSpPr>
          <p:cNvPr id="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10" name="Content Placeholder 2"/>
          <p:cNvSpPr>
            <a:spLocks noGrp="1"/>
          </p:cNvSpPr>
          <p:nvPr/>
        </p:nvSpPr>
        <p:spPr>
          <a:xfrm>
            <a:off x="939800" y="1320800"/>
            <a:ext cx="10078720" cy="45262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Self-Consistency (SC) achieves the highest accuracy across all datasets and models for the two lightweight 1.5B math-specialized LLMs, yet it brings about five times higher costs in response length and inference time. Chain-of-Thought (CoT) offers the best trade-off between accuracy and efficiency, while Least-to-Most (LtM) underperforms CoT probably due to insufficient problem-decomposition capacity. Both models struggle severely with advanced Olympiad problems in AIME 2024, showing near-zero accuracy. The dominant error sources include format noise, unextractable answers and calculation mistakes, rather than purely deep reasoning failures.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61081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PRESENTATION</a:t>
            </a:r>
            <a:endParaRPr lang="en-US" sz="1000" dirty="0"/>
          </a:p>
        </p:txBody>
      </p:sp>
      <p:sp>
        <p:nvSpPr>
          <p:cNvPr id="5" name="AutoShape 4"/>
          <p:cNvSpPr/>
          <p:nvPr/>
        </p:nvSpPr>
        <p:spPr>
          <a:xfrm>
            <a:off x="86360" y="439166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Group:Lakers</a:t>
            </a:r>
            <a:endParaRPr lang="en-US" sz="40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274320" y="2540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</a:t>
            </a:r>
            <a:r>
              <a:rPr lang="en-US" sz="8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you</a:t>
            </a:r>
            <a:endParaRPr lang="en-US" sz="8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582" y="175060"/>
            <a:ext cx="3210046" cy="88406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2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3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4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5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6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7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8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9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0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1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2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3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4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5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6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7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8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9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20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1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2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3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4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5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6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7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8.xml><?xml version="1.0" encoding="utf-8"?>
<p:tagLst xmlns:p="http://schemas.openxmlformats.org/presentationml/2006/main">
  <p:tag name="KSO_WM_DIAGRAM_VIRTUALLY_FRAME" val="{&quot;height&quot;:245,&quot;left&quot;:660,&quot;top&quot;:220,&quot;width&quot;:220}"/>
</p:tagLst>
</file>

<file path=ppt/tags/tag29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30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31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32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2}"/>
</p:tagLst>
</file>

<file path=ppt/tags/tag33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4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5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6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7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8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39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0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1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2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3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4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5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6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7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8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49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50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51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52.xml><?xml version="1.0" encoding="utf-8"?>
<p:tagLst xmlns:p="http://schemas.openxmlformats.org/presentationml/2006/main">
  <p:tag name="KSO_WM_DIAGRAM_VIRTUALLY_FRAME" val="{&quot;height&quot;:305,&quot;left&quot;:60,&quot;top&quot;:120,&quot;width&quot;:840}"/>
</p:tagLst>
</file>

<file path=ppt/tags/tag53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4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5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6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7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8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9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0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1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2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3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4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5.xml><?xml version="1.0" encoding="utf-8"?>
<p:tagLst xmlns:p="http://schemas.openxmlformats.org/presentationml/2006/main">
  <p:tag name="KSO_WM_DIAGRAM_VIRTUALLY_FRAME" val="{&quot;height&quot;:259.05,&quot;left&quot;:56.15,&quot;top&quot;:108.15,&quot;width&quot;:863.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10082</Words>
  <Application>WPS 演示</Application>
  <PresentationFormat>On-screen Show (16:9)</PresentationFormat>
  <Paragraphs>474</Paragraphs>
  <Slides>28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Aptos</vt:lpstr>
      <vt:lpstr>Segoe UI</vt:lpstr>
      <vt:lpstr>Aptos</vt:lpstr>
      <vt:lpstr>Aptos</vt:lpstr>
      <vt:lpstr>Noto Sans SC</vt:lpstr>
      <vt:lpstr>微软雅黑</vt:lpstr>
      <vt:lpstr>Arial</vt:lpstr>
      <vt:lpstr>PingFang SC</vt:lpstr>
      <vt:lpstr>MingLiU-ExtB</vt:lpstr>
      <vt:lpstr>Arial Unicode MS</vt:lpstr>
      <vt:lpstr>等线</vt:lpstr>
      <vt:lpstr>PingFang SC</vt:lpstr>
      <vt:lpstr>PingFang SC</vt:lpstr>
      <vt:lpstr>Segoe Print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6</cp:revision>
  <dcterms:created xsi:type="dcterms:W3CDTF">2026-04-11T10:37:00Z</dcterms:created>
  <dcterms:modified xsi:type="dcterms:W3CDTF">2026-04-14T18:37:42Z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06B958EC3488462DB8402806B96AA5B1_13</vt:lpwstr>
  </property>
</Properties>
</file>