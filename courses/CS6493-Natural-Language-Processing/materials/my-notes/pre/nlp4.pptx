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0" r:id="rId5"/>
    <p:sldId id="261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87552"/>
            <a:ext cx="73152" cy="3127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051560"/>
            <a:ext cx="51206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2300" b="1">
                <a:latin typeface="Aptos"/>
              </a:rPr>
              <a:t>Part 4: DeepSeek Main Experiments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43254" y="2011553"/>
            <a:ext cx="4389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2000">
                <a:latin typeface="Aptos"/>
              </a:rPr>
              <a:t>DeepSeek-R1-Distill-Qwen-1.5B on MATH-500 and GSM8K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814" y="2898648"/>
            <a:ext cx="44805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600">
                <a:latin typeface="Aptos"/>
              </a:rPr>
              <a:t>This section evaluates one math reasoning model under three prompting strategies.</a:t>
            </a:r>
            <a:endParaRPr lang="en-US" sz="1600" dirty="0"/>
          </a:p>
          <a:p>
            <a:pPr algn="l">
              <a:spcAft>
                <a:spcPts val="200"/>
              </a:spcAft>
            </a:pPr>
            <a:r>
              <a:rPr sz="1600">
                <a:latin typeface="Aptos"/>
              </a:rPr>
              <a:t>It reports accuracy, response length, and runtime trade-offs using the final result files.</a:t>
            </a:r>
            <a:endParaRPr sz="1600">
              <a:latin typeface="Apto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931152" y="1024128"/>
            <a:ext cx="4224528" cy="4498848"/>
          </a:xfrm>
          <a:prstGeom prst="roundRect">
            <a:avLst>
              <a:gd name="adj" fmla="val 1732"/>
            </a:avLst>
          </a:prstGeom>
          <a:solidFill>
            <a:srgbClr val="FFFCF8"/>
          </a:solidFill>
          <a:ln w="12700">
            <a:solidFill>
              <a:srgbClr val="E8E1D6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60336" y="1335024"/>
            <a:ext cx="1225296" cy="329184"/>
          </a:xfrm>
          <a:prstGeom prst="roundRect">
            <a:avLst>
              <a:gd name="adj" fmla="val 33333"/>
            </a:avLst>
          </a:prstGeom>
          <a:solidFill>
            <a:srgbClr val="F6E7D5"/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70064" y="1380744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000" b="1">
                <a:latin typeface="Aptos"/>
              </a:rPr>
              <a:t>Experiment Scope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260336" y="1883664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90688" y="1865376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90688" y="2121408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260336" y="2578608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90688" y="256032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90688" y="2816352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260336" y="3273552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90688" y="325526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90688" y="3511296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260336" y="3968496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90688" y="395020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90688" y="4206240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0" name="TextBox 29"/>
          <p:cNvSpPr txBox="1"/>
          <p:nvPr/>
        </p:nvSpPr>
        <p:spPr>
          <a:xfrm>
            <a:off x="7333488" y="1810512"/>
            <a:ext cx="3310128" cy="3261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latin typeface="Aptos"/>
              </a:rPr>
              <a:t>01  Datasets</a:t>
            </a:r>
            <a:endParaRPr sz="1100" b="1">
              <a:latin typeface="Aptos"/>
            </a:endParaRPr>
          </a:p>
          <a:p>
            <a:pPr algn="l">
              <a:spcAft>
                <a:spcPts val="200"/>
              </a:spcAft>
            </a:pPr>
            <a:r>
              <a:rPr sz="1100" b="0">
                <a:latin typeface="Aptos"/>
              </a:rPr>
              <a:t>MATH-500: 500 questions</a:t>
            </a:r>
            <a:endParaRPr sz="1100" b="0">
              <a:latin typeface="Aptos"/>
            </a:endParaRPr>
          </a:p>
          <a:p>
            <a:pPr algn="l">
              <a:spcAft>
                <a:spcPts val="200"/>
              </a:spcAft>
            </a:pPr>
            <a:r>
              <a:rPr sz="1100" b="0">
                <a:latin typeface="Aptos"/>
              </a:rPr>
              <a:t>GSM8K: 800 questions</a:t>
            </a:r>
            <a:endParaRPr sz="1100" b="0">
              <a:latin typeface="Aptos"/>
            </a:endParaRP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100" b="1">
                <a:latin typeface="Aptos"/>
              </a:rPr>
              <a:t>02  Prompting Methods</a:t>
            </a:r>
            <a:endParaRPr sz="1100" b="1">
              <a:latin typeface="Aptos"/>
            </a:endParaRPr>
          </a:p>
          <a:p>
            <a:pPr algn="l">
              <a:spcAft>
                <a:spcPts val="200"/>
              </a:spcAft>
            </a:pPr>
            <a:r>
              <a:rPr sz="1100" b="0">
                <a:latin typeface="Aptos"/>
              </a:rPr>
              <a:t>CoT, LtM, and SC (k = 5)</a:t>
            </a:r>
            <a:endParaRPr sz="1100" b="0">
              <a:latin typeface="Aptos"/>
            </a:endParaRP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100" b="1">
                <a:latin typeface="Aptos"/>
              </a:rPr>
              <a:t>03  Metrics</a:t>
            </a:r>
            <a:endParaRPr sz="1100" b="1">
              <a:latin typeface="Aptos"/>
            </a:endParaRPr>
          </a:p>
          <a:p>
            <a:pPr algn="l">
              <a:spcAft>
                <a:spcPts val="200"/>
              </a:spcAft>
            </a:pPr>
            <a:r>
              <a:rPr sz="1100" b="0">
                <a:latin typeface="Aptos"/>
              </a:rPr>
              <a:t>Accuracy, response length,</a:t>
            </a:r>
            <a:endParaRPr sz="1100" b="0">
              <a:latin typeface="Aptos"/>
            </a:endParaRPr>
          </a:p>
          <a:p>
            <a:pPr algn="l">
              <a:spcAft>
                <a:spcPts val="200"/>
              </a:spcAft>
            </a:pPr>
            <a:r>
              <a:rPr sz="1100" b="0">
                <a:latin typeface="Aptos"/>
              </a:rPr>
              <a:t>and generation time</a:t>
            </a:r>
            <a:endParaRPr sz="1100" b="0">
              <a:latin typeface="Aptos"/>
            </a:endParaRPr>
          </a:p>
          <a:p>
            <a:pPr algn="l">
              <a:spcAft>
                <a:spcPts val="200"/>
              </a:spcAft>
            </a:pPr>
          </a:p>
          <a:p>
            <a:pPr algn="l">
              <a:spcAft>
                <a:spcPts val="200"/>
              </a:spcAft>
            </a:pPr>
            <a:r>
              <a:rPr sz="1100" b="1">
                <a:latin typeface="Aptos"/>
              </a:rPr>
              <a:t>04  Main Observation</a:t>
            </a:r>
            <a:endParaRPr sz="1100" b="1">
              <a:latin typeface="Aptos"/>
            </a:endParaRPr>
          </a:p>
          <a:p>
            <a:pPr algn="l">
              <a:spcAft>
                <a:spcPts val="200"/>
              </a:spcAft>
            </a:pPr>
            <a:r>
              <a:rPr sz="1100" b="0">
                <a:latin typeface="Aptos"/>
              </a:rPr>
              <a:t>Self-Consistency achieves the best accuracy on both datasets, but it is also the most expensive setup.</a:t>
            </a:r>
            <a:endParaRPr sz="1100" b="0"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566928"/>
            <a:ext cx="10149840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694944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100" b="1">
                <a:latin typeface="Aptos"/>
              </a:rPr>
              <a:t>RESULTS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950976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800" b="1">
                <a:latin typeface="Aptos"/>
              </a:rPr>
              <a:t>Final Results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9808" y="1335024"/>
            <a:ext cx="6583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000">
                <a:latin typeface="Aptos"/>
              </a:rPr>
              <a:t>The chart compares method-level accuracy and response length using the final summary file.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01852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1810512"/>
            <a:ext cx="6172200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124712" y="2048256"/>
            <a:ext cx="1097280" cy="329184"/>
          </a:xfrm>
          <a:prstGeom prst="roundRect">
            <a:avLst>
              <a:gd name="adj" fmla="val 33333"/>
            </a:avLst>
          </a:prstGeom>
          <a:solidFill>
            <a:srgbClr val="F6E7D5"/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209397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000" b="1">
                <a:latin typeface="Aptos"/>
              </a:rPr>
              <a:t>Result Overview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15568" y="2542032"/>
            <a:ext cx="5650992" cy="2816352"/>
          </a:xfrm>
          <a:prstGeom prst="roundRect">
            <a:avLst>
              <a:gd name="adj" fmla="val 1948"/>
            </a:avLst>
          </a:prstGeom>
          <a:solidFill>
            <a:srgbClr val="EEF2F1">
              <a:alpha val="55000"/>
            </a:srgbClr>
          </a:solidFill>
          <a:ln w="17780">
            <a:solidFill>
              <a:srgbClr val="D7DD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3675888"/>
            <a:ext cx="40416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endParaRPr lang="en-US" sz="1300" dirty="0"/>
          </a:p>
        </p:txBody>
      </p:sp>
      <p:sp>
        <p:nvSpPr>
          <p:cNvPr id="14" name="Shape 12"/>
          <p:cNvSpPr/>
          <p:nvPr>
            <p:custDataLst>
              <p:tags r:id="rId1"/>
            </p:custDataLst>
          </p:nvPr>
        </p:nvSpPr>
        <p:spPr>
          <a:xfrm>
            <a:off x="7370064" y="1810512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5" name="Text 13"/>
          <p:cNvSpPr/>
          <p:nvPr>
            <p:custDataLst>
              <p:tags r:id="rId2"/>
            </p:custDataLst>
          </p:nvPr>
        </p:nvSpPr>
        <p:spPr>
          <a:xfrm>
            <a:off x="7607808" y="201168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000" b="1">
                <a:latin typeface="Aptos"/>
              </a:rPr>
              <a:t>Best GSM8K</a:t>
            </a:r>
            <a:endParaRPr lang="en-US" sz="1100" dirty="0"/>
          </a:p>
        </p:txBody>
      </p:sp>
      <p:sp>
        <p:nvSpPr>
          <p:cNvPr id="16" name="Text 14"/>
          <p:cNvSpPr/>
          <p:nvPr>
            <p:custDataLst>
              <p:tags r:id="rId3"/>
            </p:custDataLst>
          </p:nvPr>
        </p:nvSpPr>
        <p:spPr>
          <a:xfrm>
            <a:off x="7589520" y="2267712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900" b="1">
                <a:latin typeface="Aptos"/>
              </a:rPr>
              <a:t>55.87%</a:t>
            </a:r>
            <a:endParaRPr lang="en-US" sz="2200" dirty="0"/>
          </a:p>
        </p:txBody>
      </p:sp>
      <p:sp>
        <p:nvSpPr>
          <p:cNvPr id="17" name="Text 15"/>
          <p:cNvSpPr/>
          <p:nvPr>
            <p:custDataLst>
              <p:tags r:id="rId4"/>
            </p:custDataLst>
          </p:nvPr>
        </p:nvSpPr>
        <p:spPr>
          <a:xfrm>
            <a:off x="9162288" y="2286000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400">
                <a:latin typeface="Aptos"/>
              </a:rPr>
              <a:t>Self-Consistency delivers the highest GSM8K accuracy.</a:t>
            </a:r>
            <a:endParaRPr lang="en-US" sz="1400" dirty="0"/>
          </a:p>
        </p:txBody>
      </p:sp>
      <p:sp>
        <p:nvSpPr>
          <p:cNvPr id="18" name="Shape 16"/>
          <p:cNvSpPr/>
          <p:nvPr>
            <p:custDataLst>
              <p:tags r:id="rId5"/>
            </p:custDataLst>
          </p:nvPr>
        </p:nvSpPr>
        <p:spPr>
          <a:xfrm>
            <a:off x="7370064" y="320040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FFCF8"/>
          </a:solidFill>
          <a:ln w="12700">
            <a:solidFill>
              <a:srgbClr val="E8E1D6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9" name="Text 17"/>
          <p:cNvSpPr/>
          <p:nvPr>
            <p:custDataLst>
              <p:tags r:id="rId6"/>
            </p:custDataLst>
          </p:nvPr>
        </p:nvSpPr>
        <p:spPr>
          <a:xfrm>
            <a:off x="7607808" y="3401568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000" b="1">
                <a:latin typeface="Aptos"/>
              </a:rPr>
              <a:t>Best MATH-500</a:t>
            </a:r>
            <a:endParaRPr lang="en-US" sz="1100" dirty="0"/>
          </a:p>
        </p:txBody>
      </p:sp>
      <p:sp>
        <p:nvSpPr>
          <p:cNvPr id="20" name="Text 18"/>
          <p:cNvSpPr/>
          <p:nvPr>
            <p:custDataLst>
              <p:tags r:id="rId7"/>
            </p:custDataLst>
          </p:nvPr>
        </p:nvSpPr>
        <p:spPr>
          <a:xfrm>
            <a:off x="7589520" y="3657600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900" b="1">
                <a:latin typeface="Aptos"/>
              </a:rPr>
              <a:t>25.60%</a:t>
            </a:r>
            <a:endParaRPr lang="en-US" sz="2200" dirty="0"/>
          </a:p>
        </p:txBody>
      </p:sp>
      <p:sp>
        <p:nvSpPr>
          <p:cNvPr id="21" name="Text 19"/>
          <p:cNvSpPr/>
          <p:nvPr>
            <p:custDataLst>
              <p:tags r:id="rId8"/>
            </p:custDataLst>
          </p:nvPr>
        </p:nvSpPr>
        <p:spPr>
          <a:xfrm>
            <a:off x="9162288" y="3675888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400">
                <a:latin typeface="Aptos"/>
              </a:rPr>
              <a:t>The same method also ranks first on MATH-500.</a:t>
            </a:r>
            <a:endParaRPr lang="en-US" sz="1400" dirty="0"/>
          </a:p>
        </p:txBody>
      </p:sp>
      <p:sp>
        <p:nvSpPr>
          <p:cNvPr id="22" name="Shape 20"/>
          <p:cNvSpPr/>
          <p:nvPr>
            <p:custDataLst>
              <p:tags r:id="rId9"/>
            </p:custDataLst>
          </p:nvPr>
        </p:nvSpPr>
        <p:spPr>
          <a:xfrm>
            <a:off x="7370064" y="4590288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23" name="Text 21"/>
          <p:cNvSpPr/>
          <p:nvPr>
            <p:custDataLst>
              <p:tags r:id="rId10"/>
            </p:custDataLst>
          </p:nvPr>
        </p:nvSpPr>
        <p:spPr>
          <a:xfrm>
            <a:off x="7607808" y="4791456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000" b="1">
                <a:latin typeface="Aptos"/>
              </a:rPr>
              <a:t>Cost Signal</a:t>
            </a:r>
            <a:endParaRPr lang="en-US" sz="1100" dirty="0"/>
          </a:p>
        </p:txBody>
      </p:sp>
      <p:sp>
        <p:nvSpPr>
          <p:cNvPr id="24" name="Text 22"/>
          <p:cNvSpPr/>
          <p:nvPr>
            <p:custDataLst>
              <p:tags r:id="rId11"/>
            </p:custDataLst>
          </p:nvPr>
        </p:nvSpPr>
        <p:spPr>
          <a:xfrm>
            <a:off x="7589520" y="5047488"/>
            <a:ext cx="1463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900" b="1">
                <a:latin typeface="Aptos"/>
              </a:rPr>
              <a:t>7.47k</a:t>
            </a:r>
            <a:endParaRPr lang="en-US" sz="2200" dirty="0"/>
          </a:p>
        </p:txBody>
      </p:sp>
      <p:sp>
        <p:nvSpPr>
          <p:cNvPr id="25" name="Text 23"/>
          <p:cNvSpPr/>
          <p:nvPr>
            <p:custDataLst>
              <p:tags r:id="rId12"/>
            </p:custDataLst>
          </p:nvPr>
        </p:nvSpPr>
        <p:spPr>
          <a:xfrm>
            <a:off x="9162288" y="5065776"/>
            <a:ext cx="1783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400">
                <a:latin typeface="Aptos"/>
              </a:rPr>
              <a:t>SC produces much longer outputs, which explains the runtime increase.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70064" y="5760720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71232" y="5897880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900">
                <a:latin typeface="Aptos"/>
              </a:rPr>
              <a:t>Key takeaway: the most accurate method is also the most expensive one in both output length and runtime.</a:t>
            </a:r>
            <a:endParaRPr lang="en-US" sz="1050" dirty="0"/>
          </a:p>
        </p:txBody>
      </p:sp>
      <p:pic>
        <p:nvPicPr>
          <p:cNvPr id="28" name="Picture 27" descr="deepseek_part4_result_chart_e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1560" y="2468880"/>
            <a:ext cx="5376672" cy="2194560"/>
          </a:xfrm>
          <a:prstGeom prst="rect">
            <a:avLst/>
          </a:prstGeom>
        </p:spPr>
      </p:pic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987552" y="4919472"/>
          <a:ext cx="4992624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8992"/>
                <a:gridCol w="658368"/>
                <a:gridCol w="658368"/>
                <a:gridCol w="658368"/>
                <a:gridCol w="914400"/>
                <a:gridCol w="1024128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ptos"/>
                        </a:rPr>
                        <a:t>Dataset</a:t>
                      </a:r>
                      <a:endParaRPr sz="900" b="1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ptos"/>
                        </a:rPr>
                        <a:t>CoT</a:t>
                      </a:r>
                      <a:endParaRPr sz="900" b="1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ptos"/>
                        </a:rPr>
                        <a:t>LtM</a:t>
                      </a:r>
                      <a:endParaRPr sz="900" b="1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ptos"/>
                        </a:rPr>
                        <a:t>SC</a:t>
                      </a:r>
                      <a:endParaRPr sz="900" b="1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ptos"/>
                        </a:rPr>
                        <a:t>Best</a:t>
                      </a:r>
                      <a:endParaRPr sz="900" b="1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ptos"/>
                        </a:rPr>
                        <a:t>Avg Time</a:t>
                      </a:r>
                      <a:endParaRPr sz="900" b="1">
                        <a:latin typeface="Aptos"/>
                      </a:endParaRP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/>
                        </a:rPr>
                        <a:t>GSM8K</a:t>
                      </a:r>
                      <a:endParaRPr sz="100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/>
                        </a:rPr>
                        <a:t>48.75%</a:t>
                      </a:r>
                      <a:endParaRPr sz="100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/>
                        </a:rPr>
                        <a:t>49.13%</a:t>
                      </a:r>
                      <a:endParaRPr sz="100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/>
                        </a:rPr>
                        <a:t>55.87%</a:t>
                      </a:r>
                      <a:endParaRPr sz="100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/>
                        </a:rPr>
                        <a:t>SC</a:t>
                      </a:r>
                      <a:endParaRPr sz="100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/>
                        </a:rPr>
                        <a:t>90.44s</a:t>
                      </a:r>
                      <a:endParaRPr sz="1000">
                        <a:latin typeface="Aptos"/>
                      </a:endParaRP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/>
                        </a:rPr>
                        <a:t>MATH-500</a:t>
                      </a:r>
                      <a:endParaRPr sz="100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/>
                        </a:rPr>
                        <a:t>19.80%</a:t>
                      </a:r>
                      <a:endParaRPr sz="100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/>
                        </a:rPr>
                        <a:t>23.00%</a:t>
                      </a:r>
                      <a:endParaRPr sz="100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/>
                        </a:rPr>
                        <a:t>25.60%</a:t>
                      </a:r>
                      <a:endParaRPr sz="100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/>
                        </a:rPr>
                        <a:t>SC</a:t>
                      </a:r>
                      <a:endParaRPr sz="100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Aptos"/>
                        </a:rPr>
                        <a:t>102.10s</a:t>
                      </a:r>
                      <a:endParaRPr sz="1000">
                        <a:latin typeface="Apto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566928"/>
            <a:ext cx="10149840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694944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100" b="1">
                <a:latin typeface="Aptos"/>
              </a:rPr>
              <a:t>ANALYSIS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950976"/>
            <a:ext cx="5852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800" b="1">
                <a:latin typeface="Aptos"/>
              </a:rPr>
              <a:t>Analysis and Discussion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01852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1810512"/>
            <a:ext cx="51663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810512"/>
            <a:ext cx="51663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33856" y="2048256"/>
            <a:ext cx="1060704" cy="329184"/>
          </a:xfrm>
          <a:prstGeom prst="roundRect">
            <a:avLst>
              <a:gd name="adj" fmla="val 33333"/>
            </a:avLst>
          </a:prstGeom>
          <a:solidFill>
            <a:srgbClr val="F6E7D5"/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3584" y="209397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100" b="1">
                <a:latin typeface="Aptos"/>
              </a:rPr>
              <a:t>Key Findings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64808" y="2048256"/>
            <a:ext cx="1060704" cy="329184"/>
          </a:xfrm>
          <a:prstGeom prst="roundRect">
            <a:avLst>
              <a:gd name="adj" fmla="val 33333"/>
            </a:avLst>
          </a:prstGeom>
          <a:solidFill>
            <a:srgbClr val="F6E7D5"/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74536" y="209397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100" b="1">
                <a:latin typeface="Aptos"/>
              </a:rPr>
              <a:t>Discussion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33856" y="272491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261518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133856" y="316382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8448" y="3054096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33856" y="360273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98448" y="3493008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133856" y="404164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98448" y="393192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64808" y="2724912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615184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64808" y="3163824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3054096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64808" y="3602736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3493008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64808" y="4041648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393192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68680" y="5815584"/>
            <a:ext cx="10497312" cy="493776"/>
          </a:xfrm>
          <a:prstGeom prst="roundRect">
            <a:avLst>
              <a:gd name="adj" fmla="val 14815"/>
            </a:avLst>
          </a:prstGeom>
          <a:solidFill>
            <a:srgbClr val="FFFCF8"/>
          </a:solidFill>
          <a:ln w="12700">
            <a:solidFill>
              <a:srgbClr val="E8E1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8992" y="5980176"/>
            <a:ext cx="9875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sz="1100" b="1">
                <a:latin typeface="Aptos"/>
              </a:rPr>
              <a:t>Takeaway: DeepSeek shows meaningful reasoning ability, but the strongest setup still depends on a much more expensive generation process.</a:t>
            </a:r>
            <a:endParaRPr lang="en-US" sz="1100" dirty="0"/>
          </a:p>
        </p:txBody>
      </p:sp>
      <p:sp>
        <p:nvSpPr>
          <p:cNvPr id="33" name="TextBox 32"/>
          <p:cNvSpPr txBox="1"/>
          <p:nvPr/>
        </p:nvSpPr>
        <p:spPr>
          <a:xfrm>
            <a:off x="1170432" y="2487168"/>
            <a:ext cx="4526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latin typeface="Aptos"/>
              </a:rPr>
              <a:t>Self-Consistency is the most accurate method on both datasets.</a:t>
            </a:r>
            <a:endParaRPr sz="1300">
              <a:latin typeface="Aptos"/>
            </a:endParaRPr>
          </a:p>
          <a:p>
            <a:pPr>
              <a:spcAft>
                <a:spcPts val="700"/>
              </a:spcAft>
            </a:pPr>
            <a:r>
              <a:rPr sz="1300">
                <a:latin typeface="Aptos"/>
              </a:rPr>
              <a:t>GSM8K is much easier than MATH-500 for this 1.5B model.</a:t>
            </a:r>
            <a:endParaRPr sz="1300">
              <a:latin typeface="Aptos"/>
            </a:endParaRPr>
          </a:p>
          <a:p>
            <a:pPr>
              <a:spcAft>
                <a:spcPts val="700"/>
              </a:spcAft>
            </a:pPr>
            <a:r>
              <a:rPr sz="1300">
                <a:latin typeface="Aptos"/>
              </a:rPr>
              <a:t>Many MATH-500 failures come from incomplete endings or unstable final formatting.</a:t>
            </a:r>
            <a:endParaRPr sz="1300">
              <a:latin typeface="Aptos"/>
            </a:endParaRPr>
          </a:p>
          <a:p>
            <a:pPr>
              <a:spcAft>
                <a:spcPts val="700"/>
              </a:spcAft>
            </a:pPr>
            <a:r>
              <a:rPr sz="1300">
                <a:latin typeface="Aptos"/>
              </a:rPr>
              <a:t>Accuracy gains come with much longer outputs and slower inference.</a:t>
            </a:r>
            <a:endParaRPr sz="1300"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92240" y="2487168"/>
            <a:ext cx="4434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latin typeface="Aptos"/>
              </a:rPr>
              <a:t>The model often reasons for a long time but still fails to end with a clean final answer.</a:t>
            </a:r>
            <a:endParaRPr sz="1300">
              <a:latin typeface="Aptos"/>
            </a:endParaRPr>
          </a:p>
          <a:p>
            <a:pPr>
              <a:spcAft>
                <a:spcPts val="700"/>
              </a:spcAft>
            </a:pPr>
            <a:r>
              <a:rPr sz="1300">
                <a:latin typeface="Aptos"/>
              </a:rPr>
              <a:t>That weakens automatic evaluation, especially on symbolic MATH-500 outputs.</a:t>
            </a:r>
            <a:endParaRPr sz="1300">
              <a:latin typeface="Aptos"/>
            </a:endParaRPr>
          </a:p>
          <a:p>
            <a:pPr>
              <a:spcAft>
                <a:spcPts val="700"/>
              </a:spcAft>
            </a:pPr>
            <a:r>
              <a:rPr sz="1300">
                <a:latin typeface="Aptos"/>
              </a:rPr>
              <a:t>A stricter final-answer format would likely improve extraction and scoring stability.</a:t>
            </a:r>
            <a:endParaRPr sz="1300">
              <a:latin typeface="Aptos"/>
            </a:endParaRPr>
          </a:p>
          <a:p>
            <a:pPr>
              <a:spcAft>
                <a:spcPts val="700"/>
              </a:spcAft>
            </a:pPr>
            <a:r>
              <a:rPr sz="1300">
                <a:latin typeface="Aptos"/>
              </a:rPr>
              <a:t>Overall, DeepSeek is useful for basic math reasoning, but still weak on harder symbolic tasks.</a:t>
            </a:r>
            <a:endParaRPr sz="1300">
              <a:latin typeface="Apto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1}"/>
</p:tagLst>
</file>

<file path=ppt/tags/tag2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1}"/>
</p:tagLst>
</file>

<file path=ppt/tags/tag3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1}"/>
</p:tagLst>
</file>

<file path=ppt/tags/tag4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1}"/>
</p:tagLst>
</file>

<file path=ppt/tags/tag5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1}"/>
</p:tagLst>
</file>

<file path=ppt/tags/tag6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1}"/>
</p:tagLst>
</file>

<file path=ppt/tags/tag7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1}"/>
</p:tagLst>
</file>

<file path=ppt/tags/tag8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1}"/>
</p:tagLst>
</file>

<file path=ppt/tags/tag9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1}"/>
</p:tagLst>
</file>

<file path=ppt/tags/tag10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1}"/>
</p:tagLst>
</file>

<file path=ppt/tags/tag11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1}"/>
</p:tagLst>
</file>

<file path=ppt/tags/tag12.xml><?xml version="1.0" encoding="utf-8"?>
<p:tagLst xmlns:p="http://schemas.openxmlformats.org/presentationml/2006/main">
  <p:tag name="KSO_WM_DIAGRAM_VIRTUALLY_FRAME" val="{&quot;height&quot;:305.28,&quot;left&quot;:580.3199999999999,&quot;top&quot;:142.56,&quot;width&quot;:309.600000000000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1890</Words>
  <Application>WPS 演示</Application>
  <PresentationFormat>On-screen Show (16:9)</PresentationFormat>
  <Paragraphs>111</Paragraphs>
  <Slides>3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7" baseType="lpstr">
      <vt:lpstr>Arial</vt:lpstr>
      <vt:lpstr>宋体</vt:lpstr>
      <vt:lpstr>Wingdings</vt:lpstr>
      <vt:lpstr>Aptos</vt:lpstr>
      <vt:lpstr>Segoe UI</vt:lpstr>
      <vt:lpstr>Aptos</vt:lpstr>
      <vt:lpstr>Aptos</vt:lpstr>
      <vt:lpstr>Aptos</vt:lpstr>
      <vt:lpstr>PingFang SC</vt:lpstr>
      <vt:lpstr>Segoe Print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期末汇报模板_简洁版</dc:title>
  <dc:creator>OpenAI Codex</dc:creator>
  <dc:subject>期末汇报PPT模板</dc:subject>
  <cp:lastModifiedBy>Xyy</cp:lastModifiedBy>
  <cp:revision>4</cp:revision>
  <dcterms:created xsi:type="dcterms:W3CDTF">2026-04-11T10:37:00Z</dcterms:created>
  <dcterms:modified xsi:type="dcterms:W3CDTF">2026-04-14T15:36:49Z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9AF3869D5FC046DC8F33F79201C1E335_13</vt:lpwstr>
  </property>
  <property fmtid="{D5CDD505-2E9C-101B-9397-08002B2CF9AE}" pid="3" name="KSOProductBuildVer">
    <vt:lpwstr>2052-12.1.0.25225</vt:lpwstr>
  </property>
</Properties>
</file>