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7.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8.xml" ContentType="application/vnd.openxmlformats-officedocument.presentationml.tags+xml"/>
  <Override PartName="/ppt/notesSlides/notesSlide3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8" r:id="rId2"/>
    <p:sldId id="275" r:id="rId3"/>
    <p:sldId id="300" r:id="rId4"/>
    <p:sldId id="260" r:id="rId5"/>
    <p:sldId id="288" r:id="rId6"/>
    <p:sldId id="317" r:id="rId7"/>
    <p:sldId id="281" r:id="rId8"/>
    <p:sldId id="285" r:id="rId9"/>
    <p:sldId id="291" r:id="rId10"/>
    <p:sldId id="262" r:id="rId11"/>
    <p:sldId id="318" r:id="rId12"/>
    <p:sldId id="290" r:id="rId13"/>
    <p:sldId id="319" r:id="rId14"/>
    <p:sldId id="292" r:id="rId15"/>
    <p:sldId id="293" r:id="rId16"/>
    <p:sldId id="296" r:id="rId17"/>
    <p:sldId id="320" r:id="rId18"/>
    <p:sldId id="297" r:id="rId19"/>
    <p:sldId id="321" r:id="rId20"/>
    <p:sldId id="298" r:id="rId21"/>
    <p:sldId id="299" r:id="rId22"/>
    <p:sldId id="295" r:id="rId23"/>
    <p:sldId id="301" r:id="rId24"/>
    <p:sldId id="302" r:id="rId25"/>
    <p:sldId id="303" r:id="rId26"/>
    <p:sldId id="305" r:id="rId27"/>
    <p:sldId id="306" r:id="rId28"/>
    <p:sldId id="307" r:id="rId29"/>
    <p:sldId id="310" r:id="rId30"/>
    <p:sldId id="309" r:id="rId31"/>
    <p:sldId id="311" r:id="rId32"/>
    <p:sldId id="312" r:id="rId33"/>
    <p:sldId id="308" r:id="rId34"/>
    <p:sldId id="313" r:id="rId35"/>
    <p:sldId id="315" r:id="rId36"/>
    <p:sldId id="276"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ng Renwei" initials="YR" lastIdx="1" clrIdx="0">
    <p:extLst>
      <p:ext uri="{19B8F6BF-5375-455C-9EA6-DF929625EA0E}">
        <p15:presenceInfo xmlns:p15="http://schemas.microsoft.com/office/powerpoint/2012/main" userId="a7bb3f60204c70a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92C0"/>
    <a:srgbClr val="48A2A0"/>
    <a:srgbClr val="A4D6D5"/>
    <a:srgbClr val="B0C4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3" autoAdjust="0"/>
    <p:restoredTop sz="77639" autoAdjust="0"/>
  </p:normalViewPr>
  <p:slideViewPr>
    <p:cSldViewPr snapToGrid="0" showGuides="1">
      <p:cViewPr varScale="1">
        <p:scale>
          <a:sx n="51" d="100"/>
          <a:sy n="51" d="100"/>
        </p:scale>
        <p:origin x="1148" y="40"/>
      </p:cViewPr>
      <p:guideLst>
        <p:guide pos="3840"/>
        <p:guide orient="horz" pos="2160"/>
      </p:guideLst>
    </p:cSldViewPr>
  </p:slideViewPr>
  <p:notesTextViewPr>
    <p:cViewPr>
      <p:scale>
        <a:sx n="125" d="100"/>
        <a:sy n="125"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WU Dapeng" userId="766581d8-4b49-4c74-b70d-570e2257b99b" providerId="ADAL" clId="{046091D8-CD99-44C5-A71C-244EFA8723DF}"/>
    <pc:docChg chg="modSld">
      <pc:chgData name="Prof. WU Dapeng" userId="766581d8-4b49-4c74-b70d-570e2257b99b" providerId="ADAL" clId="{046091D8-CD99-44C5-A71C-244EFA8723DF}" dt="2025-09-29T06:16:29.930" v="41"/>
      <pc:docMkLst>
        <pc:docMk/>
      </pc:docMkLst>
      <pc:sldChg chg="delSp modSp mod">
        <pc:chgData name="Prof. WU Dapeng" userId="766581d8-4b49-4c74-b70d-570e2257b99b" providerId="ADAL" clId="{046091D8-CD99-44C5-A71C-244EFA8723DF}" dt="2025-09-29T06:15:35.221" v="35"/>
        <pc:sldMkLst>
          <pc:docMk/>
          <pc:sldMk cId="2564476653" sldId="258"/>
        </pc:sldMkLst>
        <pc:spChg chg="mod">
          <ac:chgData name="Prof. WU Dapeng" userId="766581d8-4b49-4c74-b70d-570e2257b99b" providerId="ADAL" clId="{046091D8-CD99-44C5-A71C-244EFA8723DF}" dt="2025-09-29T06:15:22.333" v="24" actId="207"/>
          <ac:spMkLst>
            <pc:docMk/>
            <pc:sldMk cId="2564476653" sldId="258"/>
            <ac:spMk id="2" creationId="{00000000-0000-0000-0000-000000000000}"/>
          </ac:spMkLst>
        </pc:spChg>
        <pc:spChg chg="del mod">
          <ac:chgData name="Prof. WU Dapeng" userId="766581d8-4b49-4c74-b70d-570e2257b99b" providerId="ADAL" clId="{046091D8-CD99-44C5-A71C-244EFA8723DF}" dt="2025-09-29T06:15:35.221" v="35"/>
          <ac:spMkLst>
            <pc:docMk/>
            <pc:sldMk cId="2564476653" sldId="258"/>
            <ac:spMk id="10" creationId="{00000000-0000-0000-0000-000000000000}"/>
          </ac:spMkLst>
        </pc:spChg>
        <pc:spChg chg="mod">
          <ac:chgData name="Prof. WU Dapeng" userId="766581d8-4b49-4c74-b70d-570e2257b99b" providerId="ADAL" clId="{046091D8-CD99-44C5-A71C-244EFA8723DF}" dt="2025-09-29T06:15:33.316" v="33" actId="20577"/>
          <ac:spMkLst>
            <pc:docMk/>
            <pc:sldMk cId="2564476653" sldId="258"/>
            <ac:spMk id="13" creationId="{00000000-0000-0000-0000-000000000000}"/>
          </ac:spMkLst>
        </pc:spChg>
      </pc:sldChg>
      <pc:sldChg chg="delSp modSp mod">
        <pc:chgData name="Prof. WU Dapeng" userId="766581d8-4b49-4c74-b70d-570e2257b99b" providerId="ADAL" clId="{046091D8-CD99-44C5-A71C-244EFA8723DF}" dt="2025-09-29T06:16:29.930" v="41"/>
        <pc:sldMkLst>
          <pc:docMk/>
          <pc:sldMk cId="2770161350" sldId="276"/>
        </pc:sldMkLst>
        <pc:spChg chg="del mod">
          <ac:chgData name="Prof. WU Dapeng" userId="766581d8-4b49-4c74-b70d-570e2257b99b" providerId="ADAL" clId="{046091D8-CD99-44C5-A71C-244EFA8723DF}" dt="2025-09-29T06:16:29.929" v="39"/>
          <ac:spMkLst>
            <pc:docMk/>
            <pc:sldMk cId="2770161350" sldId="276"/>
            <ac:spMk id="8" creationId="{00000000-0000-0000-0000-000000000000}"/>
          </ac:spMkLst>
        </pc:spChg>
        <pc:spChg chg="del mod">
          <ac:chgData name="Prof. WU Dapeng" userId="766581d8-4b49-4c74-b70d-570e2257b99b" providerId="ADAL" clId="{046091D8-CD99-44C5-A71C-244EFA8723DF}" dt="2025-09-29T06:16:29.930" v="41"/>
          <ac:spMkLst>
            <pc:docMk/>
            <pc:sldMk cId="2770161350" sldId="276"/>
            <ac:spMk id="20" creationId="{9B181F4C-EA51-42CA-81D7-FEE7AB6FCF9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09EA2A-4C48-4C61-B30A-DAB1A3E93B21}" type="datetimeFigureOut">
              <a:rPr lang="zh-CN" altLang="en-US" smtClean="0"/>
              <a:t>2025/9/29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B31000-9408-426B-B873-D4C066E48AF8}" type="slidenum">
              <a:rPr lang="zh-CN" altLang="en-US" smtClean="0"/>
              <a:t>‹#›</a:t>
            </a:fld>
            <a:endParaRPr lang="zh-CN" altLang="en-US"/>
          </a:p>
        </p:txBody>
      </p:sp>
    </p:spTree>
    <p:extLst>
      <p:ext uri="{BB962C8B-B14F-4D97-AF65-F5344CB8AC3E}">
        <p14:creationId xmlns:p14="http://schemas.microsoft.com/office/powerpoint/2010/main" val="3643439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1</a:t>
            </a:fld>
            <a:endParaRPr lang="zh-CN" altLang="en-US"/>
          </a:p>
        </p:txBody>
      </p:sp>
    </p:spTree>
    <p:extLst>
      <p:ext uri="{BB962C8B-B14F-4D97-AF65-F5344CB8AC3E}">
        <p14:creationId xmlns:p14="http://schemas.microsoft.com/office/powerpoint/2010/main" val="4220230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You’ll know the reason in part 1, the significance of CLIP.</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a:t>
            </a:fld>
            <a:endParaRPr lang="zh-CN" altLang="en-US"/>
          </a:p>
        </p:txBody>
      </p:sp>
    </p:spTree>
    <p:extLst>
      <p:ext uri="{BB962C8B-B14F-4D97-AF65-F5344CB8AC3E}">
        <p14:creationId xmlns:p14="http://schemas.microsoft.com/office/powerpoint/2010/main" val="2206267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CLIP take both text and image as input</a:t>
            </a:r>
            <a:r>
              <a:rPr lang="zh-CN" altLang="en-US" dirty="0"/>
              <a:t>，</a:t>
            </a:r>
            <a:r>
              <a:rPr lang="en-US" altLang="zh-CN" dirty="0"/>
              <a:t>and their features meet each other in CLIP </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4</a:t>
            </a:fld>
            <a:endParaRPr lang="zh-CN" altLang="en-US"/>
          </a:p>
        </p:txBody>
      </p:sp>
    </p:spTree>
    <p:extLst>
      <p:ext uri="{BB962C8B-B14F-4D97-AF65-F5344CB8AC3E}">
        <p14:creationId xmlns:p14="http://schemas.microsoft.com/office/powerpoint/2010/main" val="3800169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CLIP can classify object which is never learned</a:t>
            </a:r>
            <a:r>
              <a:rPr lang="zh-CN" altLang="en-US" dirty="0"/>
              <a:t>，</a:t>
            </a:r>
            <a:r>
              <a:rPr lang="en-US" altLang="zh-CN" dirty="0"/>
              <a:t> as long as you give appropriate description.</a:t>
            </a:r>
          </a:p>
          <a:p>
            <a:r>
              <a:rPr lang="en-US" altLang="zh-CN" dirty="0"/>
              <a:t>Now you see why is it helpful to your job. Suppose you are developing a traditional classifier in a company</a:t>
            </a:r>
            <a:r>
              <a:rPr lang="zh-CN" altLang="en-US" dirty="0"/>
              <a:t>，</a:t>
            </a:r>
            <a:endParaRPr lang="en-US" altLang="zh-CN"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5</a:t>
            </a:fld>
            <a:endParaRPr lang="zh-CN" altLang="en-US"/>
          </a:p>
        </p:txBody>
      </p:sp>
    </p:spTree>
    <p:extLst>
      <p:ext uri="{BB962C8B-B14F-4D97-AF65-F5344CB8AC3E}">
        <p14:creationId xmlns:p14="http://schemas.microsoft.com/office/powerpoint/2010/main" val="1120947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And one day your product manager says, hey, add a new class to your model. He may think its easy, but actually not, especially when the model is already on the users</a:t>
            </a:r>
            <a:r>
              <a:rPr lang="zh-CN" altLang="en-US" dirty="0"/>
              <a:t>‘</a:t>
            </a:r>
            <a:r>
              <a:rPr lang="en-US" altLang="zh-CN" dirty="0"/>
              <a:t>s devices. It will take a lot of work, to the whole things again.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But now, we have CLIP. You can just type a sentence, and then, the work is done.  Amazingly convenient.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So</a:t>
            </a:r>
            <a:r>
              <a:rPr lang="zh-CN" altLang="en-US" dirty="0"/>
              <a:t> </a:t>
            </a:r>
            <a:r>
              <a:rPr lang="en-US" altLang="zh-CN" dirty="0"/>
              <a:t>how does clip achieve these things</a:t>
            </a:r>
            <a:r>
              <a:rPr lang="zh-CN" altLang="en-US" dirty="0"/>
              <a:t>？ </a:t>
            </a:r>
            <a:r>
              <a:rPr lang="en-US" altLang="zh-CN" dirty="0"/>
              <a:t>Let’s check out in part2.</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6</a:t>
            </a:fld>
            <a:endParaRPr lang="zh-CN" altLang="en-US"/>
          </a:p>
        </p:txBody>
      </p:sp>
    </p:spTree>
    <p:extLst>
      <p:ext uri="{BB962C8B-B14F-4D97-AF65-F5344CB8AC3E}">
        <p14:creationId xmlns:p14="http://schemas.microsoft.com/office/powerpoint/2010/main" val="1917794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CLIP is proposed in this paper by </a:t>
            </a:r>
            <a:r>
              <a:rPr lang="en-US" altLang="zh-CN" dirty="0" err="1"/>
              <a:t>OpenAI</a:t>
            </a:r>
            <a:r>
              <a:rPr lang="en-US" altLang="zh-CN" dirty="0"/>
              <a:t>. I believe you are very familiar with this company</a:t>
            </a:r>
            <a:r>
              <a:rPr lang="zh-CN" altLang="en-US" dirty="0"/>
              <a:t>，</a:t>
            </a:r>
            <a:r>
              <a:rPr lang="en-US" altLang="zh-CN" dirty="0"/>
              <a:t>especially when doing homework.</a:t>
            </a:r>
            <a:r>
              <a:rPr lang="zh-CN" altLang="en-US" dirty="0"/>
              <a:t> </a:t>
            </a:r>
            <a:endParaRPr lang="en-US" altLang="zh-CN" dirty="0"/>
          </a:p>
          <a:p>
            <a:r>
              <a:rPr lang="en-US" altLang="zh-CN" dirty="0" err="1"/>
              <a:t>frist</a:t>
            </a:r>
            <a:r>
              <a:rPr lang="en-US" altLang="zh-CN" dirty="0"/>
              <a:t> of all, let’s see its title.</a:t>
            </a:r>
            <a:r>
              <a:rPr lang="zh-CN" altLang="en-US" dirty="0"/>
              <a:t> </a:t>
            </a:r>
            <a:r>
              <a:rPr lang="en-US" altLang="zh-CN" dirty="0"/>
              <a:t>The key is that ,it is </a:t>
            </a:r>
            <a:r>
              <a:rPr lang="en-US" altLang="zh-CN" dirty="0" err="1"/>
              <a:t>superveid</a:t>
            </a:r>
            <a:r>
              <a:rPr lang="en-US" altLang="zh-CN" dirty="0"/>
              <a:t> by Natural language. recall that in the past, a classifier model is usually supervised by  a one-hot vector</a:t>
            </a:r>
            <a:r>
              <a:rPr lang="zh-CN" altLang="en-US" dirty="0"/>
              <a:t>，</a:t>
            </a:r>
            <a:r>
              <a:rPr lang="en-US" altLang="zh-CN" dirty="0"/>
              <a:t>for example </a:t>
            </a:r>
            <a:r>
              <a:rPr lang="en-US" altLang="zh-CN" dirty="0" err="1"/>
              <a:t>resnet</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8</a:t>
            </a:fld>
            <a:endParaRPr lang="zh-CN" altLang="en-US"/>
          </a:p>
        </p:txBody>
      </p:sp>
    </p:spTree>
    <p:extLst>
      <p:ext uri="{BB962C8B-B14F-4D97-AF65-F5344CB8AC3E}">
        <p14:creationId xmlns:p14="http://schemas.microsoft.com/office/powerpoint/2010/main" val="37592138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contrastive , it learns from the data itself, so it is free of human-annotation.</a:t>
            </a:r>
            <a:r>
              <a:rPr lang="zh-CN" altLang="en-US" dirty="0"/>
              <a:t> </a:t>
            </a:r>
            <a:r>
              <a:rPr lang="en-US" altLang="zh-CN" dirty="0"/>
              <a:t>one benefit is that  the dataset is easier to be very large.</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9</a:t>
            </a:fld>
            <a:endParaRPr lang="zh-CN" altLang="en-US"/>
          </a:p>
        </p:txBody>
      </p:sp>
    </p:spTree>
    <p:extLst>
      <p:ext uri="{BB962C8B-B14F-4D97-AF65-F5344CB8AC3E}">
        <p14:creationId xmlns:p14="http://schemas.microsoft.com/office/powerpoint/2010/main" val="2056199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Here’s the training diagram</a:t>
            </a:r>
            <a:r>
              <a:rPr lang="zh-CN" altLang="en-US" dirty="0"/>
              <a:t>：</a:t>
            </a:r>
            <a:r>
              <a:rPr lang="en-US" altLang="zh-CN" dirty="0"/>
              <a:t>We have a batch of image / text samples, they are encoded into feature vectors. e.g. I1 T1 stands for…</a:t>
            </a:r>
          </a:p>
          <a:p>
            <a:r>
              <a:rPr lang="en-US" altLang="zh-CN" dirty="0"/>
              <a:t>Then, we calculate the inner product for each pair.  Recall that only when they have the same index, they are the positive sample</a:t>
            </a:r>
            <a:r>
              <a:rPr lang="zh-CN" altLang="en-US" dirty="0"/>
              <a:t>，</a:t>
            </a:r>
            <a:r>
              <a:rPr lang="en-US" altLang="zh-CN" dirty="0"/>
              <a:t>other = negative</a:t>
            </a:r>
          </a:p>
        </p:txBody>
      </p:sp>
      <p:sp>
        <p:nvSpPr>
          <p:cNvPr id="4" name="灯片编号占位符 3"/>
          <p:cNvSpPr>
            <a:spLocks noGrp="1"/>
          </p:cNvSpPr>
          <p:nvPr>
            <p:ph type="sldNum" sz="quarter" idx="5"/>
          </p:nvPr>
        </p:nvSpPr>
        <p:spPr/>
        <p:txBody>
          <a:bodyPr/>
          <a:lstStyle/>
          <a:p>
            <a:fld id="{74B31000-9408-426B-B873-D4C066E48AF8}" type="slidenum">
              <a:rPr lang="zh-CN" altLang="en-US" smtClean="0"/>
              <a:t>10</a:t>
            </a:fld>
            <a:endParaRPr lang="zh-CN" altLang="en-US"/>
          </a:p>
        </p:txBody>
      </p:sp>
    </p:spTree>
    <p:extLst>
      <p:ext uri="{BB962C8B-B14F-4D97-AF65-F5344CB8AC3E}">
        <p14:creationId xmlns:p14="http://schemas.microsoft.com/office/powerpoint/2010/main" val="19401708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capital I, lower I, Suppose each feature vector has m dimension, then it can be expressed as … </a:t>
            </a:r>
          </a:p>
          <a:p>
            <a:r>
              <a:rPr lang="en-US" altLang="zh-CN" dirty="0"/>
              <a:t>In the feature space, the input image have already been transformed into this matrix, this is also the same for the text matrix.</a:t>
            </a:r>
          </a:p>
          <a:p>
            <a:r>
              <a:rPr lang="en-US" altLang="zh-CN" dirty="0"/>
              <a:t>So in the result matrix, each element is the inner product of an image and a text. And this can be interpreted as the similarity</a:t>
            </a: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11</a:t>
            </a:fld>
            <a:endParaRPr lang="zh-CN" altLang="en-US"/>
          </a:p>
        </p:txBody>
      </p:sp>
    </p:spTree>
    <p:extLst>
      <p:ext uri="{BB962C8B-B14F-4D97-AF65-F5344CB8AC3E}">
        <p14:creationId xmlns:p14="http://schemas.microsoft.com/office/powerpoint/2010/main" val="16920176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Ideally</a:t>
            </a:r>
            <a:r>
              <a:rPr lang="zh-CN" altLang="en-US" dirty="0"/>
              <a:t>，</a:t>
            </a:r>
            <a:r>
              <a:rPr lang="en-US" altLang="zh-CN" dirty="0"/>
              <a:t>the result should be an identity matrix. because diagonal is the pair…</a:t>
            </a:r>
          </a:p>
          <a:p>
            <a:endParaRPr lang="en-US" altLang="zh-CN" dirty="0"/>
          </a:p>
          <a:p>
            <a:r>
              <a:rPr lang="en-US" altLang="zh-CN" dirty="0"/>
              <a:t>Of course that is just the idea scenario. So In CLIP, how do we get close to this ideal scenario? </a:t>
            </a:r>
          </a:p>
          <a:p>
            <a:endParaRPr lang="en-US" altLang="zh-CN" dirty="0"/>
          </a:p>
          <a:p>
            <a:r>
              <a:rPr lang="en-US" altLang="zh-CN" dirty="0"/>
              <a:t>It’s simple. We just train the text/image encoders. Note that they are both deep learning based encoders, so they can learn how to make the matched pairs close to each other. In other words , to make the inner product bigger</a:t>
            </a:r>
          </a:p>
          <a:p>
            <a:endParaRPr lang="en-US" altLang="zh-CN" dirty="0"/>
          </a:p>
          <a:p>
            <a:r>
              <a:rPr lang="en-US" altLang="zh-CN" dirty="0"/>
              <a:t>In the paper, they use vit and </a:t>
            </a:r>
            <a:r>
              <a:rPr lang="en-US" altLang="zh-CN" dirty="0" err="1"/>
              <a:t>resnet</a:t>
            </a:r>
            <a:r>
              <a:rPr lang="en-US" altLang="zh-CN" dirty="0"/>
              <a:t> as the image encoder, and use BERT as the text encoder. We will talk about it in part 3 later.</a:t>
            </a:r>
          </a:p>
        </p:txBody>
      </p:sp>
      <p:sp>
        <p:nvSpPr>
          <p:cNvPr id="4" name="灯片编号占位符 3"/>
          <p:cNvSpPr>
            <a:spLocks noGrp="1"/>
          </p:cNvSpPr>
          <p:nvPr>
            <p:ph type="sldNum" sz="quarter" idx="5"/>
          </p:nvPr>
        </p:nvSpPr>
        <p:spPr/>
        <p:txBody>
          <a:bodyPr/>
          <a:lstStyle/>
          <a:p>
            <a:fld id="{74B31000-9408-426B-B873-D4C066E48AF8}" type="slidenum">
              <a:rPr lang="zh-CN" altLang="en-US" smtClean="0"/>
              <a:t>12</a:t>
            </a:fld>
            <a:endParaRPr lang="zh-CN" altLang="en-US"/>
          </a:p>
        </p:txBody>
      </p:sp>
    </p:spTree>
    <p:extLst>
      <p:ext uri="{BB962C8B-B14F-4D97-AF65-F5344CB8AC3E}">
        <p14:creationId xmlns:p14="http://schemas.microsoft.com/office/powerpoint/2010/main" val="8298541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After </a:t>
            </a:r>
            <a:r>
              <a:rPr lang="en-US" altLang="zh-CN" dirty="0" err="1"/>
              <a:t>encdoers</a:t>
            </a:r>
            <a:r>
              <a:rPr lang="en-US" altLang="zh-CN" dirty="0"/>
              <a:t>, let’s see how the loss is calculated.</a:t>
            </a:r>
          </a:p>
          <a:p>
            <a:endParaRPr lang="en-US" altLang="zh-CN" dirty="0"/>
          </a:p>
          <a:p>
            <a:r>
              <a:rPr lang="en-US" altLang="zh-CN" dirty="0"/>
              <a:t>You may </a:t>
            </a:r>
            <a:r>
              <a:rPr lang="en-US" altLang="zh-CN" dirty="0" err="1"/>
              <a:t>haved</a:t>
            </a:r>
            <a:r>
              <a:rPr lang="en-US" altLang="zh-CN" dirty="0"/>
              <a:t> noticed that, for each column / each row, there is only 1 matched pair. Meanwhile, note that CLIP uses contrastive learning. </a:t>
            </a:r>
          </a:p>
          <a:p>
            <a:r>
              <a:rPr lang="en-US" altLang="zh-CN" dirty="0"/>
              <a:t>So there is only 1 positive sample in each column / each row, that is the matched </a:t>
            </a:r>
            <a:r>
              <a:rPr lang="en-US" altLang="zh-CN" dirty="0" err="1"/>
              <a:t>pari</a:t>
            </a:r>
            <a:r>
              <a:rPr lang="en-US" altLang="zh-CN" dirty="0"/>
              <a:t>. This value should be 1. And others values, should be 0. </a:t>
            </a:r>
          </a:p>
          <a:p>
            <a:r>
              <a:rPr lang="en-US" altLang="zh-CN" dirty="0"/>
              <a:t>It sound familiar, right. </a:t>
            </a:r>
          </a:p>
          <a:p>
            <a:endParaRPr lang="en-US" altLang="zh-CN" dirty="0"/>
          </a:p>
          <a:p>
            <a:r>
              <a:rPr lang="en-US" altLang="zh-CN" dirty="0"/>
              <a:t>For traditional model, its output is the one-hot vector. This is very similar to the situation here, for a single column or a single row. So CLIP, also uses same function to calculate the loss.</a:t>
            </a:r>
            <a:endParaRPr lang="zh-CN" altLang="en-US" dirty="0"/>
          </a:p>
          <a:p>
            <a:endParaRPr lang="en-US" altLang="zh-CN"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13</a:t>
            </a:fld>
            <a:endParaRPr lang="zh-CN" altLang="en-US"/>
          </a:p>
        </p:txBody>
      </p:sp>
    </p:spTree>
    <p:extLst>
      <p:ext uri="{BB962C8B-B14F-4D97-AF65-F5344CB8AC3E}">
        <p14:creationId xmlns:p14="http://schemas.microsoft.com/office/powerpoint/2010/main" val="26566204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It uses cross entropy loss. In this function,  p(x) is the identity matrix</a:t>
            </a:r>
            <a:r>
              <a:rPr lang="zh-CN" altLang="en-US" dirty="0"/>
              <a:t>，</a:t>
            </a:r>
            <a:r>
              <a:rPr lang="en-US" altLang="zh-CN" dirty="0"/>
              <a:t>q(x) is the actual output matrix. </a:t>
            </a:r>
          </a:p>
          <a:p>
            <a:endParaRPr lang="en-US" altLang="zh-CN" dirty="0"/>
          </a:p>
          <a:p>
            <a:r>
              <a:rPr lang="en-US" altLang="zh-CN" dirty="0"/>
              <a:t>To draw a conclusion, the training purpose is to push the similarity of same pair to be 1, and other pairs to be 0.</a:t>
            </a:r>
          </a:p>
        </p:txBody>
      </p:sp>
      <p:sp>
        <p:nvSpPr>
          <p:cNvPr id="4" name="灯片编号占位符 3"/>
          <p:cNvSpPr>
            <a:spLocks noGrp="1"/>
          </p:cNvSpPr>
          <p:nvPr>
            <p:ph type="sldNum" sz="quarter" idx="5"/>
          </p:nvPr>
        </p:nvSpPr>
        <p:spPr/>
        <p:txBody>
          <a:bodyPr/>
          <a:lstStyle/>
          <a:p>
            <a:fld id="{74B31000-9408-426B-B873-D4C066E48AF8}" type="slidenum">
              <a:rPr lang="zh-CN" altLang="en-US" smtClean="0"/>
              <a:t>14</a:t>
            </a:fld>
            <a:endParaRPr lang="zh-CN" altLang="en-US"/>
          </a:p>
        </p:txBody>
      </p:sp>
    </p:spTree>
    <p:extLst>
      <p:ext uri="{BB962C8B-B14F-4D97-AF65-F5344CB8AC3E}">
        <p14:creationId xmlns:p14="http://schemas.microsoft.com/office/powerpoint/2010/main" val="21864371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r>
              <a:rPr lang="en-US" altLang="zh-CN" dirty="0"/>
              <a:t>So, this is the training stage, the left part of this figure. What about the inference stage? How to do classification using CLIP? It is very interesting. CLIP does not output a class name. Instead, it needs sentences.</a:t>
            </a:r>
          </a:p>
          <a:p>
            <a:endParaRPr lang="en-US" altLang="zh-CN" dirty="0"/>
          </a:p>
          <a:p>
            <a:endParaRPr lang="en-US" altLang="zh-CN" dirty="0"/>
          </a:p>
          <a:p>
            <a:endParaRPr lang="en-US" altLang="zh-CN" dirty="0"/>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15</a:t>
            </a:fld>
            <a:endParaRPr lang="zh-CN" altLang="en-US"/>
          </a:p>
        </p:txBody>
      </p:sp>
    </p:spTree>
    <p:extLst>
      <p:ext uri="{BB962C8B-B14F-4D97-AF65-F5344CB8AC3E}">
        <p14:creationId xmlns:p14="http://schemas.microsoft.com/office/powerpoint/2010/main" val="3467713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ltLang="zh-CN" dirty="0"/>
              <a:t>We do a tricky thing here: We put the class names in the brackets</a:t>
            </a:r>
            <a:r>
              <a:rPr lang="zh-CN" altLang="en-US" dirty="0"/>
              <a:t> </a:t>
            </a:r>
            <a:r>
              <a:rPr lang="en-US" altLang="zh-CN" dirty="0"/>
              <a:t>to form a sentence. Then we compare the similarity between the image to each sentence, and the highest one is the result. </a:t>
            </a:r>
            <a:br>
              <a:rPr lang="en-US" altLang="zh-CN" dirty="0"/>
            </a:br>
            <a:r>
              <a:rPr lang="en-US" altLang="zh-CN" dirty="0"/>
              <a:t>We do this, because CLIP is trained like this. Note that the training dataset. from internet, just normal sentence in daily life. Therefore, we should use  sentence like that</a:t>
            </a:r>
          </a:p>
          <a:p>
            <a:pPr marL="228600" indent="-228600">
              <a:buAutoNum type="arabicPeriod"/>
            </a:pPr>
            <a:r>
              <a:rPr lang="en-US" altLang="zh-CN" dirty="0"/>
              <a:t>A more tricky thing: HINT. you can give some HINT in the sentence. like, you can remind CLIP that this is a kind of animal. And then, your warm reminder, can indeed increase the accuracy of CLIP. This kind of trick has already become a Research topic: prompt engineering. the purpose of prompt is to reduce uncertainty. Uncertainty is common in human language.</a:t>
            </a:r>
          </a:p>
        </p:txBody>
      </p:sp>
      <p:sp>
        <p:nvSpPr>
          <p:cNvPr id="4" name="灯片编号占位符 3"/>
          <p:cNvSpPr>
            <a:spLocks noGrp="1"/>
          </p:cNvSpPr>
          <p:nvPr>
            <p:ph type="sldNum" sz="quarter" idx="5"/>
          </p:nvPr>
        </p:nvSpPr>
        <p:spPr/>
        <p:txBody>
          <a:bodyPr/>
          <a:lstStyle/>
          <a:p>
            <a:fld id="{74B31000-9408-426B-B873-D4C066E48AF8}" type="slidenum">
              <a:rPr lang="zh-CN" altLang="en-US" smtClean="0"/>
              <a:t>16</a:t>
            </a:fld>
            <a:endParaRPr lang="zh-CN" altLang="en-US"/>
          </a:p>
        </p:txBody>
      </p:sp>
    </p:spTree>
    <p:extLst>
      <p:ext uri="{BB962C8B-B14F-4D97-AF65-F5344CB8AC3E}">
        <p14:creationId xmlns:p14="http://schemas.microsoft.com/office/powerpoint/2010/main" val="40740192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e.g. the word “transformer”, it doesn’t know which transformer does it mean. deep model, voltage transformer, or those giant robotics? </a:t>
            </a:r>
          </a:p>
          <a:p>
            <a:pPr marL="0" indent="0">
              <a:buNone/>
            </a:pPr>
            <a:r>
              <a:rPr lang="zh-CN" altLang="en-US" dirty="0"/>
              <a:t> </a:t>
            </a:r>
            <a:r>
              <a:rPr lang="en-US" altLang="zh-CN" dirty="0"/>
              <a:t>In this case, prompt can give an appropriate context to CLIP. Such that the confusion is reduced.</a:t>
            </a:r>
          </a:p>
          <a:p>
            <a:pPr marL="0" indent="0">
              <a:buNone/>
            </a:pPr>
            <a:endParaRPr lang="en-US" altLang="zh-CN" dirty="0"/>
          </a:p>
          <a:p>
            <a:pPr marL="0" indent="0">
              <a:buNone/>
            </a:pPr>
            <a:r>
              <a:rPr lang="en-US" altLang="zh-CN" dirty="0"/>
              <a:t>You see, CLIP is just like real human being, it can understand the natural sentences. Based on that, it has a more interesting function: zero-shot. zero-shot means that, CLIP can correctly classify an object that is never learned before, as long as you give the appropriate name </a:t>
            </a:r>
            <a:r>
              <a:rPr lang="zh-CN" altLang="en-US" dirty="0"/>
              <a:t>。 </a:t>
            </a:r>
            <a:r>
              <a:rPr lang="en-US" altLang="zh-CN" dirty="0"/>
              <a:t>For example,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altLang="zh-CN"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17</a:t>
            </a:fld>
            <a:endParaRPr lang="zh-CN" altLang="en-US"/>
          </a:p>
        </p:txBody>
      </p:sp>
    </p:spTree>
    <p:extLst>
      <p:ext uri="{BB962C8B-B14F-4D97-AF65-F5344CB8AC3E}">
        <p14:creationId xmlns:p14="http://schemas.microsoft.com/office/powerpoint/2010/main" val="16163435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zero-shot means that, CLIP can correctly classify an object that is never learned before, as long as you give the description of the object.</a:t>
            </a:r>
          </a:p>
          <a:p>
            <a:pPr marL="0" indent="0">
              <a:buNone/>
            </a:pPr>
            <a:endParaRPr lang="en-US" altLang="zh-CN" sz="1200" kern="1200" dirty="0">
              <a:solidFill>
                <a:schemeClr val="tx1"/>
              </a:solidFill>
              <a:latin typeface="+mn-lt"/>
              <a:ea typeface="+mn-ea"/>
              <a:cs typeface="+mn-cs"/>
            </a:endParaRPr>
          </a:p>
          <a:p>
            <a:pPr marL="0" indent="0">
              <a:buNone/>
            </a:pPr>
            <a:r>
              <a:rPr lang="en-US" altLang="zh-CN" sz="1200" kern="1200" dirty="0">
                <a:solidFill>
                  <a:schemeClr val="tx1"/>
                </a:solidFill>
                <a:latin typeface="+mn-lt"/>
                <a:ea typeface="+mn-ea"/>
                <a:cs typeface="+mn-cs"/>
              </a:rPr>
              <a:t>Here’s an example. We want to classify a zebra, but CLIP has never learned it before. How can we solve it? </a:t>
            </a:r>
          </a:p>
          <a:p>
            <a:pPr marL="0" indent="0">
              <a:buNone/>
            </a:pPr>
            <a:endParaRPr lang="en-US" altLang="zh-CN" sz="1200" kern="1200" dirty="0">
              <a:solidFill>
                <a:schemeClr val="tx1"/>
              </a:solidFill>
              <a:latin typeface="+mn-lt"/>
              <a:ea typeface="+mn-ea"/>
              <a:cs typeface="+mn-cs"/>
            </a:endParaRPr>
          </a:p>
          <a:p>
            <a:pPr marL="0" indent="0">
              <a:buNone/>
            </a:pPr>
            <a:r>
              <a:rPr lang="en-US" altLang="zh-CN" sz="1200" kern="1200" dirty="0">
                <a:solidFill>
                  <a:schemeClr val="tx1"/>
                </a:solidFill>
                <a:latin typeface="+mn-lt"/>
                <a:ea typeface="+mn-ea"/>
                <a:cs typeface="+mn-cs"/>
              </a:rPr>
              <a:t>Since the word ‘Zebra’ has not been learnt, we do not use it as the class name. Instead, we give description of zebra, and use the description as the class name.</a:t>
            </a:r>
            <a:r>
              <a:rPr lang="zh-CN" altLang="en-US" sz="1200" kern="1200" dirty="0">
                <a:solidFill>
                  <a:schemeClr val="tx1"/>
                </a:solidFill>
                <a:latin typeface="+mn-lt"/>
                <a:ea typeface="+mn-ea"/>
                <a:cs typeface="+mn-cs"/>
              </a:rPr>
              <a:t> </a:t>
            </a:r>
            <a:r>
              <a:rPr lang="en-US" altLang="zh-CN" sz="1200" kern="1200" dirty="0">
                <a:solidFill>
                  <a:schemeClr val="tx1"/>
                </a:solidFill>
                <a:latin typeface="+mn-lt"/>
                <a:ea typeface="+mn-ea"/>
                <a:cs typeface="+mn-cs"/>
              </a:rPr>
              <a:t>Further more, the description should be based on the words that have been learned. Suppose CLIP has learned horse, and has learned pedestrian crossing, so we can form a description like: … Then</a:t>
            </a:r>
            <a:r>
              <a:rPr lang="zh-CN" altLang="en-US" sz="1200" kern="1200" dirty="0">
                <a:solidFill>
                  <a:schemeClr val="tx1"/>
                </a:solidFill>
                <a:latin typeface="+mn-lt"/>
                <a:ea typeface="+mn-ea"/>
                <a:cs typeface="+mn-cs"/>
              </a:rPr>
              <a:t> </a:t>
            </a:r>
            <a:r>
              <a:rPr lang="en-US" altLang="zh-CN" sz="1200" kern="1200" dirty="0">
                <a:solidFill>
                  <a:schemeClr val="tx1"/>
                </a:solidFill>
                <a:latin typeface="+mn-lt"/>
                <a:ea typeface="+mn-ea"/>
                <a:cs typeface="+mn-cs"/>
              </a:rPr>
              <a:t>this long description is the class name. </a:t>
            </a:r>
          </a:p>
        </p:txBody>
      </p:sp>
      <p:sp>
        <p:nvSpPr>
          <p:cNvPr id="4" name="灯片编号占位符 3"/>
          <p:cNvSpPr>
            <a:spLocks noGrp="1"/>
          </p:cNvSpPr>
          <p:nvPr>
            <p:ph type="sldNum" sz="quarter" idx="5"/>
          </p:nvPr>
        </p:nvSpPr>
        <p:spPr/>
        <p:txBody>
          <a:bodyPr/>
          <a:lstStyle/>
          <a:p>
            <a:fld id="{74B31000-9408-426B-B873-D4C066E48AF8}" type="slidenum">
              <a:rPr lang="zh-CN" altLang="en-US" smtClean="0"/>
              <a:t>18</a:t>
            </a:fld>
            <a:endParaRPr lang="zh-CN" altLang="en-US"/>
          </a:p>
        </p:txBody>
      </p:sp>
    </p:spTree>
    <p:extLst>
      <p:ext uri="{BB962C8B-B14F-4D97-AF65-F5344CB8AC3E}">
        <p14:creationId xmlns:p14="http://schemas.microsoft.com/office/powerpoint/2010/main" val="1959650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sz="1200" kern="1200" dirty="0">
                <a:solidFill>
                  <a:schemeClr val="tx1"/>
                </a:solidFill>
                <a:latin typeface="+mn-lt"/>
                <a:ea typeface="+mn-ea"/>
                <a:cs typeface="+mn-cs"/>
              </a:rPr>
              <a:t>We put it in that sentence. And then, the problem is solved.  CLIP can correctly classify this image now.</a:t>
            </a:r>
          </a:p>
          <a:p>
            <a:pPr marL="0" indent="0">
              <a:buNone/>
            </a:pPr>
            <a:endParaRPr lang="en-US" altLang="zh-CN" sz="1200" kern="1200" dirty="0">
              <a:solidFill>
                <a:schemeClr val="tx1"/>
              </a:solidFill>
              <a:latin typeface="+mn-lt"/>
              <a:ea typeface="+mn-ea"/>
              <a:cs typeface="+mn-cs"/>
            </a:endParaRPr>
          </a:p>
          <a:p>
            <a:pPr marL="0" indent="0">
              <a:buNone/>
            </a:pPr>
            <a:r>
              <a:rPr lang="en-US" altLang="zh-CN" sz="1200" kern="1200" dirty="0">
                <a:solidFill>
                  <a:schemeClr val="tx1"/>
                </a:solidFill>
                <a:latin typeface="+mn-lt"/>
                <a:ea typeface="+mn-ea"/>
                <a:cs typeface="+mn-cs"/>
              </a:rPr>
              <a:t>This is quite an amazing feature of CLIP. This is based on 2 fundamental reasons. 1</a:t>
            </a:r>
            <a:r>
              <a:rPr lang="en-US" altLang="zh-CN" sz="1200" kern="1200" baseline="30000" dirty="0">
                <a:solidFill>
                  <a:schemeClr val="tx1"/>
                </a:solidFill>
                <a:latin typeface="+mn-lt"/>
                <a:ea typeface="+mn-ea"/>
                <a:cs typeface="+mn-cs"/>
              </a:rPr>
              <a:t>st</a:t>
            </a:r>
            <a:r>
              <a:rPr lang="en-US" altLang="zh-CN" sz="1200" kern="1200" dirty="0">
                <a:solidFill>
                  <a:schemeClr val="tx1"/>
                </a:solidFill>
                <a:latin typeface="+mn-lt"/>
                <a:ea typeface="+mn-ea"/>
                <a:cs typeface="+mn-cs"/>
              </a:rPr>
              <a:t>, as the paper title states, CLIP is supervised by Natural Language. In other words, the image and text features meet each other in the model. 2</a:t>
            </a:r>
            <a:r>
              <a:rPr lang="en-US" altLang="zh-CN" sz="1200" kern="1200" baseline="30000" dirty="0">
                <a:solidFill>
                  <a:schemeClr val="tx1"/>
                </a:solidFill>
                <a:latin typeface="+mn-lt"/>
                <a:ea typeface="+mn-ea"/>
                <a:cs typeface="+mn-cs"/>
              </a:rPr>
              <a:t>nd</a:t>
            </a:r>
            <a:r>
              <a:rPr lang="en-US" altLang="zh-CN" sz="1200" kern="1200" dirty="0">
                <a:solidFill>
                  <a:schemeClr val="tx1"/>
                </a:solidFill>
                <a:latin typeface="+mn-lt"/>
                <a:ea typeface="+mn-ea"/>
                <a:cs typeface="+mn-cs"/>
              </a:rPr>
              <a:t> reason, is the large training dataset. It contains 400,000,000 pairs of image and text. This is what </a:t>
            </a:r>
            <a:r>
              <a:rPr lang="en-US" altLang="zh-CN" sz="1200" kern="1200" dirty="0" err="1">
                <a:solidFill>
                  <a:schemeClr val="tx1"/>
                </a:solidFill>
                <a:latin typeface="+mn-lt"/>
                <a:ea typeface="+mn-ea"/>
                <a:cs typeface="+mn-cs"/>
              </a:rPr>
              <a:t>OpenAI</a:t>
            </a:r>
            <a:r>
              <a:rPr lang="en-US" altLang="zh-CN" sz="1200" kern="1200" dirty="0">
                <a:solidFill>
                  <a:schemeClr val="tx1"/>
                </a:solidFill>
                <a:latin typeface="+mn-lt"/>
                <a:ea typeface="+mn-ea"/>
                <a:cs typeface="+mn-cs"/>
              </a:rPr>
              <a:t> can do.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latin typeface="+mn-lt"/>
              <a:ea typeface="+mn-ea"/>
              <a:cs typeface="+mn-cs"/>
            </a:endParaRPr>
          </a:p>
        </p:txBody>
      </p:sp>
      <p:sp>
        <p:nvSpPr>
          <p:cNvPr id="4" name="灯片编号占位符 3"/>
          <p:cNvSpPr>
            <a:spLocks noGrp="1"/>
          </p:cNvSpPr>
          <p:nvPr>
            <p:ph type="sldNum" sz="quarter" idx="5"/>
          </p:nvPr>
        </p:nvSpPr>
        <p:spPr/>
        <p:txBody>
          <a:bodyPr/>
          <a:lstStyle/>
          <a:p>
            <a:fld id="{74B31000-9408-426B-B873-D4C066E48AF8}" type="slidenum">
              <a:rPr lang="zh-CN" altLang="en-US" smtClean="0"/>
              <a:t>19</a:t>
            </a:fld>
            <a:endParaRPr lang="zh-CN" altLang="en-US"/>
          </a:p>
        </p:txBody>
      </p:sp>
    </p:spTree>
    <p:extLst>
      <p:ext uri="{BB962C8B-B14F-4D97-AF65-F5344CB8AC3E}">
        <p14:creationId xmlns:p14="http://schemas.microsoft.com/office/powerpoint/2010/main" val="33991682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Let’s see a performance comparison. Here’s 27 datasets The green line means that CLIP … and blue line means that … It should be noted that </a:t>
            </a:r>
            <a:r>
              <a:rPr lang="en-US" altLang="zh-CN" dirty="0" err="1"/>
              <a:t>resnet</a:t>
            </a:r>
            <a:r>
              <a:rPr lang="en-US" altLang="zh-CN" dirty="0"/>
              <a:t> is trained on each dataset, but CLIP is zero-shot.  In this case, CLIP can output in many cases.</a:t>
            </a:r>
          </a:p>
          <a:p>
            <a:pPr marL="0" indent="0">
              <a:buNone/>
            </a:pPr>
            <a:endParaRPr lang="en-US" altLang="zh-CN"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20</a:t>
            </a:fld>
            <a:endParaRPr lang="zh-CN" altLang="en-US"/>
          </a:p>
        </p:txBody>
      </p:sp>
    </p:spTree>
    <p:extLst>
      <p:ext uri="{BB962C8B-B14F-4D97-AF65-F5344CB8AC3E}">
        <p14:creationId xmlns:p14="http://schemas.microsoft.com/office/powerpoint/2010/main" val="34379591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it comes as no surprise. left is common on the internet, but </a:t>
            </a:r>
            <a:r>
              <a:rPr lang="en-US" altLang="zh-CN" dirty="0" err="1"/>
              <a:t>EuroSAT</a:t>
            </a:r>
            <a:r>
              <a:rPr lang="en-US" altLang="zh-CN" dirty="0"/>
              <a:t> are the satellite photos </a:t>
            </a:r>
            <a:r>
              <a:rPr lang="zh-CN" altLang="en-US" dirty="0"/>
              <a:t>，</a:t>
            </a:r>
            <a:r>
              <a:rPr lang="en-US" altLang="zh-CN" dirty="0"/>
              <a:t>they rarely appear on the web., so they rarely appear on the </a:t>
            </a:r>
            <a:r>
              <a:rPr lang="en-US" altLang="zh-CN" dirty="0" err="1"/>
              <a:t>trainingset</a:t>
            </a:r>
            <a:r>
              <a:rPr lang="en-US" altLang="zh-CN" dirty="0"/>
              <a:t> of CLIP.</a:t>
            </a:r>
          </a:p>
        </p:txBody>
      </p:sp>
      <p:sp>
        <p:nvSpPr>
          <p:cNvPr id="4" name="灯片编号占位符 3"/>
          <p:cNvSpPr>
            <a:spLocks noGrp="1"/>
          </p:cNvSpPr>
          <p:nvPr>
            <p:ph type="sldNum" sz="quarter" idx="5"/>
          </p:nvPr>
        </p:nvSpPr>
        <p:spPr/>
        <p:txBody>
          <a:bodyPr/>
          <a:lstStyle/>
          <a:p>
            <a:fld id="{74B31000-9408-426B-B873-D4C066E48AF8}" type="slidenum">
              <a:rPr lang="zh-CN" altLang="en-US" smtClean="0"/>
              <a:t>21</a:t>
            </a:fld>
            <a:endParaRPr lang="zh-CN" altLang="en-US"/>
          </a:p>
        </p:txBody>
      </p:sp>
    </p:spTree>
    <p:extLst>
      <p:ext uri="{BB962C8B-B14F-4D97-AF65-F5344CB8AC3E}">
        <p14:creationId xmlns:p14="http://schemas.microsoft.com/office/powerpoint/2010/main" val="2599545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Besides classification, CLIP can do more things.</a:t>
            </a:r>
          </a:p>
          <a:p>
            <a:r>
              <a:rPr lang="en-US" altLang="zh-CN" dirty="0"/>
              <a:t>give a description, returns the Best Matching Image</a:t>
            </a:r>
          </a:p>
          <a:p>
            <a:r>
              <a:rPr lang="en-US" altLang="zh-CN" dirty="0"/>
              <a:t>or for a video, which frame, CLIP search it for you</a:t>
            </a:r>
          </a:p>
          <a:p>
            <a:r>
              <a:rPr lang="en-US" altLang="zh-CN" dirty="0"/>
              <a:t>or another OPEN AI product, DALLE, it is for text-image generation, it is developed based on CLIP</a:t>
            </a:r>
          </a:p>
          <a:p>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22</a:t>
            </a:fld>
            <a:endParaRPr lang="zh-CN" altLang="en-US"/>
          </a:p>
        </p:txBody>
      </p:sp>
    </p:spTree>
    <p:extLst>
      <p:ext uri="{BB962C8B-B14F-4D97-AF65-F5344CB8AC3E}">
        <p14:creationId xmlns:p14="http://schemas.microsoft.com/office/powerpoint/2010/main" val="11223319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23</a:t>
            </a:fld>
            <a:endParaRPr lang="zh-CN" altLang="en-US"/>
          </a:p>
        </p:txBody>
      </p:sp>
    </p:spTree>
    <p:extLst>
      <p:ext uri="{BB962C8B-B14F-4D97-AF65-F5344CB8AC3E}">
        <p14:creationId xmlns:p14="http://schemas.microsoft.com/office/powerpoint/2010/main" val="15924986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part 3</a:t>
            </a:r>
            <a:r>
              <a:rPr lang="zh-CN" altLang="en-US" dirty="0"/>
              <a:t>，</a:t>
            </a:r>
            <a:r>
              <a:rPr lang="en-US" altLang="zh-CN" dirty="0"/>
              <a:t>we focus on the encoders. Recall that CLIP training diagram is like this, </a:t>
            </a:r>
          </a:p>
          <a:p>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24</a:t>
            </a:fld>
            <a:endParaRPr lang="zh-CN" altLang="en-US"/>
          </a:p>
        </p:txBody>
      </p:sp>
    </p:spTree>
    <p:extLst>
      <p:ext uri="{BB962C8B-B14F-4D97-AF65-F5344CB8AC3E}">
        <p14:creationId xmlns:p14="http://schemas.microsoft.com/office/powerpoint/2010/main" val="34788702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is the pseudo code, let’s see how it works.</a:t>
            </a:r>
          </a:p>
          <a:p>
            <a:endParaRPr lang="en-US" altLang="zh-CN" dirty="0"/>
          </a:p>
          <a:p>
            <a:r>
              <a:rPr lang="en-US" altLang="zh-CN" dirty="0"/>
              <a:t>First of all, in the red box, we define some modules.</a:t>
            </a:r>
          </a:p>
          <a:p>
            <a:pPr marL="228600" indent="-228600">
              <a:buAutoNum type="arabicPeriod"/>
            </a:pPr>
            <a:r>
              <a:rPr lang="en-US" altLang="zh-CN" dirty="0" err="1"/>
              <a:t>im</a:t>
            </a:r>
            <a:r>
              <a:rPr lang="en-US" altLang="zh-CN" dirty="0"/>
              <a:t> encoder could be …  Text encoder could be… In this paper CLIP = </a:t>
            </a:r>
            <a:r>
              <a:rPr lang="en-US" altLang="zh-CN" dirty="0" err="1"/>
              <a:t>resnet+vit</a:t>
            </a:r>
            <a:r>
              <a:rPr lang="en-US" altLang="zh-CN" dirty="0"/>
              <a:t>, text transformer</a:t>
            </a:r>
            <a:r>
              <a:rPr lang="zh-CN" altLang="en-US" dirty="0"/>
              <a:t>。 </a:t>
            </a:r>
            <a:r>
              <a:rPr lang="en-US" altLang="zh-CN" dirty="0"/>
              <a:t>In fact in this paper</a:t>
            </a:r>
            <a:r>
              <a:rPr lang="zh-CN" altLang="en-US" dirty="0"/>
              <a:t>，</a:t>
            </a:r>
            <a:endParaRPr lang="en-US" altLang="zh-CN" dirty="0"/>
          </a:p>
          <a:p>
            <a:pPr marL="228600" indent="-228600">
              <a:buAutoNum type="arabicPeriod"/>
            </a:pPr>
            <a:r>
              <a:rPr lang="en-US" altLang="zh-CN" dirty="0"/>
              <a:t>Wi and </a:t>
            </a:r>
            <a:r>
              <a:rPr lang="en-US" altLang="zh-CN" dirty="0" err="1"/>
              <a:t>Wt</a:t>
            </a:r>
            <a:r>
              <a:rPr lang="en-US" altLang="zh-CN" dirty="0"/>
              <a:t> are the projection matrix. When image and text are encoded, they are projected to embed  using Wi and </a:t>
            </a:r>
            <a:r>
              <a:rPr lang="en-US" altLang="zh-CN" dirty="0" err="1"/>
              <a:t>Wt</a:t>
            </a:r>
            <a:r>
              <a:rPr lang="en-US" altLang="zh-CN" dirty="0"/>
              <a:t> , and then they can do the inner product to calculate the similarity. In the actual code, they are fully connected layers. Note that these matrices are learnable.</a:t>
            </a:r>
          </a:p>
          <a:p>
            <a:pPr marL="228600" indent="-228600">
              <a:buAutoNum type="arabicPeriod"/>
            </a:pPr>
            <a:r>
              <a:rPr lang="en-US" altLang="zh-CN" dirty="0"/>
              <a:t>and next , the temperature parameter t. This is used adjust the scale of  inner product result. It could be a hyper parameters</a:t>
            </a:r>
            <a:r>
              <a:rPr lang="zh-CN" altLang="en-US" dirty="0"/>
              <a:t>，</a:t>
            </a:r>
            <a:r>
              <a:rPr lang="en-US" altLang="zh-CN" dirty="0"/>
              <a:t>but doing cross validation on CLIP is too expensive, so the author sets it as learnable</a:t>
            </a:r>
          </a:p>
          <a:p>
            <a:pPr marL="228600" indent="-228600">
              <a:buAutoNum type="arabicPeriod"/>
            </a:pPr>
            <a:endParaRPr lang="en-US" altLang="zh-CN" dirty="0"/>
          </a:p>
          <a:p>
            <a:pPr marL="0" indent="0">
              <a:buNone/>
            </a:pPr>
            <a:endParaRPr lang="en-US" altLang="zh-CN" dirty="0"/>
          </a:p>
          <a:p>
            <a:pPr marL="228600" indent="-228600">
              <a:buAutoNum type="arabicPeriod"/>
            </a:pPr>
            <a:endParaRPr lang="en-US" altLang="zh-CN" dirty="0"/>
          </a:p>
          <a:p>
            <a:pPr marL="228600" indent="-228600">
              <a:buAutoNum type="arabicPeriod"/>
            </a:pPr>
            <a:endParaRPr lang="en-US" altLang="zh-CN" dirty="0"/>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25</a:t>
            </a:fld>
            <a:endParaRPr lang="zh-CN" altLang="en-US"/>
          </a:p>
        </p:txBody>
      </p:sp>
    </p:spTree>
    <p:extLst>
      <p:ext uri="{BB962C8B-B14F-4D97-AF65-F5344CB8AC3E}">
        <p14:creationId xmlns:p14="http://schemas.microsoft.com/office/powerpoint/2010/main" val="2608751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image and  text are encoded to obtain features. they have different number of dimensions, di and dt. </a:t>
            </a:r>
          </a:p>
          <a:p>
            <a:pPr marL="0" indent="0">
              <a:buNone/>
            </a:pPr>
            <a:r>
              <a:rPr lang="en-US" altLang="zh-CN" dirty="0"/>
              <a:t>They are then projected using matrix Wi Wt. In actual code, this step is realized through the full connected layer.</a:t>
            </a:r>
            <a:r>
              <a:rPr lang="zh-CN" altLang="en-US" dirty="0"/>
              <a:t> </a:t>
            </a:r>
            <a:r>
              <a:rPr lang="en-US" altLang="zh-CN" dirty="0"/>
              <a:t>Followed by that, we do a L2 normalization. Please note that, now the image and text features are aligned</a:t>
            </a:r>
            <a:r>
              <a:rPr lang="zh-CN" altLang="en-US" dirty="0"/>
              <a:t>，</a:t>
            </a:r>
            <a:r>
              <a:rPr lang="en-US" altLang="zh-CN" dirty="0"/>
              <a:t>they both have dimension number 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Then, matrix </a:t>
            </a:r>
            <a:r>
              <a:rPr lang="en-US" altLang="zh-CN" dirty="0" err="1"/>
              <a:t>Ie</a:t>
            </a:r>
            <a:r>
              <a:rPr lang="en-US" altLang="zh-CN" dirty="0"/>
              <a:t> is multiplied by the transpose of </a:t>
            </a:r>
            <a:r>
              <a:rPr lang="en-US" altLang="zh-CN" dirty="0" err="1"/>
              <a:t>Te</a:t>
            </a:r>
            <a:r>
              <a:rPr lang="en-US" altLang="zh-CN" dirty="0"/>
              <a:t>,  and further multiplied by the exponential of t.  Now we have the inner product result, called logits. This matrix contains the similarity of each pair.</a:t>
            </a:r>
          </a:p>
          <a:p>
            <a:pPr marL="0" indent="0">
              <a:buNone/>
            </a:pPr>
            <a:endParaRPr lang="en-US" altLang="zh-CN" dirty="0"/>
          </a:p>
          <a:p>
            <a:pPr marL="228600" indent="-228600">
              <a:buAutoNum type="arabicPeriod"/>
            </a:pPr>
            <a:endParaRPr lang="en-US" altLang="zh-CN" dirty="0"/>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26</a:t>
            </a:fld>
            <a:endParaRPr lang="zh-CN" altLang="en-US"/>
          </a:p>
        </p:txBody>
      </p:sp>
    </p:spTree>
    <p:extLst>
      <p:ext uri="{BB962C8B-B14F-4D97-AF65-F5344CB8AC3E}">
        <p14:creationId xmlns:p14="http://schemas.microsoft.com/office/powerpoint/2010/main" val="40040105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Eventually,  the loss can be calculated using the cross entropy loss function. As you can see, we calculate both the image and the text. They are actually based on the same logits matrix, but in the different direction. For image, there are N images in a minibatch, the output of each sample is in the horizontal direction, so the loss is calculated using each row. For text, it is using the columns.</a:t>
            </a:r>
          </a:p>
          <a:p>
            <a:r>
              <a:rPr lang="en-US" altLang="zh-CN" dirty="0"/>
              <a:t>So, what does the magic encoder look like?</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27</a:t>
            </a:fld>
            <a:endParaRPr lang="zh-CN" altLang="en-US"/>
          </a:p>
        </p:txBody>
      </p:sp>
    </p:spTree>
    <p:extLst>
      <p:ext uri="{BB962C8B-B14F-4D97-AF65-F5344CB8AC3E}">
        <p14:creationId xmlns:p14="http://schemas.microsoft.com/office/powerpoint/2010/main" val="42270909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is a diagram of BERT. In the input document, each sentence is tokenized into many </a:t>
            </a:r>
            <a:r>
              <a:rPr lang="en-US" altLang="zh-CN" dirty="0" err="1"/>
              <a:t>tokens,like</a:t>
            </a:r>
            <a:r>
              <a:rPr lang="en-US" altLang="zh-CN" dirty="0"/>
              <a:t> the Tok 1~N, Tok 1~M.</a:t>
            </a:r>
            <a:r>
              <a:rPr lang="zh-CN" altLang="en-US" dirty="0"/>
              <a:t> </a:t>
            </a:r>
            <a:r>
              <a:rPr lang="en-US" altLang="zh-CN" dirty="0"/>
              <a:t>Between sentences, there is a </a:t>
            </a:r>
            <a:r>
              <a:rPr lang="en-US" altLang="zh-CN" dirty="0" err="1"/>
              <a:t>Seperation</a:t>
            </a:r>
            <a:r>
              <a:rPr lang="en-US" altLang="zh-CN" dirty="0"/>
              <a:t>. At the beginning of the document, there is a classification token. These tokens are embedded into high-dimension vectors, </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28</a:t>
            </a:fld>
            <a:endParaRPr lang="zh-CN" altLang="en-US"/>
          </a:p>
        </p:txBody>
      </p:sp>
    </p:spTree>
    <p:extLst>
      <p:ext uri="{BB962C8B-B14F-4D97-AF65-F5344CB8AC3E}">
        <p14:creationId xmlns:p14="http://schemas.microsoft.com/office/powerpoint/2010/main" val="10131174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then they will pass through some …. ff is… norm is… they are very straightforward.</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29</a:t>
            </a:fld>
            <a:endParaRPr lang="zh-CN" altLang="en-US"/>
          </a:p>
        </p:txBody>
      </p:sp>
    </p:spTree>
    <p:extLst>
      <p:ext uri="{BB962C8B-B14F-4D97-AF65-F5344CB8AC3E}">
        <p14:creationId xmlns:p14="http://schemas.microsoft.com/office/powerpoint/2010/main" val="31735133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suppose there is an input x, the x represents a sentence, each row of x is the embedded token. x is multiplied by these 3 matrices to obtain QKV matrices</a:t>
            </a:r>
            <a:r>
              <a:rPr lang="zh-CN" altLang="en-US" dirty="0"/>
              <a:t>，</a:t>
            </a:r>
            <a:r>
              <a:rPr lang="en-US" altLang="zh-CN" dirty="0"/>
              <a:t>indicating the query</a:t>
            </a:r>
            <a:r>
              <a:rPr lang="zh-CN" altLang="en-US" dirty="0"/>
              <a:t>，</a:t>
            </a:r>
            <a:r>
              <a:rPr lang="en-US" altLang="zh-CN" dirty="0"/>
              <a:t>key and value</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30</a:t>
            </a:fld>
            <a:endParaRPr lang="zh-CN" altLang="en-US"/>
          </a:p>
        </p:txBody>
      </p:sp>
    </p:spTree>
    <p:extLst>
      <p:ext uri="{BB962C8B-B14F-4D97-AF65-F5344CB8AC3E}">
        <p14:creationId xmlns:p14="http://schemas.microsoft.com/office/powerpoint/2010/main" val="1326629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Q multiplied by K transpose</a:t>
            </a:r>
            <a:r>
              <a:rPr lang="zh-CN" altLang="en-US" dirty="0"/>
              <a:t>，</a:t>
            </a:r>
            <a:r>
              <a:rPr lang="en-US" altLang="zh-CN" dirty="0"/>
              <a:t>divided by a factor</a:t>
            </a:r>
            <a:r>
              <a:rPr lang="zh-CN" altLang="en-US" dirty="0"/>
              <a:t>，</a:t>
            </a:r>
            <a:r>
              <a:rPr lang="en-US" altLang="zh-CN" dirty="0" err="1"/>
              <a:t>softmax</a:t>
            </a:r>
            <a:r>
              <a:rPr lang="en-US" altLang="zh-CN" dirty="0"/>
              <a:t>, and we have the attention matrix. It is multiplied by v to obtain z, z is the result of self attention. recall that each row of x = embedded token, each row of z can be interpreted as the weighted sum of the whole sentence in the feature space. </a:t>
            </a:r>
          </a:p>
          <a:p>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31</a:t>
            </a:fld>
            <a:endParaRPr lang="zh-CN" altLang="en-US"/>
          </a:p>
        </p:txBody>
      </p:sp>
    </p:spTree>
    <p:extLst>
      <p:ext uri="{BB962C8B-B14F-4D97-AF65-F5344CB8AC3E}">
        <p14:creationId xmlns:p14="http://schemas.microsoft.com/office/powerpoint/2010/main" val="18623901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en-US" altLang="zh-CN" dirty="0"/>
              <a:t>Let’s look back to the BERT model</a:t>
            </a:r>
            <a:r>
              <a:rPr lang="zh-CN" altLang="en-US" dirty="0"/>
              <a:t>。</a:t>
            </a:r>
            <a:r>
              <a:rPr lang="en-US" altLang="zh-CN" dirty="0"/>
              <a:t>now we know that at each token position</a:t>
            </a:r>
            <a:r>
              <a:rPr lang="zh-CN" altLang="en-US" dirty="0"/>
              <a:t>，</a:t>
            </a:r>
            <a:r>
              <a:rPr lang="en-US" altLang="zh-CN" dirty="0"/>
              <a:t>there will be a feature vector output. But in the CLIP model, only the first feature vector is needed, which is the output of classification token. </a:t>
            </a:r>
          </a:p>
          <a:p>
            <a:pPr marL="228600" indent="-228600">
              <a:buAutoNum type="arabicPeriod"/>
            </a:pPr>
            <a:r>
              <a:rPr lang="en-US" altLang="zh-CN" dirty="0"/>
              <a:t>The reason is, during the pre-training of BERT, only the 1</a:t>
            </a:r>
            <a:r>
              <a:rPr lang="en-US" altLang="zh-CN" baseline="30000" dirty="0"/>
              <a:t>st</a:t>
            </a:r>
            <a:r>
              <a:rPr lang="en-US" altLang="zh-CN" dirty="0"/>
              <a:t> feature vector is used for classification. So it contains the most informative features of the sentence.</a:t>
            </a:r>
          </a:p>
          <a:p>
            <a:pPr marL="0" indent="0">
              <a:buNone/>
            </a:pPr>
            <a:r>
              <a:rPr lang="en-US" altLang="zh-CN" dirty="0"/>
              <a:t>This is for the text encoder , here is the image encoder</a:t>
            </a:r>
          </a:p>
          <a:p>
            <a:pPr marL="0" indent="0">
              <a:buNone/>
            </a:pP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32</a:t>
            </a:fld>
            <a:endParaRPr lang="zh-CN" altLang="en-US"/>
          </a:p>
        </p:txBody>
      </p:sp>
    </p:spTree>
    <p:extLst>
      <p:ext uri="{BB962C8B-B14F-4D97-AF65-F5344CB8AC3E}">
        <p14:creationId xmlns:p14="http://schemas.microsoft.com/office/powerpoint/2010/main" val="33076008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vision transformer, also called </a:t>
            </a:r>
            <a:r>
              <a:rPr lang="en-US" altLang="zh-CN" dirty="0" err="1"/>
              <a:t>ViT</a:t>
            </a:r>
            <a:r>
              <a:rPr lang="en-US" altLang="zh-CN" dirty="0"/>
              <a:t>.</a:t>
            </a:r>
            <a:r>
              <a:rPr lang="zh-CN" altLang="en-US" dirty="0"/>
              <a:t> </a:t>
            </a:r>
            <a:r>
              <a:rPr lang="en-US" altLang="zh-CN" dirty="0"/>
              <a:t>It's actually very similar to BERT. We just need to replace sentences with images, and replace words with small images patches, and the other things are basically the same</a:t>
            </a:r>
          </a:p>
        </p:txBody>
      </p:sp>
      <p:sp>
        <p:nvSpPr>
          <p:cNvPr id="4" name="灯片编号占位符 3"/>
          <p:cNvSpPr>
            <a:spLocks noGrp="1"/>
          </p:cNvSpPr>
          <p:nvPr>
            <p:ph type="sldNum" sz="quarter" idx="5"/>
          </p:nvPr>
        </p:nvSpPr>
        <p:spPr/>
        <p:txBody>
          <a:bodyPr/>
          <a:lstStyle/>
          <a:p>
            <a:fld id="{74B31000-9408-426B-B873-D4C066E48AF8}" type="slidenum">
              <a:rPr lang="zh-CN" altLang="en-US" smtClean="0"/>
              <a:t>33</a:t>
            </a:fld>
            <a:endParaRPr lang="zh-CN" altLang="en-US"/>
          </a:p>
        </p:txBody>
      </p:sp>
    </p:spTree>
    <p:extLst>
      <p:ext uri="{BB962C8B-B14F-4D97-AF65-F5344CB8AC3E}">
        <p14:creationId xmlns:p14="http://schemas.microsoft.com/office/powerpoint/2010/main" val="35196569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another image encoder, is the very classical network </a:t>
            </a:r>
            <a:r>
              <a:rPr lang="en-US" altLang="zh-CN" dirty="0" err="1"/>
              <a:t>resnet</a:t>
            </a:r>
            <a:r>
              <a:rPr lang="en-US" altLang="zh-CN" dirty="0"/>
              <a:t>. The CLIP model uses the output after average pooling layer, which is 1 layer before the end of the </a:t>
            </a:r>
            <a:r>
              <a:rPr lang="en-US" altLang="zh-CN" dirty="0" err="1"/>
              <a:t>resnet</a:t>
            </a:r>
            <a:r>
              <a:rPr lang="en-US" altLang="zh-CN" dirty="0"/>
              <a:t>. </a:t>
            </a:r>
          </a:p>
        </p:txBody>
      </p:sp>
      <p:sp>
        <p:nvSpPr>
          <p:cNvPr id="4" name="灯片编号占位符 3"/>
          <p:cNvSpPr>
            <a:spLocks noGrp="1"/>
          </p:cNvSpPr>
          <p:nvPr>
            <p:ph type="sldNum" sz="quarter" idx="5"/>
          </p:nvPr>
        </p:nvSpPr>
        <p:spPr/>
        <p:txBody>
          <a:bodyPr/>
          <a:lstStyle/>
          <a:p>
            <a:fld id="{74B31000-9408-426B-B873-D4C066E48AF8}" type="slidenum">
              <a:rPr lang="zh-CN" altLang="en-US" smtClean="0"/>
              <a:t>34</a:t>
            </a:fld>
            <a:endParaRPr lang="zh-CN" altLang="en-US"/>
          </a:p>
        </p:txBody>
      </p:sp>
    </p:spTree>
    <p:extLst>
      <p:ext uri="{BB962C8B-B14F-4D97-AF65-F5344CB8AC3E}">
        <p14:creationId xmlns:p14="http://schemas.microsoft.com/office/powerpoint/2010/main" val="34797743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this pre, we first show the significance of CLIP: it connects image and text, and it is zero-shot; then in part2, we have discussed the main idea CLIP; finally in part 3, we dive into details of this model.</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35</a:t>
            </a:fld>
            <a:endParaRPr lang="zh-CN" altLang="en-US"/>
          </a:p>
        </p:txBody>
      </p:sp>
    </p:spTree>
    <p:extLst>
      <p:ext uri="{BB962C8B-B14F-4D97-AF65-F5344CB8AC3E}">
        <p14:creationId xmlns:p14="http://schemas.microsoft.com/office/powerpoint/2010/main" val="2478775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6893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38434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t="-6000" b="-6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9257140"/>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2.png"/><Relationship Id="rId7" Type="http://schemas.openxmlformats.org/officeDocument/2006/relationships/image" Target="../media/image10.w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9.wmf"/><Relationship Id="rId4" Type="http://schemas.openxmlformats.org/officeDocument/2006/relationships/oleObject" Target="../embeddings/oleObject1.bin"/><Relationship Id="rId9" Type="http://schemas.openxmlformats.org/officeDocument/2006/relationships/image" Target="../media/image11.wmf"/></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wmf"/><Relationship Id="rId4"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2104" y="1735875"/>
            <a:ext cx="11367792" cy="1569660"/>
          </a:xfrm>
          <a:prstGeom prst="rect">
            <a:avLst/>
          </a:prstGeom>
          <a:noFill/>
        </p:spPr>
        <p:txBody>
          <a:bodyPr wrap="none" rtlCol="0">
            <a:spAutoFit/>
          </a:bodyPr>
          <a:lstStyle/>
          <a:p>
            <a:pPr algn="ctr"/>
            <a:r>
              <a:rPr lang="en-US" altLang="zh-CN" sz="9600" dirty="0">
                <a:solidFill>
                  <a:srgbClr val="00B050"/>
                </a:solidFill>
                <a:latin typeface="Impact" panose="020B0806030902050204" pitchFamily="34" charset="0"/>
                <a:cs typeface="+mn-ea"/>
                <a:sym typeface="+mn-lt"/>
              </a:rPr>
              <a:t>Multi-modality AI: CLIP</a:t>
            </a:r>
            <a:endParaRPr lang="zh-CN" altLang="en-US" sz="9600" dirty="0">
              <a:solidFill>
                <a:srgbClr val="00B050"/>
              </a:solidFill>
              <a:latin typeface="Impact" panose="020B0806030902050204" pitchFamily="34" charset="0"/>
              <a:cs typeface="+mn-ea"/>
              <a:sym typeface="+mn-lt"/>
            </a:endParaRPr>
          </a:p>
        </p:txBody>
      </p:sp>
      <p:sp>
        <p:nvSpPr>
          <p:cNvPr id="13" name="文本框 12"/>
          <p:cNvSpPr txBox="1"/>
          <p:nvPr/>
        </p:nvSpPr>
        <p:spPr>
          <a:xfrm>
            <a:off x="1323204" y="3823364"/>
            <a:ext cx="10077583" cy="1754326"/>
          </a:xfrm>
          <a:prstGeom prst="rect">
            <a:avLst/>
          </a:prstGeom>
          <a:noFill/>
        </p:spPr>
        <p:txBody>
          <a:bodyPr wrap="square" rtlCol="0">
            <a:spAutoFit/>
          </a:bodyPr>
          <a:lstStyle/>
          <a:p>
            <a:pPr algn="ctr"/>
            <a:r>
              <a:rPr lang="en-US" altLang="zh-CN" sz="3600" dirty="0">
                <a:solidFill>
                  <a:schemeClr val="tx1">
                    <a:lumMod val="65000"/>
                    <a:lumOff val="35000"/>
                  </a:schemeClr>
                </a:solidFill>
                <a:cs typeface="+mn-ea"/>
                <a:sym typeface="+mn-lt"/>
              </a:rPr>
              <a:t>YANG</a:t>
            </a:r>
            <a:r>
              <a:rPr lang="zh-CN" altLang="en-US" sz="3600" dirty="0">
                <a:solidFill>
                  <a:schemeClr val="tx1">
                    <a:lumMod val="65000"/>
                    <a:lumOff val="35000"/>
                  </a:schemeClr>
                </a:solidFill>
                <a:cs typeface="+mn-ea"/>
                <a:sym typeface="+mn-lt"/>
              </a:rPr>
              <a:t> </a:t>
            </a:r>
            <a:r>
              <a:rPr lang="en-US" altLang="zh-CN" sz="3600" dirty="0">
                <a:solidFill>
                  <a:schemeClr val="tx1">
                    <a:lumMod val="65000"/>
                    <a:lumOff val="35000"/>
                  </a:schemeClr>
                </a:solidFill>
                <a:cs typeface="+mn-ea"/>
                <a:sym typeface="+mn-lt"/>
              </a:rPr>
              <a:t>Renwei</a:t>
            </a:r>
          </a:p>
          <a:p>
            <a:pPr algn="ctr"/>
            <a:r>
              <a:rPr lang="en-US" altLang="zh-CN" sz="3600" dirty="0">
                <a:solidFill>
                  <a:schemeClr val="tx1">
                    <a:lumMod val="65000"/>
                    <a:lumOff val="35000"/>
                  </a:schemeClr>
                </a:solidFill>
                <a:cs typeface="+mn-ea"/>
                <a:sym typeface="+mn-lt"/>
              </a:rPr>
              <a:t>Department of Computer Science,</a:t>
            </a:r>
          </a:p>
          <a:p>
            <a:pPr algn="ctr"/>
            <a:r>
              <a:rPr lang="en-US" altLang="zh-CN" sz="3600" dirty="0">
                <a:solidFill>
                  <a:schemeClr val="tx1">
                    <a:lumMod val="65000"/>
                    <a:lumOff val="35000"/>
                  </a:schemeClr>
                </a:solidFill>
                <a:cs typeface="+mn-ea"/>
                <a:sym typeface="+mn-lt"/>
              </a:rPr>
              <a:t>City University of Hong Kong</a:t>
            </a:r>
            <a:endParaRPr lang="zh-CN" altLang="en-US" sz="3600" dirty="0">
              <a:solidFill>
                <a:schemeClr val="tx1">
                  <a:lumMod val="65000"/>
                  <a:lumOff val="35000"/>
                </a:schemeClr>
              </a:solidFill>
              <a:cs typeface="+mn-ea"/>
              <a:sym typeface="+mn-lt"/>
            </a:endParaRPr>
          </a:p>
        </p:txBody>
      </p:sp>
      <p:grpSp>
        <p:nvGrpSpPr>
          <p:cNvPr id="4" name="组合 3"/>
          <p:cNvGrpSpPr/>
          <p:nvPr/>
        </p:nvGrpSpPr>
        <p:grpSpPr>
          <a:xfrm>
            <a:off x="4835855" y="6095519"/>
            <a:ext cx="2520286" cy="257175"/>
            <a:chOff x="4843463" y="4520714"/>
            <a:chExt cx="2520286" cy="257175"/>
          </a:xfrm>
        </p:grpSpPr>
        <p:sp>
          <p:nvSpPr>
            <p:cNvPr id="3" name="椭圆 2"/>
            <p:cNvSpPr/>
            <p:nvPr/>
          </p:nvSpPr>
          <p:spPr>
            <a:xfrm>
              <a:off x="4843463"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椭圆 10"/>
            <p:cNvSpPr/>
            <p:nvPr/>
          </p:nvSpPr>
          <p:spPr>
            <a:xfrm>
              <a:off x="5296085"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椭圆 14"/>
            <p:cNvSpPr/>
            <p:nvPr/>
          </p:nvSpPr>
          <p:spPr>
            <a:xfrm>
              <a:off x="5748707"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6201329"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6653951"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7106574"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2564476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椭圆 24"/>
          <p:cNvSpPr/>
          <p:nvPr/>
        </p:nvSpPr>
        <p:spPr>
          <a:xfrm>
            <a:off x="3915215" y="3921236"/>
            <a:ext cx="191910" cy="191910"/>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3221322" y="3195454"/>
            <a:ext cx="952500" cy="95250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文本框 4"/>
          <p:cNvSpPr txBox="1"/>
          <p:nvPr/>
        </p:nvSpPr>
        <p:spPr>
          <a:xfrm>
            <a:off x="3350312" y="3286983"/>
            <a:ext cx="716863" cy="769441"/>
          </a:xfrm>
          <a:prstGeom prst="rect">
            <a:avLst/>
          </a:prstGeom>
          <a:noFill/>
        </p:spPr>
        <p:txBody>
          <a:bodyPr wrap="none" rtlCol="0">
            <a:spAutoFit/>
          </a:bodyPr>
          <a:lstStyle/>
          <a:p>
            <a:pPr algn="ctr"/>
            <a:r>
              <a:rPr lang="en-US" altLang="zh-CN" sz="4400" b="1" dirty="0">
                <a:solidFill>
                  <a:schemeClr val="bg1"/>
                </a:solidFill>
                <a:cs typeface="+mn-ea"/>
                <a:sym typeface="+mn-lt"/>
              </a:rPr>
              <a:t>01</a:t>
            </a:r>
            <a:endParaRPr lang="zh-CN" altLang="en-US" sz="4400" b="1" dirty="0">
              <a:solidFill>
                <a:schemeClr val="bg1"/>
              </a:solidFill>
              <a:cs typeface="+mn-ea"/>
              <a:sym typeface="+mn-lt"/>
            </a:endParaRPr>
          </a:p>
        </p:txBody>
      </p:sp>
      <p:sp>
        <p:nvSpPr>
          <p:cNvPr id="6" name="文本框 5"/>
          <p:cNvSpPr txBox="1"/>
          <p:nvPr/>
        </p:nvSpPr>
        <p:spPr>
          <a:xfrm>
            <a:off x="2952881" y="4239483"/>
            <a:ext cx="1407758" cy="646331"/>
          </a:xfrm>
          <a:prstGeom prst="rect">
            <a:avLst/>
          </a:prstGeom>
          <a:noFill/>
        </p:spPr>
        <p:txBody>
          <a:bodyPr wrap="none" rtlCol="0">
            <a:spAutoFit/>
          </a:bodyPr>
          <a:lstStyle/>
          <a:p>
            <a:pPr algn="ctr"/>
            <a:r>
              <a:rPr lang="en-US" altLang="zh-CN" dirty="0">
                <a:cs typeface="+mn-ea"/>
                <a:sym typeface="+mn-lt"/>
              </a:rPr>
              <a:t>Significance</a:t>
            </a:r>
          </a:p>
          <a:p>
            <a:pPr algn="ctr"/>
            <a:r>
              <a:rPr lang="en-US" altLang="zh-CN" dirty="0">
                <a:cs typeface="+mn-ea"/>
                <a:sym typeface="+mn-lt"/>
              </a:rPr>
              <a:t>of CLIP</a:t>
            </a:r>
            <a:endParaRPr lang="zh-CN" altLang="en-US" dirty="0">
              <a:cs typeface="+mn-ea"/>
              <a:sym typeface="+mn-lt"/>
            </a:endParaRPr>
          </a:p>
        </p:txBody>
      </p:sp>
      <p:sp>
        <p:nvSpPr>
          <p:cNvPr id="11" name="文本框 10"/>
          <p:cNvSpPr txBox="1"/>
          <p:nvPr/>
        </p:nvSpPr>
        <p:spPr>
          <a:xfrm>
            <a:off x="5405353" y="4220748"/>
            <a:ext cx="1215397" cy="646331"/>
          </a:xfrm>
          <a:prstGeom prst="rect">
            <a:avLst/>
          </a:prstGeom>
          <a:noFill/>
        </p:spPr>
        <p:txBody>
          <a:bodyPr wrap="none" rtlCol="0">
            <a:spAutoFit/>
          </a:bodyPr>
          <a:lstStyle/>
          <a:p>
            <a:pPr algn="ctr"/>
            <a:r>
              <a:rPr lang="en-US" altLang="zh-CN" dirty="0">
                <a:cs typeface="+mn-ea"/>
                <a:sym typeface="+mn-lt"/>
              </a:rPr>
              <a:t>CLIP</a:t>
            </a:r>
          </a:p>
          <a:p>
            <a:pPr algn="ctr"/>
            <a:r>
              <a:rPr lang="en-US" altLang="zh-CN" dirty="0">
                <a:cs typeface="+mn-ea"/>
                <a:sym typeface="+mn-lt"/>
              </a:rPr>
              <a:t>Main Idea</a:t>
            </a:r>
            <a:endParaRPr lang="zh-CN" altLang="en-US" dirty="0">
              <a:cs typeface="+mn-ea"/>
              <a:sym typeface="+mn-lt"/>
            </a:endParaRPr>
          </a:p>
        </p:txBody>
      </p:sp>
      <p:sp>
        <p:nvSpPr>
          <p:cNvPr id="16" name="文本框 15"/>
          <p:cNvSpPr txBox="1"/>
          <p:nvPr/>
        </p:nvSpPr>
        <p:spPr>
          <a:xfrm>
            <a:off x="7788393" y="4234765"/>
            <a:ext cx="1040671" cy="646331"/>
          </a:xfrm>
          <a:prstGeom prst="rect">
            <a:avLst/>
          </a:prstGeom>
          <a:noFill/>
        </p:spPr>
        <p:txBody>
          <a:bodyPr wrap="none" rtlCol="0">
            <a:spAutoFit/>
          </a:bodyPr>
          <a:lstStyle/>
          <a:p>
            <a:pPr algn="ctr"/>
            <a:r>
              <a:rPr lang="en-US" altLang="zh-CN" dirty="0">
                <a:cs typeface="+mn-ea"/>
                <a:sym typeface="+mn-lt"/>
              </a:rPr>
              <a:t>Encoder</a:t>
            </a:r>
          </a:p>
          <a:p>
            <a:pPr algn="ctr"/>
            <a:r>
              <a:rPr lang="en-US" altLang="zh-CN" dirty="0">
                <a:cs typeface="+mn-ea"/>
                <a:sym typeface="+mn-lt"/>
              </a:rPr>
              <a:t>Details</a:t>
            </a:r>
            <a:endParaRPr lang="zh-CN" altLang="en-US" dirty="0">
              <a:cs typeface="+mn-ea"/>
              <a:sym typeface="+mn-lt"/>
            </a:endParaRPr>
          </a:p>
        </p:txBody>
      </p:sp>
      <p:sp>
        <p:nvSpPr>
          <p:cNvPr id="2" name="MH_Others_1"/>
          <p:cNvSpPr txBox="1"/>
          <p:nvPr>
            <p:custDataLst>
              <p:tags r:id="rId1"/>
            </p:custDataLst>
          </p:nvPr>
        </p:nvSpPr>
        <p:spPr>
          <a:xfrm>
            <a:off x="4160902" y="1270802"/>
            <a:ext cx="3955467" cy="847938"/>
          </a:xfrm>
          <a:prstGeom prst="rect">
            <a:avLst/>
          </a:prstGeom>
          <a:noFill/>
        </p:spPr>
        <p:txBody>
          <a:bodyPr wrap="square" rtlCol="0">
            <a:noAutofit/>
          </a:bodyPr>
          <a:lstStyle/>
          <a:p>
            <a:pPr algn="ctr"/>
            <a:r>
              <a:rPr lang="en-US" altLang="zh-CN" sz="4400" dirty="0">
                <a:solidFill>
                  <a:schemeClr val="tx1">
                    <a:lumMod val="65000"/>
                    <a:lumOff val="35000"/>
                  </a:schemeClr>
                </a:solidFill>
                <a:latin typeface="Impact" panose="020B0806030902050204" pitchFamily="34" charset="0"/>
                <a:cs typeface="+mn-ea"/>
                <a:sym typeface="+mn-lt"/>
              </a:rPr>
              <a:t>CONTENT</a:t>
            </a:r>
            <a:endParaRPr lang="zh-CN" altLang="en-US" sz="4400" dirty="0">
              <a:solidFill>
                <a:schemeClr val="tx1">
                  <a:lumMod val="65000"/>
                  <a:lumOff val="35000"/>
                </a:schemeClr>
              </a:solidFill>
              <a:latin typeface="Impact" panose="020B0806030902050204" pitchFamily="34" charset="0"/>
              <a:cs typeface="+mn-ea"/>
              <a:sym typeface="+mn-lt"/>
            </a:endParaRPr>
          </a:p>
        </p:txBody>
      </p:sp>
      <p:sp>
        <p:nvSpPr>
          <p:cNvPr id="9" name="椭圆 8"/>
          <p:cNvSpPr/>
          <p:nvPr/>
        </p:nvSpPr>
        <p:spPr>
          <a:xfrm>
            <a:off x="5500972" y="3214189"/>
            <a:ext cx="952500" cy="952500"/>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p:cNvSpPr txBox="1"/>
          <p:nvPr/>
        </p:nvSpPr>
        <p:spPr>
          <a:xfrm>
            <a:off x="5570700" y="3305718"/>
            <a:ext cx="813044" cy="769441"/>
          </a:xfrm>
          <a:prstGeom prst="rect">
            <a:avLst/>
          </a:prstGeom>
          <a:noFill/>
        </p:spPr>
        <p:txBody>
          <a:bodyPr wrap="none" rtlCol="0">
            <a:spAutoFit/>
          </a:bodyPr>
          <a:lstStyle/>
          <a:p>
            <a:pPr algn="ctr"/>
            <a:r>
              <a:rPr lang="en-US" altLang="zh-CN" sz="4400" b="1" dirty="0">
                <a:solidFill>
                  <a:schemeClr val="bg1"/>
                </a:solidFill>
                <a:cs typeface="+mn-ea"/>
                <a:sym typeface="+mn-lt"/>
              </a:rPr>
              <a:t>02</a:t>
            </a:r>
            <a:endParaRPr lang="zh-CN" altLang="en-US" sz="4400" b="1" dirty="0">
              <a:solidFill>
                <a:schemeClr val="bg1"/>
              </a:solidFill>
              <a:cs typeface="+mn-ea"/>
              <a:sym typeface="+mn-lt"/>
            </a:endParaRPr>
          </a:p>
        </p:txBody>
      </p:sp>
      <p:sp>
        <p:nvSpPr>
          <p:cNvPr id="33" name="椭圆 32"/>
          <p:cNvSpPr/>
          <p:nvPr/>
        </p:nvSpPr>
        <p:spPr>
          <a:xfrm>
            <a:off x="6209012" y="3921236"/>
            <a:ext cx="191910" cy="19191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椭圆 13"/>
          <p:cNvSpPr/>
          <p:nvPr/>
        </p:nvSpPr>
        <p:spPr>
          <a:xfrm>
            <a:off x="7780622" y="3214189"/>
            <a:ext cx="952500" cy="95250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7821527" y="3305718"/>
            <a:ext cx="813044" cy="769441"/>
          </a:xfrm>
          <a:prstGeom prst="rect">
            <a:avLst/>
          </a:prstGeom>
          <a:noFill/>
        </p:spPr>
        <p:txBody>
          <a:bodyPr wrap="none" rtlCol="0">
            <a:spAutoFit/>
          </a:bodyPr>
          <a:lstStyle/>
          <a:p>
            <a:pPr algn="ctr"/>
            <a:r>
              <a:rPr lang="en-US" altLang="zh-CN" sz="4400" b="1" dirty="0">
                <a:solidFill>
                  <a:schemeClr val="bg1"/>
                </a:solidFill>
                <a:cs typeface="+mn-ea"/>
                <a:sym typeface="+mn-lt"/>
              </a:rPr>
              <a:t>03</a:t>
            </a:r>
            <a:endParaRPr lang="zh-CN" altLang="en-US" sz="4400" b="1" dirty="0">
              <a:solidFill>
                <a:schemeClr val="bg1"/>
              </a:solidFill>
              <a:cs typeface="+mn-ea"/>
              <a:sym typeface="+mn-lt"/>
            </a:endParaRPr>
          </a:p>
        </p:txBody>
      </p:sp>
      <p:sp>
        <p:nvSpPr>
          <p:cNvPr id="34" name="椭圆 33"/>
          <p:cNvSpPr/>
          <p:nvPr/>
        </p:nvSpPr>
        <p:spPr>
          <a:xfrm>
            <a:off x="8521844" y="3921236"/>
            <a:ext cx="191910" cy="191910"/>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6" name="组合 25"/>
          <p:cNvGrpSpPr/>
          <p:nvPr/>
        </p:nvGrpSpPr>
        <p:grpSpPr>
          <a:xfrm>
            <a:off x="4067175" y="1666571"/>
            <a:ext cx="4057650" cy="0"/>
            <a:chOff x="4129088" y="2457450"/>
            <a:chExt cx="4057650" cy="0"/>
          </a:xfrm>
        </p:grpSpPr>
        <p:cxnSp>
          <p:nvCxnSpPr>
            <p:cNvPr id="27" name="直接连接符 26"/>
            <p:cNvCxnSpPr/>
            <p:nvPr/>
          </p:nvCxnSpPr>
          <p:spPr>
            <a:xfrm>
              <a:off x="4129088" y="2457450"/>
              <a:ext cx="971550" cy="0"/>
            </a:xfrm>
            <a:prstGeom prst="line">
              <a:avLst/>
            </a:prstGeom>
            <a:ln w="25400">
              <a:solidFill>
                <a:srgbClr val="6C92C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7215188" y="2457450"/>
              <a:ext cx="971550" cy="0"/>
            </a:xfrm>
            <a:prstGeom prst="line">
              <a:avLst/>
            </a:prstGeom>
            <a:ln w="25400">
              <a:solidFill>
                <a:srgbClr val="48A2A0"/>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4843463" y="2101366"/>
            <a:ext cx="2520286" cy="257175"/>
            <a:chOff x="4843463" y="4520714"/>
            <a:chExt cx="2520286" cy="257175"/>
          </a:xfrm>
        </p:grpSpPr>
        <p:sp>
          <p:nvSpPr>
            <p:cNvPr id="30" name="椭圆 29"/>
            <p:cNvSpPr/>
            <p:nvPr/>
          </p:nvSpPr>
          <p:spPr>
            <a:xfrm>
              <a:off x="4843463"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椭圆 30"/>
            <p:cNvSpPr/>
            <p:nvPr/>
          </p:nvSpPr>
          <p:spPr>
            <a:xfrm>
              <a:off x="5296085"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5748707"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椭圆 35"/>
            <p:cNvSpPr/>
            <p:nvPr/>
          </p:nvSpPr>
          <p:spPr>
            <a:xfrm>
              <a:off x="6201329"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653951"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椭圆 37"/>
            <p:cNvSpPr/>
            <p:nvPr/>
          </p:nvSpPr>
          <p:spPr>
            <a:xfrm>
              <a:off x="7106574"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9" name="组合 38"/>
          <p:cNvGrpSpPr/>
          <p:nvPr/>
        </p:nvGrpSpPr>
        <p:grpSpPr>
          <a:xfrm>
            <a:off x="4843463" y="899270"/>
            <a:ext cx="2520286" cy="257175"/>
            <a:chOff x="4843463" y="4520714"/>
            <a:chExt cx="2520286" cy="257175"/>
          </a:xfrm>
        </p:grpSpPr>
        <p:sp>
          <p:nvSpPr>
            <p:cNvPr id="40" name="椭圆 39"/>
            <p:cNvSpPr/>
            <p:nvPr/>
          </p:nvSpPr>
          <p:spPr>
            <a:xfrm>
              <a:off x="4843463"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椭圆 40"/>
            <p:cNvSpPr/>
            <p:nvPr/>
          </p:nvSpPr>
          <p:spPr>
            <a:xfrm>
              <a:off x="5296085"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椭圆 41"/>
            <p:cNvSpPr/>
            <p:nvPr/>
          </p:nvSpPr>
          <p:spPr>
            <a:xfrm>
              <a:off x="5748707"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椭圆 42"/>
            <p:cNvSpPr/>
            <p:nvPr/>
          </p:nvSpPr>
          <p:spPr>
            <a:xfrm>
              <a:off x="6201329"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椭圆 43"/>
            <p:cNvSpPr/>
            <p:nvPr/>
          </p:nvSpPr>
          <p:spPr>
            <a:xfrm>
              <a:off x="6653951"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椭圆 44"/>
            <p:cNvSpPr/>
            <p:nvPr/>
          </p:nvSpPr>
          <p:spPr>
            <a:xfrm>
              <a:off x="7106574"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3126879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1615440" y="2057400"/>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3276495" y="3718455"/>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MH_Others_1"/>
          <p:cNvSpPr txBox="1"/>
          <p:nvPr>
            <p:custDataLst>
              <p:tags r:id="rId1"/>
            </p:custDataLst>
          </p:nvPr>
        </p:nvSpPr>
        <p:spPr>
          <a:xfrm>
            <a:off x="864526" y="2860251"/>
            <a:ext cx="3955467" cy="847938"/>
          </a:xfrm>
          <a:prstGeom prst="rect">
            <a:avLst/>
          </a:prstGeom>
          <a:noFill/>
        </p:spPr>
        <p:txBody>
          <a:bodyPr wrap="square" rtlCol="0">
            <a:noAutofit/>
          </a:bodyPr>
          <a:lstStyle/>
          <a:p>
            <a:pPr algn="ctr"/>
            <a:r>
              <a:rPr lang="en-US" altLang="zh-CN" sz="4400" dirty="0">
                <a:solidFill>
                  <a:schemeClr val="bg1"/>
                </a:solidFill>
                <a:effectLst>
                  <a:outerShdw blurRad="38100" dist="38100" dir="2700000" algn="tl">
                    <a:srgbClr val="000000">
                      <a:alpha val="43137"/>
                    </a:srgbClr>
                  </a:outerShdw>
                </a:effectLst>
                <a:cs typeface="+mn-ea"/>
                <a:sym typeface="+mn-lt"/>
              </a:rPr>
              <a:t>PART 1</a:t>
            </a:r>
            <a:endParaRPr lang="zh-CN" altLang="en-US" sz="4400" dirty="0">
              <a:solidFill>
                <a:schemeClr val="bg1"/>
              </a:solidFill>
              <a:effectLst>
                <a:outerShdw blurRad="38100" dist="38100" dir="2700000" algn="tl">
                  <a:srgbClr val="000000">
                    <a:alpha val="43137"/>
                  </a:srgbClr>
                </a:outerShdw>
              </a:effectLst>
              <a:cs typeface="+mn-ea"/>
              <a:sym typeface="+mn-lt"/>
            </a:endParaRPr>
          </a:p>
        </p:txBody>
      </p:sp>
      <p:sp>
        <p:nvSpPr>
          <p:cNvPr id="2" name="矩形 1"/>
          <p:cNvSpPr/>
          <p:nvPr/>
        </p:nvSpPr>
        <p:spPr>
          <a:xfrm>
            <a:off x="4931401" y="3040204"/>
            <a:ext cx="5184954" cy="830997"/>
          </a:xfrm>
          <a:prstGeom prst="rect">
            <a:avLst/>
          </a:prstGeom>
        </p:spPr>
        <p:txBody>
          <a:bodyPr wrap="square">
            <a:spAutoFit/>
          </a:bodyPr>
          <a:lstStyle/>
          <a:p>
            <a:r>
              <a:rPr lang="en-US" altLang="zh-CN" sz="4800" b="1" dirty="0">
                <a:cs typeface="+mn-ea"/>
                <a:sym typeface="+mn-lt"/>
              </a:rPr>
              <a:t>Significance</a:t>
            </a:r>
            <a:endParaRPr lang="zh-CN" altLang="en-US" sz="4800" b="1" dirty="0">
              <a:cs typeface="+mn-ea"/>
              <a:sym typeface="+mn-lt"/>
            </a:endParaRPr>
          </a:p>
        </p:txBody>
      </p:sp>
    </p:spTree>
    <p:extLst>
      <p:ext uri="{BB962C8B-B14F-4D97-AF65-F5344CB8AC3E}">
        <p14:creationId xmlns:p14="http://schemas.microsoft.com/office/powerpoint/2010/main" val="525396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106680" y="137160"/>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1767735" y="1798215"/>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MH_Others_1"/>
          <p:cNvSpPr txBox="1"/>
          <p:nvPr>
            <p:custDataLst>
              <p:tags r:id="rId1"/>
            </p:custDataLst>
          </p:nvPr>
        </p:nvSpPr>
        <p:spPr>
          <a:xfrm>
            <a:off x="-644234" y="886671"/>
            <a:ext cx="3955467" cy="847938"/>
          </a:xfrm>
          <a:prstGeom prst="rect">
            <a:avLst/>
          </a:prstGeom>
          <a:noFill/>
        </p:spPr>
        <p:txBody>
          <a:bodyPr wrap="square" rtlCol="0">
            <a:noAutofit/>
          </a:bodyPr>
          <a:lstStyle/>
          <a:p>
            <a:pPr algn="ctr"/>
            <a:r>
              <a:rPr lang="en-US" altLang="zh-CN" sz="4400" dirty="0">
                <a:solidFill>
                  <a:schemeClr val="bg1"/>
                </a:solidFill>
                <a:effectLst>
                  <a:outerShdw blurRad="38100" dist="38100" dir="2700000" algn="tl">
                    <a:srgbClr val="000000">
                      <a:alpha val="43137"/>
                    </a:srgbClr>
                  </a:outerShdw>
                </a:effectLst>
                <a:cs typeface="+mn-ea"/>
                <a:sym typeface="+mn-lt"/>
              </a:rPr>
              <a:t>PART 1</a:t>
            </a:r>
            <a:endParaRPr lang="zh-CN" altLang="en-US" sz="4400" dirty="0">
              <a:solidFill>
                <a:schemeClr val="bg1"/>
              </a:solidFill>
              <a:effectLst>
                <a:outerShdw blurRad="38100" dist="38100" dir="2700000" algn="tl">
                  <a:srgbClr val="000000">
                    <a:alpha val="43137"/>
                  </a:srgbClr>
                </a:outerShdw>
              </a:effectLst>
              <a:cs typeface="+mn-ea"/>
              <a:sym typeface="+mn-lt"/>
            </a:endParaRPr>
          </a:p>
        </p:txBody>
      </p:sp>
      <p:sp>
        <p:nvSpPr>
          <p:cNvPr id="8" name="文本框 7"/>
          <p:cNvSpPr txBox="1"/>
          <p:nvPr/>
        </p:nvSpPr>
        <p:spPr>
          <a:xfrm>
            <a:off x="3226035" y="1700227"/>
            <a:ext cx="6318345" cy="1384995"/>
          </a:xfrm>
          <a:prstGeom prst="rect">
            <a:avLst/>
          </a:prstGeom>
          <a:noFill/>
        </p:spPr>
        <p:txBody>
          <a:bodyPr wrap="square" rtlCol="0">
            <a:spAutoFit/>
          </a:bodyPr>
          <a:lstStyle/>
          <a:p>
            <a:r>
              <a:rPr lang="en-US" altLang="zh-CN" sz="2800" dirty="0">
                <a:cs typeface="+mn-ea"/>
                <a:sym typeface="+mn-lt"/>
              </a:rPr>
              <a:t>1. Bridge between image and text</a:t>
            </a:r>
          </a:p>
          <a:p>
            <a:endParaRPr lang="en-US" altLang="zh-CN" sz="2800" dirty="0">
              <a:cs typeface="+mn-ea"/>
              <a:sym typeface="+mn-lt"/>
            </a:endParaRPr>
          </a:p>
          <a:p>
            <a:endParaRPr lang="en-US" altLang="zh-CN" sz="2800" dirty="0">
              <a:cs typeface="+mn-ea"/>
              <a:sym typeface="+mn-lt"/>
            </a:endParaRPr>
          </a:p>
        </p:txBody>
      </p:sp>
      <p:sp>
        <p:nvSpPr>
          <p:cNvPr id="2" name="矩形 1"/>
          <p:cNvSpPr/>
          <p:nvPr/>
        </p:nvSpPr>
        <p:spPr>
          <a:xfrm>
            <a:off x="2647620" y="228555"/>
            <a:ext cx="3448380" cy="1569660"/>
          </a:xfrm>
          <a:prstGeom prst="rect">
            <a:avLst/>
          </a:prstGeom>
        </p:spPr>
        <p:txBody>
          <a:bodyPr wrap="none">
            <a:spAutoFit/>
          </a:bodyPr>
          <a:lstStyle/>
          <a:p>
            <a:r>
              <a:rPr lang="en-US" altLang="zh-CN" sz="4800" b="1" dirty="0">
                <a:cs typeface="+mn-ea"/>
                <a:sym typeface="+mn-lt"/>
              </a:rPr>
              <a:t>Significance</a:t>
            </a:r>
            <a:endParaRPr lang="zh-CN" altLang="en-US" sz="4800" b="1" dirty="0">
              <a:cs typeface="+mn-ea"/>
              <a:sym typeface="+mn-lt"/>
            </a:endParaRPr>
          </a:p>
          <a:p>
            <a:endParaRPr lang="zh-CN" altLang="en-US" sz="4800" b="1" dirty="0">
              <a:cs typeface="+mn-ea"/>
              <a:sym typeface="+mn-lt"/>
            </a:endParaRPr>
          </a:p>
        </p:txBody>
      </p:sp>
      <p:pic>
        <p:nvPicPr>
          <p:cNvPr id="7" name="图片 6">
            <a:extLst>
              <a:ext uri="{FF2B5EF4-FFF2-40B4-BE49-F238E27FC236}">
                <a16:creationId xmlns:a16="http://schemas.microsoft.com/office/drawing/2014/main" id="{5F815483-3881-45B3-A2F0-2F43D70947F9}"/>
              </a:ext>
            </a:extLst>
          </p:cNvPr>
          <p:cNvPicPr>
            <a:picLocks noChangeAspect="1"/>
          </p:cNvPicPr>
          <p:nvPr/>
        </p:nvPicPr>
        <p:blipFill>
          <a:blip r:embed="rId4"/>
          <a:stretch>
            <a:fillRect/>
          </a:stretch>
        </p:blipFill>
        <p:spPr>
          <a:xfrm>
            <a:off x="3523215" y="2529301"/>
            <a:ext cx="4934985" cy="3267760"/>
          </a:xfrm>
          <a:prstGeom prst="rect">
            <a:avLst/>
          </a:prstGeom>
        </p:spPr>
      </p:pic>
      <p:sp>
        <p:nvSpPr>
          <p:cNvPr id="9" name="文本框 8">
            <a:extLst>
              <a:ext uri="{FF2B5EF4-FFF2-40B4-BE49-F238E27FC236}">
                <a16:creationId xmlns:a16="http://schemas.microsoft.com/office/drawing/2014/main" id="{5A161ADE-5829-4F99-8168-2B0D780BAC7C}"/>
              </a:ext>
            </a:extLst>
          </p:cNvPr>
          <p:cNvSpPr txBox="1"/>
          <p:nvPr/>
        </p:nvSpPr>
        <p:spPr>
          <a:xfrm>
            <a:off x="0" y="6593882"/>
            <a:ext cx="12123420" cy="253916"/>
          </a:xfrm>
          <a:prstGeom prst="rect">
            <a:avLst/>
          </a:prstGeom>
          <a:noFill/>
        </p:spPr>
        <p:txBody>
          <a:bodyPr wrap="square">
            <a:spAutoFit/>
          </a:bodyPr>
          <a:lstStyle/>
          <a:p>
            <a:r>
              <a:rPr lang="en-US" altLang="zh-CN" sz="1050" i="1" dirty="0">
                <a:latin typeface="Arial" panose="020B0604020202020204" pitchFamily="34" charset="0"/>
                <a:cs typeface="Arial" panose="020B0604020202020204" pitchFamily="34" charset="0"/>
              </a:rPr>
              <a:t>A. Radford et al., “Learning Transferable Visual Models From Natural Language Supervision,” in Proceedings of the International Conference on Machine Learning, Feb. 2021, pp. 8748--8763.</a:t>
            </a:r>
          </a:p>
        </p:txBody>
      </p:sp>
    </p:spTree>
    <p:extLst>
      <p:ext uri="{BB962C8B-B14F-4D97-AF65-F5344CB8AC3E}">
        <p14:creationId xmlns:p14="http://schemas.microsoft.com/office/powerpoint/2010/main" val="4223347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106680" y="137160"/>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1767735" y="1798215"/>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MH_Others_1"/>
          <p:cNvSpPr txBox="1"/>
          <p:nvPr>
            <p:custDataLst>
              <p:tags r:id="rId1"/>
            </p:custDataLst>
          </p:nvPr>
        </p:nvSpPr>
        <p:spPr>
          <a:xfrm>
            <a:off x="-644234" y="886671"/>
            <a:ext cx="3955467" cy="847938"/>
          </a:xfrm>
          <a:prstGeom prst="rect">
            <a:avLst/>
          </a:prstGeom>
          <a:noFill/>
        </p:spPr>
        <p:txBody>
          <a:bodyPr wrap="square" rtlCol="0">
            <a:noAutofit/>
          </a:bodyPr>
          <a:lstStyle/>
          <a:p>
            <a:pPr algn="ctr"/>
            <a:r>
              <a:rPr lang="en-US" altLang="zh-CN" sz="4400" dirty="0">
                <a:solidFill>
                  <a:schemeClr val="bg1"/>
                </a:solidFill>
                <a:effectLst>
                  <a:outerShdw blurRad="38100" dist="38100" dir="2700000" algn="tl">
                    <a:srgbClr val="000000">
                      <a:alpha val="43137"/>
                    </a:srgbClr>
                  </a:outerShdw>
                </a:effectLst>
                <a:cs typeface="+mn-ea"/>
                <a:sym typeface="+mn-lt"/>
              </a:rPr>
              <a:t>PART 1</a:t>
            </a:r>
            <a:endParaRPr lang="zh-CN" altLang="en-US" sz="4400" dirty="0">
              <a:solidFill>
                <a:schemeClr val="bg1"/>
              </a:solidFill>
              <a:effectLst>
                <a:outerShdw blurRad="38100" dist="38100" dir="2700000" algn="tl">
                  <a:srgbClr val="000000">
                    <a:alpha val="43137"/>
                  </a:srgbClr>
                </a:outerShdw>
              </a:effectLst>
              <a:cs typeface="+mn-ea"/>
              <a:sym typeface="+mn-lt"/>
            </a:endParaRPr>
          </a:p>
        </p:txBody>
      </p:sp>
      <p:sp>
        <p:nvSpPr>
          <p:cNvPr id="8" name="文本框 7"/>
          <p:cNvSpPr txBox="1"/>
          <p:nvPr/>
        </p:nvSpPr>
        <p:spPr>
          <a:xfrm>
            <a:off x="4033271" y="1895501"/>
            <a:ext cx="6318345" cy="523220"/>
          </a:xfrm>
          <a:prstGeom prst="rect">
            <a:avLst/>
          </a:prstGeom>
          <a:noFill/>
        </p:spPr>
        <p:txBody>
          <a:bodyPr wrap="square" rtlCol="0">
            <a:spAutoFit/>
          </a:bodyPr>
          <a:lstStyle/>
          <a:p>
            <a:r>
              <a:rPr lang="en-US" altLang="zh-CN" sz="2800" dirty="0">
                <a:cs typeface="+mn-ea"/>
                <a:sym typeface="+mn-lt"/>
              </a:rPr>
              <a:t>2. Zero-shot classification</a:t>
            </a:r>
          </a:p>
        </p:txBody>
      </p:sp>
      <p:sp>
        <p:nvSpPr>
          <p:cNvPr id="2" name="矩形 1"/>
          <p:cNvSpPr/>
          <p:nvPr/>
        </p:nvSpPr>
        <p:spPr>
          <a:xfrm>
            <a:off x="2960040" y="479329"/>
            <a:ext cx="3448380" cy="1569660"/>
          </a:xfrm>
          <a:prstGeom prst="rect">
            <a:avLst/>
          </a:prstGeom>
        </p:spPr>
        <p:txBody>
          <a:bodyPr wrap="none">
            <a:spAutoFit/>
          </a:bodyPr>
          <a:lstStyle/>
          <a:p>
            <a:r>
              <a:rPr lang="en-US" altLang="zh-CN" sz="4800" b="1" dirty="0">
                <a:cs typeface="+mn-ea"/>
                <a:sym typeface="+mn-lt"/>
              </a:rPr>
              <a:t>Significance</a:t>
            </a:r>
            <a:endParaRPr lang="zh-CN" altLang="en-US" sz="4800" b="1" dirty="0">
              <a:cs typeface="+mn-ea"/>
              <a:sym typeface="+mn-lt"/>
            </a:endParaRPr>
          </a:p>
          <a:p>
            <a:endParaRPr lang="zh-CN" altLang="en-US" sz="4800" b="1" dirty="0">
              <a:cs typeface="+mn-ea"/>
              <a:sym typeface="+mn-lt"/>
            </a:endParaRPr>
          </a:p>
        </p:txBody>
      </p:sp>
      <p:pic>
        <p:nvPicPr>
          <p:cNvPr id="9" name="图片 8">
            <a:extLst>
              <a:ext uri="{FF2B5EF4-FFF2-40B4-BE49-F238E27FC236}">
                <a16:creationId xmlns:a16="http://schemas.microsoft.com/office/drawing/2014/main" id="{E22B07EB-3893-481C-AE86-1F647D9F4E7D}"/>
              </a:ext>
            </a:extLst>
          </p:cNvPr>
          <p:cNvPicPr>
            <a:picLocks noChangeAspect="1"/>
          </p:cNvPicPr>
          <p:nvPr/>
        </p:nvPicPr>
        <p:blipFill>
          <a:blip r:embed="rId4"/>
          <a:stretch>
            <a:fillRect/>
          </a:stretch>
        </p:blipFill>
        <p:spPr>
          <a:xfrm>
            <a:off x="1149768" y="3274996"/>
            <a:ext cx="2476160" cy="1919671"/>
          </a:xfrm>
          <a:prstGeom prst="rect">
            <a:avLst/>
          </a:prstGeom>
        </p:spPr>
      </p:pic>
      <p:pic>
        <p:nvPicPr>
          <p:cNvPr id="10" name="图片 9">
            <a:extLst>
              <a:ext uri="{FF2B5EF4-FFF2-40B4-BE49-F238E27FC236}">
                <a16:creationId xmlns:a16="http://schemas.microsoft.com/office/drawing/2014/main" id="{E0F3A032-7B25-422E-AB6E-C353B25FC6A7}"/>
              </a:ext>
            </a:extLst>
          </p:cNvPr>
          <p:cNvPicPr>
            <a:picLocks noChangeAspect="1"/>
          </p:cNvPicPr>
          <p:nvPr/>
        </p:nvPicPr>
        <p:blipFill>
          <a:blip r:embed="rId5"/>
          <a:stretch>
            <a:fillRect/>
          </a:stretch>
        </p:blipFill>
        <p:spPr>
          <a:xfrm>
            <a:off x="9106997" y="3248916"/>
            <a:ext cx="2489239" cy="1974825"/>
          </a:xfrm>
          <a:prstGeom prst="rect">
            <a:avLst/>
          </a:prstGeom>
        </p:spPr>
      </p:pic>
      <p:pic>
        <p:nvPicPr>
          <p:cNvPr id="11" name="图片 10">
            <a:extLst>
              <a:ext uri="{FF2B5EF4-FFF2-40B4-BE49-F238E27FC236}">
                <a16:creationId xmlns:a16="http://schemas.microsoft.com/office/drawing/2014/main" id="{DE215217-E08B-4B12-A0AA-B90AF86D5002}"/>
              </a:ext>
            </a:extLst>
          </p:cNvPr>
          <p:cNvPicPr>
            <a:picLocks noChangeAspect="1"/>
          </p:cNvPicPr>
          <p:nvPr/>
        </p:nvPicPr>
        <p:blipFill>
          <a:blip r:embed="rId6"/>
          <a:stretch>
            <a:fillRect/>
          </a:stretch>
        </p:blipFill>
        <p:spPr>
          <a:xfrm>
            <a:off x="4999556" y="3274996"/>
            <a:ext cx="2192888" cy="1754310"/>
          </a:xfrm>
          <a:prstGeom prst="rect">
            <a:avLst/>
          </a:prstGeom>
        </p:spPr>
      </p:pic>
      <p:sp>
        <p:nvSpPr>
          <p:cNvPr id="3" name="箭头: 右 2">
            <a:extLst>
              <a:ext uri="{FF2B5EF4-FFF2-40B4-BE49-F238E27FC236}">
                <a16:creationId xmlns:a16="http://schemas.microsoft.com/office/drawing/2014/main" id="{E0D9FA4C-6E4E-4E06-8818-79B09323A12F}"/>
              </a:ext>
            </a:extLst>
          </p:cNvPr>
          <p:cNvSpPr/>
          <p:nvPr/>
        </p:nvSpPr>
        <p:spPr>
          <a:xfrm>
            <a:off x="7618139" y="3992515"/>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C476EC27-E9D8-40D2-82EE-453854C47664}"/>
              </a:ext>
            </a:extLst>
          </p:cNvPr>
          <p:cNvSpPr txBox="1"/>
          <p:nvPr/>
        </p:nvSpPr>
        <p:spPr>
          <a:xfrm>
            <a:off x="1869666" y="5388202"/>
            <a:ext cx="1036364" cy="369332"/>
          </a:xfrm>
          <a:prstGeom prst="rect">
            <a:avLst/>
          </a:prstGeom>
          <a:noFill/>
        </p:spPr>
        <p:txBody>
          <a:bodyPr wrap="square">
            <a:spAutoFit/>
          </a:bodyPr>
          <a:lstStyle/>
          <a:p>
            <a:r>
              <a:rPr lang="en-US" altLang="zh-CN" sz="1800" dirty="0">
                <a:cs typeface="+mn-ea"/>
                <a:sym typeface="+mn-lt"/>
              </a:rPr>
              <a:t>Learned</a:t>
            </a:r>
          </a:p>
        </p:txBody>
      </p:sp>
      <p:sp>
        <p:nvSpPr>
          <p:cNvPr id="14" name="文本框 13">
            <a:extLst>
              <a:ext uri="{FF2B5EF4-FFF2-40B4-BE49-F238E27FC236}">
                <a16:creationId xmlns:a16="http://schemas.microsoft.com/office/drawing/2014/main" id="{384E085C-043B-4C11-BAD7-4FF1C35FA4FF}"/>
              </a:ext>
            </a:extLst>
          </p:cNvPr>
          <p:cNvSpPr txBox="1"/>
          <p:nvPr/>
        </p:nvSpPr>
        <p:spPr>
          <a:xfrm>
            <a:off x="5577818" y="5388202"/>
            <a:ext cx="1036364" cy="369332"/>
          </a:xfrm>
          <a:prstGeom prst="rect">
            <a:avLst/>
          </a:prstGeom>
          <a:noFill/>
        </p:spPr>
        <p:txBody>
          <a:bodyPr wrap="square">
            <a:spAutoFit/>
          </a:bodyPr>
          <a:lstStyle/>
          <a:p>
            <a:r>
              <a:rPr lang="en-US" altLang="zh-CN" sz="1800" dirty="0">
                <a:cs typeface="+mn-ea"/>
                <a:sym typeface="+mn-lt"/>
              </a:rPr>
              <a:t>Learned</a:t>
            </a:r>
          </a:p>
        </p:txBody>
      </p:sp>
      <p:sp>
        <p:nvSpPr>
          <p:cNvPr id="15" name="文本框 14">
            <a:extLst>
              <a:ext uri="{FF2B5EF4-FFF2-40B4-BE49-F238E27FC236}">
                <a16:creationId xmlns:a16="http://schemas.microsoft.com/office/drawing/2014/main" id="{8F7DE04E-1348-4682-8ECA-71F84B4CD7E7}"/>
              </a:ext>
            </a:extLst>
          </p:cNvPr>
          <p:cNvSpPr txBox="1"/>
          <p:nvPr/>
        </p:nvSpPr>
        <p:spPr>
          <a:xfrm>
            <a:off x="9847805" y="5431803"/>
            <a:ext cx="1344113" cy="369332"/>
          </a:xfrm>
          <a:prstGeom prst="rect">
            <a:avLst/>
          </a:prstGeom>
          <a:noFill/>
        </p:spPr>
        <p:txBody>
          <a:bodyPr wrap="square">
            <a:spAutoFit/>
          </a:bodyPr>
          <a:lstStyle/>
          <a:p>
            <a:r>
              <a:rPr lang="en-US" altLang="zh-CN" dirty="0">
                <a:cs typeface="+mn-ea"/>
                <a:sym typeface="+mn-lt"/>
              </a:rPr>
              <a:t>Unlearned</a:t>
            </a:r>
            <a:endParaRPr lang="en-US" altLang="zh-CN" sz="1800" dirty="0">
              <a:cs typeface="+mn-ea"/>
              <a:sym typeface="+mn-lt"/>
            </a:endParaRPr>
          </a:p>
        </p:txBody>
      </p:sp>
      <p:sp>
        <p:nvSpPr>
          <p:cNvPr id="16" name="文本框 15">
            <a:extLst>
              <a:ext uri="{FF2B5EF4-FFF2-40B4-BE49-F238E27FC236}">
                <a16:creationId xmlns:a16="http://schemas.microsoft.com/office/drawing/2014/main" id="{D3478AA4-7105-42F8-861A-47CD1954F5D6}"/>
              </a:ext>
            </a:extLst>
          </p:cNvPr>
          <p:cNvSpPr txBox="1"/>
          <p:nvPr/>
        </p:nvSpPr>
        <p:spPr>
          <a:xfrm>
            <a:off x="3963192" y="3726999"/>
            <a:ext cx="1036364" cy="1015663"/>
          </a:xfrm>
          <a:prstGeom prst="rect">
            <a:avLst/>
          </a:prstGeom>
          <a:noFill/>
        </p:spPr>
        <p:txBody>
          <a:bodyPr wrap="square">
            <a:spAutoFit/>
          </a:bodyPr>
          <a:lstStyle/>
          <a:p>
            <a:r>
              <a:rPr lang="en-US" altLang="zh-CN" sz="6000" b="1" dirty="0">
                <a:cs typeface="+mn-ea"/>
                <a:sym typeface="+mn-lt"/>
              </a:rPr>
              <a:t>+</a:t>
            </a:r>
          </a:p>
        </p:txBody>
      </p:sp>
    </p:spTree>
    <p:extLst>
      <p:ext uri="{BB962C8B-B14F-4D97-AF65-F5344CB8AC3E}">
        <p14:creationId xmlns:p14="http://schemas.microsoft.com/office/powerpoint/2010/main" val="3116972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106680" y="137160"/>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1767735" y="1798215"/>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MH_Others_1"/>
          <p:cNvSpPr txBox="1"/>
          <p:nvPr>
            <p:custDataLst>
              <p:tags r:id="rId1"/>
            </p:custDataLst>
          </p:nvPr>
        </p:nvSpPr>
        <p:spPr>
          <a:xfrm>
            <a:off x="-644234" y="886671"/>
            <a:ext cx="3955467" cy="847938"/>
          </a:xfrm>
          <a:prstGeom prst="rect">
            <a:avLst/>
          </a:prstGeom>
          <a:noFill/>
        </p:spPr>
        <p:txBody>
          <a:bodyPr wrap="square" rtlCol="0">
            <a:noAutofit/>
          </a:bodyPr>
          <a:lstStyle/>
          <a:p>
            <a:pPr algn="ctr"/>
            <a:r>
              <a:rPr lang="en-US" altLang="zh-CN" sz="4400" dirty="0">
                <a:solidFill>
                  <a:schemeClr val="bg1"/>
                </a:solidFill>
                <a:effectLst>
                  <a:outerShdw blurRad="38100" dist="38100" dir="2700000" algn="tl">
                    <a:srgbClr val="000000">
                      <a:alpha val="43137"/>
                    </a:srgbClr>
                  </a:outerShdw>
                </a:effectLst>
                <a:cs typeface="+mn-ea"/>
                <a:sym typeface="+mn-lt"/>
              </a:rPr>
              <a:t>PART 1</a:t>
            </a:r>
            <a:endParaRPr lang="zh-CN" altLang="en-US" sz="4400" dirty="0">
              <a:solidFill>
                <a:schemeClr val="bg1"/>
              </a:solidFill>
              <a:effectLst>
                <a:outerShdw blurRad="38100" dist="38100" dir="2700000" algn="tl">
                  <a:srgbClr val="000000">
                    <a:alpha val="43137"/>
                  </a:srgbClr>
                </a:outerShdw>
              </a:effectLst>
              <a:cs typeface="+mn-ea"/>
              <a:sym typeface="+mn-lt"/>
            </a:endParaRPr>
          </a:p>
        </p:txBody>
      </p:sp>
      <p:pic>
        <p:nvPicPr>
          <p:cNvPr id="4098" name="Picture 2">
            <a:extLst>
              <a:ext uri="{FF2B5EF4-FFF2-40B4-BE49-F238E27FC236}">
                <a16:creationId xmlns:a16="http://schemas.microsoft.com/office/drawing/2014/main" id="{A7A18C57-8C97-46BE-8EB7-0B347D84B5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650" y="1104900"/>
            <a:ext cx="5715000" cy="5334000"/>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a:extLst>
              <a:ext uri="{FF2B5EF4-FFF2-40B4-BE49-F238E27FC236}">
                <a16:creationId xmlns:a16="http://schemas.microsoft.com/office/drawing/2014/main" id="{1624ABC9-4574-4CE8-9476-3BBBABE79CFE}"/>
              </a:ext>
            </a:extLst>
          </p:cNvPr>
          <p:cNvPicPr>
            <a:picLocks noChangeAspect="1"/>
          </p:cNvPicPr>
          <p:nvPr/>
        </p:nvPicPr>
        <p:blipFill>
          <a:blip r:embed="rId5"/>
          <a:stretch>
            <a:fillRect/>
          </a:stretch>
        </p:blipFill>
        <p:spPr>
          <a:xfrm>
            <a:off x="3699405" y="618313"/>
            <a:ext cx="6287377" cy="5820587"/>
          </a:xfrm>
          <a:prstGeom prst="rect">
            <a:avLst/>
          </a:prstGeom>
        </p:spPr>
      </p:pic>
    </p:spTree>
    <p:extLst>
      <p:ext uri="{BB962C8B-B14F-4D97-AF65-F5344CB8AC3E}">
        <p14:creationId xmlns:p14="http://schemas.microsoft.com/office/powerpoint/2010/main" val="1976035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1615440" y="2057400"/>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3276495" y="3718455"/>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MH_Others_1"/>
          <p:cNvSpPr txBox="1"/>
          <p:nvPr>
            <p:custDataLst>
              <p:tags r:id="rId1"/>
            </p:custDataLst>
          </p:nvPr>
        </p:nvSpPr>
        <p:spPr>
          <a:xfrm>
            <a:off x="864526" y="2860251"/>
            <a:ext cx="3955467" cy="847938"/>
          </a:xfrm>
          <a:prstGeom prst="rect">
            <a:avLst/>
          </a:prstGeom>
          <a:noFill/>
        </p:spPr>
        <p:txBody>
          <a:bodyPr wrap="square" rtlCol="0">
            <a:noAutofit/>
          </a:bodyPr>
          <a:lstStyle/>
          <a:p>
            <a:pPr algn="ctr"/>
            <a:r>
              <a:rPr lang="en-US" altLang="zh-CN" sz="4400" dirty="0">
                <a:solidFill>
                  <a:schemeClr val="bg1"/>
                </a:solidFill>
                <a:effectLst>
                  <a:outerShdw blurRad="38100" dist="38100" dir="2700000" algn="tl">
                    <a:srgbClr val="000000">
                      <a:alpha val="43137"/>
                    </a:srgbClr>
                  </a:outerShdw>
                </a:effectLst>
                <a:cs typeface="+mn-ea"/>
                <a:sym typeface="+mn-lt"/>
              </a:rPr>
              <a:t>PART 2</a:t>
            </a:r>
            <a:endParaRPr lang="zh-CN" altLang="en-US" sz="4400" dirty="0">
              <a:solidFill>
                <a:schemeClr val="bg1"/>
              </a:solidFill>
              <a:effectLst>
                <a:outerShdw blurRad="38100" dist="38100" dir="2700000" algn="tl">
                  <a:srgbClr val="000000">
                    <a:alpha val="43137"/>
                  </a:srgbClr>
                </a:outerShdw>
              </a:effectLst>
              <a:cs typeface="+mn-ea"/>
              <a:sym typeface="+mn-lt"/>
            </a:endParaRPr>
          </a:p>
        </p:txBody>
      </p:sp>
      <p:sp>
        <p:nvSpPr>
          <p:cNvPr id="2" name="矩形 1"/>
          <p:cNvSpPr/>
          <p:nvPr/>
        </p:nvSpPr>
        <p:spPr>
          <a:xfrm>
            <a:off x="4931401" y="3040204"/>
            <a:ext cx="5184954" cy="830997"/>
          </a:xfrm>
          <a:prstGeom prst="rect">
            <a:avLst/>
          </a:prstGeom>
        </p:spPr>
        <p:txBody>
          <a:bodyPr wrap="square">
            <a:spAutoFit/>
          </a:bodyPr>
          <a:lstStyle/>
          <a:p>
            <a:r>
              <a:rPr lang="en-US" altLang="zh-CN" sz="4800" b="1" dirty="0">
                <a:cs typeface="+mn-ea"/>
                <a:sym typeface="+mn-lt"/>
              </a:rPr>
              <a:t>CLIP Main Idea</a:t>
            </a:r>
            <a:endParaRPr lang="zh-CN" altLang="en-US" sz="4800" b="1" dirty="0">
              <a:cs typeface="+mn-ea"/>
              <a:sym typeface="+mn-lt"/>
            </a:endParaRPr>
          </a:p>
        </p:txBody>
      </p:sp>
    </p:spTree>
    <p:extLst>
      <p:ext uri="{BB962C8B-B14F-4D97-AF65-F5344CB8AC3E}">
        <p14:creationId xmlns:p14="http://schemas.microsoft.com/office/powerpoint/2010/main" val="3584857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2" name="图片 1">
            <a:extLst>
              <a:ext uri="{FF2B5EF4-FFF2-40B4-BE49-F238E27FC236}">
                <a16:creationId xmlns:a16="http://schemas.microsoft.com/office/drawing/2014/main" id="{86D0A885-8FBD-4EBB-B80D-608CE2B763CA}"/>
              </a:ext>
            </a:extLst>
          </p:cNvPr>
          <p:cNvPicPr>
            <a:picLocks noChangeAspect="1"/>
          </p:cNvPicPr>
          <p:nvPr/>
        </p:nvPicPr>
        <p:blipFill>
          <a:blip r:embed="rId3"/>
          <a:stretch>
            <a:fillRect/>
          </a:stretch>
        </p:blipFill>
        <p:spPr>
          <a:xfrm>
            <a:off x="1493520" y="2075429"/>
            <a:ext cx="9871910" cy="2049816"/>
          </a:xfrm>
          <a:prstGeom prst="rect">
            <a:avLst/>
          </a:prstGeom>
        </p:spPr>
      </p:pic>
      <p:sp>
        <p:nvSpPr>
          <p:cNvPr id="3" name="文本框 2">
            <a:extLst>
              <a:ext uri="{FF2B5EF4-FFF2-40B4-BE49-F238E27FC236}">
                <a16:creationId xmlns:a16="http://schemas.microsoft.com/office/drawing/2014/main" id="{B347B95D-B4FC-47F3-A174-0960CE58CCC9}"/>
              </a:ext>
            </a:extLst>
          </p:cNvPr>
          <p:cNvSpPr txBox="1"/>
          <p:nvPr/>
        </p:nvSpPr>
        <p:spPr>
          <a:xfrm>
            <a:off x="1344023" y="4907280"/>
            <a:ext cx="10396564" cy="923330"/>
          </a:xfrm>
          <a:prstGeom prst="rect">
            <a:avLst/>
          </a:prstGeom>
          <a:noFill/>
        </p:spPr>
        <p:txBody>
          <a:bodyPr wrap="none" rtlCol="0">
            <a:spAutoFit/>
          </a:bodyPr>
          <a:lstStyle/>
          <a:p>
            <a:r>
              <a:rPr lang="en-US" altLang="zh-CN" sz="5400" dirty="0"/>
              <a:t>Supervised by </a:t>
            </a:r>
            <a:r>
              <a:rPr lang="en-US" altLang="zh-CN" sz="5400" b="1" dirty="0"/>
              <a:t>Natural Language</a:t>
            </a:r>
            <a:endParaRPr lang="zh-CN" altLang="en-US" sz="5400" b="1" dirty="0"/>
          </a:p>
        </p:txBody>
      </p:sp>
      <p:sp>
        <p:nvSpPr>
          <p:cNvPr id="11" name="文本框 10">
            <a:extLst>
              <a:ext uri="{FF2B5EF4-FFF2-40B4-BE49-F238E27FC236}">
                <a16:creationId xmlns:a16="http://schemas.microsoft.com/office/drawing/2014/main" id="{A370B991-CC1C-4CA8-A553-3EEB4C0DE727}"/>
              </a:ext>
            </a:extLst>
          </p:cNvPr>
          <p:cNvSpPr txBox="1"/>
          <p:nvPr/>
        </p:nvSpPr>
        <p:spPr>
          <a:xfrm>
            <a:off x="0" y="6593882"/>
            <a:ext cx="12123420" cy="253916"/>
          </a:xfrm>
          <a:prstGeom prst="rect">
            <a:avLst/>
          </a:prstGeom>
          <a:noFill/>
        </p:spPr>
        <p:txBody>
          <a:bodyPr wrap="square">
            <a:spAutoFit/>
          </a:bodyPr>
          <a:lstStyle/>
          <a:p>
            <a:r>
              <a:rPr lang="en-US" altLang="zh-CN" sz="1050" i="1" dirty="0">
                <a:latin typeface="Arial" panose="020B0604020202020204" pitchFamily="34" charset="0"/>
                <a:cs typeface="Arial" panose="020B0604020202020204" pitchFamily="34" charset="0"/>
              </a:rPr>
              <a:t>A. Radford et al., “Learning Transferable Visual Models From Natural Language Supervision,” in Proceedings of the International Conference on Machine Learning, Feb. 2021, pp. 8748--8763.</a:t>
            </a:r>
          </a:p>
        </p:txBody>
      </p:sp>
    </p:spTree>
    <p:extLst>
      <p:ext uri="{BB962C8B-B14F-4D97-AF65-F5344CB8AC3E}">
        <p14:creationId xmlns:p14="http://schemas.microsoft.com/office/powerpoint/2010/main" val="1219260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sp>
        <p:nvSpPr>
          <p:cNvPr id="8" name="文本框 7">
            <a:extLst>
              <a:ext uri="{FF2B5EF4-FFF2-40B4-BE49-F238E27FC236}">
                <a16:creationId xmlns:a16="http://schemas.microsoft.com/office/drawing/2014/main" id="{FADEA553-A47C-4C59-AF49-0FACB59F0AA3}"/>
              </a:ext>
            </a:extLst>
          </p:cNvPr>
          <p:cNvSpPr txBox="1"/>
          <p:nvPr/>
        </p:nvSpPr>
        <p:spPr>
          <a:xfrm>
            <a:off x="1582782" y="2082898"/>
            <a:ext cx="9307285" cy="3416320"/>
          </a:xfrm>
          <a:prstGeom prst="rect">
            <a:avLst/>
          </a:prstGeom>
          <a:noFill/>
        </p:spPr>
        <p:txBody>
          <a:bodyPr wrap="square">
            <a:spAutoFit/>
          </a:bodyPr>
          <a:lstStyle/>
          <a:p>
            <a:pPr algn="ctr"/>
            <a:r>
              <a:rPr lang="en-US" altLang="zh-CN" sz="5400" dirty="0"/>
              <a:t>CLIP </a:t>
            </a:r>
          </a:p>
          <a:p>
            <a:pPr algn="ctr"/>
            <a:r>
              <a:rPr lang="en-US" altLang="zh-CN" sz="5400" dirty="0"/>
              <a:t>= </a:t>
            </a:r>
          </a:p>
          <a:p>
            <a:pPr algn="ctr"/>
            <a:r>
              <a:rPr lang="en-US" altLang="zh-CN" sz="5400" b="1" dirty="0"/>
              <a:t>Contrastive</a:t>
            </a:r>
            <a:r>
              <a:rPr lang="en-US" altLang="zh-CN" sz="5400" dirty="0"/>
              <a:t> Language-Image Pre-training</a:t>
            </a:r>
            <a:endParaRPr lang="zh-CN" altLang="en-US" sz="5400" dirty="0"/>
          </a:p>
        </p:txBody>
      </p:sp>
    </p:spTree>
    <p:extLst>
      <p:ext uri="{BB962C8B-B14F-4D97-AF65-F5344CB8AC3E}">
        <p14:creationId xmlns:p14="http://schemas.microsoft.com/office/powerpoint/2010/main" val="2061319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36" name="图片 35">
            <a:extLst>
              <a:ext uri="{FF2B5EF4-FFF2-40B4-BE49-F238E27FC236}">
                <a16:creationId xmlns:a16="http://schemas.microsoft.com/office/drawing/2014/main" id="{944094C4-5C07-41D4-A9AB-731B39C4D2F3}"/>
              </a:ext>
            </a:extLst>
          </p:cNvPr>
          <p:cNvPicPr>
            <a:picLocks noChangeAspect="1"/>
          </p:cNvPicPr>
          <p:nvPr/>
        </p:nvPicPr>
        <p:blipFill>
          <a:blip r:embed="rId3"/>
          <a:stretch>
            <a:fillRect/>
          </a:stretch>
        </p:blipFill>
        <p:spPr>
          <a:xfrm>
            <a:off x="1824199" y="983190"/>
            <a:ext cx="8059743" cy="5336857"/>
          </a:xfrm>
          <a:prstGeom prst="rect">
            <a:avLst/>
          </a:prstGeom>
        </p:spPr>
      </p:pic>
      <p:sp>
        <p:nvSpPr>
          <p:cNvPr id="9" name="文本框 8">
            <a:extLst>
              <a:ext uri="{FF2B5EF4-FFF2-40B4-BE49-F238E27FC236}">
                <a16:creationId xmlns:a16="http://schemas.microsoft.com/office/drawing/2014/main" id="{78673D01-C558-4BA2-89E8-ABCA8AAE4A6E}"/>
              </a:ext>
            </a:extLst>
          </p:cNvPr>
          <p:cNvSpPr txBox="1"/>
          <p:nvPr/>
        </p:nvSpPr>
        <p:spPr>
          <a:xfrm>
            <a:off x="0" y="6593882"/>
            <a:ext cx="12123420" cy="253916"/>
          </a:xfrm>
          <a:prstGeom prst="rect">
            <a:avLst/>
          </a:prstGeom>
          <a:noFill/>
        </p:spPr>
        <p:txBody>
          <a:bodyPr wrap="square">
            <a:spAutoFit/>
          </a:bodyPr>
          <a:lstStyle/>
          <a:p>
            <a:r>
              <a:rPr lang="en-US" altLang="zh-CN" sz="1050" i="1" dirty="0">
                <a:latin typeface="Arial" panose="020B0604020202020204" pitchFamily="34" charset="0"/>
                <a:cs typeface="Arial" panose="020B0604020202020204" pitchFamily="34" charset="0"/>
              </a:rPr>
              <a:t>A. Radford et al., “Learning Transferable Visual Models From Natural Language Supervision,” in Proceedings of the International Conference on Machine Learning, Feb. 2021, pp. 8748--8763.</a:t>
            </a:r>
          </a:p>
        </p:txBody>
      </p:sp>
    </p:spTree>
    <p:extLst>
      <p:ext uri="{BB962C8B-B14F-4D97-AF65-F5344CB8AC3E}">
        <p14:creationId xmlns:p14="http://schemas.microsoft.com/office/powerpoint/2010/main" val="3465090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36" name="图片 35">
            <a:extLst>
              <a:ext uri="{FF2B5EF4-FFF2-40B4-BE49-F238E27FC236}">
                <a16:creationId xmlns:a16="http://schemas.microsoft.com/office/drawing/2014/main" id="{944094C4-5C07-41D4-A9AB-731B39C4D2F3}"/>
              </a:ext>
            </a:extLst>
          </p:cNvPr>
          <p:cNvPicPr>
            <a:picLocks noChangeAspect="1"/>
          </p:cNvPicPr>
          <p:nvPr/>
        </p:nvPicPr>
        <p:blipFill>
          <a:blip r:embed="rId3"/>
          <a:stretch>
            <a:fillRect/>
          </a:stretch>
        </p:blipFill>
        <p:spPr>
          <a:xfrm>
            <a:off x="5959054" y="1671745"/>
            <a:ext cx="5608908" cy="3714007"/>
          </a:xfrm>
          <a:prstGeom prst="rect">
            <a:avLst/>
          </a:prstGeom>
        </p:spPr>
      </p:pic>
      <p:graphicFrame>
        <p:nvGraphicFramePr>
          <p:cNvPr id="6" name="对象 5">
            <a:extLst>
              <a:ext uri="{FF2B5EF4-FFF2-40B4-BE49-F238E27FC236}">
                <a16:creationId xmlns:a16="http://schemas.microsoft.com/office/drawing/2014/main" id="{4B42B9EE-48E7-423F-9B52-E3050231563E}"/>
              </a:ext>
            </a:extLst>
          </p:cNvPr>
          <p:cNvGraphicFramePr>
            <a:graphicFrameLocks noChangeAspect="1"/>
          </p:cNvGraphicFramePr>
          <p:nvPr/>
        </p:nvGraphicFramePr>
        <p:xfrm>
          <a:off x="827088" y="1581150"/>
          <a:ext cx="4541837" cy="1504950"/>
        </p:xfrm>
        <a:graphic>
          <a:graphicData uri="http://schemas.openxmlformats.org/presentationml/2006/ole">
            <mc:AlternateContent xmlns:mc="http://schemas.openxmlformats.org/markup-compatibility/2006">
              <mc:Choice xmlns:v="urn:schemas-microsoft-com:vml" Requires="v">
                <p:oleObj name="Equation" r:id="rId4" imgW="2222280" imgH="736560" progId="Equation.DSMT4">
                  <p:embed/>
                </p:oleObj>
              </mc:Choice>
              <mc:Fallback>
                <p:oleObj name="Equation" r:id="rId4" imgW="2222280" imgH="736560" progId="Equation.DSMT4">
                  <p:embed/>
                  <p:pic>
                    <p:nvPicPr>
                      <p:cNvPr id="6" name="对象 5">
                        <a:extLst>
                          <a:ext uri="{FF2B5EF4-FFF2-40B4-BE49-F238E27FC236}">
                            <a16:creationId xmlns:a16="http://schemas.microsoft.com/office/drawing/2014/main" id="{4B42B9EE-48E7-423F-9B52-E3050231563E}"/>
                          </a:ext>
                        </a:extLst>
                      </p:cNvPr>
                      <p:cNvPicPr/>
                      <p:nvPr/>
                    </p:nvPicPr>
                    <p:blipFill>
                      <a:blip r:embed="rId5"/>
                      <a:stretch>
                        <a:fillRect/>
                      </a:stretch>
                    </p:blipFill>
                    <p:spPr>
                      <a:xfrm>
                        <a:off x="827088" y="1581150"/>
                        <a:ext cx="4541837" cy="1504950"/>
                      </a:xfrm>
                      <a:prstGeom prst="rect">
                        <a:avLst/>
                      </a:prstGeom>
                    </p:spPr>
                  </p:pic>
                </p:oleObj>
              </mc:Fallback>
            </mc:AlternateContent>
          </a:graphicData>
        </a:graphic>
      </p:graphicFrame>
      <p:graphicFrame>
        <p:nvGraphicFramePr>
          <p:cNvPr id="2" name="对象 1">
            <a:extLst>
              <a:ext uri="{FF2B5EF4-FFF2-40B4-BE49-F238E27FC236}">
                <a16:creationId xmlns:a16="http://schemas.microsoft.com/office/drawing/2014/main" id="{61F18FC9-8D68-4EFA-99FD-95EEFC9D107A}"/>
              </a:ext>
            </a:extLst>
          </p:cNvPr>
          <p:cNvGraphicFramePr>
            <a:graphicFrameLocks noChangeAspect="1"/>
          </p:cNvGraphicFramePr>
          <p:nvPr/>
        </p:nvGraphicFramePr>
        <p:xfrm>
          <a:off x="1574800" y="3771900"/>
          <a:ext cx="2932113" cy="742950"/>
        </p:xfrm>
        <a:graphic>
          <a:graphicData uri="http://schemas.openxmlformats.org/presentationml/2006/ole">
            <mc:AlternateContent xmlns:mc="http://schemas.openxmlformats.org/markup-compatibility/2006">
              <mc:Choice xmlns:v="urn:schemas-microsoft-com:vml" Requires="v">
                <p:oleObj name="Equation" r:id="rId6" imgW="901440" imgH="228600" progId="Equation.DSMT4">
                  <p:embed/>
                </p:oleObj>
              </mc:Choice>
              <mc:Fallback>
                <p:oleObj name="Equation" r:id="rId6" imgW="901440" imgH="228600" progId="Equation.DSMT4">
                  <p:embed/>
                  <p:pic>
                    <p:nvPicPr>
                      <p:cNvPr id="2" name="对象 1">
                        <a:extLst>
                          <a:ext uri="{FF2B5EF4-FFF2-40B4-BE49-F238E27FC236}">
                            <a16:creationId xmlns:a16="http://schemas.microsoft.com/office/drawing/2014/main" id="{61F18FC9-8D68-4EFA-99FD-95EEFC9D107A}"/>
                          </a:ext>
                        </a:extLst>
                      </p:cNvPr>
                      <p:cNvPicPr/>
                      <p:nvPr/>
                    </p:nvPicPr>
                    <p:blipFill>
                      <a:blip r:embed="rId7"/>
                      <a:stretch>
                        <a:fillRect/>
                      </a:stretch>
                    </p:blipFill>
                    <p:spPr>
                      <a:xfrm>
                        <a:off x="1574800" y="3771900"/>
                        <a:ext cx="2932113" cy="742950"/>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2832186D-96C7-4A97-8534-1908BBF3974D}"/>
              </a:ext>
            </a:extLst>
          </p:cNvPr>
          <p:cNvGraphicFramePr>
            <a:graphicFrameLocks noChangeAspect="1"/>
          </p:cNvGraphicFramePr>
          <p:nvPr/>
        </p:nvGraphicFramePr>
        <p:xfrm>
          <a:off x="1533525" y="4816205"/>
          <a:ext cx="2973388" cy="742950"/>
        </p:xfrm>
        <a:graphic>
          <a:graphicData uri="http://schemas.openxmlformats.org/presentationml/2006/ole">
            <mc:AlternateContent xmlns:mc="http://schemas.openxmlformats.org/markup-compatibility/2006">
              <mc:Choice xmlns:v="urn:schemas-microsoft-com:vml" Requires="v">
                <p:oleObj name="Equation" r:id="rId8" imgW="914400" imgH="228600" progId="Equation.DSMT4">
                  <p:embed/>
                </p:oleObj>
              </mc:Choice>
              <mc:Fallback>
                <p:oleObj name="Equation" r:id="rId8" imgW="914400" imgH="228600" progId="Equation.DSMT4">
                  <p:embed/>
                  <p:pic>
                    <p:nvPicPr>
                      <p:cNvPr id="3" name="对象 2">
                        <a:extLst>
                          <a:ext uri="{FF2B5EF4-FFF2-40B4-BE49-F238E27FC236}">
                            <a16:creationId xmlns:a16="http://schemas.microsoft.com/office/drawing/2014/main" id="{2832186D-96C7-4A97-8534-1908BBF3974D}"/>
                          </a:ext>
                        </a:extLst>
                      </p:cNvPr>
                      <p:cNvPicPr/>
                      <p:nvPr/>
                    </p:nvPicPr>
                    <p:blipFill>
                      <a:blip r:embed="rId9"/>
                      <a:stretch>
                        <a:fillRect/>
                      </a:stretch>
                    </p:blipFill>
                    <p:spPr>
                      <a:xfrm>
                        <a:off x="1533525" y="4816205"/>
                        <a:ext cx="2973388" cy="742950"/>
                      </a:xfrm>
                      <a:prstGeom prst="rect">
                        <a:avLst/>
                      </a:prstGeom>
                    </p:spPr>
                  </p:pic>
                </p:oleObj>
              </mc:Fallback>
            </mc:AlternateContent>
          </a:graphicData>
        </a:graphic>
      </p:graphicFrame>
    </p:spTree>
    <p:extLst>
      <p:ext uri="{BB962C8B-B14F-4D97-AF65-F5344CB8AC3E}">
        <p14:creationId xmlns:p14="http://schemas.microsoft.com/office/powerpoint/2010/main" val="3510466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36" name="图片 35">
            <a:extLst>
              <a:ext uri="{FF2B5EF4-FFF2-40B4-BE49-F238E27FC236}">
                <a16:creationId xmlns:a16="http://schemas.microsoft.com/office/drawing/2014/main" id="{944094C4-5C07-41D4-A9AB-731B39C4D2F3}"/>
              </a:ext>
            </a:extLst>
          </p:cNvPr>
          <p:cNvPicPr>
            <a:picLocks noChangeAspect="1"/>
          </p:cNvPicPr>
          <p:nvPr/>
        </p:nvPicPr>
        <p:blipFill>
          <a:blip r:embed="rId3"/>
          <a:stretch>
            <a:fillRect/>
          </a:stretch>
        </p:blipFill>
        <p:spPr>
          <a:xfrm>
            <a:off x="5959054" y="1671745"/>
            <a:ext cx="5608908" cy="3714007"/>
          </a:xfrm>
          <a:prstGeom prst="rect">
            <a:avLst/>
          </a:prstGeom>
        </p:spPr>
      </p:pic>
      <p:graphicFrame>
        <p:nvGraphicFramePr>
          <p:cNvPr id="4" name="对象 3">
            <a:extLst>
              <a:ext uri="{FF2B5EF4-FFF2-40B4-BE49-F238E27FC236}">
                <a16:creationId xmlns:a16="http://schemas.microsoft.com/office/drawing/2014/main" id="{04DE2972-50D1-48B8-B20C-52FF79F24D49}"/>
              </a:ext>
            </a:extLst>
          </p:cNvPr>
          <p:cNvGraphicFramePr>
            <a:graphicFrameLocks noChangeAspect="1"/>
          </p:cNvGraphicFramePr>
          <p:nvPr>
            <p:extLst>
              <p:ext uri="{D42A27DB-BD31-4B8C-83A1-F6EECF244321}">
                <p14:modId xmlns:p14="http://schemas.microsoft.com/office/powerpoint/2010/main" val="2987777406"/>
              </p:ext>
            </p:extLst>
          </p:nvPr>
        </p:nvGraphicFramePr>
        <p:xfrm>
          <a:off x="1715396" y="2346124"/>
          <a:ext cx="2534194" cy="2365248"/>
        </p:xfrm>
        <a:graphic>
          <a:graphicData uri="http://schemas.openxmlformats.org/presentationml/2006/ole">
            <mc:AlternateContent xmlns:mc="http://schemas.openxmlformats.org/markup-compatibility/2006">
              <mc:Choice xmlns:v="urn:schemas-microsoft-com:vml" Requires="v">
                <p:oleObj name="Equation" r:id="rId4" imgW="761760" imgH="711000" progId="Equation.DSMT4">
                  <p:embed/>
                </p:oleObj>
              </mc:Choice>
              <mc:Fallback>
                <p:oleObj name="Equation" r:id="rId4" imgW="761760" imgH="711000" progId="Equation.DSMT4">
                  <p:embed/>
                  <p:pic>
                    <p:nvPicPr>
                      <p:cNvPr id="4" name="对象 3">
                        <a:extLst>
                          <a:ext uri="{FF2B5EF4-FFF2-40B4-BE49-F238E27FC236}">
                            <a16:creationId xmlns:a16="http://schemas.microsoft.com/office/drawing/2014/main" id="{04DE2972-50D1-48B8-B20C-52FF79F24D49}"/>
                          </a:ext>
                        </a:extLst>
                      </p:cNvPr>
                      <p:cNvPicPr/>
                      <p:nvPr/>
                    </p:nvPicPr>
                    <p:blipFill>
                      <a:blip r:embed="rId5"/>
                      <a:stretch>
                        <a:fillRect/>
                      </a:stretch>
                    </p:blipFill>
                    <p:spPr>
                      <a:xfrm>
                        <a:off x="1715396" y="2346124"/>
                        <a:ext cx="2534194" cy="2365248"/>
                      </a:xfrm>
                      <a:prstGeom prst="rect">
                        <a:avLst/>
                      </a:prstGeom>
                    </p:spPr>
                  </p:pic>
                </p:oleObj>
              </mc:Fallback>
            </mc:AlternateContent>
          </a:graphicData>
        </a:graphic>
      </p:graphicFrame>
      <p:sp>
        <p:nvSpPr>
          <p:cNvPr id="10" name="矩形 9">
            <a:extLst>
              <a:ext uri="{FF2B5EF4-FFF2-40B4-BE49-F238E27FC236}">
                <a16:creationId xmlns:a16="http://schemas.microsoft.com/office/drawing/2014/main" id="{E2EF3366-AD15-4840-8AC8-DB3E981DFC27}"/>
              </a:ext>
            </a:extLst>
          </p:cNvPr>
          <p:cNvSpPr/>
          <p:nvPr/>
        </p:nvSpPr>
        <p:spPr>
          <a:xfrm>
            <a:off x="896598" y="1317802"/>
            <a:ext cx="1850956" cy="707886"/>
          </a:xfrm>
          <a:prstGeom prst="rect">
            <a:avLst/>
          </a:prstGeom>
        </p:spPr>
        <p:txBody>
          <a:bodyPr wrap="none">
            <a:spAutoFit/>
          </a:bodyPr>
          <a:lstStyle/>
          <a:p>
            <a:r>
              <a:rPr lang="en-US" altLang="zh-CN" sz="4000" b="1" dirty="0">
                <a:cs typeface="+mn-ea"/>
                <a:sym typeface="+mn-lt"/>
              </a:rPr>
              <a:t>Ideally..</a:t>
            </a:r>
            <a:endParaRPr lang="zh-CN" altLang="en-US" sz="4000" b="1" dirty="0">
              <a:cs typeface="+mn-ea"/>
              <a:sym typeface="+mn-lt"/>
            </a:endParaRPr>
          </a:p>
        </p:txBody>
      </p:sp>
      <p:sp>
        <p:nvSpPr>
          <p:cNvPr id="12" name="文本框 11">
            <a:extLst>
              <a:ext uri="{FF2B5EF4-FFF2-40B4-BE49-F238E27FC236}">
                <a16:creationId xmlns:a16="http://schemas.microsoft.com/office/drawing/2014/main" id="{16B07009-82CA-4910-9A3F-4A9471BE9374}"/>
              </a:ext>
            </a:extLst>
          </p:cNvPr>
          <p:cNvSpPr txBox="1"/>
          <p:nvPr/>
        </p:nvSpPr>
        <p:spPr>
          <a:xfrm>
            <a:off x="2156807" y="4847142"/>
            <a:ext cx="1778182" cy="369332"/>
          </a:xfrm>
          <a:prstGeom prst="rect">
            <a:avLst/>
          </a:prstGeom>
          <a:noFill/>
        </p:spPr>
        <p:txBody>
          <a:bodyPr wrap="square">
            <a:spAutoFit/>
          </a:bodyPr>
          <a:lstStyle/>
          <a:p>
            <a:r>
              <a:rPr lang="en-US" altLang="zh-CN" dirty="0">
                <a:solidFill>
                  <a:srgbClr val="333333"/>
                </a:solidFill>
                <a:latin typeface="Helvetica Neue"/>
              </a:rPr>
              <a:t>I</a:t>
            </a:r>
            <a:r>
              <a:rPr lang="en-US" altLang="zh-CN" b="0" i="0" dirty="0">
                <a:solidFill>
                  <a:srgbClr val="333333"/>
                </a:solidFill>
                <a:effectLst/>
                <a:latin typeface="Helvetica Neue"/>
              </a:rPr>
              <a:t>dentity matrix</a:t>
            </a:r>
            <a:endParaRPr lang="zh-CN" altLang="en-US" dirty="0"/>
          </a:p>
        </p:txBody>
      </p:sp>
    </p:spTree>
    <p:extLst>
      <p:ext uri="{BB962C8B-B14F-4D97-AF65-F5344CB8AC3E}">
        <p14:creationId xmlns:p14="http://schemas.microsoft.com/office/powerpoint/2010/main" val="260159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36" name="图片 35">
            <a:extLst>
              <a:ext uri="{FF2B5EF4-FFF2-40B4-BE49-F238E27FC236}">
                <a16:creationId xmlns:a16="http://schemas.microsoft.com/office/drawing/2014/main" id="{944094C4-5C07-41D4-A9AB-731B39C4D2F3}"/>
              </a:ext>
            </a:extLst>
          </p:cNvPr>
          <p:cNvPicPr>
            <a:picLocks noChangeAspect="1"/>
          </p:cNvPicPr>
          <p:nvPr/>
        </p:nvPicPr>
        <p:blipFill>
          <a:blip r:embed="rId3"/>
          <a:stretch>
            <a:fillRect/>
          </a:stretch>
        </p:blipFill>
        <p:spPr>
          <a:xfrm>
            <a:off x="5959054" y="1671745"/>
            <a:ext cx="5608908" cy="3714007"/>
          </a:xfrm>
          <a:prstGeom prst="rect">
            <a:avLst/>
          </a:prstGeom>
        </p:spPr>
      </p:pic>
    </p:spTree>
    <p:extLst>
      <p:ext uri="{BB962C8B-B14F-4D97-AF65-F5344CB8AC3E}">
        <p14:creationId xmlns:p14="http://schemas.microsoft.com/office/powerpoint/2010/main" val="55149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36" name="图片 35">
            <a:extLst>
              <a:ext uri="{FF2B5EF4-FFF2-40B4-BE49-F238E27FC236}">
                <a16:creationId xmlns:a16="http://schemas.microsoft.com/office/drawing/2014/main" id="{944094C4-5C07-41D4-A9AB-731B39C4D2F3}"/>
              </a:ext>
            </a:extLst>
          </p:cNvPr>
          <p:cNvPicPr>
            <a:picLocks noChangeAspect="1"/>
          </p:cNvPicPr>
          <p:nvPr/>
        </p:nvPicPr>
        <p:blipFill>
          <a:blip r:embed="rId3"/>
          <a:stretch>
            <a:fillRect/>
          </a:stretch>
        </p:blipFill>
        <p:spPr>
          <a:xfrm>
            <a:off x="5959054" y="1671745"/>
            <a:ext cx="5608908" cy="3714007"/>
          </a:xfrm>
          <a:prstGeom prst="rect">
            <a:avLst/>
          </a:prstGeom>
        </p:spPr>
      </p:pic>
      <p:pic>
        <p:nvPicPr>
          <p:cNvPr id="9" name="图片 8">
            <a:extLst>
              <a:ext uri="{FF2B5EF4-FFF2-40B4-BE49-F238E27FC236}">
                <a16:creationId xmlns:a16="http://schemas.microsoft.com/office/drawing/2014/main" id="{4430FA17-9C1A-4EC7-830D-277065CF4B7C}"/>
              </a:ext>
            </a:extLst>
          </p:cNvPr>
          <p:cNvPicPr>
            <a:picLocks noChangeAspect="1"/>
          </p:cNvPicPr>
          <p:nvPr/>
        </p:nvPicPr>
        <p:blipFill>
          <a:blip r:embed="rId4"/>
          <a:stretch>
            <a:fillRect/>
          </a:stretch>
        </p:blipFill>
        <p:spPr>
          <a:xfrm>
            <a:off x="111023" y="4060685"/>
            <a:ext cx="5687797" cy="557201"/>
          </a:xfrm>
          <a:prstGeom prst="rect">
            <a:avLst/>
          </a:prstGeom>
        </p:spPr>
      </p:pic>
      <p:sp>
        <p:nvSpPr>
          <p:cNvPr id="11" name="文本框 10">
            <a:extLst>
              <a:ext uri="{FF2B5EF4-FFF2-40B4-BE49-F238E27FC236}">
                <a16:creationId xmlns:a16="http://schemas.microsoft.com/office/drawing/2014/main" id="{E36A4EDF-AFF3-4C65-B5A1-1B85B9BD7E6C}"/>
              </a:ext>
            </a:extLst>
          </p:cNvPr>
          <p:cNvSpPr txBox="1"/>
          <p:nvPr/>
        </p:nvSpPr>
        <p:spPr>
          <a:xfrm>
            <a:off x="434235" y="2328116"/>
            <a:ext cx="5181705" cy="769441"/>
          </a:xfrm>
          <a:prstGeom prst="rect">
            <a:avLst/>
          </a:prstGeom>
          <a:noFill/>
        </p:spPr>
        <p:txBody>
          <a:bodyPr wrap="square">
            <a:spAutoFit/>
          </a:bodyPr>
          <a:lstStyle/>
          <a:p>
            <a:r>
              <a:rPr lang="en-US" altLang="zh-CN" sz="4400" dirty="0">
                <a:solidFill>
                  <a:srgbClr val="333333"/>
                </a:solidFill>
                <a:latin typeface="Helvetica Neue"/>
              </a:rPr>
              <a:t>Cross Entropy Loss</a:t>
            </a:r>
            <a:endParaRPr lang="zh-CN" altLang="en-US" sz="4400" dirty="0"/>
          </a:p>
        </p:txBody>
      </p:sp>
    </p:spTree>
    <p:extLst>
      <p:ext uri="{BB962C8B-B14F-4D97-AF65-F5344CB8AC3E}">
        <p14:creationId xmlns:p14="http://schemas.microsoft.com/office/powerpoint/2010/main" val="3377547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2" name="图片 1">
            <a:extLst>
              <a:ext uri="{FF2B5EF4-FFF2-40B4-BE49-F238E27FC236}">
                <a16:creationId xmlns:a16="http://schemas.microsoft.com/office/drawing/2014/main" id="{8C645D80-17F3-4611-8D76-6E9789F50939}"/>
              </a:ext>
            </a:extLst>
          </p:cNvPr>
          <p:cNvPicPr>
            <a:picLocks noChangeAspect="1"/>
          </p:cNvPicPr>
          <p:nvPr/>
        </p:nvPicPr>
        <p:blipFill>
          <a:blip r:embed="rId3"/>
          <a:stretch>
            <a:fillRect/>
          </a:stretch>
        </p:blipFill>
        <p:spPr>
          <a:xfrm>
            <a:off x="0" y="1361564"/>
            <a:ext cx="12192000" cy="4470151"/>
          </a:xfrm>
          <a:prstGeom prst="rect">
            <a:avLst/>
          </a:prstGeom>
        </p:spPr>
      </p:pic>
    </p:spTree>
    <p:extLst>
      <p:ext uri="{BB962C8B-B14F-4D97-AF65-F5344CB8AC3E}">
        <p14:creationId xmlns:p14="http://schemas.microsoft.com/office/powerpoint/2010/main" val="1947108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sp>
        <p:nvSpPr>
          <p:cNvPr id="6" name="文本框 5">
            <a:extLst>
              <a:ext uri="{FF2B5EF4-FFF2-40B4-BE49-F238E27FC236}">
                <a16:creationId xmlns:a16="http://schemas.microsoft.com/office/drawing/2014/main" id="{B018813A-E36C-48AD-BBAC-D91981E1EC5F}"/>
              </a:ext>
            </a:extLst>
          </p:cNvPr>
          <p:cNvSpPr txBox="1"/>
          <p:nvPr/>
        </p:nvSpPr>
        <p:spPr>
          <a:xfrm>
            <a:off x="274215" y="2251647"/>
            <a:ext cx="6263745" cy="2554545"/>
          </a:xfrm>
          <a:prstGeom prst="rect">
            <a:avLst/>
          </a:prstGeom>
          <a:noFill/>
        </p:spPr>
        <p:txBody>
          <a:bodyPr wrap="square">
            <a:spAutoFit/>
          </a:bodyPr>
          <a:lstStyle/>
          <a:p>
            <a:r>
              <a:rPr lang="en-US" altLang="zh-CN" sz="3200" dirty="0"/>
              <a:t>1.Put the label in a sentence</a:t>
            </a:r>
          </a:p>
          <a:p>
            <a:endParaRPr lang="en-US" altLang="zh-CN" sz="3200" dirty="0"/>
          </a:p>
          <a:p>
            <a:r>
              <a:rPr lang="en-US" altLang="zh-CN" sz="3200" dirty="0"/>
              <a:t>2.Prompt engineering</a:t>
            </a:r>
          </a:p>
          <a:p>
            <a:endParaRPr lang="en-US" altLang="zh-CN" sz="3200" dirty="0"/>
          </a:p>
          <a:p>
            <a:r>
              <a:rPr lang="en-US" altLang="zh-CN" sz="3200" dirty="0"/>
              <a:t>3.Zero-shot</a:t>
            </a:r>
            <a:endParaRPr lang="zh-CN" altLang="en-US" sz="3200" dirty="0"/>
          </a:p>
        </p:txBody>
      </p:sp>
      <p:pic>
        <p:nvPicPr>
          <p:cNvPr id="3" name="图片 2">
            <a:extLst>
              <a:ext uri="{FF2B5EF4-FFF2-40B4-BE49-F238E27FC236}">
                <a16:creationId xmlns:a16="http://schemas.microsoft.com/office/drawing/2014/main" id="{7103323C-C4D7-4B13-8293-4FFD3D2FC646}"/>
              </a:ext>
            </a:extLst>
          </p:cNvPr>
          <p:cNvPicPr>
            <a:picLocks noChangeAspect="1"/>
          </p:cNvPicPr>
          <p:nvPr/>
        </p:nvPicPr>
        <p:blipFill>
          <a:blip r:embed="rId3"/>
          <a:stretch>
            <a:fillRect/>
          </a:stretch>
        </p:blipFill>
        <p:spPr>
          <a:xfrm>
            <a:off x="5554438" y="1251399"/>
            <a:ext cx="6205200" cy="4555042"/>
          </a:xfrm>
          <a:prstGeom prst="rect">
            <a:avLst/>
          </a:prstGeom>
        </p:spPr>
      </p:pic>
    </p:spTree>
    <p:extLst>
      <p:ext uri="{BB962C8B-B14F-4D97-AF65-F5344CB8AC3E}">
        <p14:creationId xmlns:p14="http://schemas.microsoft.com/office/powerpoint/2010/main" val="1660938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4" name="图片 3">
            <a:extLst>
              <a:ext uri="{FF2B5EF4-FFF2-40B4-BE49-F238E27FC236}">
                <a16:creationId xmlns:a16="http://schemas.microsoft.com/office/drawing/2014/main" id="{FDB65CC0-97AC-482B-B18D-A91417D22061}"/>
              </a:ext>
            </a:extLst>
          </p:cNvPr>
          <p:cNvPicPr>
            <a:picLocks noChangeAspect="1"/>
          </p:cNvPicPr>
          <p:nvPr/>
        </p:nvPicPr>
        <p:blipFill>
          <a:blip r:embed="rId3"/>
          <a:stretch>
            <a:fillRect/>
          </a:stretch>
        </p:blipFill>
        <p:spPr>
          <a:xfrm>
            <a:off x="434235" y="1573449"/>
            <a:ext cx="3403832" cy="3912952"/>
          </a:xfrm>
          <a:prstGeom prst="rect">
            <a:avLst/>
          </a:prstGeom>
        </p:spPr>
      </p:pic>
      <p:pic>
        <p:nvPicPr>
          <p:cNvPr id="6148" name="Picture 4" descr="Inductive Voltage Transformer - PPI Pazifik Power, Inc.">
            <a:extLst>
              <a:ext uri="{FF2B5EF4-FFF2-40B4-BE49-F238E27FC236}">
                <a16:creationId xmlns:a16="http://schemas.microsoft.com/office/drawing/2014/main" id="{BCC529EF-438A-4A0E-A14D-63F0E7F68C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4084" y="1727084"/>
            <a:ext cx="3403832" cy="3403832"/>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How Real Transformers Work | HowStuffWorks">
            <a:extLst>
              <a:ext uri="{FF2B5EF4-FFF2-40B4-BE49-F238E27FC236}">
                <a16:creationId xmlns:a16="http://schemas.microsoft.com/office/drawing/2014/main" id="{2F8FE1E9-A184-4C07-A683-414C685ACE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53400" y="1573450"/>
            <a:ext cx="3349358" cy="3912952"/>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DA55B2B1-73AC-459C-86C2-F9EDA4A354DB}"/>
              </a:ext>
            </a:extLst>
          </p:cNvPr>
          <p:cNvSpPr txBox="1"/>
          <p:nvPr/>
        </p:nvSpPr>
        <p:spPr>
          <a:xfrm>
            <a:off x="4241685" y="5943601"/>
            <a:ext cx="6710362" cy="584775"/>
          </a:xfrm>
          <a:prstGeom prst="rect">
            <a:avLst/>
          </a:prstGeom>
          <a:noFill/>
        </p:spPr>
        <p:txBody>
          <a:bodyPr wrap="square">
            <a:spAutoFit/>
          </a:bodyPr>
          <a:lstStyle/>
          <a:p>
            <a:r>
              <a:rPr lang="en-US" altLang="zh-CN" sz="3200" dirty="0"/>
              <a:t>Transformer = ?</a:t>
            </a:r>
            <a:endParaRPr lang="zh-CN" altLang="en-US" sz="3200" dirty="0"/>
          </a:p>
        </p:txBody>
      </p:sp>
      <p:sp>
        <p:nvSpPr>
          <p:cNvPr id="17" name="文本框 16">
            <a:extLst>
              <a:ext uri="{FF2B5EF4-FFF2-40B4-BE49-F238E27FC236}">
                <a16:creationId xmlns:a16="http://schemas.microsoft.com/office/drawing/2014/main" id="{F7E1F286-6197-49B5-AB24-6CD4B9856C99}"/>
              </a:ext>
            </a:extLst>
          </p:cNvPr>
          <p:cNvSpPr txBox="1"/>
          <p:nvPr/>
        </p:nvSpPr>
        <p:spPr>
          <a:xfrm>
            <a:off x="1546651" y="421267"/>
            <a:ext cx="6710362" cy="1077218"/>
          </a:xfrm>
          <a:prstGeom prst="rect">
            <a:avLst/>
          </a:prstGeom>
          <a:noFill/>
        </p:spPr>
        <p:txBody>
          <a:bodyPr wrap="square">
            <a:spAutoFit/>
          </a:bodyPr>
          <a:lstStyle/>
          <a:p>
            <a:endParaRPr lang="en-US" altLang="zh-CN" sz="3200" dirty="0"/>
          </a:p>
          <a:p>
            <a:r>
              <a:rPr lang="en-US" altLang="zh-CN" sz="3200" dirty="0"/>
              <a:t>2.Prompt engineering</a:t>
            </a:r>
          </a:p>
        </p:txBody>
      </p:sp>
    </p:spTree>
    <p:extLst>
      <p:ext uri="{BB962C8B-B14F-4D97-AF65-F5344CB8AC3E}">
        <p14:creationId xmlns:p14="http://schemas.microsoft.com/office/powerpoint/2010/main" val="2367898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7" name="图片 6">
            <a:extLst>
              <a:ext uri="{FF2B5EF4-FFF2-40B4-BE49-F238E27FC236}">
                <a16:creationId xmlns:a16="http://schemas.microsoft.com/office/drawing/2014/main" id="{981AA54E-2FF8-4888-B895-1F3131453488}"/>
              </a:ext>
            </a:extLst>
          </p:cNvPr>
          <p:cNvPicPr>
            <a:picLocks noChangeAspect="1"/>
          </p:cNvPicPr>
          <p:nvPr/>
        </p:nvPicPr>
        <p:blipFill>
          <a:blip r:embed="rId3"/>
          <a:stretch>
            <a:fillRect/>
          </a:stretch>
        </p:blipFill>
        <p:spPr>
          <a:xfrm>
            <a:off x="1149768" y="2127982"/>
            <a:ext cx="2476160" cy="1919671"/>
          </a:xfrm>
          <a:prstGeom prst="rect">
            <a:avLst/>
          </a:prstGeom>
        </p:spPr>
      </p:pic>
      <p:pic>
        <p:nvPicPr>
          <p:cNvPr id="8" name="图片 7">
            <a:extLst>
              <a:ext uri="{FF2B5EF4-FFF2-40B4-BE49-F238E27FC236}">
                <a16:creationId xmlns:a16="http://schemas.microsoft.com/office/drawing/2014/main" id="{E3F95C31-B407-4774-8CB6-94FA55F3AD14}"/>
              </a:ext>
            </a:extLst>
          </p:cNvPr>
          <p:cNvPicPr>
            <a:picLocks noChangeAspect="1"/>
          </p:cNvPicPr>
          <p:nvPr/>
        </p:nvPicPr>
        <p:blipFill>
          <a:blip r:embed="rId4"/>
          <a:stretch>
            <a:fillRect/>
          </a:stretch>
        </p:blipFill>
        <p:spPr>
          <a:xfrm>
            <a:off x="9106997" y="2101902"/>
            <a:ext cx="2489239" cy="1974825"/>
          </a:xfrm>
          <a:prstGeom prst="rect">
            <a:avLst/>
          </a:prstGeom>
        </p:spPr>
      </p:pic>
      <p:pic>
        <p:nvPicPr>
          <p:cNvPr id="9" name="图片 8">
            <a:extLst>
              <a:ext uri="{FF2B5EF4-FFF2-40B4-BE49-F238E27FC236}">
                <a16:creationId xmlns:a16="http://schemas.microsoft.com/office/drawing/2014/main" id="{D1B4551C-5133-4B8E-90E1-97A0CA9E944C}"/>
              </a:ext>
            </a:extLst>
          </p:cNvPr>
          <p:cNvPicPr>
            <a:picLocks noChangeAspect="1"/>
          </p:cNvPicPr>
          <p:nvPr/>
        </p:nvPicPr>
        <p:blipFill>
          <a:blip r:embed="rId5"/>
          <a:stretch>
            <a:fillRect/>
          </a:stretch>
        </p:blipFill>
        <p:spPr>
          <a:xfrm>
            <a:off x="4999556" y="2127982"/>
            <a:ext cx="2192888" cy="1754310"/>
          </a:xfrm>
          <a:prstGeom prst="rect">
            <a:avLst/>
          </a:prstGeom>
        </p:spPr>
      </p:pic>
      <p:sp>
        <p:nvSpPr>
          <p:cNvPr id="10" name="箭头: 右 9">
            <a:extLst>
              <a:ext uri="{FF2B5EF4-FFF2-40B4-BE49-F238E27FC236}">
                <a16:creationId xmlns:a16="http://schemas.microsoft.com/office/drawing/2014/main" id="{F9E18D23-F0FB-4EA7-BD86-63A309BF994C}"/>
              </a:ext>
            </a:extLst>
          </p:cNvPr>
          <p:cNvSpPr/>
          <p:nvPr/>
        </p:nvSpPr>
        <p:spPr>
          <a:xfrm>
            <a:off x="7618139" y="2845501"/>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0A60087D-814A-486A-869A-0FFFE5570C12}"/>
              </a:ext>
            </a:extLst>
          </p:cNvPr>
          <p:cNvSpPr txBox="1"/>
          <p:nvPr/>
        </p:nvSpPr>
        <p:spPr>
          <a:xfrm>
            <a:off x="1869666" y="4241188"/>
            <a:ext cx="1036364" cy="923330"/>
          </a:xfrm>
          <a:prstGeom prst="rect">
            <a:avLst/>
          </a:prstGeom>
          <a:noFill/>
        </p:spPr>
        <p:txBody>
          <a:bodyPr wrap="square">
            <a:spAutoFit/>
          </a:bodyPr>
          <a:lstStyle/>
          <a:p>
            <a:pPr algn="ctr"/>
            <a:r>
              <a:rPr lang="en-US" altLang="zh-CN" sz="1800" dirty="0">
                <a:cs typeface="+mn-ea"/>
                <a:sym typeface="+mn-lt"/>
              </a:rPr>
              <a:t>Horse</a:t>
            </a:r>
          </a:p>
          <a:p>
            <a:pPr algn="ctr"/>
            <a:endParaRPr lang="en-US" altLang="zh-CN" sz="1800" dirty="0">
              <a:cs typeface="+mn-ea"/>
              <a:sym typeface="+mn-lt"/>
            </a:endParaRPr>
          </a:p>
          <a:p>
            <a:r>
              <a:rPr lang="en-US" altLang="zh-CN" sz="1800" dirty="0">
                <a:cs typeface="+mn-ea"/>
                <a:sym typeface="+mn-lt"/>
              </a:rPr>
              <a:t>Learned</a:t>
            </a:r>
          </a:p>
        </p:txBody>
      </p:sp>
      <p:sp>
        <p:nvSpPr>
          <p:cNvPr id="12" name="文本框 11">
            <a:extLst>
              <a:ext uri="{FF2B5EF4-FFF2-40B4-BE49-F238E27FC236}">
                <a16:creationId xmlns:a16="http://schemas.microsoft.com/office/drawing/2014/main" id="{08DDE8D8-F099-46C8-AA2F-31C24DE6BB55}"/>
              </a:ext>
            </a:extLst>
          </p:cNvPr>
          <p:cNvSpPr txBox="1"/>
          <p:nvPr/>
        </p:nvSpPr>
        <p:spPr>
          <a:xfrm>
            <a:off x="4770120" y="4241188"/>
            <a:ext cx="2422324" cy="923330"/>
          </a:xfrm>
          <a:prstGeom prst="rect">
            <a:avLst/>
          </a:prstGeom>
          <a:noFill/>
        </p:spPr>
        <p:txBody>
          <a:bodyPr wrap="square">
            <a:spAutoFit/>
          </a:bodyPr>
          <a:lstStyle/>
          <a:p>
            <a:pPr algn="ctr"/>
            <a:r>
              <a:rPr lang="en-US" altLang="zh-CN" dirty="0">
                <a:cs typeface="+mn-ea"/>
                <a:sym typeface="+mn-lt"/>
              </a:rPr>
              <a:t>P</a:t>
            </a:r>
            <a:r>
              <a:rPr lang="en-US" altLang="zh-CN" sz="1800" dirty="0">
                <a:cs typeface="+mn-ea"/>
                <a:sym typeface="+mn-lt"/>
              </a:rPr>
              <a:t>edestrian crossing</a:t>
            </a:r>
          </a:p>
          <a:p>
            <a:pPr algn="ctr"/>
            <a:endParaRPr lang="en-US" altLang="zh-CN" sz="1800" dirty="0">
              <a:cs typeface="+mn-ea"/>
              <a:sym typeface="+mn-lt"/>
            </a:endParaRPr>
          </a:p>
          <a:p>
            <a:pPr algn="ctr"/>
            <a:r>
              <a:rPr lang="en-US" altLang="zh-CN" sz="1800" dirty="0">
                <a:cs typeface="+mn-ea"/>
                <a:sym typeface="+mn-lt"/>
              </a:rPr>
              <a:t>Learned</a:t>
            </a:r>
          </a:p>
        </p:txBody>
      </p:sp>
      <p:sp>
        <p:nvSpPr>
          <p:cNvPr id="13" name="文本框 12">
            <a:extLst>
              <a:ext uri="{FF2B5EF4-FFF2-40B4-BE49-F238E27FC236}">
                <a16:creationId xmlns:a16="http://schemas.microsoft.com/office/drawing/2014/main" id="{7C0EA232-BB13-4434-B5FF-D0F80F165E7A}"/>
              </a:ext>
            </a:extLst>
          </p:cNvPr>
          <p:cNvSpPr txBox="1"/>
          <p:nvPr/>
        </p:nvSpPr>
        <p:spPr>
          <a:xfrm>
            <a:off x="8729258" y="4284789"/>
            <a:ext cx="3244715" cy="1200329"/>
          </a:xfrm>
          <a:prstGeom prst="rect">
            <a:avLst/>
          </a:prstGeom>
          <a:noFill/>
        </p:spPr>
        <p:txBody>
          <a:bodyPr wrap="square">
            <a:spAutoFit/>
          </a:bodyPr>
          <a:lstStyle/>
          <a:p>
            <a:pPr algn="ctr"/>
            <a:r>
              <a:rPr lang="en-US" altLang="zh-CN" dirty="0">
                <a:cs typeface="+mn-ea"/>
                <a:sym typeface="+mn-lt"/>
              </a:rPr>
              <a:t>A</a:t>
            </a:r>
            <a:r>
              <a:rPr lang="zh-CN" altLang="en-US" dirty="0">
                <a:cs typeface="+mn-ea"/>
                <a:sym typeface="+mn-lt"/>
              </a:rPr>
              <a:t> </a:t>
            </a:r>
            <a:r>
              <a:rPr lang="en-US" altLang="zh-CN" dirty="0">
                <a:cs typeface="+mn-ea"/>
                <a:sym typeface="+mn-lt"/>
              </a:rPr>
              <a:t>horse with skin like pedestrian crossing</a:t>
            </a:r>
          </a:p>
          <a:p>
            <a:pPr algn="ctr"/>
            <a:endParaRPr lang="en-US" altLang="zh-CN" dirty="0">
              <a:cs typeface="+mn-ea"/>
              <a:sym typeface="+mn-lt"/>
            </a:endParaRPr>
          </a:p>
          <a:p>
            <a:pPr algn="ctr"/>
            <a:r>
              <a:rPr lang="en-US" altLang="zh-CN" dirty="0">
                <a:cs typeface="+mn-ea"/>
                <a:sym typeface="+mn-lt"/>
              </a:rPr>
              <a:t>Unlearned, but recognizable</a:t>
            </a:r>
            <a:endParaRPr lang="en-US" altLang="zh-CN" sz="1800" dirty="0">
              <a:cs typeface="+mn-ea"/>
              <a:sym typeface="+mn-lt"/>
            </a:endParaRPr>
          </a:p>
        </p:txBody>
      </p:sp>
      <p:sp>
        <p:nvSpPr>
          <p:cNvPr id="14" name="文本框 13">
            <a:extLst>
              <a:ext uri="{FF2B5EF4-FFF2-40B4-BE49-F238E27FC236}">
                <a16:creationId xmlns:a16="http://schemas.microsoft.com/office/drawing/2014/main" id="{9D362F97-D4EE-4D19-AE9D-E007712CC3CC}"/>
              </a:ext>
            </a:extLst>
          </p:cNvPr>
          <p:cNvSpPr txBox="1"/>
          <p:nvPr/>
        </p:nvSpPr>
        <p:spPr>
          <a:xfrm>
            <a:off x="3963192" y="2579985"/>
            <a:ext cx="1036364" cy="1015663"/>
          </a:xfrm>
          <a:prstGeom prst="rect">
            <a:avLst/>
          </a:prstGeom>
          <a:noFill/>
        </p:spPr>
        <p:txBody>
          <a:bodyPr wrap="square">
            <a:spAutoFit/>
          </a:bodyPr>
          <a:lstStyle/>
          <a:p>
            <a:r>
              <a:rPr lang="en-US" altLang="zh-CN" sz="6000" b="1" dirty="0">
                <a:cs typeface="+mn-ea"/>
                <a:sym typeface="+mn-lt"/>
              </a:rPr>
              <a:t>+</a:t>
            </a:r>
          </a:p>
        </p:txBody>
      </p:sp>
      <p:sp>
        <p:nvSpPr>
          <p:cNvPr id="15" name="文本框 14">
            <a:extLst>
              <a:ext uri="{FF2B5EF4-FFF2-40B4-BE49-F238E27FC236}">
                <a16:creationId xmlns:a16="http://schemas.microsoft.com/office/drawing/2014/main" id="{3FE7EB7A-8A21-46A1-8FC8-C0D36D927CD5}"/>
              </a:ext>
            </a:extLst>
          </p:cNvPr>
          <p:cNvSpPr txBox="1"/>
          <p:nvPr/>
        </p:nvSpPr>
        <p:spPr>
          <a:xfrm>
            <a:off x="1643581" y="1110592"/>
            <a:ext cx="6711950" cy="584775"/>
          </a:xfrm>
          <a:prstGeom prst="rect">
            <a:avLst/>
          </a:prstGeom>
          <a:noFill/>
        </p:spPr>
        <p:txBody>
          <a:bodyPr wrap="square">
            <a:spAutoFit/>
          </a:bodyPr>
          <a:lstStyle/>
          <a:p>
            <a:r>
              <a:rPr lang="en-US" altLang="zh-CN" sz="3200" dirty="0"/>
              <a:t>3.Zero-shot</a:t>
            </a:r>
            <a:endParaRPr lang="zh-CN" altLang="en-US" sz="3200" dirty="0"/>
          </a:p>
        </p:txBody>
      </p:sp>
    </p:spTree>
    <p:extLst>
      <p:ext uri="{BB962C8B-B14F-4D97-AF65-F5344CB8AC3E}">
        <p14:creationId xmlns:p14="http://schemas.microsoft.com/office/powerpoint/2010/main" val="863765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8" name="图片 7">
            <a:extLst>
              <a:ext uri="{FF2B5EF4-FFF2-40B4-BE49-F238E27FC236}">
                <a16:creationId xmlns:a16="http://schemas.microsoft.com/office/drawing/2014/main" id="{E3F95C31-B407-4774-8CB6-94FA55F3AD14}"/>
              </a:ext>
            </a:extLst>
          </p:cNvPr>
          <p:cNvPicPr>
            <a:picLocks noChangeAspect="1"/>
          </p:cNvPicPr>
          <p:nvPr/>
        </p:nvPicPr>
        <p:blipFill>
          <a:blip r:embed="rId3"/>
          <a:stretch>
            <a:fillRect/>
          </a:stretch>
        </p:blipFill>
        <p:spPr>
          <a:xfrm>
            <a:off x="9106997" y="2101902"/>
            <a:ext cx="2489239" cy="1974825"/>
          </a:xfrm>
          <a:prstGeom prst="rect">
            <a:avLst/>
          </a:prstGeom>
        </p:spPr>
      </p:pic>
      <p:sp>
        <p:nvSpPr>
          <p:cNvPr id="13" name="文本框 12">
            <a:extLst>
              <a:ext uri="{FF2B5EF4-FFF2-40B4-BE49-F238E27FC236}">
                <a16:creationId xmlns:a16="http://schemas.microsoft.com/office/drawing/2014/main" id="{7C0EA232-BB13-4434-B5FF-D0F80F165E7A}"/>
              </a:ext>
            </a:extLst>
          </p:cNvPr>
          <p:cNvSpPr txBox="1"/>
          <p:nvPr/>
        </p:nvSpPr>
        <p:spPr>
          <a:xfrm>
            <a:off x="8729258" y="4661528"/>
            <a:ext cx="3244715" cy="646331"/>
          </a:xfrm>
          <a:prstGeom prst="rect">
            <a:avLst/>
          </a:prstGeom>
          <a:noFill/>
        </p:spPr>
        <p:txBody>
          <a:bodyPr wrap="square">
            <a:spAutoFit/>
          </a:bodyPr>
          <a:lstStyle/>
          <a:p>
            <a:pPr algn="ctr"/>
            <a:r>
              <a:rPr lang="en-US" altLang="zh-CN" dirty="0">
                <a:cs typeface="+mn-ea"/>
                <a:sym typeface="+mn-lt"/>
              </a:rPr>
              <a:t>A</a:t>
            </a:r>
            <a:r>
              <a:rPr lang="zh-CN" altLang="en-US" dirty="0">
                <a:cs typeface="+mn-ea"/>
                <a:sym typeface="+mn-lt"/>
              </a:rPr>
              <a:t> </a:t>
            </a:r>
            <a:r>
              <a:rPr lang="en-US" altLang="zh-CN" dirty="0">
                <a:cs typeface="+mn-ea"/>
                <a:sym typeface="+mn-lt"/>
              </a:rPr>
              <a:t>horse with skin like pedestrian crossing</a:t>
            </a:r>
          </a:p>
        </p:txBody>
      </p:sp>
      <p:sp>
        <p:nvSpPr>
          <p:cNvPr id="15" name="文本框 14">
            <a:extLst>
              <a:ext uri="{FF2B5EF4-FFF2-40B4-BE49-F238E27FC236}">
                <a16:creationId xmlns:a16="http://schemas.microsoft.com/office/drawing/2014/main" id="{3FE7EB7A-8A21-46A1-8FC8-C0D36D927CD5}"/>
              </a:ext>
            </a:extLst>
          </p:cNvPr>
          <p:cNvSpPr txBox="1"/>
          <p:nvPr/>
        </p:nvSpPr>
        <p:spPr>
          <a:xfrm>
            <a:off x="1643581" y="1110592"/>
            <a:ext cx="6711950" cy="584775"/>
          </a:xfrm>
          <a:prstGeom prst="rect">
            <a:avLst/>
          </a:prstGeom>
          <a:noFill/>
        </p:spPr>
        <p:txBody>
          <a:bodyPr wrap="square">
            <a:spAutoFit/>
          </a:bodyPr>
          <a:lstStyle/>
          <a:p>
            <a:r>
              <a:rPr lang="en-US" altLang="zh-CN" sz="3200" dirty="0"/>
              <a:t>3.Zero-shot</a:t>
            </a:r>
            <a:endParaRPr lang="zh-CN" altLang="en-US" sz="3200" dirty="0"/>
          </a:p>
        </p:txBody>
      </p:sp>
      <p:cxnSp>
        <p:nvCxnSpPr>
          <p:cNvPr id="18" name="连接符: 肘形 17">
            <a:extLst>
              <a:ext uri="{FF2B5EF4-FFF2-40B4-BE49-F238E27FC236}">
                <a16:creationId xmlns:a16="http://schemas.microsoft.com/office/drawing/2014/main" id="{A6B1ED74-1E0C-4C9C-B68E-F8E24C8835B4}"/>
              </a:ext>
            </a:extLst>
          </p:cNvPr>
          <p:cNvCxnSpPr>
            <a:cxnSpLocks/>
            <a:stCxn id="13" idx="1"/>
          </p:cNvCxnSpPr>
          <p:nvPr/>
        </p:nvCxnSpPr>
        <p:spPr>
          <a:xfrm rot="10800000">
            <a:off x="4643142" y="4416412"/>
            <a:ext cx="4086117" cy="568282"/>
          </a:xfrm>
          <a:prstGeom prst="bentConnector2">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20" name="图片 19">
            <a:extLst>
              <a:ext uri="{FF2B5EF4-FFF2-40B4-BE49-F238E27FC236}">
                <a16:creationId xmlns:a16="http://schemas.microsoft.com/office/drawing/2014/main" id="{EB25058A-767C-4E58-81DA-45C79A82220E}"/>
              </a:ext>
            </a:extLst>
          </p:cNvPr>
          <p:cNvPicPr>
            <a:picLocks noChangeAspect="1"/>
          </p:cNvPicPr>
          <p:nvPr/>
        </p:nvPicPr>
        <p:blipFill>
          <a:blip r:embed="rId4"/>
          <a:stretch>
            <a:fillRect/>
          </a:stretch>
        </p:blipFill>
        <p:spPr>
          <a:xfrm>
            <a:off x="2651862" y="2779294"/>
            <a:ext cx="3719720" cy="1458300"/>
          </a:xfrm>
          <a:prstGeom prst="rect">
            <a:avLst/>
          </a:prstGeom>
        </p:spPr>
      </p:pic>
    </p:spTree>
    <p:extLst>
      <p:ext uri="{BB962C8B-B14F-4D97-AF65-F5344CB8AC3E}">
        <p14:creationId xmlns:p14="http://schemas.microsoft.com/office/powerpoint/2010/main" val="99491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2" name="图片 1">
            <a:extLst>
              <a:ext uri="{FF2B5EF4-FFF2-40B4-BE49-F238E27FC236}">
                <a16:creationId xmlns:a16="http://schemas.microsoft.com/office/drawing/2014/main" id="{EBEAAD1E-E902-4055-AC6A-09AAC217F4D4}"/>
              </a:ext>
            </a:extLst>
          </p:cNvPr>
          <p:cNvPicPr>
            <a:picLocks noChangeAspect="1"/>
          </p:cNvPicPr>
          <p:nvPr/>
        </p:nvPicPr>
        <p:blipFill>
          <a:blip r:embed="rId3"/>
          <a:stretch>
            <a:fillRect/>
          </a:stretch>
        </p:blipFill>
        <p:spPr>
          <a:xfrm>
            <a:off x="3711192" y="1106723"/>
            <a:ext cx="4769616" cy="5066392"/>
          </a:xfrm>
          <a:prstGeom prst="rect">
            <a:avLst/>
          </a:prstGeom>
        </p:spPr>
      </p:pic>
      <p:sp>
        <p:nvSpPr>
          <p:cNvPr id="6" name="文本框 5">
            <a:extLst>
              <a:ext uri="{FF2B5EF4-FFF2-40B4-BE49-F238E27FC236}">
                <a16:creationId xmlns:a16="http://schemas.microsoft.com/office/drawing/2014/main" id="{D5AA6958-F730-4A1E-B2C7-E25F0B07C85A}"/>
              </a:ext>
            </a:extLst>
          </p:cNvPr>
          <p:cNvSpPr txBox="1"/>
          <p:nvPr/>
        </p:nvSpPr>
        <p:spPr>
          <a:xfrm>
            <a:off x="0" y="6593882"/>
            <a:ext cx="12123420" cy="253916"/>
          </a:xfrm>
          <a:prstGeom prst="rect">
            <a:avLst/>
          </a:prstGeom>
          <a:noFill/>
        </p:spPr>
        <p:txBody>
          <a:bodyPr wrap="square">
            <a:spAutoFit/>
          </a:bodyPr>
          <a:lstStyle/>
          <a:p>
            <a:r>
              <a:rPr lang="en-US" altLang="zh-CN" sz="1050" i="1" dirty="0">
                <a:latin typeface="Arial" panose="020B0604020202020204" pitchFamily="34" charset="0"/>
                <a:cs typeface="Arial" panose="020B0604020202020204" pitchFamily="34" charset="0"/>
              </a:rPr>
              <a:t>A. Radford et al., “Learning Transferable Visual Models From Natural Language Supervision,” in Proceedings of the International Conference on Machine Learning, Feb. 2021, pp. 8748--8763.</a:t>
            </a:r>
          </a:p>
        </p:txBody>
      </p:sp>
    </p:spTree>
    <p:extLst>
      <p:ext uri="{BB962C8B-B14F-4D97-AF65-F5344CB8AC3E}">
        <p14:creationId xmlns:p14="http://schemas.microsoft.com/office/powerpoint/2010/main" val="3734968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2" name="图片 1">
            <a:extLst>
              <a:ext uri="{FF2B5EF4-FFF2-40B4-BE49-F238E27FC236}">
                <a16:creationId xmlns:a16="http://schemas.microsoft.com/office/drawing/2014/main" id="{EBEAAD1E-E902-4055-AC6A-09AAC217F4D4}"/>
              </a:ext>
            </a:extLst>
          </p:cNvPr>
          <p:cNvPicPr>
            <a:picLocks noChangeAspect="1"/>
          </p:cNvPicPr>
          <p:nvPr/>
        </p:nvPicPr>
        <p:blipFill>
          <a:blip r:embed="rId3"/>
          <a:stretch>
            <a:fillRect/>
          </a:stretch>
        </p:blipFill>
        <p:spPr>
          <a:xfrm>
            <a:off x="3711192" y="1106723"/>
            <a:ext cx="4769616" cy="5066392"/>
          </a:xfrm>
          <a:prstGeom prst="rect">
            <a:avLst/>
          </a:prstGeom>
        </p:spPr>
      </p:pic>
      <p:pic>
        <p:nvPicPr>
          <p:cNvPr id="3" name="图片 2">
            <a:extLst>
              <a:ext uri="{FF2B5EF4-FFF2-40B4-BE49-F238E27FC236}">
                <a16:creationId xmlns:a16="http://schemas.microsoft.com/office/drawing/2014/main" id="{F9417B8B-19A6-401A-9907-1EDE2916622E}"/>
              </a:ext>
            </a:extLst>
          </p:cNvPr>
          <p:cNvPicPr>
            <a:picLocks noChangeAspect="1"/>
          </p:cNvPicPr>
          <p:nvPr/>
        </p:nvPicPr>
        <p:blipFill>
          <a:blip r:embed="rId4"/>
          <a:stretch>
            <a:fillRect/>
          </a:stretch>
        </p:blipFill>
        <p:spPr>
          <a:xfrm>
            <a:off x="8745717" y="1708249"/>
            <a:ext cx="3072903" cy="3069183"/>
          </a:xfrm>
          <a:prstGeom prst="rect">
            <a:avLst/>
          </a:prstGeom>
        </p:spPr>
      </p:pic>
      <p:pic>
        <p:nvPicPr>
          <p:cNvPr id="4" name="图片 3">
            <a:extLst>
              <a:ext uri="{FF2B5EF4-FFF2-40B4-BE49-F238E27FC236}">
                <a16:creationId xmlns:a16="http://schemas.microsoft.com/office/drawing/2014/main" id="{271A8FA1-C7C6-4967-872F-4B66E9B88E45}"/>
              </a:ext>
            </a:extLst>
          </p:cNvPr>
          <p:cNvPicPr>
            <a:picLocks noChangeAspect="1"/>
          </p:cNvPicPr>
          <p:nvPr/>
        </p:nvPicPr>
        <p:blipFill>
          <a:blip r:embed="rId5"/>
          <a:stretch>
            <a:fillRect/>
          </a:stretch>
        </p:blipFill>
        <p:spPr>
          <a:xfrm>
            <a:off x="0" y="2324342"/>
            <a:ext cx="3772371" cy="2209316"/>
          </a:xfrm>
          <a:prstGeom prst="rect">
            <a:avLst/>
          </a:prstGeom>
        </p:spPr>
      </p:pic>
      <p:sp>
        <p:nvSpPr>
          <p:cNvPr id="8" name="矩形 7">
            <a:extLst>
              <a:ext uri="{FF2B5EF4-FFF2-40B4-BE49-F238E27FC236}">
                <a16:creationId xmlns:a16="http://schemas.microsoft.com/office/drawing/2014/main" id="{6AF56F3C-F02F-4D04-8CE9-2C1EA6F35B2D}"/>
              </a:ext>
            </a:extLst>
          </p:cNvPr>
          <p:cNvSpPr/>
          <p:nvPr/>
        </p:nvSpPr>
        <p:spPr>
          <a:xfrm>
            <a:off x="796304" y="5201156"/>
            <a:ext cx="1672702" cy="400110"/>
          </a:xfrm>
          <a:prstGeom prst="rect">
            <a:avLst/>
          </a:prstGeom>
        </p:spPr>
        <p:txBody>
          <a:bodyPr wrap="none">
            <a:spAutoFit/>
          </a:bodyPr>
          <a:lstStyle/>
          <a:p>
            <a:r>
              <a:rPr lang="en-US" altLang="zh-CN" sz="2000" b="1" dirty="0" err="1">
                <a:cs typeface="+mn-ea"/>
                <a:sym typeface="+mn-lt"/>
              </a:rPr>
              <a:t>StanfordCars</a:t>
            </a:r>
            <a:endParaRPr lang="zh-CN" altLang="en-US" sz="2000" b="1" dirty="0">
              <a:cs typeface="+mn-ea"/>
              <a:sym typeface="+mn-lt"/>
            </a:endParaRPr>
          </a:p>
        </p:txBody>
      </p:sp>
      <p:sp>
        <p:nvSpPr>
          <p:cNvPr id="10" name="文本框 9">
            <a:extLst>
              <a:ext uri="{FF2B5EF4-FFF2-40B4-BE49-F238E27FC236}">
                <a16:creationId xmlns:a16="http://schemas.microsoft.com/office/drawing/2014/main" id="{8757988E-A734-48FB-97A5-FBD29492A645}"/>
              </a:ext>
            </a:extLst>
          </p:cNvPr>
          <p:cNvSpPr txBox="1"/>
          <p:nvPr/>
        </p:nvSpPr>
        <p:spPr>
          <a:xfrm>
            <a:off x="10014585" y="5149751"/>
            <a:ext cx="1110615" cy="369332"/>
          </a:xfrm>
          <a:prstGeom prst="rect">
            <a:avLst/>
          </a:prstGeom>
          <a:noFill/>
        </p:spPr>
        <p:txBody>
          <a:bodyPr wrap="square">
            <a:spAutoFit/>
          </a:bodyPr>
          <a:lstStyle/>
          <a:p>
            <a:r>
              <a:rPr lang="en-US" altLang="zh-CN" sz="1800" b="1" dirty="0" err="1">
                <a:cs typeface="+mn-ea"/>
                <a:sym typeface="+mn-lt"/>
              </a:rPr>
              <a:t>EuroSAT</a:t>
            </a:r>
            <a:endParaRPr lang="zh-CN" altLang="en-US" sz="1800" b="1" dirty="0">
              <a:cs typeface="+mn-ea"/>
              <a:sym typeface="+mn-lt"/>
            </a:endParaRPr>
          </a:p>
        </p:txBody>
      </p:sp>
    </p:spTree>
    <p:extLst>
      <p:ext uri="{BB962C8B-B14F-4D97-AF65-F5344CB8AC3E}">
        <p14:creationId xmlns:p14="http://schemas.microsoft.com/office/powerpoint/2010/main" val="2129774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sp>
        <p:nvSpPr>
          <p:cNvPr id="7" name="文本框 6">
            <a:extLst>
              <a:ext uri="{FF2B5EF4-FFF2-40B4-BE49-F238E27FC236}">
                <a16:creationId xmlns:a16="http://schemas.microsoft.com/office/drawing/2014/main" id="{ECF2EC02-674A-4EA9-ABEB-F33AE39EA726}"/>
              </a:ext>
            </a:extLst>
          </p:cNvPr>
          <p:cNvSpPr txBox="1"/>
          <p:nvPr/>
        </p:nvSpPr>
        <p:spPr>
          <a:xfrm>
            <a:off x="3217545" y="1302682"/>
            <a:ext cx="6709410" cy="5078313"/>
          </a:xfrm>
          <a:prstGeom prst="rect">
            <a:avLst/>
          </a:prstGeom>
          <a:noFill/>
        </p:spPr>
        <p:txBody>
          <a:bodyPr wrap="square">
            <a:spAutoFit/>
          </a:bodyPr>
          <a:lstStyle/>
          <a:p>
            <a:r>
              <a:rPr lang="en-US" altLang="zh-CN" sz="3600" b="1" dirty="0">
                <a:cs typeface="+mn-ea"/>
              </a:rPr>
              <a:t>Other applications:</a:t>
            </a:r>
          </a:p>
          <a:p>
            <a:endParaRPr lang="en-US" altLang="zh-CN" sz="3600" b="1" dirty="0">
              <a:cs typeface="+mn-ea"/>
            </a:endParaRPr>
          </a:p>
          <a:p>
            <a:r>
              <a:rPr lang="en-US" altLang="zh-CN" sz="3600" b="1" dirty="0">
                <a:cs typeface="+mn-ea"/>
              </a:rPr>
              <a:t>	· Text-image search</a:t>
            </a:r>
          </a:p>
          <a:p>
            <a:endParaRPr lang="en-US" altLang="zh-CN" sz="3600" b="1" dirty="0">
              <a:cs typeface="+mn-ea"/>
            </a:endParaRPr>
          </a:p>
          <a:p>
            <a:r>
              <a:rPr lang="en-US" altLang="zh-CN" sz="3600" b="1" dirty="0">
                <a:cs typeface="+mn-ea"/>
              </a:rPr>
              <a:t>	· Event detection</a:t>
            </a:r>
          </a:p>
          <a:p>
            <a:endParaRPr lang="en-US" altLang="zh-CN" sz="3600" b="1" dirty="0">
              <a:cs typeface="+mn-ea"/>
            </a:endParaRPr>
          </a:p>
          <a:p>
            <a:r>
              <a:rPr lang="en-US" altLang="zh-CN" sz="3600" b="1" dirty="0">
                <a:cs typeface="+mn-ea"/>
              </a:rPr>
              <a:t>	· DALL-E</a:t>
            </a:r>
          </a:p>
          <a:p>
            <a:endParaRPr lang="en-US" altLang="zh-CN" sz="3600" b="1" dirty="0">
              <a:cs typeface="+mn-ea"/>
            </a:endParaRPr>
          </a:p>
          <a:p>
            <a:r>
              <a:rPr lang="en-US" altLang="zh-CN" sz="3600" b="1" dirty="0">
                <a:cs typeface="+mn-ea"/>
              </a:rPr>
              <a:t>	  ···</a:t>
            </a:r>
            <a:endParaRPr lang="zh-CN" altLang="en-US" sz="3600" b="1" dirty="0">
              <a:cs typeface="+mn-ea"/>
            </a:endParaRPr>
          </a:p>
        </p:txBody>
      </p:sp>
    </p:spTree>
    <p:extLst>
      <p:ext uri="{BB962C8B-B14F-4D97-AF65-F5344CB8AC3E}">
        <p14:creationId xmlns:p14="http://schemas.microsoft.com/office/powerpoint/2010/main" val="40506196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1615440" y="2057400"/>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3276495" y="3718455"/>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MH_Others_1"/>
          <p:cNvSpPr txBox="1"/>
          <p:nvPr>
            <p:custDataLst>
              <p:tags r:id="rId1"/>
            </p:custDataLst>
          </p:nvPr>
        </p:nvSpPr>
        <p:spPr>
          <a:xfrm>
            <a:off x="864526" y="2860251"/>
            <a:ext cx="3955467" cy="847938"/>
          </a:xfrm>
          <a:prstGeom prst="rect">
            <a:avLst/>
          </a:prstGeom>
          <a:noFill/>
        </p:spPr>
        <p:txBody>
          <a:bodyPr wrap="square" rtlCol="0">
            <a:noAutofit/>
          </a:bodyPr>
          <a:lstStyle/>
          <a:p>
            <a:pPr algn="ctr"/>
            <a:r>
              <a:rPr lang="en-US" altLang="zh-CN" sz="4400" dirty="0">
                <a:solidFill>
                  <a:schemeClr val="bg1"/>
                </a:solidFill>
                <a:effectLst>
                  <a:outerShdw blurRad="38100" dist="38100" dir="2700000" algn="tl">
                    <a:srgbClr val="000000">
                      <a:alpha val="43137"/>
                    </a:srgbClr>
                  </a:outerShdw>
                </a:effectLst>
                <a:cs typeface="+mn-ea"/>
                <a:sym typeface="+mn-lt"/>
              </a:rPr>
              <a:t>PART 3</a:t>
            </a:r>
            <a:endParaRPr lang="zh-CN" altLang="en-US" sz="4400" dirty="0">
              <a:solidFill>
                <a:schemeClr val="bg1"/>
              </a:solidFill>
              <a:effectLst>
                <a:outerShdw blurRad="38100" dist="38100" dir="2700000" algn="tl">
                  <a:srgbClr val="000000">
                    <a:alpha val="43137"/>
                  </a:srgbClr>
                </a:outerShdw>
              </a:effectLst>
              <a:cs typeface="+mn-ea"/>
              <a:sym typeface="+mn-lt"/>
            </a:endParaRPr>
          </a:p>
        </p:txBody>
      </p:sp>
      <p:sp>
        <p:nvSpPr>
          <p:cNvPr id="2" name="矩形 1"/>
          <p:cNvSpPr/>
          <p:nvPr/>
        </p:nvSpPr>
        <p:spPr>
          <a:xfrm>
            <a:off x="4931401" y="3040204"/>
            <a:ext cx="5184954" cy="830997"/>
          </a:xfrm>
          <a:prstGeom prst="rect">
            <a:avLst/>
          </a:prstGeom>
        </p:spPr>
        <p:txBody>
          <a:bodyPr wrap="square">
            <a:spAutoFit/>
          </a:bodyPr>
          <a:lstStyle/>
          <a:p>
            <a:r>
              <a:rPr lang="en-US" altLang="zh-CN" sz="4800" b="1" dirty="0">
                <a:cs typeface="+mn-ea"/>
                <a:sym typeface="+mn-lt"/>
              </a:rPr>
              <a:t>Encoder Details</a:t>
            </a:r>
            <a:endParaRPr lang="zh-CN" altLang="en-US" sz="4800" b="1" dirty="0">
              <a:cs typeface="+mn-ea"/>
              <a:sym typeface="+mn-lt"/>
            </a:endParaRPr>
          </a:p>
        </p:txBody>
      </p:sp>
    </p:spTree>
    <p:extLst>
      <p:ext uri="{BB962C8B-B14F-4D97-AF65-F5344CB8AC3E}">
        <p14:creationId xmlns:p14="http://schemas.microsoft.com/office/powerpoint/2010/main" val="3943463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sp>
        <p:nvSpPr>
          <p:cNvPr id="7" name="文本框 6">
            <a:extLst>
              <a:ext uri="{FF2B5EF4-FFF2-40B4-BE49-F238E27FC236}">
                <a16:creationId xmlns:a16="http://schemas.microsoft.com/office/drawing/2014/main" id="{52AAEAB1-6F16-4650-B43A-C85A7875605C}"/>
              </a:ext>
            </a:extLst>
          </p:cNvPr>
          <p:cNvSpPr txBox="1"/>
          <p:nvPr/>
        </p:nvSpPr>
        <p:spPr>
          <a:xfrm>
            <a:off x="0" y="6593882"/>
            <a:ext cx="12123420" cy="253916"/>
          </a:xfrm>
          <a:prstGeom prst="rect">
            <a:avLst/>
          </a:prstGeom>
          <a:noFill/>
        </p:spPr>
        <p:txBody>
          <a:bodyPr wrap="square">
            <a:spAutoFit/>
          </a:bodyPr>
          <a:lstStyle/>
          <a:p>
            <a:r>
              <a:rPr lang="en-US" altLang="zh-CN" sz="1050" i="1" dirty="0">
                <a:latin typeface="Arial" panose="020B0604020202020204" pitchFamily="34" charset="0"/>
                <a:cs typeface="Arial" panose="020B0604020202020204" pitchFamily="34" charset="0"/>
              </a:rPr>
              <a:t>A. Radford et al., “Learning Transferable Visual Models From Natural Language Supervision,” in Proceedings of the International Conference on Machine Learning, Feb. 2021, pp. 8748--8763.</a:t>
            </a:r>
          </a:p>
        </p:txBody>
      </p:sp>
      <p:pic>
        <p:nvPicPr>
          <p:cNvPr id="8" name="图片 7">
            <a:extLst>
              <a:ext uri="{FF2B5EF4-FFF2-40B4-BE49-F238E27FC236}">
                <a16:creationId xmlns:a16="http://schemas.microsoft.com/office/drawing/2014/main" id="{4A157107-EE30-4B77-8FAF-188F5EE4DDF9}"/>
              </a:ext>
            </a:extLst>
          </p:cNvPr>
          <p:cNvPicPr>
            <a:picLocks noChangeAspect="1"/>
          </p:cNvPicPr>
          <p:nvPr/>
        </p:nvPicPr>
        <p:blipFill>
          <a:blip r:embed="rId3"/>
          <a:stretch>
            <a:fillRect/>
          </a:stretch>
        </p:blipFill>
        <p:spPr>
          <a:xfrm>
            <a:off x="6799949" y="1777470"/>
            <a:ext cx="4988295" cy="3303060"/>
          </a:xfrm>
          <a:prstGeom prst="rect">
            <a:avLst/>
          </a:prstGeom>
        </p:spPr>
      </p:pic>
    </p:spTree>
    <p:extLst>
      <p:ext uri="{BB962C8B-B14F-4D97-AF65-F5344CB8AC3E}">
        <p14:creationId xmlns:p14="http://schemas.microsoft.com/office/powerpoint/2010/main" val="741916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pic>
        <p:nvPicPr>
          <p:cNvPr id="2" name="图片 1">
            <a:extLst>
              <a:ext uri="{FF2B5EF4-FFF2-40B4-BE49-F238E27FC236}">
                <a16:creationId xmlns:a16="http://schemas.microsoft.com/office/drawing/2014/main" id="{43F01FFC-C3F2-4EFB-A974-11DECFA95ACD}"/>
              </a:ext>
            </a:extLst>
          </p:cNvPr>
          <p:cNvPicPr>
            <a:picLocks noChangeAspect="1"/>
          </p:cNvPicPr>
          <p:nvPr/>
        </p:nvPicPr>
        <p:blipFill>
          <a:blip r:embed="rId3"/>
          <a:stretch>
            <a:fillRect/>
          </a:stretch>
        </p:blipFill>
        <p:spPr>
          <a:xfrm>
            <a:off x="403756" y="1106723"/>
            <a:ext cx="6187544" cy="5633576"/>
          </a:xfrm>
          <a:prstGeom prst="rect">
            <a:avLst/>
          </a:prstGeom>
        </p:spPr>
      </p:pic>
      <p:pic>
        <p:nvPicPr>
          <p:cNvPr id="7" name="图片 6">
            <a:extLst>
              <a:ext uri="{FF2B5EF4-FFF2-40B4-BE49-F238E27FC236}">
                <a16:creationId xmlns:a16="http://schemas.microsoft.com/office/drawing/2014/main" id="{9C8F53FD-4709-4168-B475-B93D4A87648A}"/>
              </a:ext>
            </a:extLst>
          </p:cNvPr>
          <p:cNvPicPr>
            <a:picLocks noChangeAspect="1"/>
          </p:cNvPicPr>
          <p:nvPr/>
        </p:nvPicPr>
        <p:blipFill>
          <a:blip r:embed="rId4"/>
          <a:stretch>
            <a:fillRect/>
          </a:stretch>
        </p:blipFill>
        <p:spPr>
          <a:xfrm>
            <a:off x="6799949" y="1777470"/>
            <a:ext cx="4988295" cy="3303060"/>
          </a:xfrm>
          <a:prstGeom prst="rect">
            <a:avLst/>
          </a:prstGeom>
        </p:spPr>
      </p:pic>
      <p:sp>
        <p:nvSpPr>
          <p:cNvPr id="4" name="矩形 3">
            <a:extLst>
              <a:ext uri="{FF2B5EF4-FFF2-40B4-BE49-F238E27FC236}">
                <a16:creationId xmlns:a16="http://schemas.microsoft.com/office/drawing/2014/main" id="{B258A6B2-B69B-4183-A120-0FA35B61BA9F}"/>
              </a:ext>
            </a:extLst>
          </p:cNvPr>
          <p:cNvSpPr/>
          <p:nvPr/>
        </p:nvSpPr>
        <p:spPr>
          <a:xfrm>
            <a:off x="523874" y="1184932"/>
            <a:ext cx="5848351" cy="176781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264920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pic>
        <p:nvPicPr>
          <p:cNvPr id="2" name="图片 1">
            <a:extLst>
              <a:ext uri="{FF2B5EF4-FFF2-40B4-BE49-F238E27FC236}">
                <a16:creationId xmlns:a16="http://schemas.microsoft.com/office/drawing/2014/main" id="{43F01FFC-C3F2-4EFB-A974-11DECFA95ACD}"/>
              </a:ext>
            </a:extLst>
          </p:cNvPr>
          <p:cNvPicPr>
            <a:picLocks noChangeAspect="1"/>
          </p:cNvPicPr>
          <p:nvPr/>
        </p:nvPicPr>
        <p:blipFill>
          <a:blip r:embed="rId3"/>
          <a:stretch>
            <a:fillRect/>
          </a:stretch>
        </p:blipFill>
        <p:spPr>
          <a:xfrm>
            <a:off x="403756" y="1106723"/>
            <a:ext cx="6187544" cy="5633576"/>
          </a:xfrm>
          <a:prstGeom prst="rect">
            <a:avLst/>
          </a:prstGeom>
        </p:spPr>
      </p:pic>
      <p:pic>
        <p:nvPicPr>
          <p:cNvPr id="7" name="图片 6">
            <a:extLst>
              <a:ext uri="{FF2B5EF4-FFF2-40B4-BE49-F238E27FC236}">
                <a16:creationId xmlns:a16="http://schemas.microsoft.com/office/drawing/2014/main" id="{9C8F53FD-4709-4168-B475-B93D4A87648A}"/>
              </a:ext>
            </a:extLst>
          </p:cNvPr>
          <p:cNvPicPr>
            <a:picLocks noChangeAspect="1"/>
          </p:cNvPicPr>
          <p:nvPr/>
        </p:nvPicPr>
        <p:blipFill>
          <a:blip r:embed="rId4"/>
          <a:stretch>
            <a:fillRect/>
          </a:stretch>
        </p:blipFill>
        <p:spPr>
          <a:xfrm>
            <a:off x="6799949" y="1777470"/>
            <a:ext cx="4988295" cy="3303060"/>
          </a:xfrm>
          <a:prstGeom prst="rect">
            <a:avLst/>
          </a:prstGeom>
        </p:spPr>
      </p:pic>
      <p:sp>
        <p:nvSpPr>
          <p:cNvPr id="4" name="矩形 3">
            <a:extLst>
              <a:ext uri="{FF2B5EF4-FFF2-40B4-BE49-F238E27FC236}">
                <a16:creationId xmlns:a16="http://schemas.microsoft.com/office/drawing/2014/main" id="{B258A6B2-B69B-4183-A120-0FA35B61BA9F}"/>
              </a:ext>
            </a:extLst>
          </p:cNvPr>
          <p:cNvSpPr/>
          <p:nvPr/>
        </p:nvSpPr>
        <p:spPr>
          <a:xfrm>
            <a:off x="434235" y="2971800"/>
            <a:ext cx="6080865" cy="242887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74382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pic>
        <p:nvPicPr>
          <p:cNvPr id="2" name="图片 1">
            <a:extLst>
              <a:ext uri="{FF2B5EF4-FFF2-40B4-BE49-F238E27FC236}">
                <a16:creationId xmlns:a16="http://schemas.microsoft.com/office/drawing/2014/main" id="{43F01FFC-C3F2-4EFB-A974-11DECFA95ACD}"/>
              </a:ext>
            </a:extLst>
          </p:cNvPr>
          <p:cNvPicPr>
            <a:picLocks noChangeAspect="1"/>
          </p:cNvPicPr>
          <p:nvPr/>
        </p:nvPicPr>
        <p:blipFill>
          <a:blip r:embed="rId3"/>
          <a:stretch>
            <a:fillRect/>
          </a:stretch>
        </p:blipFill>
        <p:spPr>
          <a:xfrm>
            <a:off x="403756" y="1106723"/>
            <a:ext cx="6187544" cy="5633576"/>
          </a:xfrm>
          <a:prstGeom prst="rect">
            <a:avLst/>
          </a:prstGeom>
        </p:spPr>
      </p:pic>
      <p:pic>
        <p:nvPicPr>
          <p:cNvPr id="7" name="图片 6">
            <a:extLst>
              <a:ext uri="{FF2B5EF4-FFF2-40B4-BE49-F238E27FC236}">
                <a16:creationId xmlns:a16="http://schemas.microsoft.com/office/drawing/2014/main" id="{9C8F53FD-4709-4168-B475-B93D4A87648A}"/>
              </a:ext>
            </a:extLst>
          </p:cNvPr>
          <p:cNvPicPr>
            <a:picLocks noChangeAspect="1"/>
          </p:cNvPicPr>
          <p:nvPr/>
        </p:nvPicPr>
        <p:blipFill>
          <a:blip r:embed="rId4"/>
          <a:stretch>
            <a:fillRect/>
          </a:stretch>
        </p:blipFill>
        <p:spPr>
          <a:xfrm>
            <a:off x="6799949" y="1777470"/>
            <a:ext cx="4988295" cy="3303060"/>
          </a:xfrm>
          <a:prstGeom prst="rect">
            <a:avLst/>
          </a:prstGeom>
        </p:spPr>
      </p:pic>
      <p:sp>
        <p:nvSpPr>
          <p:cNvPr id="4" name="矩形 3">
            <a:extLst>
              <a:ext uri="{FF2B5EF4-FFF2-40B4-BE49-F238E27FC236}">
                <a16:creationId xmlns:a16="http://schemas.microsoft.com/office/drawing/2014/main" id="{B258A6B2-B69B-4183-A120-0FA35B61BA9F}"/>
              </a:ext>
            </a:extLst>
          </p:cNvPr>
          <p:cNvSpPr/>
          <p:nvPr/>
        </p:nvSpPr>
        <p:spPr>
          <a:xfrm>
            <a:off x="510435" y="5487528"/>
            <a:ext cx="6080865" cy="125277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016958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pic>
        <p:nvPicPr>
          <p:cNvPr id="5" name="图片 4">
            <a:extLst>
              <a:ext uri="{FF2B5EF4-FFF2-40B4-BE49-F238E27FC236}">
                <a16:creationId xmlns:a16="http://schemas.microsoft.com/office/drawing/2014/main" id="{0C126712-A1AC-4AD0-920A-817A4440AA4B}"/>
              </a:ext>
            </a:extLst>
          </p:cNvPr>
          <p:cNvPicPr>
            <a:picLocks noChangeAspect="1"/>
          </p:cNvPicPr>
          <p:nvPr/>
        </p:nvPicPr>
        <p:blipFill rotWithShape="1">
          <a:blip r:embed="rId3"/>
          <a:srcRect b="2386"/>
          <a:stretch/>
        </p:blipFill>
        <p:spPr>
          <a:xfrm>
            <a:off x="3066597" y="1196815"/>
            <a:ext cx="5548825" cy="4749067"/>
          </a:xfrm>
          <a:prstGeom prst="rect">
            <a:avLst/>
          </a:prstGeom>
        </p:spPr>
      </p:pic>
      <p:sp>
        <p:nvSpPr>
          <p:cNvPr id="6" name="文本框 5">
            <a:extLst>
              <a:ext uri="{FF2B5EF4-FFF2-40B4-BE49-F238E27FC236}">
                <a16:creationId xmlns:a16="http://schemas.microsoft.com/office/drawing/2014/main" id="{6FF134DD-8BA4-41E9-AA75-914B8F04CFD0}"/>
              </a:ext>
            </a:extLst>
          </p:cNvPr>
          <p:cNvSpPr txBox="1"/>
          <p:nvPr/>
        </p:nvSpPr>
        <p:spPr>
          <a:xfrm>
            <a:off x="0" y="6590076"/>
            <a:ext cx="12192000" cy="253916"/>
          </a:xfrm>
          <a:prstGeom prst="rect">
            <a:avLst/>
          </a:prstGeom>
          <a:noFill/>
        </p:spPr>
        <p:txBody>
          <a:bodyPr wrap="square" rtlCol="0">
            <a:spAutoFit/>
          </a:bodyPr>
          <a:lstStyle/>
          <a:p>
            <a:pPr>
              <a:spcBef>
                <a:spcPts val="0"/>
              </a:spcBef>
              <a:spcAft>
                <a:spcPts val="0"/>
              </a:spcAft>
            </a:pPr>
            <a:r>
              <a:rPr lang="en-US" altLang="zh-CN" sz="1050" i="1" dirty="0">
                <a:effectLst/>
                <a:latin typeface="Arial" panose="020B0604020202020204" pitchFamily="34" charset="0"/>
                <a:cs typeface="Arial" panose="020B0604020202020204" pitchFamily="34" charset="0"/>
              </a:rPr>
              <a:t>J. Devlin, M.-W. Chang, K. Lee, and K. Toutanova, “BERT: Pre-training of Deep Bidirectional Transformers for Language Understanding,” presented at the </a:t>
            </a:r>
            <a:r>
              <a:rPr lang="en-US" altLang="zh-CN" sz="1050" i="1" dirty="0" err="1">
                <a:effectLst/>
                <a:latin typeface="Arial" panose="020B0604020202020204" pitchFamily="34" charset="0"/>
                <a:cs typeface="Arial" panose="020B0604020202020204" pitchFamily="34" charset="0"/>
              </a:rPr>
              <a:t>naacL</a:t>
            </a:r>
            <a:r>
              <a:rPr lang="en-US" altLang="zh-CN" sz="1050" i="1" dirty="0">
                <a:effectLst/>
                <a:latin typeface="Arial" panose="020B0604020202020204" pitchFamily="34" charset="0"/>
                <a:cs typeface="Arial" panose="020B0604020202020204" pitchFamily="34" charset="0"/>
              </a:rPr>
              <a:t>-HLT, May 2019.</a:t>
            </a:r>
          </a:p>
        </p:txBody>
      </p:sp>
    </p:spTree>
    <p:extLst>
      <p:ext uri="{BB962C8B-B14F-4D97-AF65-F5344CB8AC3E}">
        <p14:creationId xmlns:p14="http://schemas.microsoft.com/office/powerpoint/2010/main" val="3019185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pic>
        <p:nvPicPr>
          <p:cNvPr id="5" name="图片 4">
            <a:extLst>
              <a:ext uri="{FF2B5EF4-FFF2-40B4-BE49-F238E27FC236}">
                <a16:creationId xmlns:a16="http://schemas.microsoft.com/office/drawing/2014/main" id="{0C126712-A1AC-4AD0-920A-817A4440AA4B}"/>
              </a:ext>
            </a:extLst>
          </p:cNvPr>
          <p:cNvPicPr>
            <a:picLocks noChangeAspect="1"/>
          </p:cNvPicPr>
          <p:nvPr/>
        </p:nvPicPr>
        <p:blipFill rotWithShape="1">
          <a:blip r:embed="rId3"/>
          <a:srcRect b="2386"/>
          <a:stretch/>
        </p:blipFill>
        <p:spPr>
          <a:xfrm>
            <a:off x="357015" y="1344733"/>
            <a:ext cx="5548825" cy="4749067"/>
          </a:xfrm>
          <a:prstGeom prst="rect">
            <a:avLst/>
          </a:prstGeom>
        </p:spPr>
      </p:pic>
      <p:sp>
        <p:nvSpPr>
          <p:cNvPr id="6" name="文本框 5">
            <a:extLst>
              <a:ext uri="{FF2B5EF4-FFF2-40B4-BE49-F238E27FC236}">
                <a16:creationId xmlns:a16="http://schemas.microsoft.com/office/drawing/2014/main" id="{6FF134DD-8BA4-41E9-AA75-914B8F04CFD0}"/>
              </a:ext>
            </a:extLst>
          </p:cNvPr>
          <p:cNvSpPr txBox="1"/>
          <p:nvPr/>
        </p:nvSpPr>
        <p:spPr>
          <a:xfrm>
            <a:off x="0" y="6590076"/>
            <a:ext cx="12192000" cy="253916"/>
          </a:xfrm>
          <a:prstGeom prst="rect">
            <a:avLst/>
          </a:prstGeom>
          <a:noFill/>
        </p:spPr>
        <p:txBody>
          <a:bodyPr wrap="square" rtlCol="0">
            <a:spAutoFit/>
          </a:bodyPr>
          <a:lstStyle/>
          <a:p>
            <a:pPr>
              <a:spcBef>
                <a:spcPts val="0"/>
              </a:spcBef>
              <a:spcAft>
                <a:spcPts val="0"/>
              </a:spcAft>
            </a:pPr>
            <a:r>
              <a:rPr lang="en-US" altLang="zh-CN" sz="1050" i="1" dirty="0">
                <a:effectLst/>
                <a:latin typeface="Arial" panose="020B0604020202020204" pitchFamily="34" charset="0"/>
                <a:cs typeface="Arial" panose="020B0604020202020204" pitchFamily="34" charset="0"/>
              </a:rPr>
              <a:t>J. Devlin, M.-W. Chang, K. Lee, and K. Toutanova, “BERT: Pre-training of Deep Bidirectional Transformers for Language Understanding,” presented at the NAACL-HLT, May 2019.</a:t>
            </a:r>
          </a:p>
        </p:txBody>
      </p:sp>
      <p:sp>
        <p:nvSpPr>
          <p:cNvPr id="3" name="文本框 2">
            <a:extLst>
              <a:ext uri="{FF2B5EF4-FFF2-40B4-BE49-F238E27FC236}">
                <a16:creationId xmlns:a16="http://schemas.microsoft.com/office/drawing/2014/main" id="{71844EE0-B4F7-4F5B-9036-FCB0557408D6}"/>
              </a:ext>
            </a:extLst>
          </p:cNvPr>
          <p:cNvSpPr txBox="1"/>
          <p:nvPr/>
        </p:nvSpPr>
        <p:spPr>
          <a:xfrm>
            <a:off x="6689912" y="2048455"/>
            <a:ext cx="4250138" cy="2862322"/>
          </a:xfrm>
          <a:prstGeom prst="rect">
            <a:avLst/>
          </a:prstGeom>
          <a:noFill/>
        </p:spPr>
        <p:txBody>
          <a:bodyPr wrap="none" rtlCol="0">
            <a:spAutoFit/>
          </a:bodyPr>
          <a:lstStyle/>
          <a:p>
            <a:r>
              <a:rPr lang="en-US" altLang="zh-CN" sz="3600" dirty="0"/>
              <a:t>Self attention layer</a:t>
            </a:r>
          </a:p>
          <a:p>
            <a:endParaRPr lang="en-US" altLang="zh-CN" sz="3600" dirty="0"/>
          </a:p>
          <a:p>
            <a:r>
              <a:rPr lang="en-US" altLang="zh-CN" sz="3600" dirty="0"/>
              <a:t>Feed forward layer</a:t>
            </a:r>
          </a:p>
          <a:p>
            <a:endParaRPr lang="en-US" altLang="zh-CN" sz="3600" dirty="0"/>
          </a:p>
          <a:p>
            <a:r>
              <a:rPr lang="en-US" altLang="zh-CN" sz="3600" dirty="0"/>
              <a:t>Normalization layer</a:t>
            </a:r>
          </a:p>
        </p:txBody>
      </p:sp>
    </p:spTree>
    <p:extLst>
      <p:ext uri="{BB962C8B-B14F-4D97-AF65-F5344CB8AC3E}">
        <p14:creationId xmlns:p14="http://schemas.microsoft.com/office/powerpoint/2010/main" val="3597769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pic>
        <p:nvPicPr>
          <p:cNvPr id="6148" name="Picture 4">
            <a:extLst>
              <a:ext uri="{FF2B5EF4-FFF2-40B4-BE49-F238E27FC236}">
                <a16:creationId xmlns:a16="http://schemas.microsoft.com/office/drawing/2014/main" id="{599EABAB-C584-43DA-9A7A-E42B48B99E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4023" y="1556602"/>
            <a:ext cx="3701158" cy="4191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19770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pic>
        <p:nvPicPr>
          <p:cNvPr id="6152" name="Picture 8">
            <a:extLst>
              <a:ext uri="{FF2B5EF4-FFF2-40B4-BE49-F238E27FC236}">
                <a16:creationId xmlns:a16="http://schemas.microsoft.com/office/drawing/2014/main" id="{EE39F7B2-25A4-4890-9C71-28FD4E4840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4500" y="2306655"/>
            <a:ext cx="5743575" cy="224468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AD2DAF1E-7A2A-489E-93AB-9A952973E3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4023" y="1556602"/>
            <a:ext cx="3701158" cy="4191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87878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pic>
        <p:nvPicPr>
          <p:cNvPr id="5" name="图片 4">
            <a:extLst>
              <a:ext uri="{FF2B5EF4-FFF2-40B4-BE49-F238E27FC236}">
                <a16:creationId xmlns:a16="http://schemas.microsoft.com/office/drawing/2014/main" id="{0C126712-A1AC-4AD0-920A-817A4440AA4B}"/>
              </a:ext>
            </a:extLst>
          </p:cNvPr>
          <p:cNvPicPr>
            <a:picLocks noChangeAspect="1"/>
          </p:cNvPicPr>
          <p:nvPr/>
        </p:nvPicPr>
        <p:blipFill rotWithShape="1">
          <a:blip r:embed="rId3"/>
          <a:srcRect b="2386"/>
          <a:stretch/>
        </p:blipFill>
        <p:spPr>
          <a:xfrm>
            <a:off x="3066597" y="1196815"/>
            <a:ext cx="5548825" cy="4749067"/>
          </a:xfrm>
          <a:prstGeom prst="rect">
            <a:avLst/>
          </a:prstGeom>
        </p:spPr>
      </p:pic>
      <p:sp>
        <p:nvSpPr>
          <p:cNvPr id="6" name="文本框 5">
            <a:extLst>
              <a:ext uri="{FF2B5EF4-FFF2-40B4-BE49-F238E27FC236}">
                <a16:creationId xmlns:a16="http://schemas.microsoft.com/office/drawing/2014/main" id="{6FF134DD-8BA4-41E9-AA75-914B8F04CFD0}"/>
              </a:ext>
            </a:extLst>
          </p:cNvPr>
          <p:cNvSpPr txBox="1"/>
          <p:nvPr/>
        </p:nvSpPr>
        <p:spPr>
          <a:xfrm>
            <a:off x="0" y="6590076"/>
            <a:ext cx="12192000" cy="253916"/>
          </a:xfrm>
          <a:prstGeom prst="rect">
            <a:avLst/>
          </a:prstGeom>
          <a:noFill/>
        </p:spPr>
        <p:txBody>
          <a:bodyPr wrap="square" rtlCol="0">
            <a:spAutoFit/>
          </a:bodyPr>
          <a:lstStyle/>
          <a:p>
            <a:pPr>
              <a:spcBef>
                <a:spcPts val="0"/>
              </a:spcBef>
              <a:spcAft>
                <a:spcPts val="0"/>
              </a:spcAft>
            </a:pPr>
            <a:r>
              <a:rPr lang="en-US" altLang="zh-CN" sz="1050" i="1" dirty="0">
                <a:effectLst/>
                <a:latin typeface="Arial" panose="020B0604020202020204" pitchFamily="34" charset="0"/>
                <a:cs typeface="Arial" panose="020B0604020202020204" pitchFamily="34" charset="0"/>
              </a:rPr>
              <a:t>J. Devlin, M.-W. Chang, K. Lee, and K. Toutanova, “BERT: Pre-training of Deep Bidirectional Transformers for Language Understanding,” presented at the </a:t>
            </a:r>
            <a:r>
              <a:rPr lang="en-US" altLang="zh-CN" sz="1050" i="1" dirty="0" err="1">
                <a:effectLst/>
                <a:latin typeface="Arial" panose="020B0604020202020204" pitchFamily="34" charset="0"/>
                <a:cs typeface="Arial" panose="020B0604020202020204" pitchFamily="34" charset="0"/>
              </a:rPr>
              <a:t>naacL</a:t>
            </a:r>
            <a:r>
              <a:rPr lang="en-US" altLang="zh-CN" sz="1050" i="1" dirty="0">
                <a:effectLst/>
                <a:latin typeface="Arial" panose="020B0604020202020204" pitchFamily="34" charset="0"/>
                <a:cs typeface="Arial" panose="020B0604020202020204" pitchFamily="34" charset="0"/>
              </a:rPr>
              <a:t>-HLT, May 2019.</a:t>
            </a:r>
          </a:p>
        </p:txBody>
      </p:sp>
    </p:spTree>
    <p:extLst>
      <p:ext uri="{BB962C8B-B14F-4D97-AF65-F5344CB8AC3E}">
        <p14:creationId xmlns:p14="http://schemas.microsoft.com/office/powerpoint/2010/main" val="24006322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pic>
        <p:nvPicPr>
          <p:cNvPr id="3" name="图片 2">
            <a:extLst>
              <a:ext uri="{FF2B5EF4-FFF2-40B4-BE49-F238E27FC236}">
                <a16:creationId xmlns:a16="http://schemas.microsoft.com/office/drawing/2014/main" id="{39A3F23A-2F93-42A2-983B-D5CA069E2B0D}"/>
              </a:ext>
            </a:extLst>
          </p:cNvPr>
          <p:cNvPicPr>
            <a:picLocks noChangeAspect="1"/>
          </p:cNvPicPr>
          <p:nvPr/>
        </p:nvPicPr>
        <p:blipFill>
          <a:blip r:embed="rId3"/>
          <a:stretch>
            <a:fillRect/>
          </a:stretch>
        </p:blipFill>
        <p:spPr>
          <a:xfrm>
            <a:off x="1485073" y="1106723"/>
            <a:ext cx="9819187" cy="5138497"/>
          </a:xfrm>
          <a:prstGeom prst="rect">
            <a:avLst/>
          </a:prstGeom>
        </p:spPr>
      </p:pic>
      <p:sp>
        <p:nvSpPr>
          <p:cNvPr id="7" name="文本框 6">
            <a:extLst>
              <a:ext uri="{FF2B5EF4-FFF2-40B4-BE49-F238E27FC236}">
                <a16:creationId xmlns:a16="http://schemas.microsoft.com/office/drawing/2014/main" id="{93510A60-8BE4-4A08-A79E-E8C10FC7DE4E}"/>
              </a:ext>
            </a:extLst>
          </p:cNvPr>
          <p:cNvSpPr txBox="1"/>
          <p:nvPr/>
        </p:nvSpPr>
        <p:spPr>
          <a:xfrm>
            <a:off x="-60960" y="6604084"/>
            <a:ext cx="8526780" cy="253916"/>
          </a:xfrm>
          <a:prstGeom prst="rect">
            <a:avLst/>
          </a:prstGeom>
          <a:noFill/>
        </p:spPr>
        <p:txBody>
          <a:bodyPr wrap="square">
            <a:spAutoFit/>
          </a:bodyPr>
          <a:lstStyle/>
          <a:p>
            <a:r>
              <a:rPr lang="en-US" altLang="zh-CN" sz="1050" i="1" dirty="0">
                <a:latin typeface="Arial" panose="020B0604020202020204" pitchFamily="34" charset="0"/>
                <a:cs typeface="Arial" panose="020B0604020202020204" pitchFamily="34" charset="0"/>
              </a:rPr>
              <a:t>A. </a:t>
            </a:r>
            <a:r>
              <a:rPr lang="en-US" altLang="zh-CN" sz="1050" i="1" dirty="0" err="1">
                <a:latin typeface="Arial" panose="020B0604020202020204" pitchFamily="34" charset="0"/>
                <a:cs typeface="Arial" panose="020B0604020202020204" pitchFamily="34" charset="0"/>
              </a:rPr>
              <a:t>Dosovitskiy</a:t>
            </a:r>
            <a:r>
              <a:rPr lang="en-US" altLang="zh-CN" sz="1050" i="1" dirty="0">
                <a:latin typeface="Arial" panose="020B0604020202020204" pitchFamily="34" charset="0"/>
                <a:cs typeface="Arial" panose="020B0604020202020204" pitchFamily="34" charset="0"/>
              </a:rPr>
              <a:t> et al., “An Image is Worth 16x16 Words: Transformers for Image Recognition at Scale.” </a:t>
            </a:r>
            <a:r>
              <a:rPr lang="en-US" altLang="zh-CN" sz="1050" i="1" dirty="0" err="1">
                <a:latin typeface="Arial" panose="020B0604020202020204" pitchFamily="34" charset="0"/>
                <a:cs typeface="Arial" panose="020B0604020202020204" pitchFamily="34" charset="0"/>
              </a:rPr>
              <a:t>arXiv</a:t>
            </a:r>
            <a:r>
              <a:rPr lang="en-US" altLang="zh-CN" sz="1050" i="1" dirty="0">
                <a:latin typeface="Arial" panose="020B0604020202020204" pitchFamily="34" charset="0"/>
                <a:cs typeface="Arial" panose="020B0604020202020204" pitchFamily="34" charset="0"/>
              </a:rPr>
              <a:t>, Jun. 03, 2021.</a:t>
            </a:r>
          </a:p>
        </p:txBody>
      </p:sp>
    </p:spTree>
    <p:extLst>
      <p:ext uri="{BB962C8B-B14F-4D97-AF65-F5344CB8AC3E}">
        <p14:creationId xmlns:p14="http://schemas.microsoft.com/office/powerpoint/2010/main" val="23363109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sp>
        <p:nvSpPr>
          <p:cNvPr id="7" name="文本框 6">
            <a:extLst>
              <a:ext uri="{FF2B5EF4-FFF2-40B4-BE49-F238E27FC236}">
                <a16:creationId xmlns:a16="http://schemas.microsoft.com/office/drawing/2014/main" id="{93510A60-8BE4-4A08-A79E-E8C10FC7DE4E}"/>
              </a:ext>
            </a:extLst>
          </p:cNvPr>
          <p:cNvSpPr txBox="1"/>
          <p:nvPr/>
        </p:nvSpPr>
        <p:spPr>
          <a:xfrm>
            <a:off x="-60960" y="6604084"/>
            <a:ext cx="10782300" cy="253916"/>
          </a:xfrm>
          <a:prstGeom prst="rect">
            <a:avLst/>
          </a:prstGeom>
          <a:noFill/>
        </p:spPr>
        <p:txBody>
          <a:bodyPr wrap="square">
            <a:spAutoFit/>
          </a:bodyPr>
          <a:lstStyle/>
          <a:p>
            <a:r>
              <a:rPr lang="en-US" altLang="zh-CN" sz="1050" i="1" dirty="0">
                <a:latin typeface="Arial" panose="020B0604020202020204" pitchFamily="34" charset="0"/>
                <a:cs typeface="Arial" panose="020B0604020202020204" pitchFamily="34" charset="0"/>
              </a:rPr>
              <a:t>K. He, X. Zhang, S. Ren, and J. Sun, “Deep residual learning for image recognition,” in Proc. IEEE Conf. </a:t>
            </a:r>
            <a:r>
              <a:rPr lang="en-US" altLang="zh-CN" sz="1050" i="1" dirty="0" err="1">
                <a:latin typeface="Arial" panose="020B0604020202020204" pitchFamily="34" charset="0"/>
                <a:cs typeface="Arial" panose="020B0604020202020204" pitchFamily="34" charset="0"/>
              </a:rPr>
              <a:t>Comput</a:t>
            </a:r>
            <a:r>
              <a:rPr lang="en-US" altLang="zh-CN" sz="1050" i="1" dirty="0">
                <a:latin typeface="Arial" panose="020B0604020202020204" pitchFamily="34" charset="0"/>
                <a:cs typeface="Arial" panose="020B0604020202020204" pitchFamily="34" charset="0"/>
              </a:rPr>
              <a:t>. Vis. Pattern </a:t>
            </a:r>
            <a:r>
              <a:rPr lang="en-US" altLang="zh-CN" sz="1050" i="1" dirty="0" err="1">
                <a:latin typeface="Arial" panose="020B0604020202020204" pitchFamily="34" charset="0"/>
                <a:cs typeface="Arial" panose="020B0604020202020204" pitchFamily="34" charset="0"/>
              </a:rPr>
              <a:t>Recognit</a:t>
            </a:r>
            <a:r>
              <a:rPr lang="en-US" altLang="zh-CN" sz="1050" i="1" dirty="0">
                <a:latin typeface="Arial" panose="020B0604020202020204" pitchFamily="34" charset="0"/>
                <a:cs typeface="Arial" panose="020B0604020202020204" pitchFamily="34" charset="0"/>
              </a:rPr>
              <a:t>. (CVPR), 2016, pp. 770–778</a:t>
            </a:r>
          </a:p>
        </p:txBody>
      </p:sp>
      <p:pic>
        <p:nvPicPr>
          <p:cNvPr id="2" name="图片 1">
            <a:extLst>
              <a:ext uri="{FF2B5EF4-FFF2-40B4-BE49-F238E27FC236}">
                <a16:creationId xmlns:a16="http://schemas.microsoft.com/office/drawing/2014/main" id="{C53667AC-3288-44AC-9ED9-AEF057C00D94}"/>
              </a:ext>
            </a:extLst>
          </p:cNvPr>
          <p:cNvPicPr>
            <a:picLocks noChangeAspect="1"/>
          </p:cNvPicPr>
          <p:nvPr/>
        </p:nvPicPr>
        <p:blipFill rotWithShape="1">
          <a:blip r:embed="rId3"/>
          <a:srcRect t="11600"/>
          <a:stretch/>
        </p:blipFill>
        <p:spPr>
          <a:xfrm>
            <a:off x="8529956" y="422579"/>
            <a:ext cx="1047896" cy="6012841"/>
          </a:xfrm>
          <a:prstGeom prst="rect">
            <a:avLst/>
          </a:prstGeom>
        </p:spPr>
      </p:pic>
      <p:pic>
        <p:nvPicPr>
          <p:cNvPr id="4" name="图片 3">
            <a:extLst>
              <a:ext uri="{FF2B5EF4-FFF2-40B4-BE49-F238E27FC236}">
                <a16:creationId xmlns:a16="http://schemas.microsoft.com/office/drawing/2014/main" id="{3D1CBC30-17F9-4F51-A7EC-21BD57627C12}"/>
              </a:ext>
            </a:extLst>
          </p:cNvPr>
          <p:cNvPicPr>
            <a:picLocks noChangeAspect="1"/>
          </p:cNvPicPr>
          <p:nvPr/>
        </p:nvPicPr>
        <p:blipFill>
          <a:blip r:embed="rId4"/>
          <a:stretch>
            <a:fillRect/>
          </a:stretch>
        </p:blipFill>
        <p:spPr>
          <a:xfrm>
            <a:off x="2581840" y="2520098"/>
            <a:ext cx="3807004" cy="2021707"/>
          </a:xfrm>
          <a:prstGeom prst="rect">
            <a:avLst/>
          </a:prstGeom>
        </p:spPr>
      </p:pic>
    </p:spTree>
    <p:extLst>
      <p:ext uri="{BB962C8B-B14F-4D97-AF65-F5344CB8AC3E}">
        <p14:creationId xmlns:p14="http://schemas.microsoft.com/office/powerpoint/2010/main" val="23030368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椭圆 24"/>
          <p:cNvSpPr/>
          <p:nvPr/>
        </p:nvSpPr>
        <p:spPr>
          <a:xfrm>
            <a:off x="3915215" y="3921236"/>
            <a:ext cx="191910" cy="191910"/>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3221322" y="3195454"/>
            <a:ext cx="952500" cy="95250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文本框 4"/>
          <p:cNvSpPr txBox="1"/>
          <p:nvPr/>
        </p:nvSpPr>
        <p:spPr>
          <a:xfrm>
            <a:off x="3350312" y="3286983"/>
            <a:ext cx="716863" cy="769441"/>
          </a:xfrm>
          <a:prstGeom prst="rect">
            <a:avLst/>
          </a:prstGeom>
          <a:noFill/>
        </p:spPr>
        <p:txBody>
          <a:bodyPr wrap="none" rtlCol="0">
            <a:spAutoFit/>
          </a:bodyPr>
          <a:lstStyle/>
          <a:p>
            <a:pPr algn="ctr"/>
            <a:r>
              <a:rPr lang="en-US" altLang="zh-CN" sz="4400" b="1" dirty="0">
                <a:solidFill>
                  <a:schemeClr val="bg1"/>
                </a:solidFill>
                <a:cs typeface="+mn-ea"/>
                <a:sym typeface="+mn-lt"/>
              </a:rPr>
              <a:t>01</a:t>
            </a:r>
            <a:endParaRPr lang="zh-CN" altLang="en-US" sz="4400" b="1" dirty="0">
              <a:solidFill>
                <a:schemeClr val="bg1"/>
              </a:solidFill>
              <a:cs typeface="+mn-ea"/>
              <a:sym typeface="+mn-lt"/>
            </a:endParaRPr>
          </a:p>
        </p:txBody>
      </p:sp>
      <p:sp>
        <p:nvSpPr>
          <p:cNvPr id="6" name="文本框 5"/>
          <p:cNvSpPr txBox="1"/>
          <p:nvPr/>
        </p:nvSpPr>
        <p:spPr>
          <a:xfrm>
            <a:off x="2952881" y="4239483"/>
            <a:ext cx="1407758" cy="646331"/>
          </a:xfrm>
          <a:prstGeom prst="rect">
            <a:avLst/>
          </a:prstGeom>
          <a:noFill/>
        </p:spPr>
        <p:txBody>
          <a:bodyPr wrap="none" rtlCol="0">
            <a:spAutoFit/>
          </a:bodyPr>
          <a:lstStyle/>
          <a:p>
            <a:pPr algn="ctr"/>
            <a:r>
              <a:rPr lang="en-US" altLang="zh-CN" dirty="0">
                <a:cs typeface="+mn-ea"/>
                <a:sym typeface="+mn-lt"/>
              </a:rPr>
              <a:t>Significance</a:t>
            </a:r>
          </a:p>
          <a:p>
            <a:pPr algn="ctr"/>
            <a:r>
              <a:rPr lang="en-US" altLang="zh-CN" dirty="0">
                <a:cs typeface="+mn-ea"/>
                <a:sym typeface="+mn-lt"/>
              </a:rPr>
              <a:t>of CLIP</a:t>
            </a:r>
            <a:endParaRPr lang="zh-CN" altLang="en-US" dirty="0">
              <a:cs typeface="+mn-ea"/>
              <a:sym typeface="+mn-lt"/>
            </a:endParaRPr>
          </a:p>
        </p:txBody>
      </p:sp>
      <p:sp>
        <p:nvSpPr>
          <p:cNvPr id="11" name="文本框 10"/>
          <p:cNvSpPr txBox="1"/>
          <p:nvPr/>
        </p:nvSpPr>
        <p:spPr>
          <a:xfrm>
            <a:off x="5405353" y="4220748"/>
            <a:ext cx="1215397" cy="646331"/>
          </a:xfrm>
          <a:prstGeom prst="rect">
            <a:avLst/>
          </a:prstGeom>
          <a:noFill/>
        </p:spPr>
        <p:txBody>
          <a:bodyPr wrap="none" rtlCol="0">
            <a:spAutoFit/>
          </a:bodyPr>
          <a:lstStyle/>
          <a:p>
            <a:pPr algn="ctr"/>
            <a:r>
              <a:rPr lang="en-US" altLang="zh-CN" dirty="0">
                <a:cs typeface="+mn-ea"/>
                <a:sym typeface="+mn-lt"/>
              </a:rPr>
              <a:t>CLIP</a:t>
            </a:r>
          </a:p>
          <a:p>
            <a:pPr algn="ctr"/>
            <a:r>
              <a:rPr lang="en-US" altLang="zh-CN" dirty="0">
                <a:cs typeface="+mn-ea"/>
                <a:sym typeface="+mn-lt"/>
              </a:rPr>
              <a:t>Main Idea</a:t>
            </a:r>
            <a:endParaRPr lang="zh-CN" altLang="en-US" dirty="0">
              <a:cs typeface="+mn-ea"/>
              <a:sym typeface="+mn-lt"/>
            </a:endParaRPr>
          </a:p>
        </p:txBody>
      </p:sp>
      <p:sp>
        <p:nvSpPr>
          <p:cNvPr id="16" name="文本框 15"/>
          <p:cNvSpPr txBox="1"/>
          <p:nvPr/>
        </p:nvSpPr>
        <p:spPr>
          <a:xfrm>
            <a:off x="7771594" y="4234765"/>
            <a:ext cx="1074268" cy="646331"/>
          </a:xfrm>
          <a:prstGeom prst="rect">
            <a:avLst/>
          </a:prstGeom>
          <a:noFill/>
        </p:spPr>
        <p:txBody>
          <a:bodyPr wrap="none" rtlCol="0">
            <a:spAutoFit/>
          </a:bodyPr>
          <a:lstStyle/>
          <a:p>
            <a:pPr algn="ctr"/>
            <a:r>
              <a:rPr lang="en-US" altLang="zh-CN" dirty="0">
                <a:cs typeface="+mn-ea"/>
                <a:sym typeface="+mn-lt"/>
              </a:rPr>
              <a:t>Encoder</a:t>
            </a:r>
          </a:p>
          <a:p>
            <a:pPr algn="ctr"/>
            <a:r>
              <a:rPr lang="en-US" altLang="zh-CN" dirty="0">
                <a:cs typeface="+mn-ea"/>
                <a:sym typeface="+mn-lt"/>
              </a:rPr>
              <a:t>Details</a:t>
            </a:r>
            <a:endParaRPr lang="zh-CN" altLang="en-US" dirty="0">
              <a:cs typeface="+mn-ea"/>
              <a:sym typeface="+mn-lt"/>
            </a:endParaRPr>
          </a:p>
        </p:txBody>
      </p:sp>
      <p:sp>
        <p:nvSpPr>
          <p:cNvPr id="2" name="MH_Others_1"/>
          <p:cNvSpPr txBox="1"/>
          <p:nvPr>
            <p:custDataLst>
              <p:tags r:id="rId1"/>
            </p:custDataLst>
          </p:nvPr>
        </p:nvSpPr>
        <p:spPr>
          <a:xfrm>
            <a:off x="4160902" y="1270802"/>
            <a:ext cx="3955467" cy="847938"/>
          </a:xfrm>
          <a:prstGeom prst="rect">
            <a:avLst/>
          </a:prstGeom>
          <a:noFill/>
        </p:spPr>
        <p:txBody>
          <a:bodyPr wrap="square" rtlCol="0">
            <a:noAutofit/>
          </a:bodyPr>
          <a:lstStyle/>
          <a:p>
            <a:pPr algn="ctr"/>
            <a:r>
              <a:rPr lang="en-US" altLang="zh-CN" sz="4400" dirty="0">
                <a:solidFill>
                  <a:schemeClr val="tx1">
                    <a:lumMod val="65000"/>
                    <a:lumOff val="35000"/>
                  </a:schemeClr>
                </a:solidFill>
                <a:latin typeface="Impact" panose="020B0806030902050204" pitchFamily="34" charset="0"/>
                <a:cs typeface="+mn-ea"/>
                <a:sym typeface="+mn-lt"/>
              </a:rPr>
              <a:t>Review</a:t>
            </a:r>
            <a:endParaRPr lang="zh-CN" altLang="en-US" sz="4400" dirty="0">
              <a:solidFill>
                <a:schemeClr val="tx1">
                  <a:lumMod val="65000"/>
                  <a:lumOff val="35000"/>
                </a:schemeClr>
              </a:solidFill>
              <a:latin typeface="Impact" panose="020B0806030902050204" pitchFamily="34" charset="0"/>
              <a:cs typeface="+mn-ea"/>
              <a:sym typeface="+mn-lt"/>
            </a:endParaRPr>
          </a:p>
        </p:txBody>
      </p:sp>
      <p:sp>
        <p:nvSpPr>
          <p:cNvPr id="9" name="椭圆 8"/>
          <p:cNvSpPr/>
          <p:nvPr/>
        </p:nvSpPr>
        <p:spPr>
          <a:xfrm>
            <a:off x="5500972" y="3214189"/>
            <a:ext cx="952500" cy="952500"/>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p:cNvSpPr txBox="1"/>
          <p:nvPr/>
        </p:nvSpPr>
        <p:spPr>
          <a:xfrm>
            <a:off x="5570700" y="3305718"/>
            <a:ext cx="813044" cy="769441"/>
          </a:xfrm>
          <a:prstGeom prst="rect">
            <a:avLst/>
          </a:prstGeom>
          <a:noFill/>
        </p:spPr>
        <p:txBody>
          <a:bodyPr wrap="none" rtlCol="0">
            <a:spAutoFit/>
          </a:bodyPr>
          <a:lstStyle/>
          <a:p>
            <a:pPr algn="ctr"/>
            <a:r>
              <a:rPr lang="en-US" altLang="zh-CN" sz="4400" b="1" dirty="0">
                <a:solidFill>
                  <a:schemeClr val="bg1"/>
                </a:solidFill>
                <a:cs typeface="+mn-ea"/>
                <a:sym typeface="+mn-lt"/>
              </a:rPr>
              <a:t>02</a:t>
            </a:r>
            <a:endParaRPr lang="zh-CN" altLang="en-US" sz="4400" b="1" dirty="0">
              <a:solidFill>
                <a:schemeClr val="bg1"/>
              </a:solidFill>
              <a:cs typeface="+mn-ea"/>
              <a:sym typeface="+mn-lt"/>
            </a:endParaRPr>
          </a:p>
        </p:txBody>
      </p:sp>
      <p:sp>
        <p:nvSpPr>
          <p:cNvPr id="33" name="椭圆 32"/>
          <p:cNvSpPr/>
          <p:nvPr/>
        </p:nvSpPr>
        <p:spPr>
          <a:xfrm>
            <a:off x="6209012" y="3921236"/>
            <a:ext cx="191910" cy="19191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椭圆 13"/>
          <p:cNvSpPr/>
          <p:nvPr/>
        </p:nvSpPr>
        <p:spPr>
          <a:xfrm>
            <a:off x="7780622" y="3214189"/>
            <a:ext cx="952500" cy="95250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7821527" y="3305718"/>
            <a:ext cx="813044" cy="769441"/>
          </a:xfrm>
          <a:prstGeom prst="rect">
            <a:avLst/>
          </a:prstGeom>
          <a:noFill/>
        </p:spPr>
        <p:txBody>
          <a:bodyPr wrap="none" rtlCol="0">
            <a:spAutoFit/>
          </a:bodyPr>
          <a:lstStyle/>
          <a:p>
            <a:pPr algn="ctr"/>
            <a:r>
              <a:rPr lang="en-US" altLang="zh-CN" sz="4400" b="1" dirty="0">
                <a:solidFill>
                  <a:schemeClr val="bg1"/>
                </a:solidFill>
                <a:cs typeface="+mn-ea"/>
                <a:sym typeface="+mn-lt"/>
              </a:rPr>
              <a:t>03</a:t>
            </a:r>
            <a:endParaRPr lang="zh-CN" altLang="en-US" sz="4400" b="1" dirty="0">
              <a:solidFill>
                <a:schemeClr val="bg1"/>
              </a:solidFill>
              <a:cs typeface="+mn-ea"/>
              <a:sym typeface="+mn-lt"/>
            </a:endParaRPr>
          </a:p>
        </p:txBody>
      </p:sp>
      <p:sp>
        <p:nvSpPr>
          <p:cNvPr id="34" name="椭圆 33"/>
          <p:cNvSpPr/>
          <p:nvPr/>
        </p:nvSpPr>
        <p:spPr>
          <a:xfrm>
            <a:off x="8521844" y="3921236"/>
            <a:ext cx="191910" cy="191910"/>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6" name="组合 25"/>
          <p:cNvGrpSpPr/>
          <p:nvPr/>
        </p:nvGrpSpPr>
        <p:grpSpPr>
          <a:xfrm>
            <a:off x="4067175" y="1666571"/>
            <a:ext cx="4057650" cy="0"/>
            <a:chOff x="4129088" y="2457450"/>
            <a:chExt cx="4057650" cy="0"/>
          </a:xfrm>
        </p:grpSpPr>
        <p:cxnSp>
          <p:nvCxnSpPr>
            <p:cNvPr id="27" name="直接连接符 26"/>
            <p:cNvCxnSpPr/>
            <p:nvPr/>
          </p:nvCxnSpPr>
          <p:spPr>
            <a:xfrm>
              <a:off x="4129088" y="2457450"/>
              <a:ext cx="971550" cy="0"/>
            </a:xfrm>
            <a:prstGeom prst="line">
              <a:avLst/>
            </a:prstGeom>
            <a:ln w="25400">
              <a:solidFill>
                <a:srgbClr val="6C92C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7215188" y="2457450"/>
              <a:ext cx="971550" cy="0"/>
            </a:xfrm>
            <a:prstGeom prst="line">
              <a:avLst/>
            </a:prstGeom>
            <a:ln w="25400">
              <a:solidFill>
                <a:srgbClr val="48A2A0"/>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4843463" y="2101366"/>
            <a:ext cx="2520286" cy="257175"/>
            <a:chOff x="4843463" y="4520714"/>
            <a:chExt cx="2520286" cy="257175"/>
          </a:xfrm>
        </p:grpSpPr>
        <p:sp>
          <p:nvSpPr>
            <p:cNvPr id="30" name="椭圆 29"/>
            <p:cNvSpPr/>
            <p:nvPr/>
          </p:nvSpPr>
          <p:spPr>
            <a:xfrm>
              <a:off x="4843463"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椭圆 30"/>
            <p:cNvSpPr/>
            <p:nvPr/>
          </p:nvSpPr>
          <p:spPr>
            <a:xfrm>
              <a:off x="5296085"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5748707"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椭圆 35"/>
            <p:cNvSpPr/>
            <p:nvPr/>
          </p:nvSpPr>
          <p:spPr>
            <a:xfrm>
              <a:off x="6201329"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653951"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椭圆 37"/>
            <p:cNvSpPr/>
            <p:nvPr/>
          </p:nvSpPr>
          <p:spPr>
            <a:xfrm>
              <a:off x="7106574"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9" name="组合 38"/>
          <p:cNvGrpSpPr/>
          <p:nvPr/>
        </p:nvGrpSpPr>
        <p:grpSpPr>
          <a:xfrm>
            <a:off x="4843463" y="899270"/>
            <a:ext cx="2520286" cy="257175"/>
            <a:chOff x="4843463" y="4520714"/>
            <a:chExt cx="2520286" cy="257175"/>
          </a:xfrm>
        </p:grpSpPr>
        <p:sp>
          <p:nvSpPr>
            <p:cNvPr id="40" name="椭圆 39"/>
            <p:cNvSpPr/>
            <p:nvPr/>
          </p:nvSpPr>
          <p:spPr>
            <a:xfrm>
              <a:off x="4843463"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椭圆 40"/>
            <p:cNvSpPr/>
            <p:nvPr/>
          </p:nvSpPr>
          <p:spPr>
            <a:xfrm>
              <a:off x="5296085"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椭圆 41"/>
            <p:cNvSpPr/>
            <p:nvPr/>
          </p:nvSpPr>
          <p:spPr>
            <a:xfrm>
              <a:off x="5748707"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椭圆 42"/>
            <p:cNvSpPr/>
            <p:nvPr/>
          </p:nvSpPr>
          <p:spPr>
            <a:xfrm>
              <a:off x="6201329"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椭圆 43"/>
            <p:cNvSpPr/>
            <p:nvPr/>
          </p:nvSpPr>
          <p:spPr>
            <a:xfrm>
              <a:off x="6653951"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椭圆 44"/>
            <p:cNvSpPr/>
            <p:nvPr/>
          </p:nvSpPr>
          <p:spPr>
            <a:xfrm>
              <a:off x="7106574"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31564897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995911" y="2903221"/>
            <a:ext cx="4200188" cy="1200329"/>
          </a:xfrm>
          <a:prstGeom prst="rect">
            <a:avLst/>
          </a:prstGeom>
          <a:noFill/>
        </p:spPr>
        <p:txBody>
          <a:bodyPr wrap="none" rtlCol="0">
            <a:spAutoFit/>
          </a:bodyPr>
          <a:lstStyle/>
          <a:p>
            <a:pPr algn="ctr"/>
            <a:r>
              <a:rPr lang="en-US" altLang="zh-CN" sz="7200" dirty="0">
                <a:solidFill>
                  <a:schemeClr val="tx1">
                    <a:lumMod val="65000"/>
                    <a:lumOff val="35000"/>
                  </a:schemeClr>
                </a:solidFill>
                <a:latin typeface="Impact" panose="020B0806030902050204" pitchFamily="34" charset="0"/>
                <a:cs typeface="+mn-ea"/>
                <a:sym typeface="+mn-lt"/>
              </a:rPr>
              <a:t>THANK YOU</a:t>
            </a:r>
            <a:endParaRPr lang="zh-CN" altLang="en-US" sz="7200" dirty="0">
              <a:solidFill>
                <a:srgbClr val="48A2A0"/>
              </a:solidFill>
              <a:latin typeface="Impact" panose="020B0806030902050204" pitchFamily="34" charset="0"/>
              <a:cs typeface="+mn-ea"/>
              <a:sym typeface="+mn-lt"/>
            </a:endParaRPr>
          </a:p>
        </p:txBody>
      </p:sp>
      <p:grpSp>
        <p:nvGrpSpPr>
          <p:cNvPr id="10" name="组合 9"/>
          <p:cNvGrpSpPr/>
          <p:nvPr/>
        </p:nvGrpSpPr>
        <p:grpSpPr>
          <a:xfrm>
            <a:off x="4843463" y="4810201"/>
            <a:ext cx="2520286" cy="257175"/>
            <a:chOff x="4843463" y="4520714"/>
            <a:chExt cx="2520286" cy="257175"/>
          </a:xfrm>
        </p:grpSpPr>
        <p:sp>
          <p:nvSpPr>
            <p:cNvPr id="11" name="椭圆 10"/>
            <p:cNvSpPr/>
            <p:nvPr/>
          </p:nvSpPr>
          <p:spPr>
            <a:xfrm>
              <a:off x="4843463"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椭圆 11"/>
            <p:cNvSpPr/>
            <p:nvPr/>
          </p:nvSpPr>
          <p:spPr>
            <a:xfrm>
              <a:off x="5296085"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椭圆 12"/>
            <p:cNvSpPr/>
            <p:nvPr/>
          </p:nvSpPr>
          <p:spPr>
            <a:xfrm>
              <a:off x="5748707"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椭圆 13"/>
            <p:cNvSpPr/>
            <p:nvPr/>
          </p:nvSpPr>
          <p:spPr>
            <a:xfrm>
              <a:off x="6201329"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椭圆 14"/>
            <p:cNvSpPr/>
            <p:nvPr/>
          </p:nvSpPr>
          <p:spPr>
            <a:xfrm>
              <a:off x="6653951"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7106574"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7" name="组合 16"/>
          <p:cNvGrpSpPr/>
          <p:nvPr/>
        </p:nvGrpSpPr>
        <p:grpSpPr>
          <a:xfrm>
            <a:off x="4067175" y="2457450"/>
            <a:ext cx="4057650" cy="0"/>
            <a:chOff x="4129088" y="2457450"/>
            <a:chExt cx="4057650" cy="0"/>
          </a:xfrm>
        </p:grpSpPr>
        <p:cxnSp>
          <p:nvCxnSpPr>
            <p:cNvPr id="18" name="直接连接符 17"/>
            <p:cNvCxnSpPr/>
            <p:nvPr/>
          </p:nvCxnSpPr>
          <p:spPr>
            <a:xfrm>
              <a:off x="4129088" y="2457450"/>
              <a:ext cx="971550" cy="0"/>
            </a:xfrm>
            <a:prstGeom prst="line">
              <a:avLst/>
            </a:prstGeom>
            <a:ln w="25400">
              <a:solidFill>
                <a:srgbClr val="6C92C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215188" y="2457450"/>
              <a:ext cx="971550" cy="0"/>
            </a:xfrm>
            <a:prstGeom prst="line">
              <a:avLst/>
            </a:prstGeom>
            <a:ln w="25400">
              <a:solidFill>
                <a:srgbClr val="48A2A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701613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2.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3.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4.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5.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6.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7.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8.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p">
      <a:majorFont>
        <a:latin typeface="微软雅黑 Light" panose="020F0302020204030204"/>
        <a:ea typeface="微软雅黑 Light"/>
        <a:cs typeface=""/>
      </a:majorFont>
      <a:minorFont>
        <a:latin typeface="微软雅黑 Light" panose="020F0502020204030204"/>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4276</TotalTime>
  <Words>2814</Words>
  <Application>Microsoft Office PowerPoint</Application>
  <PresentationFormat>Widescreen</PresentationFormat>
  <Paragraphs>245</Paragraphs>
  <Slides>36</Slides>
  <Notes>33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3" baseType="lpstr">
      <vt:lpstr>等线</vt:lpstr>
      <vt:lpstr>Helvetica Neue</vt:lpstr>
      <vt:lpstr>微软雅黑 Light</vt:lpstr>
      <vt:lpstr>Arial</vt:lpstr>
      <vt:lpstr>Impact</vt:lpstr>
      <vt:lpstr>Office 主题​​</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http://www.ypppt.com/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cp:keywords>http:/www.ypppt.com</cp:keywords>
  <dc:description>http://www.ypppt.com/</dc:description>
  <cp:lastModifiedBy>Prof. WU Dapeng</cp:lastModifiedBy>
  <cp:revision>422</cp:revision>
  <dcterms:created xsi:type="dcterms:W3CDTF">2016-01-19T08:46:18Z</dcterms:created>
  <dcterms:modified xsi:type="dcterms:W3CDTF">2025-09-29T06:16:36Z</dcterms:modified>
</cp:coreProperties>
</file>