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2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3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4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5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6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7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notesSlides/notesSlide8.xml" ContentType="application/vnd.openxmlformats-officedocument.presentationml.notesSlide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7"/>
  </p:notesMasterIdLst>
  <p:handoutMasterIdLst>
    <p:handoutMasterId r:id="rId28"/>
  </p:handoutMasterIdLst>
  <p:sldIdLst>
    <p:sldId id="498" r:id="rId3"/>
    <p:sldId id="513" r:id="rId4"/>
    <p:sldId id="516" r:id="rId5"/>
    <p:sldId id="517" r:id="rId6"/>
    <p:sldId id="552" r:id="rId7"/>
    <p:sldId id="553" r:id="rId8"/>
    <p:sldId id="554" r:id="rId9"/>
    <p:sldId id="555" r:id="rId10"/>
    <p:sldId id="556" r:id="rId11"/>
    <p:sldId id="557" r:id="rId12"/>
    <p:sldId id="520" r:id="rId13"/>
    <p:sldId id="522" r:id="rId14"/>
    <p:sldId id="523" r:id="rId15"/>
    <p:sldId id="524" r:id="rId16"/>
    <p:sldId id="525" r:id="rId17"/>
    <p:sldId id="526" r:id="rId18"/>
    <p:sldId id="551" r:id="rId19"/>
    <p:sldId id="527" r:id="rId20"/>
    <p:sldId id="528" r:id="rId21"/>
    <p:sldId id="530" r:id="rId22"/>
    <p:sldId id="533" r:id="rId23"/>
    <p:sldId id="534" r:id="rId24"/>
    <p:sldId id="535" r:id="rId25"/>
    <p:sldId id="532" r:id="rId26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35" autoAdjust="0"/>
    <p:restoredTop sz="68134" autoAdjust="0"/>
  </p:normalViewPr>
  <p:slideViewPr>
    <p:cSldViewPr snapToGrid="0">
      <p:cViewPr varScale="1">
        <p:scale>
          <a:sx n="45" d="100"/>
          <a:sy n="45" d="100"/>
        </p:scale>
        <p:origin x="1794" y="28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peng" userId="766581d8-4b49-4c74-b70d-570e2257b99b" providerId="ADAL" clId="{1F5ABE35-ECA9-46DA-AC16-1774CD1F1119}"/>
    <pc:docChg chg="modSld">
      <pc:chgData name="Dapeng" userId="766581d8-4b49-4c74-b70d-570e2257b99b" providerId="ADAL" clId="{1F5ABE35-ECA9-46DA-AC16-1774CD1F1119}" dt="2024-10-24T02:26:20.138" v="5" actId="947"/>
      <pc:docMkLst>
        <pc:docMk/>
      </pc:docMkLst>
      <pc:sldChg chg="modAnim">
        <pc:chgData name="Dapeng" userId="766581d8-4b49-4c74-b70d-570e2257b99b" providerId="ADAL" clId="{1F5ABE35-ECA9-46DA-AC16-1774CD1F1119}" dt="2024-10-24T02:14:38.423" v="0"/>
        <pc:sldMkLst>
          <pc:docMk/>
          <pc:sldMk cId="3640414805" sldId="525"/>
        </pc:sldMkLst>
      </pc:sldChg>
      <pc:sldChg chg="modSp mod">
        <pc:chgData name="Dapeng" userId="766581d8-4b49-4c74-b70d-570e2257b99b" providerId="ADAL" clId="{1F5ABE35-ECA9-46DA-AC16-1774CD1F1119}" dt="2024-10-24T02:24:39.105" v="4" actId="947"/>
        <pc:sldMkLst>
          <pc:docMk/>
          <pc:sldMk cId="2288841846" sldId="534"/>
        </pc:sldMkLst>
        <pc:spChg chg="mod">
          <ac:chgData name="Dapeng" userId="766581d8-4b49-4c74-b70d-570e2257b99b" providerId="ADAL" clId="{1F5ABE35-ECA9-46DA-AC16-1774CD1F1119}" dt="2024-10-24T02:24:39.105" v="4" actId="947"/>
          <ac:spMkLst>
            <pc:docMk/>
            <pc:sldMk cId="2288841846" sldId="534"/>
            <ac:spMk id="4" creationId="{00000000-0000-0000-0000-000000000000}"/>
          </ac:spMkLst>
        </pc:spChg>
      </pc:sldChg>
      <pc:sldChg chg="modSp mod">
        <pc:chgData name="Dapeng" userId="766581d8-4b49-4c74-b70d-570e2257b99b" providerId="ADAL" clId="{1F5ABE35-ECA9-46DA-AC16-1774CD1F1119}" dt="2024-10-24T02:26:20.138" v="5" actId="947"/>
        <pc:sldMkLst>
          <pc:docMk/>
          <pc:sldMk cId="799694950" sldId="535"/>
        </pc:sldMkLst>
        <pc:spChg chg="mod">
          <ac:chgData name="Dapeng" userId="766581d8-4b49-4c74-b70d-570e2257b99b" providerId="ADAL" clId="{1F5ABE35-ECA9-46DA-AC16-1774CD1F1119}" dt="2024-10-24T02:26:20.138" v="5" actId="947"/>
          <ac:spMkLst>
            <pc:docMk/>
            <pc:sldMk cId="799694950" sldId="535"/>
            <ac:spMk id="2" creationId="{00000000-0000-0000-0000-000000000000}"/>
          </ac:spMkLst>
        </pc:spChg>
      </pc:sldChg>
    </pc:docChg>
  </pc:docChgLst>
  <pc:docChgLst>
    <pc:chgData name="Prof. WU Dapeng" userId="766581d8-4b49-4c74-b70d-570e2257b99b" providerId="ADAL" clId="{2618F406-FF40-46BD-9D37-E9A78AF5D98E}"/>
    <pc:docChg chg="undo redo custSel addSld delSld modSld">
      <pc:chgData name="Prof. WU Dapeng" userId="766581d8-4b49-4c74-b70d-570e2257b99b" providerId="ADAL" clId="{2618F406-FF40-46BD-9D37-E9A78AF5D98E}" dt="2023-03-01T13:19:28.602" v="561" actId="20577"/>
      <pc:docMkLst>
        <pc:docMk/>
      </pc:docMkLst>
      <pc:sldChg chg="modSp add mod">
        <pc:chgData name="Prof. WU Dapeng" userId="766581d8-4b49-4c74-b70d-570e2257b99b" providerId="ADAL" clId="{2618F406-FF40-46BD-9D37-E9A78AF5D98E}" dt="2023-03-01T13:19:28.602" v="561" actId="20577"/>
        <pc:sldMkLst>
          <pc:docMk/>
          <pc:sldMk cId="0" sldId="498"/>
        </pc:sldMkLst>
        <pc:spChg chg="mod">
          <ac:chgData name="Prof. WU Dapeng" userId="766581d8-4b49-4c74-b70d-570e2257b99b" providerId="ADAL" clId="{2618F406-FF40-46BD-9D37-E9A78AF5D98E}" dt="2023-03-01T13:19:28.602" v="561" actId="20577"/>
          <ac:spMkLst>
            <pc:docMk/>
            <pc:sldMk cId="0" sldId="498"/>
            <ac:spMk id="6147" creationId="{5BE92627-13FA-5965-1CCF-590FF9EDF749}"/>
          </ac:spMkLst>
        </pc:spChg>
      </pc:sldChg>
      <pc:sldChg chg="add del">
        <pc:chgData name="Prof. WU Dapeng" userId="766581d8-4b49-4c74-b70d-570e2257b99b" providerId="ADAL" clId="{2618F406-FF40-46BD-9D37-E9A78AF5D98E}" dt="2023-02-24T09:02:06.421" v="68" actId="47"/>
        <pc:sldMkLst>
          <pc:docMk/>
          <pc:sldMk cId="0" sldId="510"/>
        </pc:sldMkLst>
      </pc:sldChg>
      <pc:sldChg chg="modSp">
        <pc:chgData name="Prof. WU Dapeng" userId="766581d8-4b49-4c74-b70d-570e2257b99b" providerId="ADAL" clId="{2618F406-FF40-46BD-9D37-E9A78AF5D98E}" dt="2023-02-27T14:27:41.029" v="108" actId="20577"/>
        <pc:sldMkLst>
          <pc:docMk/>
          <pc:sldMk cId="2736737730" sldId="513"/>
        </pc:sldMkLst>
        <pc:spChg chg="mod">
          <ac:chgData name="Prof. WU Dapeng" userId="766581d8-4b49-4c74-b70d-570e2257b99b" providerId="ADAL" clId="{2618F406-FF40-46BD-9D37-E9A78AF5D98E}" dt="2023-02-27T14:27:41.029" v="108" actId="20577"/>
          <ac:spMkLst>
            <pc:docMk/>
            <pc:sldMk cId="2736737730" sldId="513"/>
            <ac:spMk id="9" creationId="{00000000-0000-0000-0000-000000000000}"/>
          </ac:spMkLst>
        </pc:spChg>
      </pc:sldChg>
      <pc:sldChg chg="modSp">
        <pc:chgData name="Prof. WU Dapeng" userId="766581d8-4b49-4c74-b70d-570e2257b99b" providerId="ADAL" clId="{2618F406-FF40-46BD-9D37-E9A78AF5D98E}" dt="2023-02-24T08:58:45.654" v="60" actId="255"/>
        <pc:sldMkLst>
          <pc:docMk/>
          <pc:sldMk cId="3353818247" sldId="516"/>
        </pc:sldMkLst>
        <pc:spChg chg="mod">
          <ac:chgData name="Prof. WU Dapeng" userId="766581d8-4b49-4c74-b70d-570e2257b99b" providerId="ADAL" clId="{2618F406-FF40-46BD-9D37-E9A78AF5D98E}" dt="2023-02-24T08:58:45.654" v="60" actId="255"/>
          <ac:spMkLst>
            <pc:docMk/>
            <pc:sldMk cId="3353818247" sldId="516"/>
            <ac:spMk id="398339" creationId="{00000000-0000-0000-0000-000000000000}"/>
          </ac:spMkLst>
        </pc:spChg>
      </pc:sldChg>
      <pc:sldChg chg="modSp mod">
        <pc:chgData name="Prof. WU Dapeng" userId="766581d8-4b49-4c74-b70d-570e2257b99b" providerId="ADAL" clId="{2618F406-FF40-46BD-9D37-E9A78AF5D98E}" dt="2023-02-24T09:03:55.415" v="80"/>
        <pc:sldMkLst>
          <pc:docMk/>
          <pc:sldMk cId="298886373" sldId="517"/>
        </pc:sldMkLst>
        <pc:spChg chg="mod">
          <ac:chgData name="Prof. WU Dapeng" userId="766581d8-4b49-4c74-b70d-570e2257b99b" providerId="ADAL" clId="{2618F406-FF40-46BD-9D37-E9A78AF5D98E}" dt="2023-02-24T09:03:55.415" v="80"/>
          <ac:spMkLst>
            <pc:docMk/>
            <pc:sldMk cId="298886373" sldId="517"/>
            <ac:spMk id="399363" creationId="{00000000-0000-0000-0000-000000000000}"/>
          </ac:spMkLst>
        </pc:spChg>
      </pc:sldChg>
      <pc:sldChg chg="add">
        <pc:chgData name="Prof. WU Dapeng" userId="766581d8-4b49-4c74-b70d-570e2257b99b" providerId="ADAL" clId="{2618F406-FF40-46BD-9D37-E9A78AF5D98E}" dt="2023-02-24T09:02:27.716" v="70"/>
        <pc:sldMkLst>
          <pc:docMk/>
          <pc:sldMk cId="2883932868" sldId="532"/>
        </pc:sldMkLst>
      </pc:sldChg>
      <pc:sldChg chg="del">
        <pc:chgData name="Prof. WU Dapeng" userId="766581d8-4b49-4c74-b70d-570e2257b99b" providerId="ADAL" clId="{2618F406-FF40-46BD-9D37-E9A78AF5D98E}" dt="2023-02-24T09:02:11.776" v="69" actId="2696"/>
        <pc:sldMkLst>
          <pc:docMk/>
          <pc:sldMk cId="3455735993" sldId="532"/>
        </pc:sldMkLst>
      </pc:sldChg>
      <pc:sldChg chg="modSp mod">
        <pc:chgData name="Prof. WU Dapeng" userId="766581d8-4b49-4c74-b70d-570e2257b99b" providerId="ADAL" clId="{2618F406-FF40-46BD-9D37-E9A78AF5D98E}" dt="2023-02-27T14:41:48.953" v="196" actId="15"/>
        <pc:sldMkLst>
          <pc:docMk/>
          <pc:sldMk cId="4236586207" sldId="553"/>
        </pc:sldMkLst>
        <pc:spChg chg="mod">
          <ac:chgData name="Prof. WU Dapeng" userId="766581d8-4b49-4c74-b70d-570e2257b99b" providerId="ADAL" clId="{2618F406-FF40-46BD-9D37-E9A78AF5D98E}" dt="2023-02-27T14:41:48.953" v="196" actId="15"/>
          <ac:spMkLst>
            <pc:docMk/>
            <pc:sldMk cId="4236586207" sldId="553"/>
            <ac:spMk id="403459" creationId="{00000000-0000-0000-0000-000000000000}"/>
          </ac:spMkLst>
        </pc:spChg>
        <pc:spChg chg="mod">
          <ac:chgData name="Prof. WU Dapeng" userId="766581d8-4b49-4c74-b70d-570e2257b99b" providerId="ADAL" clId="{2618F406-FF40-46BD-9D37-E9A78AF5D98E}" dt="2023-02-27T14:38:02.170" v="185" actId="21"/>
          <ac:spMkLst>
            <pc:docMk/>
            <pc:sldMk cId="4236586207" sldId="553"/>
            <ac:spMk id="403476" creationId="{00000000-0000-0000-0000-000000000000}"/>
          </ac:spMkLst>
        </pc:spChg>
      </pc:sldChg>
      <pc:sldChg chg="delSp modSp mod delAnim">
        <pc:chgData name="Prof. WU Dapeng" userId="766581d8-4b49-4c74-b70d-570e2257b99b" providerId="ADAL" clId="{2618F406-FF40-46BD-9D37-E9A78AF5D98E}" dt="2023-02-27T14:48:08.912" v="358" actId="20577"/>
        <pc:sldMkLst>
          <pc:docMk/>
          <pc:sldMk cId="3786049029" sldId="554"/>
        </pc:sldMkLst>
        <pc:spChg chg="mod">
          <ac:chgData name="Prof. WU Dapeng" userId="766581d8-4b49-4c74-b70d-570e2257b99b" providerId="ADAL" clId="{2618F406-FF40-46BD-9D37-E9A78AF5D98E}" dt="2023-02-27T14:48:08.912" v="358" actId="20577"/>
          <ac:spMkLst>
            <pc:docMk/>
            <pc:sldMk cId="3786049029" sldId="554"/>
            <ac:spMk id="404483" creationId="{00000000-0000-0000-0000-000000000000}"/>
          </ac:spMkLst>
        </pc:spChg>
        <pc:spChg chg="del">
          <ac:chgData name="Prof. WU Dapeng" userId="766581d8-4b49-4c74-b70d-570e2257b99b" providerId="ADAL" clId="{2618F406-FF40-46BD-9D37-E9A78AF5D98E}" dt="2023-02-27T14:41:11.516" v="191" actId="478"/>
          <ac:spMkLst>
            <pc:docMk/>
            <pc:sldMk cId="3786049029" sldId="554"/>
            <ac:spMk id="404498" creationId="{00000000-0000-0000-0000-000000000000}"/>
          </ac:spMkLst>
        </pc:spChg>
        <pc:spChg chg="del mod">
          <ac:chgData name="Prof. WU Dapeng" userId="766581d8-4b49-4c74-b70d-570e2257b99b" providerId="ADAL" clId="{2618F406-FF40-46BD-9D37-E9A78AF5D98E}" dt="2023-02-27T14:42:17.374" v="200" actId="478"/>
          <ac:spMkLst>
            <pc:docMk/>
            <pc:sldMk cId="3786049029" sldId="554"/>
            <ac:spMk id="404499" creationId="{00000000-0000-0000-0000-000000000000}"/>
          </ac:spMkLst>
        </pc:spChg>
      </pc:sldChg>
      <pc:sldChg chg="modSp mod modAnim">
        <pc:chgData name="Prof. WU Dapeng" userId="766581d8-4b49-4c74-b70d-570e2257b99b" providerId="ADAL" clId="{2618F406-FF40-46BD-9D37-E9A78AF5D98E}" dt="2023-02-28T06:43:03.989" v="542" actId="20577"/>
        <pc:sldMkLst>
          <pc:docMk/>
          <pc:sldMk cId="4161773742" sldId="555"/>
        </pc:sldMkLst>
        <pc:spChg chg="mod">
          <ac:chgData name="Prof. WU Dapeng" userId="766581d8-4b49-4c74-b70d-570e2257b99b" providerId="ADAL" clId="{2618F406-FF40-46BD-9D37-E9A78AF5D98E}" dt="2023-02-28T06:43:03.989" v="542" actId="20577"/>
          <ac:spMkLst>
            <pc:docMk/>
            <pc:sldMk cId="4161773742" sldId="555"/>
            <ac:spMk id="405506" creationId="{00000000-0000-0000-0000-000000000000}"/>
          </ac:spMkLst>
        </pc:spChg>
        <pc:spChg chg="mod">
          <ac:chgData name="Prof. WU Dapeng" userId="766581d8-4b49-4c74-b70d-570e2257b99b" providerId="ADAL" clId="{2618F406-FF40-46BD-9D37-E9A78AF5D98E}" dt="2023-02-28T03:53:33.148" v="388" actId="20577"/>
          <ac:spMkLst>
            <pc:docMk/>
            <pc:sldMk cId="4161773742" sldId="555"/>
            <ac:spMk id="405507" creationId="{00000000-0000-0000-0000-000000000000}"/>
          </ac:spMkLst>
        </pc:spChg>
        <pc:spChg chg="mod">
          <ac:chgData name="Prof. WU Dapeng" userId="766581d8-4b49-4c74-b70d-570e2257b99b" providerId="ADAL" clId="{2618F406-FF40-46BD-9D37-E9A78AF5D98E}" dt="2023-02-28T03:55:22.962" v="410" actId="20577"/>
          <ac:spMkLst>
            <pc:docMk/>
            <pc:sldMk cId="4161773742" sldId="555"/>
            <ac:spMk id="405524" creationId="{00000000-0000-0000-0000-000000000000}"/>
          </ac:spMkLst>
        </pc:spChg>
      </pc:sldChg>
      <pc:sldChg chg="modSp mod">
        <pc:chgData name="Prof. WU Dapeng" userId="766581d8-4b49-4c74-b70d-570e2257b99b" providerId="ADAL" clId="{2618F406-FF40-46BD-9D37-E9A78AF5D98E}" dt="2023-02-28T04:04:38.336" v="531" actId="20577"/>
        <pc:sldMkLst>
          <pc:docMk/>
          <pc:sldMk cId="2329478176" sldId="556"/>
        </pc:sldMkLst>
        <pc:spChg chg="mod">
          <ac:chgData name="Prof. WU Dapeng" userId="766581d8-4b49-4c74-b70d-570e2257b99b" providerId="ADAL" clId="{2618F406-FF40-46BD-9D37-E9A78AF5D98E}" dt="2023-02-28T03:57:41.653" v="418"/>
          <ac:spMkLst>
            <pc:docMk/>
            <pc:sldMk cId="2329478176" sldId="556"/>
            <ac:spMk id="406531" creationId="{00000000-0000-0000-0000-000000000000}"/>
          </ac:spMkLst>
        </pc:spChg>
        <pc:spChg chg="mod">
          <ac:chgData name="Prof. WU Dapeng" userId="766581d8-4b49-4c74-b70d-570e2257b99b" providerId="ADAL" clId="{2618F406-FF40-46BD-9D37-E9A78AF5D98E}" dt="2023-02-28T03:58:13.461" v="419"/>
          <ac:spMkLst>
            <pc:docMk/>
            <pc:sldMk cId="2329478176" sldId="556"/>
            <ac:spMk id="406532" creationId="{00000000-0000-0000-0000-000000000000}"/>
          </ac:spMkLst>
        </pc:spChg>
        <pc:spChg chg="mod">
          <ac:chgData name="Prof. WU Dapeng" userId="766581d8-4b49-4c74-b70d-570e2257b99b" providerId="ADAL" clId="{2618F406-FF40-46BD-9D37-E9A78AF5D98E}" dt="2023-02-28T04:04:38.336" v="531" actId="20577"/>
          <ac:spMkLst>
            <pc:docMk/>
            <pc:sldMk cId="2329478176" sldId="556"/>
            <ac:spMk id="406533" creationId="{00000000-0000-0000-0000-000000000000}"/>
          </ac:spMkLst>
        </pc:spChg>
      </pc:sldChg>
    </pc:docChg>
  </pc:docChgLst>
  <pc:docChgLst>
    <pc:chgData name="Prof. WU Dapeng" userId="766581d8-4b49-4c74-b70d-570e2257b99b" providerId="ADAL" clId="{6A051F08-63FE-400D-ACC2-76370F283430}"/>
    <pc:docChg chg="modSld">
      <pc:chgData name="Prof. WU Dapeng" userId="766581d8-4b49-4c74-b70d-570e2257b99b" providerId="ADAL" clId="{6A051F08-63FE-400D-ACC2-76370F283430}" dt="2023-08-27T19:46:56.097" v="0"/>
      <pc:docMkLst>
        <pc:docMk/>
      </pc:docMkLst>
      <pc:sldChg chg="modSp mod">
        <pc:chgData name="Prof. WU Dapeng" userId="766581d8-4b49-4c74-b70d-570e2257b99b" providerId="ADAL" clId="{6A051F08-63FE-400D-ACC2-76370F283430}" dt="2023-08-27T19:46:56.097" v="0"/>
        <pc:sldMkLst>
          <pc:docMk/>
          <pc:sldMk cId="0" sldId="498"/>
        </pc:sldMkLst>
        <pc:spChg chg="mod">
          <ac:chgData name="Prof. WU Dapeng" userId="766581d8-4b49-4c74-b70d-570e2257b99b" providerId="ADAL" clId="{6A051F08-63FE-400D-ACC2-76370F283430}" dt="2023-08-27T19:46:56.097" v="0"/>
          <ac:spMkLst>
            <pc:docMk/>
            <pc:sldMk cId="0" sldId="498"/>
            <ac:spMk id="6146" creationId="{755B4B3F-1C3D-927E-1ED2-99274895B418}"/>
          </ac:spMkLst>
        </pc:spChg>
      </pc:sldChg>
    </pc:docChg>
  </pc:docChgLst>
  <pc:docChgLst>
    <pc:chgData name="Prof. WU Dapeng" userId="766581d8-4b49-4c74-b70d-570e2257b99b" providerId="ADAL" clId="{8B830793-3F7B-4519-B06D-CC10049A1769}"/>
    <pc:docChg chg="modSld">
      <pc:chgData name="Prof. WU Dapeng" userId="766581d8-4b49-4c74-b70d-570e2257b99b" providerId="ADAL" clId="{8B830793-3F7B-4519-B06D-CC10049A1769}" dt="2025-10-14T08:49:54.179" v="9" actId="20577"/>
      <pc:docMkLst>
        <pc:docMk/>
      </pc:docMkLst>
      <pc:sldChg chg="modSp mod">
        <pc:chgData name="Prof. WU Dapeng" userId="766581d8-4b49-4c74-b70d-570e2257b99b" providerId="ADAL" clId="{8B830793-3F7B-4519-B06D-CC10049A1769}" dt="2025-10-14T08:01:31.406" v="3" actId="20577"/>
        <pc:sldMkLst>
          <pc:docMk/>
          <pc:sldMk cId="0" sldId="498"/>
        </pc:sldMkLst>
        <pc:spChg chg="mod">
          <ac:chgData name="Prof. WU Dapeng" userId="766581d8-4b49-4c74-b70d-570e2257b99b" providerId="ADAL" clId="{8B830793-3F7B-4519-B06D-CC10049A1769}" dt="2025-10-14T08:01:31.406" v="3" actId="20577"/>
          <ac:spMkLst>
            <pc:docMk/>
            <pc:sldMk cId="0" sldId="498"/>
            <ac:spMk id="6146" creationId="{755B4B3F-1C3D-927E-1ED2-99274895B418}"/>
          </ac:spMkLst>
        </pc:spChg>
      </pc:sldChg>
      <pc:sldChg chg="modSp mod">
        <pc:chgData name="Prof. WU Dapeng" userId="766581d8-4b49-4c74-b70d-570e2257b99b" providerId="ADAL" clId="{8B830793-3F7B-4519-B06D-CC10049A1769}" dt="2025-10-14T08:49:54.179" v="9" actId="20577"/>
        <pc:sldMkLst>
          <pc:docMk/>
          <pc:sldMk cId="977779704" sldId="552"/>
        </pc:sldMkLst>
        <pc:spChg chg="mod">
          <ac:chgData name="Prof. WU Dapeng" userId="766581d8-4b49-4c74-b70d-570e2257b99b" providerId="ADAL" clId="{8B830793-3F7B-4519-B06D-CC10049A1769}" dt="2025-10-14T08:49:54.179" v="9" actId="20577"/>
          <ac:spMkLst>
            <pc:docMk/>
            <pc:sldMk cId="977779704" sldId="552"/>
            <ac:spMk id="402435" creationId="{00000000-0000-0000-0000-000000000000}"/>
          </ac:spMkLst>
        </pc:spChg>
      </pc:sldChg>
    </pc:docChg>
  </pc:docChgLst>
  <pc:docChgLst>
    <pc:chgData name="Dapeng" userId="766581d8-4b49-4c74-b70d-570e2257b99b" providerId="ADAL" clId="{B0EE56B9-534F-40B9-BC9B-E18080C980A6}"/>
    <pc:docChg chg="modSld">
      <pc:chgData name="Dapeng" userId="766581d8-4b49-4c74-b70d-570e2257b99b" providerId="ADAL" clId="{B0EE56B9-534F-40B9-BC9B-E18080C980A6}" dt="2024-08-31T07:05:02.333" v="3" actId="20577"/>
      <pc:docMkLst>
        <pc:docMk/>
      </pc:docMkLst>
      <pc:sldChg chg="modSp mod">
        <pc:chgData name="Dapeng" userId="766581d8-4b49-4c74-b70d-570e2257b99b" providerId="ADAL" clId="{B0EE56B9-534F-40B9-BC9B-E18080C980A6}" dt="2024-08-31T07:05:02.333" v="3" actId="20577"/>
        <pc:sldMkLst>
          <pc:docMk/>
          <pc:sldMk cId="0" sldId="498"/>
        </pc:sldMkLst>
        <pc:spChg chg="mod">
          <ac:chgData name="Dapeng" userId="766581d8-4b49-4c74-b70d-570e2257b99b" providerId="ADAL" clId="{B0EE56B9-534F-40B9-BC9B-E18080C980A6}" dt="2024-08-31T07:05:02.333" v="3" actId="20577"/>
          <ac:spMkLst>
            <pc:docMk/>
            <pc:sldMk cId="0" sldId="498"/>
            <ac:spMk id="6146" creationId="{755B4B3F-1C3D-927E-1ED2-99274895B4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75" cy="4984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862" y="0"/>
            <a:ext cx="2946275" cy="49844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2D12A-B0AA-4221-8D13-8FBEC88A6F5F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80"/>
            <a:ext cx="2946275" cy="4984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862" y="9429780"/>
            <a:ext cx="2946275" cy="49844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7CC36-21EA-46E4-AF0F-54418E3856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006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86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A151658E-0B71-4434-DFB4-41BC10ABD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9477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4773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47A9DF-152B-4AEC-BF36-9E524F5D87A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EF1B46B6-127E-BDD5-6080-A0D6ADC9FB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636F34A0-05B3-6623-F909-DB061325E3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9DF41F-8483-408D-BE6C-C8117F745841}" type="slidenum">
              <a:rPr lang="en-US"/>
              <a:pPr/>
              <a:t>3</a:t>
            </a:fld>
            <a:endParaRPr lang="en-US"/>
          </a:p>
        </p:txBody>
      </p:sp>
      <p:sp>
        <p:nvSpPr>
          <p:cNvPr id="491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96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8873A7-87E4-420C-96F6-58DFB1FC7D6C}" type="slidenum">
              <a:rPr lang="en-US"/>
              <a:pPr/>
              <a:t>4</a:t>
            </a:fld>
            <a:endParaRPr lang="en-US"/>
          </a:p>
        </p:txBody>
      </p:sp>
      <p:sp>
        <p:nvSpPr>
          <p:cNvPr id="492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2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8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086F30-5E83-4849-BF0D-B0D4FC2EC547}" type="slidenum">
              <a:rPr lang="en-US"/>
              <a:pPr/>
              <a:t>5</a:t>
            </a:fld>
            <a:endParaRPr lang="en-US"/>
          </a:p>
        </p:txBody>
      </p:sp>
      <p:sp>
        <p:nvSpPr>
          <p:cNvPr id="495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47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3841FB-E06A-4D96-8961-B3D6010EB212}" type="slidenum">
              <a:rPr lang="en-US"/>
              <a:pPr/>
              <a:t>6</a:t>
            </a:fld>
            <a:endParaRPr lang="en-US"/>
          </a:p>
        </p:txBody>
      </p:sp>
      <p:sp>
        <p:nvSpPr>
          <p:cNvPr id="496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01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E63219-480C-49BE-A056-623C42F0679C}" type="slidenum">
              <a:rPr lang="en-US"/>
              <a:pPr/>
              <a:t>7</a:t>
            </a:fld>
            <a:endParaRPr lang="en-US"/>
          </a:p>
        </p:txBody>
      </p:sp>
      <p:sp>
        <p:nvSpPr>
          <p:cNvPr id="4976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738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B643DC-E903-4A92-9CBE-2A336786E449}" type="slidenum">
              <a:rPr lang="en-US"/>
              <a:pPr/>
              <a:t>8</a:t>
            </a:fld>
            <a:endParaRPr lang="en-US"/>
          </a:p>
        </p:txBody>
      </p:sp>
      <p:sp>
        <p:nvSpPr>
          <p:cNvPr id="498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8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922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37FD42-65E1-4693-B87B-93E2F143EBFB}" type="slidenum">
              <a:rPr lang="en-US"/>
              <a:pPr/>
              <a:t>9</a:t>
            </a:fld>
            <a:endParaRPr lang="en-US"/>
          </a:p>
        </p:txBody>
      </p:sp>
      <p:sp>
        <p:nvSpPr>
          <p:cNvPr id="499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780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EB678C-E7DE-407E-9C53-D0713641D6B0}" type="slidenum">
              <a:rPr lang="en-US"/>
              <a:pPr/>
              <a:t>10</a:t>
            </a:fld>
            <a:endParaRPr lang="en-US"/>
          </a:p>
        </p:txBody>
      </p:sp>
      <p:sp>
        <p:nvSpPr>
          <p:cNvPr id="500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927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Shearing:</a:t>
            </a:r>
          </a:p>
          <a:p>
            <a:endParaRPr lang="en-US" dirty="0"/>
          </a:p>
          <a:p>
            <a:r>
              <a:rPr lang="en-US" dirty="0"/>
              <a:t>1</a:t>
            </a:r>
            <a:r>
              <a:rPr lang="en-US" baseline="0" dirty="0"/>
              <a:t>  K</a:t>
            </a:r>
          </a:p>
          <a:p>
            <a:r>
              <a:rPr lang="en-US" baseline="0" dirty="0"/>
              <a:t>0  1</a:t>
            </a:r>
          </a:p>
          <a:p>
            <a:endParaRPr lang="en-US" baseline="0" dirty="0"/>
          </a:p>
          <a:p>
            <a:r>
              <a:rPr lang="en-US" baseline="0" dirty="0"/>
              <a:t>Or</a:t>
            </a:r>
          </a:p>
          <a:p>
            <a:endParaRPr lang="en-US" baseline="0" dirty="0"/>
          </a:p>
          <a:p>
            <a:r>
              <a:rPr lang="en-US" dirty="0"/>
              <a:t>1</a:t>
            </a:r>
            <a:r>
              <a:rPr lang="en-US" baseline="0" dirty="0"/>
              <a:t>  0</a:t>
            </a:r>
          </a:p>
          <a:p>
            <a:r>
              <a:rPr lang="en-US" baseline="0" dirty="0"/>
              <a:t>K 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1948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There are several vectors that give the</a:t>
            </a:r>
            <a:r>
              <a:rPr lang="en-US" baseline="0" dirty="0"/>
              <a:t> same projection:</a:t>
            </a:r>
          </a:p>
          <a:p>
            <a:r>
              <a:rPr lang="en-US" baseline="0" dirty="0"/>
              <a:t>v = (3,2,1) =&gt; (3,2)</a:t>
            </a:r>
          </a:p>
          <a:p>
            <a:r>
              <a:rPr lang="en-US" baseline="0" dirty="0"/>
              <a:t>v = (6,4,2) =&gt; (6/2,4/2) = (3,2) </a:t>
            </a:r>
          </a:p>
          <a:p>
            <a:endParaRPr lang="en-US" baseline="0" dirty="0"/>
          </a:p>
          <a:p>
            <a:r>
              <a:rPr lang="en-US" baseline="0" dirty="0"/>
              <a:t>v = (6,9,3) =&gt; (2,3)</a:t>
            </a:r>
          </a:p>
          <a:p>
            <a:r>
              <a:rPr lang="en-US" baseline="0" dirty="0"/>
              <a:t>v = (4,6,2) =&gt; (2,3)</a:t>
            </a:r>
          </a:p>
          <a:p>
            <a:endParaRPr lang="en-US" baseline="0" dirty="0"/>
          </a:p>
          <a:p>
            <a:r>
              <a:rPr lang="en-US" baseline="0" dirty="0"/>
              <a:t>We can write:</a:t>
            </a:r>
          </a:p>
          <a:p>
            <a:r>
              <a:rPr lang="en-US" baseline="0" dirty="0"/>
              <a:t>v = \lambda v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2518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61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EA70-0FB7-4211-9DBB-572F0519999E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EE7E9-99D6-43FE-8FF9-73C6F5832E3B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9E710-1EC9-49AD-A41D-1F315FE2AD50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D05C-0BB1-40D2-9003-0FB4FE776335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37662-C4AD-4C36-8B60-9EE09835FEC1}" type="datetime1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E916-33B5-4F4D-9AE9-22294D60B799}" type="datetime1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6E54C-3417-42FF-BA0E-D277F17D5FAE}" type="datetime1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FFAE-D051-42F5-B6ED-C4F920A4C357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495C2-E224-49E0-8BCC-1834D84570D7}" type="datetime1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A613A-8A1C-4728-9CA4-241F9C49121A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061C8-9B27-4628-A816-2FF0A7CBBBDB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433456-C4C1-565F-F191-280C8538C333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B017622-5D87-B3A7-AB62-C0BAA48AC7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DBC3600B-D1F0-2D1F-E68C-6300C8D75D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311AA45A-9763-6A52-AA76-CF9D096B4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EC0283C-F593-BDD0-4B7F-D0E8799DD0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88DAA44-8A7A-1720-AED1-E524F1F20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4FA3B63-FBFF-1C36-6F13-BD533307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defRPr/>
                </a:pPr>
                <a:endParaRPr lang="en-US" altLang="en-US" sz="1795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A596DC4B-D776-DF22-4BFF-0E6230BD11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8CD06715-64E0-F349-1D3F-696A49E8B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BAF6723A-DC40-B39A-ADD5-86B775FE171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defRPr/>
              </a:pPr>
              <a:endParaRPr lang="en-US" altLang="en-US" sz="1795"/>
            </a:p>
          </p:txBody>
        </p:sp>
      </p:grpSp>
      <p:sp>
        <p:nvSpPr>
          <p:cNvPr id="573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1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3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1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3256826A-240B-8005-0856-09033016575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397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Rectangle 17">
            <a:extLst>
              <a:ext uri="{FF2B5EF4-FFF2-40B4-BE49-F238E27FC236}">
                <a16:creationId xmlns:a16="http://schemas.microsoft.com/office/drawing/2014/main" id="{B38B3953-530B-59F5-75DD-2053D4A13F9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397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29D019F-E31D-4DFB-BE7B-7A066EDCF6CA}" type="datetime1">
              <a:rPr lang="en-US" smtClean="0"/>
              <a:t>10/14/2025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724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5360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399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1995"/>
            </a:lvl1pPr>
            <a:lvl2pPr marL="456057" indent="0">
              <a:buNone/>
              <a:defRPr sz="1795"/>
            </a:lvl2pPr>
            <a:lvl3pPr marL="912114" indent="0">
              <a:buNone/>
              <a:defRPr sz="1596"/>
            </a:lvl3pPr>
            <a:lvl4pPr marL="1368171" indent="0">
              <a:buNone/>
              <a:defRPr sz="1397"/>
            </a:lvl4pPr>
            <a:lvl5pPr marL="1824228" indent="0">
              <a:buNone/>
              <a:defRPr sz="1397"/>
            </a:lvl5pPr>
            <a:lvl6pPr marL="2280285" indent="0">
              <a:buNone/>
              <a:defRPr sz="1397"/>
            </a:lvl6pPr>
            <a:lvl7pPr marL="2736342" indent="0">
              <a:buNone/>
              <a:defRPr sz="1397"/>
            </a:lvl7pPr>
            <a:lvl8pPr marL="3192399" indent="0">
              <a:buNone/>
              <a:defRPr sz="1397"/>
            </a:lvl8pPr>
            <a:lvl9pPr marL="3648456" indent="0">
              <a:buNone/>
              <a:defRPr sz="13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8963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81201"/>
            <a:ext cx="3886200" cy="4535488"/>
          </a:xfrm>
        </p:spPr>
        <p:txBody>
          <a:bodyPr/>
          <a:lstStyle>
            <a:lvl1pPr>
              <a:defRPr sz="2793"/>
            </a:lvl1pPr>
            <a:lvl2pPr>
              <a:defRPr sz="2394"/>
            </a:lvl2pPr>
            <a:lvl3pPr>
              <a:defRPr sz="1995"/>
            </a:lvl3pPr>
            <a:lvl4pPr>
              <a:defRPr sz="1795"/>
            </a:lvl4pPr>
            <a:lvl5pPr>
              <a:defRPr sz="1795"/>
            </a:lvl5pPr>
            <a:lvl6pPr>
              <a:defRPr sz="1795"/>
            </a:lvl6pPr>
            <a:lvl7pPr>
              <a:defRPr sz="1795"/>
            </a:lvl7pPr>
            <a:lvl8pPr>
              <a:defRPr sz="1795"/>
            </a:lvl8pPr>
            <a:lvl9pPr>
              <a:defRPr sz="17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981201"/>
            <a:ext cx="3886200" cy="4535488"/>
          </a:xfrm>
        </p:spPr>
        <p:txBody>
          <a:bodyPr/>
          <a:lstStyle>
            <a:lvl1pPr>
              <a:defRPr sz="2793"/>
            </a:lvl1pPr>
            <a:lvl2pPr>
              <a:defRPr sz="2394"/>
            </a:lvl2pPr>
            <a:lvl3pPr>
              <a:defRPr sz="1995"/>
            </a:lvl3pPr>
            <a:lvl4pPr>
              <a:defRPr sz="1795"/>
            </a:lvl4pPr>
            <a:lvl5pPr>
              <a:defRPr sz="1795"/>
            </a:lvl5pPr>
            <a:lvl6pPr>
              <a:defRPr sz="1795"/>
            </a:lvl6pPr>
            <a:lvl7pPr>
              <a:defRPr sz="1795"/>
            </a:lvl7pPr>
            <a:lvl8pPr>
              <a:defRPr sz="1795"/>
            </a:lvl8pPr>
            <a:lvl9pPr>
              <a:defRPr sz="17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7363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394"/>
            </a:lvl1pPr>
            <a:lvl2pPr>
              <a:defRPr sz="1995"/>
            </a:lvl2pPr>
            <a:lvl3pPr>
              <a:defRPr sz="179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394" b="1"/>
            </a:lvl1pPr>
            <a:lvl2pPr marL="456057" indent="0">
              <a:buNone/>
              <a:defRPr sz="1995" b="1"/>
            </a:lvl2pPr>
            <a:lvl3pPr marL="912114" indent="0">
              <a:buNone/>
              <a:defRPr sz="1795" b="1"/>
            </a:lvl3pPr>
            <a:lvl4pPr marL="1368171" indent="0">
              <a:buNone/>
              <a:defRPr sz="1596" b="1"/>
            </a:lvl4pPr>
            <a:lvl5pPr marL="1824228" indent="0">
              <a:buNone/>
              <a:defRPr sz="1596" b="1"/>
            </a:lvl5pPr>
            <a:lvl6pPr marL="2280285" indent="0">
              <a:buNone/>
              <a:defRPr sz="1596" b="1"/>
            </a:lvl6pPr>
            <a:lvl7pPr marL="2736342" indent="0">
              <a:buNone/>
              <a:defRPr sz="1596" b="1"/>
            </a:lvl7pPr>
            <a:lvl8pPr marL="3192399" indent="0">
              <a:buNone/>
              <a:defRPr sz="1596" b="1"/>
            </a:lvl8pPr>
            <a:lvl9pPr marL="3648456" indent="0">
              <a:buNone/>
              <a:defRPr sz="15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394"/>
            </a:lvl1pPr>
            <a:lvl2pPr>
              <a:defRPr sz="1995"/>
            </a:lvl2pPr>
            <a:lvl3pPr>
              <a:defRPr sz="1795"/>
            </a:lvl3pPr>
            <a:lvl4pPr>
              <a:defRPr sz="1596"/>
            </a:lvl4pPr>
            <a:lvl5pPr>
              <a:defRPr sz="1596"/>
            </a:lvl5pPr>
            <a:lvl6pPr>
              <a:defRPr sz="1596"/>
            </a:lvl6pPr>
            <a:lvl7pPr>
              <a:defRPr sz="1596"/>
            </a:lvl7pPr>
            <a:lvl8pPr>
              <a:defRPr sz="1596"/>
            </a:lvl8pPr>
            <a:lvl9pPr>
              <a:defRPr sz="159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3976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599645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688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/>
          <a:lstStyle>
            <a:lvl1pPr algn="l">
              <a:defRPr sz="199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192"/>
            </a:lvl1pPr>
            <a:lvl2pPr>
              <a:defRPr sz="2793"/>
            </a:lvl2pPr>
            <a:lvl3pPr>
              <a:defRPr sz="2394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397"/>
            </a:lvl1pPr>
            <a:lvl2pPr marL="456057" indent="0">
              <a:buNone/>
              <a:defRPr sz="1197"/>
            </a:lvl2pPr>
            <a:lvl3pPr marL="912114" indent="0">
              <a:buNone/>
              <a:defRPr sz="998"/>
            </a:lvl3pPr>
            <a:lvl4pPr marL="1368171" indent="0">
              <a:buNone/>
              <a:defRPr sz="898"/>
            </a:lvl4pPr>
            <a:lvl5pPr marL="1824228" indent="0">
              <a:buNone/>
              <a:defRPr sz="898"/>
            </a:lvl5pPr>
            <a:lvl6pPr marL="2280285" indent="0">
              <a:buNone/>
              <a:defRPr sz="898"/>
            </a:lvl6pPr>
            <a:lvl7pPr marL="2736342" indent="0">
              <a:buNone/>
              <a:defRPr sz="898"/>
            </a:lvl7pPr>
            <a:lvl8pPr marL="3192399" indent="0">
              <a:buNone/>
              <a:defRPr sz="898"/>
            </a:lvl8pPr>
            <a:lvl9pPr marL="364845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8926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199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192"/>
            </a:lvl1pPr>
            <a:lvl2pPr marL="456057" indent="0">
              <a:buNone/>
              <a:defRPr sz="2793"/>
            </a:lvl2pPr>
            <a:lvl3pPr marL="912114" indent="0">
              <a:buNone/>
              <a:defRPr sz="2394"/>
            </a:lvl3pPr>
            <a:lvl4pPr marL="1368171" indent="0">
              <a:buNone/>
              <a:defRPr sz="1995"/>
            </a:lvl4pPr>
            <a:lvl5pPr marL="1824228" indent="0">
              <a:buNone/>
              <a:defRPr sz="1995"/>
            </a:lvl5pPr>
            <a:lvl6pPr marL="2280285" indent="0">
              <a:buNone/>
              <a:defRPr sz="1995"/>
            </a:lvl6pPr>
            <a:lvl7pPr marL="2736342" indent="0">
              <a:buNone/>
              <a:defRPr sz="1995"/>
            </a:lvl7pPr>
            <a:lvl8pPr marL="3192399" indent="0">
              <a:buNone/>
              <a:defRPr sz="1995"/>
            </a:lvl8pPr>
            <a:lvl9pPr marL="3648456" indent="0">
              <a:buNone/>
              <a:defRPr sz="1995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397"/>
            </a:lvl1pPr>
            <a:lvl2pPr marL="456057" indent="0">
              <a:buNone/>
              <a:defRPr sz="1197"/>
            </a:lvl2pPr>
            <a:lvl3pPr marL="912114" indent="0">
              <a:buNone/>
              <a:defRPr sz="998"/>
            </a:lvl3pPr>
            <a:lvl4pPr marL="1368171" indent="0">
              <a:buNone/>
              <a:defRPr sz="898"/>
            </a:lvl4pPr>
            <a:lvl5pPr marL="1824228" indent="0">
              <a:buNone/>
              <a:defRPr sz="898"/>
            </a:lvl5pPr>
            <a:lvl6pPr marL="2280285" indent="0">
              <a:buNone/>
              <a:defRPr sz="898"/>
            </a:lvl6pPr>
            <a:lvl7pPr marL="2736342" indent="0">
              <a:buNone/>
              <a:defRPr sz="898"/>
            </a:lvl7pPr>
            <a:lvl8pPr marL="3192399" indent="0">
              <a:buNone/>
              <a:defRPr sz="898"/>
            </a:lvl8pPr>
            <a:lvl9pPr marL="3648456" indent="0">
              <a:buNone/>
              <a:defRPr sz="89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46092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990135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04800"/>
            <a:ext cx="1981200" cy="6211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4800"/>
            <a:ext cx="5791200" cy="6211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3210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3D5E2-659B-474A-9C9E-BB813DF67340}" type="datetime1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2E4C1FD-48CA-EF6B-CDC9-79B6A5032D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9144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7B5B71D-D90C-CB27-EA02-35B75F7E80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9929771-D650-55A6-41BD-05224FFA195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5925" y="1219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B1490FA-33CA-562E-CE45-99FDFFA58A0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0" y="12192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0F48C85F-B560-AC77-9481-252F834947B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213" y="1066800"/>
            <a:ext cx="560387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CCA5A6A1-84E4-A5C7-8116-A1AC5A9EF9F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5334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0B77DABB-736B-1C1D-31CF-96903EA2D6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457200" y="13716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kumimoji="1" lang="en-US" altLang="en-US" sz="1795"/>
          </a:p>
        </p:txBody>
      </p:sp>
      <p:sp>
        <p:nvSpPr>
          <p:cNvPr id="13321" name="Rectangle 9">
            <a:extLst>
              <a:ext uri="{FF2B5EF4-FFF2-40B4-BE49-F238E27FC236}">
                <a16:creationId xmlns:a16="http://schemas.microsoft.com/office/drawing/2014/main" id="{C0C4E697-C1E3-FD3A-39AE-3692587AF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779303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3322" name="Rectangle 10">
            <a:extLst>
              <a:ext uri="{FF2B5EF4-FFF2-40B4-BE49-F238E27FC236}">
                <a16:creationId xmlns:a16="http://schemas.microsoft.com/office/drawing/2014/main" id="{E91A416F-C803-6604-3933-DF6BC0E6F7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81200"/>
            <a:ext cx="7924800" cy="4535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B9ED297A-FB42-374F-C1CF-0FEC9865A6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05800" y="6553200"/>
            <a:ext cx="400050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fld id="{2004E158-F89E-444D-A8CD-4439976CD804}" type="slidenum">
              <a:rPr lang="en-GB" altLang="en-US" sz="1397" smtClean="0">
                <a:solidFill>
                  <a:srgbClr val="0000FF"/>
                </a:solidFill>
              </a:rPr>
              <a:pPr>
                <a:defRPr/>
              </a:pPr>
              <a:t>‹#›</a:t>
            </a:fld>
            <a:endParaRPr lang="en-US" altLang="en-US" sz="1397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857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100">
          <a:solidFill>
            <a:schemeClr val="tx2"/>
          </a:solidFill>
          <a:latin typeface="Arial" charset="0"/>
        </a:defRPr>
      </a:lvl5pPr>
      <a:lvl6pPr marL="456057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6pPr>
      <a:lvl7pPr marL="912114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7pPr>
      <a:lvl8pPr marL="1368171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8pPr>
      <a:lvl9pPr marL="1824228" algn="ctr" rtl="0" fontAlgn="base">
        <a:spcBef>
          <a:spcPct val="0"/>
        </a:spcBef>
        <a:spcAft>
          <a:spcPct val="0"/>
        </a:spcAft>
        <a:defRPr sz="3192">
          <a:solidFill>
            <a:schemeClr val="tx2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41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300">
          <a:solidFill>
            <a:schemeClr val="tx1"/>
          </a:solidFill>
          <a:latin typeface="+mn-lt"/>
        </a:defRPr>
      </a:lvl2pPr>
      <a:lvl3pPr marL="1139825" indent="-2270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3pPr>
      <a:lvl4pPr marL="1595438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4pPr>
      <a:lvl5pPr marL="205105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1900">
          <a:solidFill>
            <a:schemeClr val="tx1"/>
          </a:solidFill>
          <a:latin typeface="+mn-lt"/>
        </a:defRPr>
      </a:lvl5pPr>
      <a:lvl6pPr marL="2508314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6pPr>
      <a:lvl7pPr marL="2964371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7pPr>
      <a:lvl8pPr marL="3420428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8pPr>
      <a:lvl9pPr marL="3876485" indent="-22802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1995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6057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2114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171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228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342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399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456" algn="l" defTabSz="912114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notesSlide" Target="../notesSlides/notesSlide2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slideLayout" Target="../slideLayouts/slideLayout2.xml"/><Relationship Id="rId8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tags" Target="../tags/tag52.xml"/><Relationship Id="rId3" Type="http://schemas.openxmlformats.org/officeDocument/2006/relationships/tags" Target="../tags/tag37.xml"/><Relationship Id="rId21" Type="http://schemas.openxmlformats.org/officeDocument/2006/relationships/image" Target="../media/image3.jpeg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20" Type="http://schemas.openxmlformats.org/officeDocument/2006/relationships/notesSlide" Target="../notesSlides/notesSlide3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tags" Target="../tags/tag70.xml"/><Relationship Id="rId3" Type="http://schemas.openxmlformats.org/officeDocument/2006/relationships/tags" Target="../tags/tag55.xml"/><Relationship Id="rId21" Type="http://schemas.openxmlformats.org/officeDocument/2006/relationships/slideLayout" Target="../slideLayouts/slideLayout2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20" Type="http://schemas.openxmlformats.org/officeDocument/2006/relationships/tags" Target="../tags/tag72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24" Type="http://schemas.openxmlformats.org/officeDocument/2006/relationships/image" Target="../media/image4.png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23" Type="http://schemas.openxmlformats.org/officeDocument/2006/relationships/image" Target="../media/image3.jpeg"/><Relationship Id="rId10" Type="http://schemas.openxmlformats.org/officeDocument/2006/relationships/tags" Target="../tags/tag62.xml"/><Relationship Id="rId19" Type="http://schemas.openxmlformats.org/officeDocument/2006/relationships/tags" Target="../tags/tag71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Relationship Id="rId2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" Type="http://schemas.openxmlformats.org/officeDocument/2006/relationships/tags" Target="../tags/tag75.xml"/><Relationship Id="rId21" Type="http://schemas.openxmlformats.org/officeDocument/2006/relationships/tags" Target="../tags/tag93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5" Type="http://schemas.openxmlformats.org/officeDocument/2006/relationships/image" Target="../media/image4.png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20" Type="http://schemas.openxmlformats.org/officeDocument/2006/relationships/tags" Target="../tags/tag92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24" Type="http://schemas.openxmlformats.org/officeDocument/2006/relationships/image" Target="../media/image3.jpeg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23" Type="http://schemas.openxmlformats.org/officeDocument/2006/relationships/notesSlide" Target="../notesSlides/notesSlide5.xml"/><Relationship Id="rId10" Type="http://schemas.openxmlformats.org/officeDocument/2006/relationships/tags" Target="../tags/tag82.xml"/><Relationship Id="rId19" Type="http://schemas.openxmlformats.org/officeDocument/2006/relationships/tags" Target="../tags/tag91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Relationship Id="rId2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06.xml"/><Relationship Id="rId18" Type="http://schemas.openxmlformats.org/officeDocument/2006/relationships/tags" Target="../tags/tag111.xml"/><Relationship Id="rId26" Type="http://schemas.openxmlformats.org/officeDocument/2006/relationships/tags" Target="../tags/tag119.xml"/><Relationship Id="rId21" Type="http://schemas.openxmlformats.org/officeDocument/2006/relationships/tags" Target="../tags/tag114.xml"/><Relationship Id="rId34" Type="http://schemas.openxmlformats.org/officeDocument/2006/relationships/tags" Target="../tags/tag127.xml"/><Relationship Id="rId7" Type="http://schemas.openxmlformats.org/officeDocument/2006/relationships/tags" Target="../tags/tag100.xml"/><Relationship Id="rId12" Type="http://schemas.openxmlformats.org/officeDocument/2006/relationships/tags" Target="../tags/tag105.xml"/><Relationship Id="rId17" Type="http://schemas.openxmlformats.org/officeDocument/2006/relationships/tags" Target="../tags/tag110.xml"/><Relationship Id="rId25" Type="http://schemas.openxmlformats.org/officeDocument/2006/relationships/tags" Target="../tags/tag118.xml"/><Relationship Id="rId33" Type="http://schemas.openxmlformats.org/officeDocument/2006/relationships/tags" Target="../tags/tag126.xml"/><Relationship Id="rId38" Type="http://schemas.openxmlformats.org/officeDocument/2006/relationships/notesSlide" Target="../notesSlides/notesSlide6.xml"/><Relationship Id="rId2" Type="http://schemas.openxmlformats.org/officeDocument/2006/relationships/tags" Target="../tags/tag95.xml"/><Relationship Id="rId16" Type="http://schemas.openxmlformats.org/officeDocument/2006/relationships/tags" Target="../tags/tag109.xml"/><Relationship Id="rId20" Type="http://schemas.openxmlformats.org/officeDocument/2006/relationships/tags" Target="../tags/tag113.xml"/><Relationship Id="rId29" Type="http://schemas.openxmlformats.org/officeDocument/2006/relationships/tags" Target="../tags/tag122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tags" Target="../tags/tag104.xml"/><Relationship Id="rId24" Type="http://schemas.openxmlformats.org/officeDocument/2006/relationships/tags" Target="../tags/tag117.xml"/><Relationship Id="rId32" Type="http://schemas.openxmlformats.org/officeDocument/2006/relationships/tags" Target="../tags/tag125.xml"/><Relationship Id="rId37" Type="http://schemas.openxmlformats.org/officeDocument/2006/relationships/slideLayout" Target="../slideLayouts/slideLayout2.xml"/><Relationship Id="rId5" Type="http://schemas.openxmlformats.org/officeDocument/2006/relationships/tags" Target="../tags/tag98.xml"/><Relationship Id="rId15" Type="http://schemas.openxmlformats.org/officeDocument/2006/relationships/tags" Target="../tags/tag108.xml"/><Relationship Id="rId23" Type="http://schemas.openxmlformats.org/officeDocument/2006/relationships/tags" Target="../tags/tag116.xml"/><Relationship Id="rId28" Type="http://schemas.openxmlformats.org/officeDocument/2006/relationships/tags" Target="../tags/tag121.xml"/><Relationship Id="rId36" Type="http://schemas.openxmlformats.org/officeDocument/2006/relationships/tags" Target="../tags/tag129.xml"/><Relationship Id="rId10" Type="http://schemas.openxmlformats.org/officeDocument/2006/relationships/tags" Target="../tags/tag103.xml"/><Relationship Id="rId19" Type="http://schemas.openxmlformats.org/officeDocument/2006/relationships/tags" Target="../tags/tag112.xml"/><Relationship Id="rId31" Type="http://schemas.openxmlformats.org/officeDocument/2006/relationships/tags" Target="../tags/tag124.xml"/><Relationship Id="rId4" Type="http://schemas.openxmlformats.org/officeDocument/2006/relationships/tags" Target="../tags/tag97.xml"/><Relationship Id="rId9" Type="http://schemas.openxmlformats.org/officeDocument/2006/relationships/tags" Target="../tags/tag102.xml"/><Relationship Id="rId14" Type="http://schemas.openxmlformats.org/officeDocument/2006/relationships/tags" Target="../tags/tag107.xml"/><Relationship Id="rId22" Type="http://schemas.openxmlformats.org/officeDocument/2006/relationships/tags" Target="../tags/tag115.xml"/><Relationship Id="rId27" Type="http://schemas.openxmlformats.org/officeDocument/2006/relationships/tags" Target="../tags/tag120.xml"/><Relationship Id="rId30" Type="http://schemas.openxmlformats.org/officeDocument/2006/relationships/tags" Target="../tags/tag123.xml"/><Relationship Id="rId35" Type="http://schemas.openxmlformats.org/officeDocument/2006/relationships/tags" Target="../tags/tag128.xml"/><Relationship Id="rId8" Type="http://schemas.openxmlformats.org/officeDocument/2006/relationships/tags" Target="../tags/tag101.xml"/><Relationship Id="rId3" Type="http://schemas.openxmlformats.org/officeDocument/2006/relationships/tags" Target="../tags/tag9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37.xml"/><Relationship Id="rId13" Type="http://schemas.openxmlformats.org/officeDocument/2006/relationships/tags" Target="../tags/tag142.xml"/><Relationship Id="rId18" Type="http://schemas.openxmlformats.org/officeDocument/2006/relationships/tags" Target="../tags/tag147.xml"/><Relationship Id="rId3" Type="http://schemas.openxmlformats.org/officeDocument/2006/relationships/tags" Target="../tags/tag132.xml"/><Relationship Id="rId21" Type="http://schemas.openxmlformats.org/officeDocument/2006/relationships/tags" Target="../tags/tag150.xml"/><Relationship Id="rId7" Type="http://schemas.openxmlformats.org/officeDocument/2006/relationships/tags" Target="../tags/tag136.xml"/><Relationship Id="rId12" Type="http://schemas.openxmlformats.org/officeDocument/2006/relationships/tags" Target="../tags/tag141.xml"/><Relationship Id="rId17" Type="http://schemas.openxmlformats.org/officeDocument/2006/relationships/tags" Target="../tags/tag146.xml"/><Relationship Id="rId25" Type="http://schemas.openxmlformats.org/officeDocument/2006/relationships/image" Target="../media/image4.png"/><Relationship Id="rId2" Type="http://schemas.openxmlformats.org/officeDocument/2006/relationships/tags" Target="../tags/tag131.xml"/><Relationship Id="rId16" Type="http://schemas.openxmlformats.org/officeDocument/2006/relationships/tags" Target="../tags/tag145.xml"/><Relationship Id="rId20" Type="http://schemas.openxmlformats.org/officeDocument/2006/relationships/tags" Target="../tags/tag149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1" Type="http://schemas.openxmlformats.org/officeDocument/2006/relationships/tags" Target="../tags/tag140.xml"/><Relationship Id="rId24" Type="http://schemas.openxmlformats.org/officeDocument/2006/relationships/image" Target="../media/image3.jpeg"/><Relationship Id="rId5" Type="http://schemas.openxmlformats.org/officeDocument/2006/relationships/tags" Target="../tags/tag134.xml"/><Relationship Id="rId15" Type="http://schemas.openxmlformats.org/officeDocument/2006/relationships/tags" Target="../tags/tag144.xml"/><Relationship Id="rId23" Type="http://schemas.openxmlformats.org/officeDocument/2006/relationships/notesSlide" Target="../notesSlides/notesSlide7.xml"/><Relationship Id="rId10" Type="http://schemas.openxmlformats.org/officeDocument/2006/relationships/tags" Target="../tags/tag139.xml"/><Relationship Id="rId19" Type="http://schemas.openxmlformats.org/officeDocument/2006/relationships/tags" Target="../tags/tag148.xml"/><Relationship Id="rId4" Type="http://schemas.openxmlformats.org/officeDocument/2006/relationships/tags" Target="../tags/tag133.xml"/><Relationship Id="rId9" Type="http://schemas.openxmlformats.org/officeDocument/2006/relationships/tags" Target="../tags/tag138.xml"/><Relationship Id="rId14" Type="http://schemas.openxmlformats.org/officeDocument/2006/relationships/tags" Target="../tags/tag143.xml"/><Relationship Id="rId22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163.xml"/><Relationship Id="rId18" Type="http://schemas.openxmlformats.org/officeDocument/2006/relationships/tags" Target="../tags/tag168.xml"/><Relationship Id="rId26" Type="http://schemas.openxmlformats.org/officeDocument/2006/relationships/tags" Target="../tags/tag176.xml"/><Relationship Id="rId39" Type="http://schemas.openxmlformats.org/officeDocument/2006/relationships/slideLayout" Target="../slideLayouts/slideLayout2.xml"/><Relationship Id="rId21" Type="http://schemas.openxmlformats.org/officeDocument/2006/relationships/tags" Target="../tags/tag171.xml"/><Relationship Id="rId34" Type="http://schemas.openxmlformats.org/officeDocument/2006/relationships/tags" Target="../tags/tag184.xml"/><Relationship Id="rId7" Type="http://schemas.openxmlformats.org/officeDocument/2006/relationships/tags" Target="../tags/tag157.xml"/><Relationship Id="rId12" Type="http://schemas.openxmlformats.org/officeDocument/2006/relationships/tags" Target="../tags/tag162.xml"/><Relationship Id="rId17" Type="http://schemas.openxmlformats.org/officeDocument/2006/relationships/tags" Target="../tags/tag167.xml"/><Relationship Id="rId25" Type="http://schemas.openxmlformats.org/officeDocument/2006/relationships/tags" Target="../tags/tag175.xml"/><Relationship Id="rId33" Type="http://schemas.openxmlformats.org/officeDocument/2006/relationships/tags" Target="../tags/tag183.xml"/><Relationship Id="rId38" Type="http://schemas.openxmlformats.org/officeDocument/2006/relationships/tags" Target="../tags/tag188.xml"/><Relationship Id="rId2" Type="http://schemas.openxmlformats.org/officeDocument/2006/relationships/tags" Target="../tags/tag152.xml"/><Relationship Id="rId16" Type="http://schemas.openxmlformats.org/officeDocument/2006/relationships/tags" Target="../tags/tag166.xml"/><Relationship Id="rId20" Type="http://schemas.openxmlformats.org/officeDocument/2006/relationships/tags" Target="../tags/tag170.xml"/><Relationship Id="rId29" Type="http://schemas.openxmlformats.org/officeDocument/2006/relationships/tags" Target="../tags/tag179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tags" Target="../tags/tag161.xml"/><Relationship Id="rId24" Type="http://schemas.openxmlformats.org/officeDocument/2006/relationships/tags" Target="../tags/tag174.xml"/><Relationship Id="rId32" Type="http://schemas.openxmlformats.org/officeDocument/2006/relationships/tags" Target="../tags/tag182.xml"/><Relationship Id="rId37" Type="http://schemas.openxmlformats.org/officeDocument/2006/relationships/tags" Target="../tags/tag187.xml"/><Relationship Id="rId40" Type="http://schemas.openxmlformats.org/officeDocument/2006/relationships/notesSlide" Target="../notesSlides/notesSlide8.xml"/><Relationship Id="rId5" Type="http://schemas.openxmlformats.org/officeDocument/2006/relationships/tags" Target="../tags/tag155.xml"/><Relationship Id="rId15" Type="http://schemas.openxmlformats.org/officeDocument/2006/relationships/tags" Target="../tags/tag165.xml"/><Relationship Id="rId23" Type="http://schemas.openxmlformats.org/officeDocument/2006/relationships/tags" Target="../tags/tag173.xml"/><Relationship Id="rId28" Type="http://schemas.openxmlformats.org/officeDocument/2006/relationships/tags" Target="../tags/tag178.xml"/><Relationship Id="rId36" Type="http://schemas.openxmlformats.org/officeDocument/2006/relationships/tags" Target="../tags/tag186.xml"/><Relationship Id="rId10" Type="http://schemas.openxmlformats.org/officeDocument/2006/relationships/tags" Target="../tags/tag160.xml"/><Relationship Id="rId19" Type="http://schemas.openxmlformats.org/officeDocument/2006/relationships/tags" Target="../tags/tag169.xml"/><Relationship Id="rId31" Type="http://schemas.openxmlformats.org/officeDocument/2006/relationships/tags" Target="../tags/tag181.xml"/><Relationship Id="rId4" Type="http://schemas.openxmlformats.org/officeDocument/2006/relationships/tags" Target="../tags/tag154.xml"/><Relationship Id="rId9" Type="http://schemas.openxmlformats.org/officeDocument/2006/relationships/tags" Target="../tags/tag159.xml"/><Relationship Id="rId14" Type="http://schemas.openxmlformats.org/officeDocument/2006/relationships/tags" Target="../tags/tag164.xml"/><Relationship Id="rId22" Type="http://schemas.openxmlformats.org/officeDocument/2006/relationships/tags" Target="../tags/tag172.xml"/><Relationship Id="rId27" Type="http://schemas.openxmlformats.org/officeDocument/2006/relationships/tags" Target="../tags/tag177.xml"/><Relationship Id="rId30" Type="http://schemas.openxmlformats.org/officeDocument/2006/relationships/tags" Target="../tags/tag180.xml"/><Relationship Id="rId35" Type="http://schemas.openxmlformats.org/officeDocument/2006/relationships/tags" Target="../tags/tag185.xml"/><Relationship Id="rId8" Type="http://schemas.openxmlformats.org/officeDocument/2006/relationships/tags" Target="../tags/tag158.xml"/><Relationship Id="rId3" Type="http://schemas.openxmlformats.org/officeDocument/2006/relationships/tags" Target="../tags/tag15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6" Type="http://schemas.openxmlformats.org/officeDocument/2006/relationships/image" Target="../media/image5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194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93.xml"/><Relationship Id="rId1" Type="http://schemas.openxmlformats.org/officeDocument/2006/relationships/tags" Target="../tags/tag192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10" Type="http://schemas.openxmlformats.org/officeDocument/2006/relationships/image" Target="../media/image19.png"/><Relationship Id="rId4" Type="http://schemas.openxmlformats.org/officeDocument/2006/relationships/tags" Target="../tags/tag195.xml"/><Relationship Id="rId9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26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>
            <a:extLst>
              <a:ext uri="{FF2B5EF4-FFF2-40B4-BE49-F238E27FC236}">
                <a16:creationId xmlns:a16="http://schemas.microsoft.com/office/drawing/2014/main" id="{755B4B3F-1C3D-927E-1ED2-99274895B4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23925" y="3808413"/>
            <a:ext cx="7524750" cy="22812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Dr. Dapeng Oliver Wu</a:t>
            </a:r>
          </a:p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City University of Hong Kong</a:t>
            </a:r>
          </a:p>
          <a:p>
            <a:pPr eaLnBrk="1" hangingPunct="1">
              <a:defRPr/>
            </a:pPr>
            <a:r>
              <a:rPr lang="en-US" altLang="en-US" sz="2394" b="1" dirty="0">
                <a:solidFill>
                  <a:srgbClr val="0066FF"/>
                </a:solidFill>
              </a:rPr>
              <a:t>Department of Computer Science</a:t>
            </a:r>
            <a:endParaRPr lang="en-US" altLang="en-US" sz="2394" dirty="0"/>
          </a:p>
          <a:p>
            <a:pPr eaLnBrk="1" hangingPunct="1">
              <a:defRPr/>
            </a:pPr>
            <a:endParaRPr lang="en-US" altLang="en-US" sz="2394" dirty="0"/>
          </a:p>
          <a:p>
            <a:pPr eaLnBrk="1" hangingPunct="1"/>
            <a:r>
              <a:rPr lang="en-US" altLang="zh-CN" sz="2800" dirty="0">
                <a:solidFill>
                  <a:srgbClr val="CC0000"/>
                </a:solidFill>
              </a:rPr>
              <a:t>Semester A, 2025/26</a:t>
            </a:r>
            <a:endParaRPr lang="en-US" sz="2800" dirty="0">
              <a:solidFill>
                <a:srgbClr val="CC0000"/>
              </a:solidFill>
            </a:endParaRP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5BE92627-13FA-5965-1CCF-590FF9EDF74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23925" y="388938"/>
            <a:ext cx="7751763" cy="25844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3192" dirty="0">
                <a:solidFill>
                  <a:srgbClr val="333399"/>
                </a:solidFill>
              </a:rPr>
              <a:t> CS 5187: Vision and Image</a:t>
            </a:r>
            <a:br>
              <a:rPr lang="en-US" altLang="en-US" sz="3192" dirty="0">
                <a:solidFill>
                  <a:srgbClr val="333399"/>
                </a:solidFill>
              </a:rPr>
            </a:br>
            <a:r>
              <a:rPr lang="en-US" altLang="en-US" sz="3192" dirty="0">
                <a:solidFill>
                  <a:srgbClr val="000000"/>
                </a:solidFill>
              </a:rPr>
              <a:t>Lecture 7-1</a:t>
            </a:r>
            <a:br>
              <a:rPr lang="en-US" altLang="en-US" sz="3192">
                <a:solidFill>
                  <a:srgbClr val="333399"/>
                </a:solidFill>
              </a:rPr>
            </a:br>
            <a:r>
              <a:rPr lang="en-US" altLang="en-US" sz="3192" i="1">
                <a:solidFill>
                  <a:srgbClr val="009900"/>
                </a:solidFill>
              </a:rPr>
              <a:t>Geometric </a:t>
            </a:r>
            <a:r>
              <a:rPr lang="en-US" altLang="en-US" sz="3192" i="1" dirty="0">
                <a:solidFill>
                  <a:srgbClr val="009900"/>
                </a:solidFill>
              </a:rPr>
              <a:t>Transformations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the geometric relationship between these two images?</a:t>
            </a:r>
          </a:p>
        </p:txBody>
      </p:sp>
      <p:pic>
        <p:nvPicPr>
          <p:cNvPr id="311298" name="Picture 2" descr="C:\snavely\matlab\A2P3\searc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2362200"/>
            <a:ext cx="4267200" cy="370799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12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9784" y="2538984"/>
            <a:ext cx="2139616" cy="3252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/>
          <p:cNvGrpSpPr/>
          <p:nvPr/>
        </p:nvGrpSpPr>
        <p:grpSpPr>
          <a:xfrm>
            <a:off x="3276600" y="3377625"/>
            <a:ext cx="685800" cy="1041975"/>
            <a:chOff x="3276600" y="3377625"/>
            <a:chExt cx="685800" cy="1041975"/>
          </a:xfrm>
        </p:grpSpPr>
        <p:sp>
          <p:nvSpPr>
            <p:cNvPr id="6" name="Right Arrow 5"/>
            <p:cNvSpPr/>
            <p:nvPr/>
          </p:nvSpPr>
          <p:spPr>
            <a:xfrm>
              <a:off x="3276600" y="3810000"/>
              <a:ext cx="685800" cy="609600"/>
            </a:xfrm>
            <a:prstGeom prst="rightArrow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352800" y="3377625"/>
              <a:ext cx="3754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?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825495" y="6153090"/>
            <a:ext cx="7702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Answer: rigid-body transformation </a:t>
            </a:r>
            <a:r>
              <a:rPr lang="en-US" sz="2000" dirty="0"/>
              <a:t>(translation, rotation, uniform scale)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BE7F66-C623-469D-4735-DB657CAF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37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AE337-7AB0-4109-ABB2-4E1E89413B77}" type="slidenum">
              <a:rPr lang="en-US"/>
              <a:pPr/>
              <a:t>3</a:t>
            </a:fld>
            <a:endParaRPr lang="en-US"/>
          </a:p>
        </p:txBody>
      </p:sp>
      <p:sp>
        <p:nvSpPr>
          <p:cNvPr id="398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Image Warping</a:t>
            </a:r>
          </a:p>
        </p:txBody>
      </p:sp>
      <p:sp>
        <p:nvSpPr>
          <p:cNvPr id="39833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image filtering: change the </a:t>
            </a:r>
            <a:r>
              <a:rPr lang="en-US" sz="2400" i="1" dirty="0"/>
              <a:t>brightness</a:t>
            </a:r>
            <a:r>
              <a:rPr lang="en-US" sz="2400" dirty="0"/>
              <a:t> of an image</a:t>
            </a:r>
          </a:p>
          <a:p>
            <a:pPr algn="ctr">
              <a:lnSpc>
                <a:spcPct val="90000"/>
              </a:lnSpc>
            </a:pPr>
            <a:r>
              <a:rPr lang="en-US" i="1" dirty="0"/>
              <a:t>g(x) = h(f(x))</a:t>
            </a:r>
          </a:p>
          <a:p>
            <a:pPr algn="ctr">
              <a:lnSpc>
                <a:spcPct val="90000"/>
              </a:lnSpc>
            </a:pPr>
            <a:endParaRPr lang="en-US" i="1" dirty="0"/>
          </a:p>
          <a:p>
            <a:pPr algn="ctr">
              <a:lnSpc>
                <a:spcPct val="90000"/>
              </a:lnSpc>
            </a:pPr>
            <a:endParaRPr lang="en-US" i="1" dirty="0"/>
          </a:p>
          <a:p>
            <a:pPr>
              <a:lnSpc>
                <a:spcPct val="170000"/>
              </a:lnSpc>
            </a:pPr>
            <a:r>
              <a:rPr lang="en-US" sz="2800" dirty="0"/>
              <a:t>image warping: </a:t>
            </a:r>
            <a:r>
              <a:rPr lang="en-US" sz="2400" dirty="0"/>
              <a:t>change </a:t>
            </a:r>
            <a:r>
              <a:rPr lang="en-US" sz="2400" i="1" dirty="0"/>
              <a:t>position</a:t>
            </a:r>
            <a:r>
              <a:rPr lang="en-US" sz="2400" dirty="0"/>
              <a:t> of each point in an image</a:t>
            </a:r>
          </a:p>
          <a:p>
            <a:pPr algn="ctr">
              <a:lnSpc>
                <a:spcPct val="90000"/>
              </a:lnSpc>
            </a:pPr>
            <a:r>
              <a:rPr lang="en-US" i="1" dirty="0"/>
              <a:t>g(x) = f(h(x))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1524000" y="2667000"/>
            <a:ext cx="1981200" cy="1219200"/>
            <a:chOff x="960" y="1872"/>
            <a:chExt cx="1248" cy="768"/>
          </a:xfrm>
        </p:grpSpPr>
        <p:sp>
          <p:nvSpPr>
            <p:cNvPr id="398341" name="Line 5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1152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42" name="Line 6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1152" y="244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43" name="Freeform 7"/>
            <p:cNvSpPr>
              <a:spLocks/>
            </p:cNvSpPr>
            <p:nvPr>
              <p:custDataLst>
                <p:tags r:id="rId32"/>
              </p:custDataLst>
            </p:nvPr>
          </p:nvSpPr>
          <p:spPr bwMode="auto">
            <a:xfrm>
              <a:off x="1248" y="2000"/>
              <a:ext cx="672" cy="384"/>
            </a:xfrm>
            <a:custGeom>
              <a:avLst/>
              <a:gdLst/>
              <a:ahLst/>
              <a:cxnLst>
                <a:cxn ang="0">
                  <a:pos x="0" y="304"/>
                </a:cxn>
                <a:cxn ang="0">
                  <a:pos x="96" y="16"/>
                </a:cxn>
                <a:cxn ang="0">
                  <a:pos x="288" y="208"/>
                </a:cxn>
                <a:cxn ang="0">
                  <a:pos x="528" y="352"/>
                </a:cxn>
                <a:cxn ang="0">
                  <a:pos x="672" y="16"/>
                </a:cxn>
              </a:cxnLst>
              <a:rect l="0" t="0" r="r" b="b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44" name="Text Box 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960" y="1872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i="1"/>
                <a:t>f</a:t>
              </a:r>
            </a:p>
          </p:txBody>
        </p:sp>
        <p:sp>
          <p:nvSpPr>
            <p:cNvPr id="398345" name="Text Box 9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968" y="2409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i="1"/>
                <a:t>x</a:t>
              </a:r>
            </a:p>
          </p:txBody>
        </p:sp>
      </p:grpSp>
      <p:grpSp>
        <p:nvGrpSpPr>
          <p:cNvPr id="3" name="Group 10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3581400" y="2971800"/>
            <a:ext cx="1600200" cy="476250"/>
            <a:chOff x="2256" y="2064"/>
            <a:chExt cx="1008" cy="300"/>
          </a:xfrm>
        </p:grpSpPr>
        <p:sp>
          <p:nvSpPr>
            <p:cNvPr id="398347" name="Text Box 1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592" y="2064"/>
              <a:ext cx="336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h</a:t>
              </a:r>
            </a:p>
          </p:txBody>
        </p:sp>
        <p:sp>
          <p:nvSpPr>
            <p:cNvPr id="398348" name="Line 12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49" name="Line 13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14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5638800" y="2667000"/>
            <a:ext cx="1981200" cy="1219200"/>
            <a:chOff x="3552" y="1872"/>
            <a:chExt cx="1248" cy="768"/>
          </a:xfrm>
        </p:grpSpPr>
        <p:sp>
          <p:nvSpPr>
            <p:cNvPr id="398351" name="Line 15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>
              <a:off x="3744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52" name="Line 16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3744" y="244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53" name="Freeform 17"/>
            <p:cNvSpPr>
              <a:spLocks/>
            </p:cNvSpPr>
            <p:nvPr>
              <p:custDataLst>
                <p:tags r:id="rId24"/>
              </p:custDataLst>
            </p:nvPr>
          </p:nvSpPr>
          <p:spPr bwMode="auto">
            <a:xfrm>
              <a:off x="3840" y="2000"/>
              <a:ext cx="672" cy="160"/>
            </a:xfrm>
            <a:custGeom>
              <a:avLst/>
              <a:gdLst/>
              <a:ahLst/>
              <a:cxnLst>
                <a:cxn ang="0">
                  <a:pos x="0" y="304"/>
                </a:cxn>
                <a:cxn ang="0">
                  <a:pos x="96" y="16"/>
                </a:cxn>
                <a:cxn ang="0">
                  <a:pos x="288" y="208"/>
                </a:cxn>
                <a:cxn ang="0">
                  <a:pos x="528" y="352"/>
                </a:cxn>
                <a:cxn ang="0">
                  <a:pos x="672" y="16"/>
                </a:cxn>
              </a:cxnLst>
              <a:rect l="0" t="0" r="r" b="b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54" name="Text Box 18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552" y="1872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i="1"/>
                <a:t>g</a:t>
              </a:r>
            </a:p>
          </p:txBody>
        </p:sp>
        <p:sp>
          <p:nvSpPr>
            <p:cNvPr id="398355" name="Text Box 19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560" y="2409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i="1"/>
                <a:t>x</a:t>
              </a:r>
            </a:p>
          </p:txBody>
        </p:sp>
      </p:grpSp>
      <p:grpSp>
        <p:nvGrpSpPr>
          <p:cNvPr id="5" name="Group 20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1524000" y="5029200"/>
            <a:ext cx="1981200" cy="1219200"/>
            <a:chOff x="960" y="1872"/>
            <a:chExt cx="1248" cy="768"/>
          </a:xfrm>
        </p:grpSpPr>
        <p:sp>
          <p:nvSpPr>
            <p:cNvPr id="398357" name="Line 21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1152" y="1920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58" name="Line 22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1152" y="2448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59" name="Freeform 23"/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1248" y="2000"/>
              <a:ext cx="672" cy="384"/>
            </a:xfrm>
            <a:custGeom>
              <a:avLst/>
              <a:gdLst/>
              <a:ahLst/>
              <a:cxnLst>
                <a:cxn ang="0">
                  <a:pos x="0" y="304"/>
                </a:cxn>
                <a:cxn ang="0">
                  <a:pos x="96" y="16"/>
                </a:cxn>
                <a:cxn ang="0">
                  <a:pos x="288" y="208"/>
                </a:cxn>
                <a:cxn ang="0">
                  <a:pos x="528" y="352"/>
                </a:cxn>
                <a:cxn ang="0">
                  <a:pos x="672" y="16"/>
                </a:cxn>
              </a:cxnLst>
              <a:rect l="0" t="0" r="r" b="b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60" name="Text Box 24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60" y="1872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i="1"/>
                <a:t>f</a:t>
              </a:r>
            </a:p>
          </p:txBody>
        </p:sp>
        <p:sp>
          <p:nvSpPr>
            <p:cNvPr id="398361" name="Text Box 2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968" y="2409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i="1"/>
                <a:t>x</a:t>
              </a:r>
            </a:p>
          </p:txBody>
        </p:sp>
      </p:grpSp>
      <p:grpSp>
        <p:nvGrpSpPr>
          <p:cNvPr id="6" name="Group 26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3581400" y="5314950"/>
            <a:ext cx="1600200" cy="476250"/>
            <a:chOff x="2256" y="2064"/>
            <a:chExt cx="1008" cy="300"/>
          </a:xfrm>
        </p:grpSpPr>
        <p:sp>
          <p:nvSpPr>
            <p:cNvPr id="398363" name="Text Box 27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92" y="2064"/>
              <a:ext cx="336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h</a:t>
              </a:r>
            </a:p>
          </p:txBody>
        </p:sp>
        <p:sp>
          <p:nvSpPr>
            <p:cNvPr id="398364" name="Line 28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65" name="Line 29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0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5638800" y="5029200"/>
            <a:ext cx="1981200" cy="1219200"/>
            <a:chOff x="3552" y="3168"/>
            <a:chExt cx="1248" cy="768"/>
          </a:xfrm>
        </p:grpSpPr>
        <p:sp>
          <p:nvSpPr>
            <p:cNvPr id="398367" name="Line 31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3744" y="3216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68" name="Line 32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3744" y="3744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69" name="Freeform 33"/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4224" y="3296"/>
              <a:ext cx="384" cy="384"/>
            </a:xfrm>
            <a:custGeom>
              <a:avLst/>
              <a:gdLst/>
              <a:ahLst/>
              <a:cxnLst>
                <a:cxn ang="0">
                  <a:pos x="0" y="304"/>
                </a:cxn>
                <a:cxn ang="0">
                  <a:pos x="96" y="16"/>
                </a:cxn>
                <a:cxn ang="0">
                  <a:pos x="288" y="208"/>
                </a:cxn>
                <a:cxn ang="0">
                  <a:pos x="528" y="352"/>
                </a:cxn>
                <a:cxn ang="0">
                  <a:pos x="672" y="16"/>
                </a:cxn>
              </a:cxnLst>
              <a:rect l="0" t="0" r="r" b="b"/>
              <a:pathLst>
                <a:path w="672" h="384">
                  <a:moveTo>
                    <a:pt x="0" y="304"/>
                  </a:moveTo>
                  <a:cubicBezTo>
                    <a:pt x="24" y="168"/>
                    <a:pt x="48" y="32"/>
                    <a:pt x="96" y="16"/>
                  </a:cubicBezTo>
                  <a:cubicBezTo>
                    <a:pt x="144" y="0"/>
                    <a:pt x="216" y="152"/>
                    <a:pt x="288" y="208"/>
                  </a:cubicBezTo>
                  <a:cubicBezTo>
                    <a:pt x="360" y="264"/>
                    <a:pt x="464" y="384"/>
                    <a:pt x="528" y="352"/>
                  </a:cubicBezTo>
                  <a:cubicBezTo>
                    <a:pt x="592" y="320"/>
                    <a:pt x="648" y="72"/>
                    <a:pt x="672" y="1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8370" name="Text Box 34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3552" y="3168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i="1"/>
                <a:t>g</a:t>
              </a:r>
            </a:p>
          </p:txBody>
        </p:sp>
        <p:sp>
          <p:nvSpPr>
            <p:cNvPr id="398371" name="Text Box 35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560" y="3705"/>
              <a:ext cx="2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800" i="1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381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8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8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B70914-9068-42C4-B28F-653E5D555BEA}" type="slidenum">
              <a:rPr lang="en-US"/>
              <a:pPr/>
              <a:t>4</a:t>
            </a:fld>
            <a:endParaRPr lang="en-US"/>
          </a:p>
        </p:txBody>
      </p:sp>
      <p:sp>
        <p:nvSpPr>
          <p:cNvPr id="399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Image Warping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 filtering: change the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brightness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an image</a:t>
            </a:r>
          </a:p>
          <a:p>
            <a:pPr algn="ctr">
              <a:lnSpc>
                <a:spcPct val="90000"/>
              </a:lnSpc>
            </a:pPr>
            <a:r>
              <a:rPr lang="en-US" i="1" dirty="0"/>
              <a:t>g(x) = h(f(x))</a:t>
            </a:r>
          </a:p>
          <a:p>
            <a:pPr algn="ctr">
              <a:lnSpc>
                <a:spcPct val="90000"/>
              </a:lnSpc>
            </a:pPr>
            <a:endParaRPr lang="en-US" i="1" dirty="0"/>
          </a:p>
          <a:p>
            <a:pPr algn="ctr">
              <a:lnSpc>
                <a:spcPct val="90000"/>
              </a:lnSpc>
            </a:pPr>
            <a:endParaRPr lang="en-US" i="1" dirty="0"/>
          </a:p>
          <a:p>
            <a:pPr marL="342900" marR="0" lvl="0" indent="-342900" algn="l" defTabSz="914400" rtl="0" eaLnBrk="1" fontAlgn="auto" latinLnBrk="0" hangingPunct="1">
              <a:lnSpc>
                <a:spcPct val="17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image warping: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change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position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 each point in an image</a:t>
            </a:r>
          </a:p>
          <a:p>
            <a:pPr algn="ctr">
              <a:lnSpc>
                <a:spcPct val="90000"/>
              </a:lnSpc>
            </a:pPr>
            <a:r>
              <a:rPr lang="en-US" i="1" dirty="0"/>
              <a:t>g(x) = f(h(x))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grpSp>
        <p:nvGrpSpPr>
          <p:cNvPr id="2" name="Group 4"/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3581400" y="2924175"/>
            <a:ext cx="1600200" cy="476250"/>
            <a:chOff x="2256" y="2064"/>
            <a:chExt cx="1008" cy="300"/>
          </a:xfrm>
        </p:grpSpPr>
        <p:sp>
          <p:nvSpPr>
            <p:cNvPr id="399365" name="Text Box 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92" y="2064"/>
              <a:ext cx="336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h</a:t>
              </a:r>
            </a:p>
          </p:txBody>
        </p:sp>
        <p:sp>
          <p:nvSpPr>
            <p:cNvPr id="399366" name="Line 6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9367" name="Line 7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8"/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3581400" y="5314950"/>
            <a:ext cx="1600200" cy="476250"/>
            <a:chOff x="2256" y="2064"/>
            <a:chExt cx="1008" cy="300"/>
          </a:xfrm>
        </p:grpSpPr>
        <p:sp>
          <p:nvSpPr>
            <p:cNvPr id="399369" name="Text Box 9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2592" y="2064"/>
              <a:ext cx="336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h</a:t>
              </a:r>
            </a:p>
          </p:txBody>
        </p:sp>
        <p:sp>
          <p:nvSpPr>
            <p:cNvPr id="399370" name="Line 10"/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9371" name="Line 11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99372" name="Picture 12" descr="HHHIMG_1166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1752600" y="2590800"/>
            <a:ext cx="1462088" cy="1095375"/>
          </a:xfrm>
          <a:prstGeom prst="rect">
            <a:avLst/>
          </a:prstGeom>
          <a:noFill/>
        </p:spPr>
      </p:pic>
      <p:pic>
        <p:nvPicPr>
          <p:cNvPr id="399373" name="Picture 13" descr="HHHIMG_1166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1" cstate="print">
            <a:lum bright="48000"/>
          </a:blip>
          <a:srcRect/>
          <a:stretch>
            <a:fillRect/>
          </a:stretch>
        </p:blipFill>
        <p:spPr bwMode="auto">
          <a:xfrm>
            <a:off x="5943600" y="2590800"/>
            <a:ext cx="1462088" cy="1095375"/>
          </a:xfrm>
          <a:prstGeom prst="rect">
            <a:avLst/>
          </a:prstGeom>
          <a:noFill/>
        </p:spPr>
      </p:pic>
      <p:pic>
        <p:nvPicPr>
          <p:cNvPr id="399374" name="Picture 14" descr="HHHIMG_1166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1752600" y="5000625"/>
            <a:ext cx="1462088" cy="1095375"/>
          </a:xfrm>
          <a:prstGeom prst="rect">
            <a:avLst/>
          </a:prstGeom>
          <a:noFill/>
        </p:spPr>
      </p:pic>
      <p:pic>
        <p:nvPicPr>
          <p:cNvPr id="399375" name="Picture 15" descr="HHHIMG_1166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5929313" y="5105400"/>
            <a:ext cx="1843087" cy="762000"/>
          </a:xfrm>
          <a:prstGeom prst="rect">
            <a:avLst/>
          </a:prstGeom>
          <a:noFill/>
        </p:spPr>
      </p:pic>
      <p:sp>
        <p:nvSpPr>
          <p:cNvPr id="399376" name="Text Box 16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447800" y="261937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i="1"/>
              <a:t>f</a:t>
            </a:r>
          </a:p>
        </p:txBody>
      </p:sp>
      <p:sp>
        <p:nvSpPr>
          <p:cNvPr id="399377" name="Text Box 17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447800" y="50434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i="1"/>
              <a:t>f</a:t>
            </a:r>
          </a:p>
        </p:txBody>
      </p:sp>
      <p:sp>
        <p:nvSpPr>
          <p:cNvPr id="399378" name="Text Box 18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638800" y="5119688"/>
            <a:ext cx="304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i="1"/>
              <a:t>g</a:t>
            </a:r>
          </a:p>
        </p:txBody>
      </p:sp>
      <p:sp>
        <p:nvSpPr>
          <p:cNvPr id="399379" name="Text Box 19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638800" y="2619375"/>
            <a:ext cx="304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i="1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98886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Image Warping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Given a coordinate </a:t>
            </a:r>
            <a:r>
              <a:rPr lang="en-US" dirty="0" err="1"/>
              <a:t>xform</a:t>
            </a:r>
            <a:r>
              <a:rPr lang="en-US" dirty="0"/>
              <a:t> (</a:t>
            </a:r>
            <a:r>
              <a:rPr lang="en-US" b="1" i="1" dirty="0" err="1"/>
              <a:t>x’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b="1" i="1" dirty="0"/>
              <a:t>’</a:t>
            </a:r>
            <a:r>
              <a:rPr lang="en-US" dirty="0"/>
              <a:t>)</a:t>
            </a:r>
            <a:r>
              <a:rPr lang="en-US" b="1" i="1" dirty="0"/>
              <a:t> </a:t>
            </a:r>
            <a:r>
              <a:rPr lang="en-US" dirty="0"/>
              <a:t>=</a:t>
            </a:r>
            <a:r>
              <a:rPr lang="en-US" b="1" i="1" dirty="0"/>
              <a:t> T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 and a source image </a:t>
            </a: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), how do we obtain an </a:t>
            </a:r>
            <a:r>
              <a:rPr lang="en-US" dirty="0" err="1"/>
              <a:t>xformed</a:t>
            </a:r>
            <a:r>
              <a:rPr lang="en-US" dirty="0"/>
              <a:t> image?</a:t>
            </a:r>
          </a:p>
        </p:txBody>
      </p:sp>
      <p:pic>
        <p:nvPicPr>
          <p:cNvPr id="402436" name="Picture 4" descr="HHHIMG_1166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1905000" y="3886200"/>
            <a:ext cx="2193925" cy="1643063"/>
          </a:xfrm>
          <a:prstGeom prst="rect">
            <a:avLst/>
          </a:prstGeom>
          <a:noFill/>
        </p:spPr>
      </p:pic>
      <p:pic>
        <p:nvPicPr>
          <p:cNvPr id="402437" name="Picture 5" descr="rotated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5368925" y="3733800"/>
            <a:ext cx="2632075" cy="2114550"/>
          </a:xfrm>
          <a:prstGeom prst="rect">
            <a:avLst/>
          </a:prstGeom>
          <a:noFill/>
        </p:spPr>
      </p:pic>
      <p:sp>
        <p:nvSpPr>
          <p:cNvPr id="402438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590800" y="57150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2439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96000" y="5715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  <p:grpSp>
        <p:nvGrpSpPr>
          <p:cNvPr id="2" name="Group 8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1752600" y="5257800"/>
            <a:ext cx="381000" cy="381000"/>
            <a:chOff x="1104" y="3312"/>
            <a:chExt cx="240" cy="240"/>
          </a:xfrm>
        </p:grpSpPr>
        <p:sp>
          <p:nvSpPr>
            <p:cNvPr id="402441" name="Line 9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2442" name="Line 10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1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5257800" y="5257800"/>
            <a:ext cx="381000" cy="381000"/>
            <a:chOff x="1104" y="3312"/>
            <a:chExt cx="240" cy="240"/>
          </a:xfrm>
        </p:grpSpPr>
        <p:sp>
          <p:nvSpPr>
            <p:cNvPr id="402444" name="Line 12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2445" name="Line 13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2446" name="Text Box 14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752600" y="55626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</a:t>
            </a:r>
            <a:endParaRPr lang="en-US"/>
          </a:p>
        </p:txBody>
      </p:sp>
      <p:sp>
        <p:nvSpPr>
          <p:cNvPr id="402447" name="Text Box 1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257800" y="55626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x’</a:t>
            </a:r>
            <a:endParaRPr lang="en-US"/>
          </a:p>
        </p:txBody>
      </p:sp>
      <p:sp>
        <p:nvSpPr>
          <p:cNvPr id="402448" name="Rectangle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225675" y="5105400"/>
            <a:ext cx="136525" cy="1365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2449" name="Rectangle 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791200" y="5121275"/>
            <a:ext cx="136525" cy="1365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2450" name="Freeform 18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2422525" y="4724400"/>
            <a:ext cx="3352800" cy="3810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152" y="0"/>
              </a:cxn>
              <a:cxn ang="0">
                <a:pos x="2160" y="288"/>
              </a:cxn>
            </a:cxnLst>
            <a:rect l="0" t="0" r="r" b="b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25400">
            <a:solidFill>
              <a:schemeClr val="accent1"/>
            </a:solidFill>
            <a:round/>
            <a:headEnd type="none" w="lg" len="lg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2451" name="Text Box 19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191000" y="48006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T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23" name="Text Box 1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393372" y="4931229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</a:t>
            </a:r>
            <a:endParaRPr lang="en-US" dirty="0"/>
          </a:p>
        </p:txBody>
      </p:sp>
      <p:sp>
        <p:nvSpPr>
          <p:cNvPr id="24" name="Text Box 14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909459" y="4920342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y’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C0140-C3C9-11F8-B505-7EEEFB39D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79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Forward Warping</a:t>
            </a:r>
          </a:p>
        </p:txBody>
      </p:sp>
      <p:sp>
        <p:nvSpPr>
          <p:cNvPr id="40345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Send each pixel’s value </a:t>
            </a: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 to its new location (</a:t>
            </a:r>
            <a:r>
              <a:rPr lang="en-US" b="1" i="1" dirty="0" err="1"/>
              <a:t>x’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b="1" i="1" dirty="0"/>
              <a:t>’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b="1" i="1" dirty="0"/>
              <a:t>T</a:t>
            </a:r>
            <a:r>
              <a:rPr lang="en-US" dirty="0"/>
              <a:t>(</a:t>
            </a:r>
            <a:r>
              <a:rPr lang="en-US" b="1" i="1" dirty="0" err="1"/>
              <a:t>x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dirty="0"/>
              <a:t>), i.e., </a:t>
            </a: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b="1" i="1" dirty="0"/>
              <a:t>’</a:t>
            </a:r>
            <a:r>
              <a:rPr lang="en-US" dirty="0"/>
              <a:t>)=</a:t>
            </a:r>
            <a:r>
              <a:rPr lang="en-US" b="1" i="1" dirty="0"/>
              <a:t> 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What if (</a:t>
            </a:r>
            <a:r>
              <a:rPr lang="en-US" b="1" i="1" dirty="0" err="1"/>
              <a:t>x’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b="1" i="1" dirty="0"/>
              <a:t>’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is not on a grid?</a:t>
            </a:r>
          </a:p>
        </p:txBody>
      </p:sp>
      <p:pic>
        <p:nvPicPr>
          <p:cNvPr id="403460" name="Picture 4" descr="HHHIMG_1166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1905000" y="3886200"/>
            <a:ext cx="2193925" cy="1643063"/>
          </a:xfrm>
          <a:prstGeom prst="rect">
            <a:avLst/>
          </a:prstGeom>
          <a:noFill/>
        </p:spPr>
      </p:pic>
      <p:pic>
        <p:nvPicPr>
          <p:cNvPr id="403461" name="Picture 5" descr="rotated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5368925" y="3733800"/>
            <a:ext cx="2632075" cy="2114550"/>
          </a:xfrm>
          <a:prstGeom prst="rect">
            <a:avLst/>
          </a:prstGeom>
          <a:noFill/>
        </p:spPr>
      </p:pic>
      <p:sp>
        <p:nvSpPr>
          <p:cNvPr id="403462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590800" y="57150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3463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96000" y="5715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  <p:grpSp>
        <p:nvGrpSpPr>
          <p:cNvPr id="2" name="Group 8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1752600" y="5257800"/>
            <a:ext cx="381000" cy="381000"/>
            <a:chOff x="1104" y="3312"/>
            <a:chExt cx="240" cy="240"/>
          </a:xfrm>
        </p:grpSpPr>
        <p:sp>
          <p:nvSpPr>
            <p:cNvPr id="403465" name="Line 9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66" name="Line 10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1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5257800" y="5257800"/>
            <a:ext cx="381000" cy="381000"/>
            <a:chOff x="1104" y="3312"/>
            <a:chExt cx="240" cy="240"/>
          </a:xfrm>
        </p:grpSpPr>
        <p:sp>
          <p:nvSpPr>
            <p:cNvPr id="403468" name="Line 12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3469" name="Line 13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3470" name="Text Box 14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752600" y="55626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x</a:t>
            </a:r>
            <a:endParaRPr lang="en-US" dirty="0"/>
          </a:p>
        </p:txBody>
      </p:sp>
      <p:sp>
        <p:nvSpPr>
          <p:cNvPr id="403471" name="Text Box 1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257800" y="55626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x’</a:t>
            </a:r>
            <a:endParaRPr lang="en-US"/>
          </a:p>
        </p:txBody>
      </p:sp>
      <p:sp>
        <p:nvSpPr>
          <p:cNvPr id="403472" name="Rectangle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225675" y="5105400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444500" sx="168000" sy="168000" algn="ctr" rotWithShape="0">
              <a:prstClr val="black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03473" name="Rectangle 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791200" y="5121275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444500" sx="168000" sy="168000" algn="ctr" rotWithShape="0">
              <a:prstClr val="black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03474" name="Freeform 18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2422525" y="4724400"/>
            <a:ext cx="3352800" cy="3810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152" y="0"/>
              </a:cxn>
              <a:cxn ang="0">
                <a:pos x="2160" y="288"/>
              </a:cxn>
            </a:cxnLst>
            <a:rect l="0" t="0" r="r" b="b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25400">
            <a:solidFill>
              <a:schemeClr val="accent1"/>
            </a:solidFill>
            <a:round/>
            <a:headEnd type="none" w="lg" len="lg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3475" name="Text Box 19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191000" y="48006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T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3476" name="Rectangle 20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85800" y="3015342"/>
            <a:ext cx="7772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800" dirty="0"/>
          </a:p>
        </p:txBody>
      </p:sp>
      <p:sp>
        <p:nvSpPr>
          <p:cNvPr id="24" name="Text Box 14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393372" y="4931229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</a:t>
            </a:r>
            <a:endParaRPr lang="en-US" dirty="0"/>
          </a:p>
        </p:txBody>
      </p:sp>
      <p:sp>
        <p:nvSpPr>
          <p:cNvPr id="25" name="Text Box 14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909459" y="4920342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y’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3CE63-39BD-8630-FAB5-DB73658CC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8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3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3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72" grpId="0" animBg="1"/>
      <p:bldP spid="403473" grpId="0" animBg="1"/>
      <p:bldP spid="403474" grpId="0" animBg="1"/>
      <p:bldP spid="40347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Forward Warping</a:t>
            </a:r>
          </a:p>
        </p:txBody>
      </p:sp>
      <p:sp>
        <p:nvSpPr>
          <p:cNvPr id="404483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Send each pixel’s value </a:t>
            </a: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 to its new location (</a:t>
            </a:r>
            <a:r>
              <a:rPr lang="en-US" b="1" i="1" dirty="0" err="1"/>
              <a:t>x’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b="1" i="1" dirty="0"/>
              <a:t>’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b="1" i="1" dirty="0"/>
              <a:t>T</a:t>
            </a:r>
            <a:r>
              <a:rPr lang="en-US" dirty="0"/>
              <a:t>(</a:t>
            </a:r>
            <a:r>
              <a:rPr lang="en-US" b="1" i="1" dirty="0" err="1"/>
              <a:t>x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dirty="0"/>
              <a:t>), i.e., </a:t>
            </a: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b="1" i="1" dirty="0"/>
              <a:t>’</a:t>
            </a:r>
            <a:r>
              <a:rPr lang="en-US" dirty="0"/>
              <a:t>)=</a:t>
            </a:r>
            <a:r>
              <a:rPr lang="en-US" b="1" i="1" dirty="0"/>
              <a:t> 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What if (</a:t>
            </a:r>
            <a:r>
              <a:rPr lang="en-US" b="1" i="1" dirty="0" err="1"/>
              <a:t>x’</a:t>
            </a:r>
            <a:r>
              <a:rPr lang="en-US" b="1" dirty="0" err="1"/>
              <a:t>,</a:t>
            </a:r>
            <a:r>
              <a:rPr lang="en-US" b="1" i="1" dirty="0" err="1"/>
              <a:t>y</a:t>
            </a:r>
            <a:r>
              <a:rPr lang="en-US" b="1" i="1" dirty="0"/>
              <a:t>’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is not on a grid?</a:t>
            </a:r>
          </a:p>
          <a:p>
            <a:pPr lvl="1"/>
            <a:r>
              <a:rPr lang="en-US" dirty="0"/>
              <a:t>Answer: spread “contribution” to its nearby pixels on the grid; normalize later</a:t>
            </a:r>
          </a:p>
          <a:p>
            <a:pPr lvl="1"/>
            <a:r>
              <a:rPr lang="en-US" sz="2800" dirty="0"/>
              <a:t>Can still result in holes</a:t>
            </a:r>
            <a:endParaRPr lang="en-US" dirty="0"/>
          </a:p>
        </p:txBody>
      </p:sp>
      <p:sp>
        <p:nvSpPr>
          <p:cNvPr id="404484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590800" y="57150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4485" name="Text Box 5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96000" y="5715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  <p:grpSp>
        <p:nvGrpSpPr>
          <p:cNvPr id="2" name="Group 6"/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1752600" y="5257800"/>
            <a:ext cx="381000" cy="381000"/>
            <a:chOff x="1104" y="3312"/>
            <a:chExt cx="240" cy="240"/>
          </a:xfrm>
        </p:grpSpPr>
        <p:sp>
          <p:nvSpPr>
            <p:cNvPr id="404487" name="Line 7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488" name="Line 8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9"/>
          <p:cNvGrpSpPr>
            <a:grpSpLocks/>
          </p:cNvGrpSpPr>
          <p:nvPr>
            <p:custDataLst>
              <p:tags r:id="rId6"/>
            </p:custDataLst>
          </p:nvPr>
        </p:nvGrpSpPr>
        <p:grpSpPr bwMode="auto">
          <a:xfrm>
            <a:off x="5257800" y="5257800"/>
            <a:ext cx="381000" cy="381000"/>
            <a:chOff x="1104" y="3312"/>
            <a:chExt cx="240" cy="240"/>
          </a:xfrm>
        </p:grpSpPr>
        <p:sp>
          <p:nvSpPr>
            <p:cNvPr id="404490" name="Line 10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491" name="Line 11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4492" name="Text Box 12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752600" y="55626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</a:t>
            </a:r>
            <a:endParaRPr lang="en-US"/>
          </a:p>
        </p:txBody>
      </p:sp>
      <p:sp>
        <p:nvSpPr>
          <p:cNvPr id="404493" name="Text Box 13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257800" y="55626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x’</a:t>
            </a:r>
            <a:endParaRPr lang="en-US"/>
          </a:p>
        </p:txBody>
      </p:sp>
      <p:sp>
        <p:nvSpPr>
          <p:cNvPr id="404494" name="Rectangle 1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214789" y="5105400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4495" name="Rectangle 15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780314" y="5099503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4496" name="Freeform 16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422525" y="4724400"/>
            <a:ext cx="3352800" cy="3810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152" y="0"/>
              </a:cxn>
              <a:cxn ang="0">
                <a:pos x="2160" y="288"/>
              </a:cxn>
            </a:cxnLst>
            <a:rect l="0" t="0" r="r" b="b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25400">
            <a:solidFill>
              <a:schemeClr val="accent1"/>
            </a:solidFill>
            <a:round/>
            <a:headEnd type="none" w="lg" len="lg"/>
            <a:tailEnd type="stealth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4497" name="Text Box 17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191000" y="48006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T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grpSp>
        <p:nvGrpSpPr>
          <p:cNvPr id="4" name="Group 20"/>
          <p:cNvGrpSpPr>
            <a:grpSpLocks/>
          </p:cNvGrpSpPr>
          <p:nvPr>
            <p:custDataLst>
              <p:tags r:id="rId13"/>
            </p:custDataLst>
          </p:nvPr>
        </p:nvGrpSpPr>
        <p:grpSpPr bwMode="auto">
          <a:xfrm>
            <a:off x="1981200" y="4876800"/>
            <a:ext cx="609600" cy="609600"/>
            <a:chOff x="1248" y="3072"/>
            <a:chExt cx="384" cy="384"/>
          </a:xfrm>
        </p:grpSpPr>
        <p:sp>
          <p:nvSpPr>
            <p:cNvPr id="404501" name="Line 21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2" name="Line 22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3" name="Line 23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4" name="Line 24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5"/>
          <p:cNvGrpSpPr>
            <a:grpSpLocks/>
          </p:cNvGrpSpPr>
          <p:nvPr>
            <p:custDataLst>
              <p:tags r:id="rId14"/>
            </p:custDataLst>
          </p:nvPr>
        </p:nvGrpSpPr>
        <p:grpSpPr bwMode="auto">
          <a:xfrm>
            <a:off x="5486400" y="4800600"/>
            <a:ext cx="609600" cy="609600"/>
            <a:chOff x="1248" y="3072"/>
            <a:chExt cx="384" cy="384"/>
          </a:xfrm>
        </p:grpSpPr>
        <p:sp>
          <p:nvSpPr>
            <p:cNvPr id="404506" name="Line 26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7" name="Line 27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8" name="Line 28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4509" name="Line 29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 Box 14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393372" y="4931229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</a:t>
            </a:r>
            <a:endParaRPr lang="en-US" dirty="0"/>
          </a:p>
        </p:txBody>
      </p:sp>
      <p:sp>
        <p:nvSpPr>
          <p:cNvPr id="34" name="Text Box 14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4909459" y="4920342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y’</a:t>
            </a:r>
            <a:endParaRPr lang="en-US" dirty="0"/>
          </a:p>
        </p:txBody>
      </p:sp>
      <p:sp>
        <p:nvSpPr>
          <p:cNvPr id="32" name="Line 22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2501503" y="4882477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5" name="Line 22"/>
          <p:cNvSpPr>
            <a:spLocks noChangeShapeType="1"/>
          </p:cNvSpPr>
          <p:nvPr>
            <p:custDataLst>
              <p:tags r:id="rId18"/>
            </p:custDataLst>
          </p:nvPr>
        </p:nvSpPr>
        <p:spPr bwMode="auto">
          <a:xfrm>
            <a:off x="2079172" y="487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24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 flipV="1">
            <a:off x="1981200" y="54102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24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 flipV="1">
            <a:off x="1971675" y="4947047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Line 24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 flipV="1">
            <a:off x="5495925" y="533995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" name="Line 24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 flipV="1">
            <a:off x="5486400" y="4876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22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>
            <a:off x="5997178" y="4800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3" name="Line 22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>
            <a:off x="5574847" y="479492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820D9-6BAE-EFFC-93CA-F39045B1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049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Backward (Inverse) </a:t>
            </a:r>
            <a:r>
              <a:rPr lang="en-US" dirty="0"/>
              <a:t>Warping</a:t>
            </a:r>
          </a:p>
        </p:txBody>
      </p:sp>
      <p:sp>
        <p:nvSpPr>
          <p:cNvPr id="40550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Get each pixel’s value </a:t>
            </a: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 from its previous location (</a:t>
            </a:r>
            <a:r>
              <a:rPr lang="en-US" b="1" i="1" dirty="0" err="1"/>
              <a:t>x,y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b="1" i="1" dirty="0"/>
              <a:t>T</a:t>
            </a:r>
            <a:r>
              <a:rPr lang="en-US" baseline="30000" dirty="0"/>
              <a:t>-1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), i.e., </a:t>
            </a: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)=</a:t>
            </a: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pic>
        <p:nvPicPr>
          <p:cNvPr id="405508" name="Picture 4" descr="HHHIMG_1166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1905000" y="3886200"/>
            <a:ext cx="2193925" cy="1643063"/>
          </a:xfrm>
          <a:prstGeom prst="rect">
            <a:avLst/>
          </a:prstGeom>
          <a:noFill/>
        </p:spPr>
      </p:pic>
      <p:pic>
        <p:nvPicPr>
          <p:cNvPr id="405509" name="Picture 5" descr="rotated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5368925" y="3733800"/>
            <a:ext cx="2632075" cy="2114550"/>
          </a:xfrm>
          <a:prstGeom prst="rect">
            <a:avLst/>
          </a:prstGeom>
          <a:noFill/>
        </p:spPr>
      </p:pic>
      <p:sp>
        <p:nvSpPr>
          <p:cNvPr id="405510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590800" y="57150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5511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96000" y="5715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  <p:grpSp>
        <p:nvGrpSpPr>
          <p:cNvPr id="2" name="Group 8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1752600" y="5257800"/>
            <a:ext cx="381000" cy="381000"/>
            <a:chOff x="1104" y="3312"/>
            <a:chExt cx="240" cy="240"/>
          </a:xfrm>
        </p:grpSpPr>
        <p:sp>
          <p:nvSpPr>
            <p:cNvPr id="405513" name="Line 9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4" name="Line 10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1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5257800" y="5257800"/>
            <a:ext cx="381000" cy="381000"/>
            <a:chOff x="1104" y="3312"/>
            <a:chExt cx="240" cy="240"/>
          </a:xfrm>
        </p:grpSpPr>
        <p:sp>
          <p:nvSpPr>
            <p:cNvPr id="405516" name="Line 12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5517" name="Line 13"/>
            <p:cNvSpPr>
              <a:spLocks noChangeShapeType="1"/>
            </p:cNvSpPr>
            <p:nvPr>
              <p:custDataLst>
                <p:tags r:id="rId19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5518" name="Text Box 14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752600" y="55626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</a:t>
            </a:r>
            <a:endParaRPr lang="en-US"/>
          </a:p>
        </p:txBody>
      </p:sp>
      <p:sp>
        <p:nvSpPr>
          <p:cNvPr id="405519" name="Text Box 1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257800" y="55626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x’</a:t>
            </a:r>
            <a:endParaRPr lang="en-US"/>
          </a:p>
        </p:txBody>
      </p:sp>
      <p:sp>
        <p:nvSpPr>
          <p:cNvPr id="405520" name="Rectangle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225675" y="5105400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444500" sx="168000" sy="168000" algn="ctr" rotWithShape="0">
              <a:prstClr val="black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05521" name="Rectangle 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791200" y="5121275"/>
            <a:ext cx="136525" cy="1365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>
            <a:outerShdw blurRad="444500" sx="168000" sy="168000" algn="ctr" rotWithShape="0">
              <a:prstClr val="black"/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05522" name="Freeform 18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2422525" y="4724400"/>
            <a:ext cx="3352800" cy="3810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152" y="0"/>
              </a:cxn>
              <a:cxn ang="0">
                <a:pos x="2160" y="288"/>
              </a:cxn>
            </a:cxnLst>
            <a:rect l="0" t="0" r="r" b="b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25400">
            <a:solidFill>
              <a:schemeClr val="accent1"/>
            </a:solidFill>
            <a:round/>
            <a:headEnd type="triangle" w="lg" len="lg"/>
            <a:tailEnd type="non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5523" name="Text Box 19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4085092" y="4780002"/>
            <a:ext cx="1066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T</a:t>
            </a:r>
            <a:r>
              <a:rPr lang="en-US" baseline="30000" dirty="0"/>
              <a:t>-1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  <p:sp>
        <p:nvSpPr>
          <p:cNvPr id="405524" name="Rectangle 20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85800" y="2667000"/>
            <a:ext cx="8001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Requires taking the inverse of the transform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What if (</a:t>
            </a:r>
            <a:r>
              <a:rPr lang="en-US" sz="2800" b="1" i="1" dirty="0" err="1"/>
              <a:t>x,y</a:t>
            </a:r>
            <a:r>
              <a:rPr lang="en-US" sz="2800" dirty="0"/>
              <a:t>) is not on a grid?</a:t>
            </a:r>
          </a:p>
        </p:txBody>
      </p:sp>
      <p:sp>
        <p:nvSpPr>
          <p:cNvPr id="24" name="Text Box 14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393372" y="4931229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</a:t>
            </a:r>
            <a:endParaRPr lang="en-US" dirty="0"/>
          </a:p>
        </p:txBody>
      </p:sp>
      <p:sp>
        <p:nvSpPr>
          <p:cNvPr id="25" name="Text Box 14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909459" y="4920342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y’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1FCEB-5E0D-1FDE-0D05-BBE650736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7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5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55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55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20" grpId="0" animBg="1"/>
      <p:bldP spid="405521" grpId="0" animBg="1"/>
      <p:bldP spid="405522" grpId="0" animBg="1"/>
      <p:bldP spid="405524" grpId="0" build="allAtOnce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dirty="0"/>
              <a:t>Inverse Warping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Get each pixel’s value </a:t>
            </a: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 from its previous location (</a:t>
            </a:r>
            <a:r>
              <a:rPr lang="en-US" b="1" i="1" dirty="0" err="1"/>
              <a:t>x,y</a:t>
            </a:r>
            <a:r>
              <a:rPr lang="en-US" dirty="0"/>
              <a:t>)</a:t>
            </a:r>
            <a:r>
              <a:rPr lang="en-US" b="1" dirty="0"/>
              <a:t> </a:t>
            </a:r>
            <a:r>
              <a:rPr lang="en-US" dirty="0"/>
              <a:t>=</a:t>
            </a:r>
            <a:r>
              <a:rPr lang="en-US" b="1" dirty="0"/>
              <a:t> </a:t>
            </a:r>
            <a:r>
              <a:rPr lang="en-US" b="1" i="1" dirty="0"/>
              <a:t>T</a:t>
            </a:r>
            <a:r>
              <a:rPr lang="en-US" baseline="30000" dirty="0"/>
              <a:t>-1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), i.e., </a:t>
            </a: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)=</a:t>
            </a: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6532" name="Rectangle 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85800" y="2667000"/>
            <a:ext cx="8001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What if (</a:t>
            </a:r>
            <a:r>
              <a:rPr lang="en-US" sz="2800" b="1" i="1" dirty="0" err="1"/>
              <a:t>x,y</a:t>
            </a:r>
            <a:r>
              <a:rPr lang="en-US" sz="2800" dirty="0"/>
              <a:t>) is not on a grid?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800" dirty="0"/>
          </a:p>
        </p:txBody>
      </p:sp>
      <p:sp>
        <p:nvSpPr>
          <p:cNvPr id="406533" name="Rectangle 5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5800" y="3124200"/>
            <a:ext cx="7772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Answer: Use </a:t>
            </a:r>
            <a:r>
              <a:rPr lang="en-US" sz="2800" i="1" dirty="0"/>
              <a:t>interpolation</a:t>
            </a:r>
            <a:r>
              <a:rPr lang="en-US" sz="2800" dirty="0"/>
              <a:t> to generate a continuous image from a discrete image on a grid</a:t>
            </a:r>
          </a:p>
        </p:txBody>
      </p:sp>
      <p:sp>
        <p:nvSpPr>
          <p:cNvPr id="406534" name="Text 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547256" y="5715000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f</a:t>
            </a:r>
            <a:r>
              <a:rPr lang="en-US" dirty="0"/>
              <a:t>(</a:t>
            </a:r>
            <a:r>
              <a:rPr lang="en-US" b="1" i="1" dirty="0" err="1"/>
              <a:t>x,y</a:t>
            </a:r>
            <a:r>
              <a:rPr lang="en-US" dirty="0"/>
              <a:t>)</a:t>
            </a:r>
          </a:p>
        </p:txBody>
      </p:sp>
      <p:sp>
        <p:nvSpPr>
          <p:cNvPr id="406535" name="Text Box 7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96000" y="5715000"/>
            <a:ext cx="838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g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  <p:grpSp>
        <p:nvGrpSpPr>
          <p:cNvPr id="2" name="Group 8"/>
          <p:cNvGrpSpPr>
            <a:grpSpLocks/>
          </p:cNvGrpSpPr>
          <p:nvPr>
            <p:custDataLst>
              <p:tags r:id="rId7"/>
            </p:custDataLst>
          </p:nvPr>
        </p:nvGrpSpPr>
        <p:grpSpPr bwMode="auto">
          <a:xfrm>
            <a:off x="1752600" y="5257800"/>
            <a:ext cx="381000" cy="381000"/>
            <a:chOff x="1104" y="3312"/>
            <a:chExt cx="240" cy="240"/>
          </a:xfrm>
        </p:grpSpPr>
        <p:sp>
          <p:nvSpPr>
            <p:cNvPr id="406537" name="Line 9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38" name="Line 10"/>
            <p:cNvSpPr>
              <a:spLocks noChangeShapeType="1"/>
            </p:cNvSpPr>
            <p:nvPr>
              <p:custDataLst>
                <p:tags r:id="rId38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" name="Group 11"/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5257800" y="5257800"/>
            <a:ext cx="381000" cy="381000"/>
            <a:chOff x="1104" y="3312"/>
            <a:chExt cx="240" cy="240"/>
          </a:xfrm>
        </p:grpSpPr>
        <p:sp>
          <p:nvSpPr>
            <p:cNvPr id="406540" name="Line 12"/>
            <p:cNvSpPr>
              <a:spLocks noChangeShapeType="1"/>
            </p:cNvSpPr>
            <p:nvPr>
              <p:custDataLst>
                <p:tags r:id="rId35"/>
              </p:custDataLst>
            </p:nvPr>
          </p:nvSpPr>
          <p:spPr bwMode="auto">
            <a:xfrm flipV="1">
              <a:off x="1104" y="3312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41" name="Line 13"/>
            <p:cNvSpPr>
              <a:spLocks noChangeShapeType="1"/>
            </p:cNvSpPr>
            <p:nvPr>
              <p:custDataLst>
                <p:tags r:id="rId36"/>
              </p:custDataLst>
            </p:nvPr>
          </p:nvSpPr>
          <p:spPr bwMode="auto">
            <a:xfrm flipV="1">
              <a:off x="1104" y="3552"/>
              <a:ext cx="24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06542" name="Text Box 14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752600" y="55626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</a:t>
            </a:r>
            <a:endParaRPr lang="en-US"/>
          </a:p>
        </p:txBody>
      </p:sp>
      <p:sp>
        <p:nvSpPr>
          <p:cNvPr id="406543" name="Text Box 15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257800" y="55626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/>
              <a:t>x’</a:t>
            </a:r>
            <a:endParaRPr lang="en-US"/>
          </a:p>
        </p:txBody>
      </p:sp>
      <p:sp>
        <p:nvSpPr>
          <p:cNvPr id="406544" name="Rectangle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203903" y="5072742"/>
            <a:ext cx="92075" cy="92075"/>
          </a:xfrm>
          <a:prstGeom prst="rect">
            <a:avLst/>
          </a:prstGeom>
          <a:solidFill>
            <a:srgbClr val="FF000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6545" name="Rectangle 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745161" y="5060948"/>
            <a:ext cx="92075" cy="92075"/>
          </a:xfrm>
          <a:prstGeom prst="rect">
            <a:avLst/>
          </a:prstGeom>
          <a:solidFill>
            <a:srgbClr val="FF0000"/>
          </a:solidFill>
          <a:ln w="254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06546" name="Freeform 18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2422525" y="4724400"/>
            <a:ext cx="3352800" cy="381000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1152" y="0"/>
              </a:cxn>
              <a:cxn ang="0">
                <a:pos x="2160" y="288"/>
              </a:cxn>
            </a:cxnLst>
            <a:rect l="0" t="0" r="r" b="b"/>
            <a:pathLst>
              <a:path w="2160" h="288">
                <a:moveTo>
                  <a:pt x="0" y="288"/>
                </a:moveTo>
                <a:cubicBezTo>
                  <a:pt x="396" y="144"/>
                  <a:pt x="792" y="0"/>
                  <a:pt x="1152" y="0"/>
                </a:cubicBezTo>
                <a:cubicBezTo>
                  <a:pt x="1512" y="0"/>
                  <a:pt x="1836" y="144"/>
                  <a:pt x="2160" y="288"/>
                </a:cubicBezTo>
              </a:path>
            </a:pathLst>
          </a:custGeom>
          <a:noFill/>
          <a:ln w="25400">
            <a:solidFill>
              <a:schemeClr val="accent1"/>
            </a:solidFill>
            <a:round/>
            <a:headEnd type="triangle" w="lg" len="lg"/>
            <a:tailEnd type="none" w="lg" len="lg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" name="Group 19"/>
          <p:cNvGrpSpPr>
            <a:grpSpLocks/>
          </p:cNvGrpSpPr>
          <p:nvPr>
            <p:custDataLst>
              <p:tags r:id="rId14"/>
            </p:custDataLst>
          </p:nvPr>
        </p:nvGrpSpPr>
        <p:grpSpPr bwMode="auto">
          <a:xfrm>
            <a:off x="1981200" y="4876800"/>
            <a:ext cx="609600" cy="609600"/>
            <a:chOff x="1248" y="3072"/>
            <a:chExt cx="384" cy="384"/>
          </a:xfrm>
        </p:grpSpPr>
        <p:sp>
          <p:nvSpPr>
            <p:cNvPr id="406548" name="Line 20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49" name="Line 21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50" name="Line 22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51" name="Line 23"/>
            <p:cNvSpPr>
              <a:spLocks noChangeShapeType="1"/>
            </p:cNvSpPr>
            <p:nvPr>
              <p:custDataLst>
                <p:tags r:id="rId34"/>
              </p:custDataLst>
            </p:nvPr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4"/>
          <p:cNvGrpSpPr>
            <a:grpSpLocks/>
          </p:cNvGrpSpPr>
          <p:nvPr>
            <p:custDataLst>
              <p:tags r:id="rId15"/>
            </p:custDataLst>
          </p:nvPr>
        </p:nvGrpSpPr>
        <p:grpSpPr bwMode="auto">
          <a:xfrm>
            <a:off x="5486400" y="4800600"/>
            <a:ext cx="609600" cy="609600"/>
            <a:chOff x="1248" y="3072"/>
            <a:chExt cx="384" cy="384"/>
          </a:xfrm>
        </p:grpSpPr>
        <p:sp>
          <p:nvSpPr>
            <p:cNvPr id="406553" name="Line 25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1392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54" name="Line 26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1488" y="3072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55" name="Line 27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flipV="1">
              <a:off x="1248" y="321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6556" name="Line 28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V="1">
              <a:off x="1248" y="33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 Box 14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1393372" y="4931229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</a:t>
            </a:r>
            <a:endParaRPr lang="en-US" dirty="0"/>
          </a:p>
        </p:txBody>
      </p:sp>
      <p:sp>
        <p:nvSpPr>
          <p:cNvPr id="33" name="Text Box 14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4909459" y="4920342"/>
            <a:ext cx="685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y’</a:t>
            </a:r>
            <a:endParaRPr lang="en-US" dirty="0"/>
          </a:p>
        </p:txBody>
      </p:sp>
      <p:sp>
        <p:nvSpPr>
          <p:cNvPr id="34" name="Text Box 19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617481" y="4864722"/>
            <a:ext cx="12409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/>
              <a:t>T</a:t>
            </a:r>
            <a:r>
              <a:rPr lang="en-US" baseline="30000" dirty="0"/>
              <a:t>-1</a:t>
            </a:r>
            <a:r>
              <a:rPr lang="en-US" dirty="0"/>
              <a:t>(</a:t>
            </a:r>
            <a:r>
              <a:rPr lang="en-US" b="1" i="1" dirty="0" err="1"/>
              <a:t>x’,y</a:t>
            </a:r>
            <a:r>
              <a:rPr lang="en-US" b="1" i="1" dirty="0"/>
              <a:t>’</a:t>
            </a:r>
            <a:r>
              <a:rPr lang="en-US" dirty="0"/>
              <a:t>)</a:t>
            </a:r>
          </a:p>
        </p:txBody>
      </p:sp>
      <p:sp>
        <p:nvSpPr>
          <p:cNvPr id="35" name="Line 22"/>
          <p:cNvSpPr>
            <a:spLocks noChangeShapeType="1"/>
          </p:cNvSpPr>
          <p:nvPr>
            <p:custDataLst>
              <p:tags r:id="rId19"/>
            </p:custDataLst>
          </p:nvPr>
        </p:nvSpPr>
        <p:spPr bwMode="auto">
          <a:xfrm>
            <a:off x="2501503" y="4882477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" name="Line 22"/>
          <p:cNvSpPr>
            <a:spLocks noChangeShapeType="1"/>
          </p:cNvSpPr>
          <p:nvPr>
            <p:custDataLst>
              <p:tags r:id="rId20"/>
            </p:custDataLst>
          </p:nvPr>
        </p:nvSpPr>
        <p:spPr bwMode="auto">
          <a:xfrm>
            <a:off x="2079172" y="4876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7" name="Line 22"/>
          <p:cNvSpPr>
            <a:spLocks noChangeShapeType="1"/>
          </p:cNvSpPr>
          <p:nvPr>
            <p:custDataLst>
              <p:tags r:id="rId21"/>
            </p:custDataLst>
          </p:nvPr>
        </p:nvSpPr>
        <p:spPr bwMode="auto">
          <a:xfrm>
            <a:off x="6004322" y="4800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8" name="Line 22"/>
          <p:cNvSpPr>
            <a:spLocks noChangeShapeType="1"/>
          </p:cNvSpPr>
          <p:nvPr>
            <p:custDataLst>
              <p:tags r:id="rId22"/>
            </p:custDataLst>
          </p:nvPr>
        </p:nvSpPr>
        <p:spPr bwMode="auto">
          <a:xfrm>
            <a:off x="5581991" y="479492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9" name="Line 24"/>
          <p:cNvSpPr>
            <a:spLocks noChangeShapeType="1"/>
          </p:cNvSpPr>
          <p:nvPr>
            <p:custDataLst>
              <p:tags r:id="rId23"/>
            </p:custDataLst>
          </p:nvPr>
        </p:nvSpPr>
        <p:spPr bwMode="auto">
          <a:xfrm flipV="1">
            <a:off x="1981200" y="540452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0" name="Line 24"/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 flipV="1">
            <a:off x="1971675" y="494137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1" name="Line 24"/>
          <p:cNvSpPr>
            <a:spLocks noChangeShapeType="1"/>
          </p:cNvSpPr>
          <p:nvPr>
            <p:custDataLst>
              <p:tags r:id="rId25"/>
            </p:custDataLst>
          </p:nvPr>
        </p:nvSpPr>
        <p:spPr bwMode="auto">
          <a:xfrm flipV="1">
            <a:off x="5504259" y="5334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2" name="Line 24"/>
          <p:cNvSpPr>
            <a:spLocks noChangeShapeType="1"/>
          </p:cNvSpPr>
          <p:nvPr>
            <p:custDataLst>
              <p:tags r:id="rId26"/>
            </p:custDataLst>
          </p:nvPr>
        </p:nvSpPr>
        <p:spPr bwMode="auto">
          <a:xfrm flipV="1">
            <a:off x="5494734" y="4870847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0766B-84F0-7D42-08FB-55F5C8C2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47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Interpolation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dirty="0"/>
              <a:t>Possible interpolation filters:</a:t>
            </a:r>
          </a:p>
          <a:p>
            <a:pPr lvl="1"/>
            <a:r>
              <a:rPr lang="en-US" dirty="0"/>
              <a:t>nearest neighbor</a:t>
            </a:r>
          </a:p>
          <a:p>
            <a:pPr lvl="1"/>
            <a:r>
              <a:rPr lang="en-US" dirty="0"/>
              <a:t>bilinear</a:t>
            </a:r>
          </a:p>
          <a:p>
            <a:pPr lvl="1"/>
            <a:r>
              <a:rPr lang="en-US" dirty="0" err="1"/>
              <a:t>bicubic</a:t>
            </a:r>
            <a:r>
              <a:rPr lang="en-US" dirty="0"/>
              <a:t> (interpolating)</a:t>
            </a:r>
          </a:p>
          <a:p>
            <a:pPr lvl="1"/>
            <a:r>
              <a:rPr lang="en-US"/>
              <a:t>…</a:t>
            </a:r>
            <a:endParaRPr lang="en-US" dirty="0"/>
          </a:p>
        </p:txBody>
      </p:sp>
      <p:pic>
        <p:nvPicPr>
          <p:cNvPr id="407556" name="Picture 4" descr="rotatedNN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86400" y="1807029"/>
            <a:ext cx="3449638" cy="2840038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148ACD-FEFA-24DB-AFFB-92242B5A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88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Parametric (global) warping</a:t>
            </a:r>
          </a:p>
        </p:txBody>
      </p:sp>
      <p:sp>
        <p:nvSpPr>
          <p:cNvPr id="854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2250" y="2790825"/>
            <a:ext cx="8724900" cy="270668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Transformation T is a coordinate-changing machine: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dirty="0"/>
              <a:t>					p’ = </a:t>
            </a:r>
            <a:r>
              <a:rPr lang="en-US" sz="2400" i="1" dirty="0"/>
              <a:t>T</a:t>
            </a:r>
            <a:r>
              <a:rPr lang="en-US" sz="2400" dirty="0"/>
              <a:t>(p)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What does it mean that </a:t>
            </a:r>
            <a:r>
              <a:rPr lang="en-US" sz="2400" i="1" dirty="0"/>
              <a:t>T</a:t>
            </a:r>
            <a:r>
              <a:rPr lang="en-US" sz="2400" dirty="0"/>
              <a:t> is global?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Is the same for any point 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can be described by just a few numbers (parameters)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Let’s consider </a:t>
            </a:r>
            <a:r>
              <a:rPr lang="en-US" sz="2400" i="1" dirty="0"/>
              <a:t>linear</a:t>
            </a:r>
            <a:r>
              <a:rPr lang="en-US" sz="2400" dirty="0"/>
              <a:t> </a:t>
            </a:r>
            <a:r>
              <a:rPr lang="en-US" sz="2400" dirty="0" err="1"/>
              <a:t>xforms</a:t>
            </a:r>
            <a:r>
              <a:rPr lang="en-US" sz="2400" dirty="0"/>
              <a:t> (can be represented by a 2D matrix):</a:t>
            </a:r>
          </a:p>
          <a:p>
            <a:pPr eaLnBrk="1" hangingPunct="1">
              <a:lnSpc>
                <a:spcPct val="90000"/>
              </a:lnSpc>
              <a:buNone/>
            </a:pPr>
            <a:endParaRPr lang="en-US" sz="24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352800" y="1690016"/>
            <a:ext cx="1600200" cy="476250"/>
            <a:chOff x="2256" y="2064"/>
            <a:chExt cx="1008" cy="300"/>
          </a:xfrm>
        </p:grpSpPr>
        <p:sp>
          <p:nvSpPr>
            <p:cNvPr id="10252" name="Text Box 5"/>
            <p:cNvSpPr txBox="1">
              <a:spLocks noChangeArrowheads="1"/>
            </p:cNvSpPr>
            <p:nvPr/>
          </p:nvSpPr>
          <p:spPr bwMode="auto">
            <a:xfrm>
              <a:off x="2592" y="2064"/>
              <a:ext cx="336" cy="30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i="1"/>
                <a:t>T</a:t>
              </a:r>
            </a:p>
          </p:txBody>
        </p:sp>
        <p:sp>
          <p:nvSpPr>
            <p:cNvPr id="10253" name="Line 6"/>
            <p:cNvSpPr>
              <a:spLocks noChangeShapeType="1"/>
            </p:cNvSpPr>
            <p:nvPr/>
          </p:nvSpPr>
          <p:spPr bwMode="auto">
            <a:xfrm>
              <a:off x="2256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Line 7"/>
            <p:cNvSpPr>
              <a:spLocks noChangeShapeType="1"/>
            </p:cNvSpPr>
            <p:nvPr/>
          </p:nvSpPr>
          <p:spPr bwMode="auto">
            <a:xfrm>
              <a:off x="2928" y="220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246" name="Picture 8" descr="HHHIMG_116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375691"/>
            <a:ext cx="1462088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7" name="Picture 9" descr="HHHIMG_116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1709066"/>
            <a:ext cx="184308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8" name="Text Box 10"/>
          <p:cNvSpPr txBox="1">
            <a:spLocks noChangeArrowheads="1"/>
          </p:cNvSpPr>
          <p:nvPr/>
        </p:nvSpPr>
        <p:spPr bwMode="auto">
          <a:xfrm>
            <a:off x="1524000" y="2471066"/>
            <a:ext cx="1262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/>
              <a:t>p</a:t>
            </a:r>
            <a:r>
              <a:rPr lang="en-US"/>
              <a:t> = (x,y)</a:t>
            </a:r>
          </a:p>
        </p:txBody>
      </p:sp>
      <p:sp>
        <p:nvSpPr>
          <p:cNvPr id="10249" name="Text Box 11"/>
          <p:cNvSpPr txBox="1">
            <a:spLocks noChangeArrowheads="1"/>
          </p:cNvSpPr>
          <p:nvPr/>
        </p:nvSpPr>
        <p:spPr bwMode="auto">
          <a:xfrm>
            <a:off x="5748338" y="2471066"/>
            <a:ext cx="15668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b="1"/>
              <a:t>p’</a:t>
            </a:r>
            <a:r>
              <a:rPr lang="en-US"/>
              <a:t> = (x’,y’)</a:t>
            </a:r>
          </a:p>
        </p:txBody>
      </p:sp>
      <p:sp>
        <p:nvSpPr>
          <p:cNvPr id="10250" name="Oval 12"/>
          <p:cNvSpPr>
            <a:spLocks noChangeAspect="1" noChangeArrowheads="1"/>
          </p:cNvSpPr>
          <p:nvPr/>
        </p:nvSpPr>
        <p:spPr bwMode="auto">
          <a:xfrm>
            <a:off x="6129338" y="1818604"/>
            <a:ext cx="119062" cy="1190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Oval 13"/>
          <p:cNvSpPr>
            <a:spLocks noChangeAspect="1" noChangeArrowheads="1"/>
          </p:cNvSpPr>
          <p:nvPr/>
        </p:nvSpPr>
        <p:spPr bwMode="auto">
          <a:xfrm>
            <a:off x="2014538" y="1556666"/>
            <a:ext cx="119062" cy="1190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7833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8313" y="5470753"/>
            <a:ext cx="1756001" cy="520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336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28432" y="5211535"/>
            <a:ext cx="3389539" cy="1185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6FEF3C-7656-573C-AAB6-A042B094E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5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4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54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54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54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54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54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83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83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401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914400"/>
          </a:xfrm>
        </p:spPr>
        <p:txBody>
          <a:bodyPr/>
          <a:lstStyle/>
          <a:p>
            <a:r>
              <a:rPr lang="en-US" dirty="0"/>
              <a:t>Common linear 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Rotation by angle </a:t>
            </a:r>
            <a:r>
              <a:rPr lang="el-GR" sz="2800" i="1" kern="0" dirty="0">
                <a:solidFill>
                  <a:prstClr val="black"/>
                </a:solidFill>
                <a:latin typeface="Verdana"/>
              </a:rPr>
              <a:t>θ</a:t>
            </a:r>
            <a:r>
              <a:rPr lang="en-US" sz="2800" i="1" kern="0" dirty="0">
                <a:solidFill>
                  <a:prstClr val="black"/>
                </a:solidFill>
                <a:latin typeface="Verdana"/>
              </a:rPr>
              <a:t> </a:t>
            </a:r>
            <a:r>
              <a:rPr lang="en-US" sz="2800" kern="0" dirty="0">
                <a:solidFill>
                  <a:prstClr val="black"/>
                </a:solidFill>
              </a:rPr>
              <a:t>(about the origin)</a:t>
            </a:r>
            <a:endParaRPr lang="en-US" i="1" dirty="0"/>
          </a:p>
          <a:p>
            <a:endParaRPr lang="en-US" dirty="0"/>
          </a:p>
        </p:txBody>
      </p:sp>
      <p:pic>
        <p:nvPicPr>
          <p:cNvPr id="5" name="Picture 4" descr="C:\snavely\work\teaching\09Sp-CS1114\lectures\lec14\ey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4965" y="3118760"/>
            <a:ext cx="2843144" cy="1907662"/>
          </a:xfrm>
          <a:prstGeom prst="rect">
            <a:avLst/>
          </a:prstGeom>
          <a:noFill/>
          <a:effectLst>
            <a:outerShdw blurRad="190500" dist="190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C:\snavely\work\teaching\09Sp-CS1114\lectures\lec14\ey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9800000">
            <a:off x="5121767" y="2553315"/>
            <a:ext cx="2843144" cy="1907662"/>
          </a:xfrm>
          <a:prstGeom prst="rect">
            <a:avLst/>
          </a:prstGeom>
          <a:noFill/>
          <a:effectLst>
            <a:outerShdw blurRad="190500" dist="1905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" name="Group 10"/>
          <p:cNvGrpSpPr/>
          <p:nvPr/>
        </p:nvGrpSpPr>
        <p:grpSpPr>
          <a:xfrm>
            <a:off x="955221" y="5384347"/>
            <a:ext cx="4467225" cy="1266825"/>
            <a:chOff x="2490107" y="5053693"/>
            <a:chExt cx="4467225" cy="1266825"/>
          </a:xfrm>
        </p:grpSpPr>
        <p:pic>
          <p:nvPicPr>
            <p:cNvPr id="12292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490107" y="5053693"/>
              <a:ext cx="4467225" cy="1266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786434" name="Picture 2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639106" y="5427210"/>
              <a:ext cx="453896" cy="3966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" name="Oval 12"/>
          <p:cNvSpPr/>
          <p:nvPr/>
        </p:nvSpPr>
        <p:spPr>
          <a:xfrm>
            <a:off x="1005260" y="4920342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446314" y="4800597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15" name="Oval 14"/>
          <p:cNvSpPr/>
          <p:nvPr/>
        </p:nvSpPr>
        <p:spPr>
          <a:xfrm>
            <a:off x="5686117" y="4931228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127171" y="481148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5769428" y="5018314"/>
            <a:ext cx="2667000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553200" y="4593772"/>
            <a:ext cx="328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i="1" kern="0" dirty="0">
                <a:solidFill>
                  <a:prstClr val="black"/>
                </a:solidFill>
                <a:latin typeface="Verdana"/>
              </a:rPr>
              <a:t>θ</a:t>
            </a:r>
            <a:endParaRPr lang="en-US" dirty="0"/>
          </a:p>
        </p:txBody>
      </p:sp>
      <p:sp>
        <p:nvSpPr>
          <p:cNvPr id="28" name="Arc 27"/>
          <p:cNvSpPr/>
          <p:nvPr/>
        </p:nvSpPr>
        <p:spPr>
          <a:xfrm>
            <a:off x="5334000" y="4419600"/>
            <a:ext cx="1219200" cy="1219200"/>
          </a:xfrm>
          <a:prstGeom prst="arc">
            <a:avLst>
              <a:gd name="adj1" fmla="val 19308430"/>
              <a:gd name="adj2" fmla="val 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6A662-74E3-0FA3-FB34-7F37AF45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4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2x2 Matrices</a:t>
            </a:r>
          </a:p>
        </p:txBody>
      </p:sp>
      <p:sp>
        <p:nvSpPr>
          <p:cNvPr id="153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8229600" cy="1066800"/>
          </a:xfrm>
        </p:spPr>
        <p:txBody>
          <a:bodyPr/>
          <a:lstStyle/>
          <a:p>
            <a:pPr eaLnBrk="1" hangingPunct="1"/>
            <a:r>
              <a:rPr lang="en-US" dirty="0"/>
              <a:t>What types of transformations can be </a:t>
            </a:r>
            <a:br>
              <a:rPr lang="en-US" dirty="0"/>
            </a:br>
            <a:r>
              <a:rPr lang="en-US" dirty="0"/>
              <a:t>represented with a 2x2 matrix?</a:t>
            </a:r>
          </a:p>
        </p:txBody>
      </p:sp>
      <p:sp>
        <p:nvSpPr>
          <p:cNvPr id="15368" name="Text Box 4"/>
          <p:cNvSpPr txBox="1">
            <a:spLocks noChangeArrowheads="1"/>
          </p:cNvSpPr>
          <p:nvPr/>
        </p:nvSpPr>
        <p:spPr bwMode="auto">
          <a:xfrm>
            <a:off x="838200" y="2681288"/>
            <a:ext cx="3589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>
                <a:solidFill>
                  <a:schemeClr val="tx2"/>
                </a:solidFill>
              </a:rPr>
              <a:t>2D mirror about Y axis?</a:t>
            </a:r>
          </a:p>
        </p:txBody>
      </p:sp>
      <p:sp>
        <p:nvSpPr>
          <p:cNvPr id="15369" name="Text Box 7"/>
          <p:cNvSpPr txBox="1">
            <a:spLocks noChangeArrowheads="1"/>
          </p:cNvSpPr>
          <p:nvPr/>
        </p:nvSpPr>
        <p:spPr bwMode="auto">
          <a:xfrm>
            <a:off x="838200" y="4586288"/>
            <a:ext cx="411490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>
                <a:solidFill>
                  <a:schemeClr val="tx2"/>
                </a:solidFill>
              </a:rPr>
              <a:t>2D mirror across line y = x?</a:t>
            </a:r>
          </a:p>
        </p:txBody>
      </p:sp>
      <p:pic>
        <p:nvPicPr>
          <p:cNvPr id="78746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1" y="3284765"/>
            <a:ext cx="1992086" cy="1080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746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69278" y="3154817"/>
            <a:ext cx="3721112" cy="1286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7217230" y="3897086"/>
            <a:ext cx="381000" cy="4136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8945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3999" y="5257800"/>
            <a:ext cx="2039907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894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76800" y="5105400"/>
            <a:ext cx="3352800" cy="1591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C6BF4D-1A5B-8D40-DA74-F260D24C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6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8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8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8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8" grpId="0"/>
      <p:bldP spid="1536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What types of transformations can be </a:t>
            </a:r>
            <a:br>
              <a:rPr lang="en-US"/>
            </a:br>
            <a:r>
              <a:rPr lang="en-US"/>
              <a:t>represented with a 2x2 matrix?</a:t>
            </a: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838200" y="2757488"/>
            <a:ext cx="243919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800" dirty="0">
                <a:solidFill>
                  <a:schemeClr val="tx2"/>
                </a:solidFill>
              </a:rPr>
              <a:t>2D Translation?</a:t>
            </a:r>
          </a:p>
        </p:txBody>
      </p:sp>
      <p:sp>
        <p:nvSpPr>
          <p:cNvPr id="865287" name="Text Box 7"/>
          <p:cNvSpPr txBox="1">
            <a:spLocks noChangeArrowheads="1"/>
          </p:cNvSpPr>
          <p:nvPr/>
        </p:nvSpPr>
        <p:spPr bwMode="auto">
          <a:xfrm>
            <a:off x="3675075" y="3505200"/>
            <a:ext cx="644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solidFill>
                  <a:schemeClr val="tx2"/>
                </a:solidFill>
                <a:latin typeface="Arial" charset="0"/>
              </a:rPr>
              <a:t>NO!</a:t>
            </a:r>
          </a:p>
        </p:txBody>
      </p:sp>
      <p:pic>
        <p:nvPicPr>
          <p:cNvPr id="7884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3707" y="3254149"/>
            <a:ext cx="2474696" cy="1111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2x2 Matrices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196AF6-F6E0-6DF1-DCA4-6A4DC8C81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76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5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528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xfrm>
            <a:off x="223838" y="76200"/>
            <a:ext cx="8723312" cy="838200"/>
          </a:xfrm>
        </p:spPr>
        <p:txBody>
          <a:bodyPr/>
          <a:lstStyle/>
          <a:p>
            <a:pPr eaLnBrk="1" hangingPunct="1"/>
            <a:r>
              <a:rPr lang="en-US"/>
              <a:t>All 2D Linear Transformations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12900"/>
            <a:ext cx="8566150" cy="47879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Linear transformations are combinations of 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Scale,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Rotation,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Shear, 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Mirror</a:t>
            </a:r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/>
        </p:nvGraphicFramePr>
        <p:xfrm>
          <a:off x="4953000" y="2165350"/>
          <a:ext cx="2271713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17440" imgH="457200" progId="Equation.3">
                  <p:embed/>
                </p:oleObj>
              </mc:Choice>
              <mc:Fallback>
                <p:oleObj name="Equation" r:id="rId3" imgW="1117440" imgH="457200" progId="Equation.3">
                  <p:embed/>
                  <p:pic>
                    <p:nvPicPr>
                      <p:cNvPr id="174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165350"/>
                        <a:ext cx="2271713" cy="927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102686"/>
              </p:ext>
            </p:extLst>
          </p:nvPr>
        </p:nvGraphicFramePr>
        <p:xfrm>
          <a:off x="1577468" y="3496469"/>
          <a:ext cx="5126037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840" imgH="406080" progId="Equation.3">
                  <p:embed/>
                </p:oleObj>
              </mc:Choice>
              <mc:Fallback>
                <p:oleObj name="Equation" r:id="rId5" imgW="2031840" imgH="40608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7468" y="3496469"/>
                        <a:ext cx="5126037" cy="10207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E912D1A-D6D0-AA47-82A7-A4D5AF4CCE65}"/>
              </a:ext>
            </a:extLst>
          </p:cNvPr>
          <p:cNvSpPr/>
          <p:nvPr/>
        </p:nvSpPr>
        <p:spPr>
          <a:xfrm>
            <a:off x="1056261" y="5353032"/>
            <a:ext cx="61684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dirty="0">
                <a:latin typeface="Arial,Bold"/>
              </a:rPr>
              <a:t>How can we represent translation as a 3x3 matrix? </a:t>
            </a:r>
            <a:endParaRPr lang="en-HK" dirty="0"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1BF3A2-26B9-AD46-858D-28DADD64A16A}"/>
              </a:ext>
            </a:extLst>
          </p:cNvPr>
          <p:cNvSpPr/>
          <p:nvPr/>
        </p:nvSpPr>
        <p:spPr>
          <a:xfrm>
            <a:off x="3260907" y="5732513"/>
            <a:ext cx="118974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sz="2400" dirty="0">
                <a:latin typeface="TimesNewRoman,BoldItalic"/>
              </a:rPr>
              <a:t>x</a:t>
            </a:r>
            <a:r>
              <a:rPr lang="en-HK" sz="2400" dirty="0">
                <a:latin typeface="TimesNewRoman"/>
              </a:rPr>
              <a:t>'</a:t>
            </a:r>
            <a:r>
              <a:rPr lang="en-HK" sz="2400" dirty="0">
                <a:latin typeface="SymbolMT"/>
              </a:rPr>
              <a:t>= </a:t>
            </a:r>
            <a:r>
              <a:rPr lang="en-HK" sz="2400" dirty="0" err="1">
                <a:latin typeface="TimesNewRoman,BoldItalic"/>
              </a:rPr>
              <a:t>x</a:t>
            </a:r>
            <a:r>
              <a:rPr lang="en-HK" sz="2400" dirty="0" err="1">
                <a:latin typeface="SymbolMT"/>
              </a:rPr>
              <a:t>+</a:t>
            </a:r>
            <a:r>
              <a:rPr lang="en-HK" sz="2400" dirty="0" err="1">
                <a:latin typeface="TimesNewRoman,BoldItalic"/>
              </a:rPr>
              <a:t>t</a:t>
            </a:r>
            <a:r>
              <a:rPr lang="en-HK" sz="2400" baseline="-25000" dirty="0" err="1">
                <a:latin typeface="TimesNewRoman,BoldItalic"/>
              </a:rPr>
              <a:t>x</a:t>
            </a:r>
            <a:r>
              <a:rPr lang="en-HK" sz="2400" dirty="0">
                <a:latin typeface="TimesNewRoman,BoldItalic"/>
              </a:rPr>
              <a:t> </a:t>
            </a:r>
          </a:p>
          <a:p>
            <a:r>
              <a:rPr lang="en-HK" sz="2400" dirty="0">
                <a:latin typeface="TimesNewRoman,BoldItalic"/>
              </a:rPr>
              <a:t>y</a:t>
            </a:r>
            <a:r>
              <a:rPr lang="en-HK" sz="2400" dirty="0">
                <a:latin typeface="TimesNewRoman"/>
              </a:rPr>
              <a:t>'</a:t>
            </a:r>
            <a:r>
              <a:rPr lang="en-HK" sz="2400" dirty="0">
                <a:latin typeface="SymbolMT"/>
              </a:rPr>
              <a:t>= </a:t>
            </a:r>
            <a:r>
              <a:rPr lang="en-HK" sz="2400" dirty="0" err="1">
                <a:latin typeface="TimesNewRoman,BoldItalic"/>
              </a:rPr>
              <a:t>y</a:t>
            </a:r>
            <a:r>
              <a:rPr lang="en-HK" sz="2400" dirty="0" err="1">
                <a:latin typeface="SymbolMT"/>
              </a:rPr>
              <a:t>+</a:t>
            </a:r>
            <a:r>
              <a:rPr lang="en-HK" sz="2400" dirty="0" err="1">
                <a:latin typeface="TimesNewRoman,BoldItalic"/>
              </a:rPr>
              <a:t>t</a:t>
            </a:r>
            <a:r>
              <a:rPr lang="en-HK" sz="2400" baseline="-25000" dirty="0" err="1">
                <a:latin typeface="TimesNewRoman,BoldItalic"/>
              </a:rPr>
              <a:t>y</a:t>
            </a:r>
            <a:r>
              <a:rPr lang="en-HK" sz="2400" dirty="0">
                <a:latin typeface="TimesNewRoman,BoldItalic"/>
              </a:rPr>
              <a:t> </a:t>
            </a:r>
            <a:endParaRPr lang="en-HK" sz="2400" dirty="0">
              <a:effectLst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6497AF-92F8-F6B2-0E1C-38DBD1952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414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Homogeneous coordinates</a:t>
            </a:r>
          </a:p>
        </p:txBody>
      </p:sp>
      <p:sp>
        <p:nvSpPr>
          <p:cNvPr id="20484" name="Rectangle 2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81000" y="19050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/>
              <a:t>Trick:  add one more coordinate:</a:t>
            </a:r>
          </a:p>
        </p:txBody>
      </p:sp>
      <p:sp>
        <p:nvSpPr>
          <p:cNvPr id="20485" name="Text Box 3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793875" y="3600450"/>
            <a:ext cx="2867773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/>
              <a:t>homogeneous image </a:t>
            </a:r>
          </a:p>
          <a:p>
            <a:pPr algn="ctr"/>
            <a:r>
              <a:rPr lang="en-US" sz="2400"/>
              <a:t>coordinates</a:t>
            </a:r>
          </a:p>
        </p:txBody>
      </p:sp>
      <p:sp>
        <p:nvSpPr>
          <p:cNvPr id="20487" name="Rectangle 34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33400" y="5029200"/>
            <a:ext cx="6858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dirty="0"/>
              <a:t>Converting </a:t>
            </a:r>
            <a:r>
              <a:rPr lang="en-US" sz="2400" i="1" dirty="0"/>
              <a:t>from</a:t>
            </a:r>
            <a:r>
              <a:rPr lang="en-US" sz="2400" dirty="0"/>
              <a:t> homogeneous coordinates</a:t>
            </a:r>
          </a:p>
        </p:txBody>
      </p:sp>
      <p:pic>
        <p:nvPicPr>
          <p:cNvPr id="20488" name="Picture 35" descr="Edittex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589088" y="2449512"/>
            <a:ext cx="1843087" cy="103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9" name="Picture 39" descr="Edittex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371600" y="5562600"/>
            <a:ext cx="2622550" cy="103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3" name="Group 42"/>
          <p:cNvGrpSpPr/>
          <p:nvPr/>
        </p:nvGrpSpPr>
        <p:grpSpPr>
          <a:xfrm>
            <a:off x="4876800" y="1459468"/>
            <a:ext cx="3408252" cy="3351236"/>
            <a:chOff x="4876800" y="1459468"/>
            <a:chExt cx="3408252" cy="3351236"/>
          </a:xfrm>
        </p:grpSpPr>
        <p:cxnSp>
          <p:nvCxnSpPr>
            <p:cNvPr id="15" name="Straight Arrow Connector 14"/>
            <p:cNvCxnSpPr/>
            <p:nvPr/>
          </p:nvCxnSpPr>
          <p:spPr>
            <a:xfrm>
              <a:off x="6172200" y="3579812"/>
              <a:ext cx="1828800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5400000" flipH="1" flipV="1">
              <a:off x="5256609" y="2667397"/>
              <a:ext cx="1829594" cy="158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rot="5400000">
              <a:off x="5105400" y="3581400"/>
              <a:ext cx="1066800" cy="10668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8001000" y="3385458"/>
              <a:ext cx="284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876800" y="4441372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051024" y="1459468"/>
              <a:ext cx="3497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w</a:t>
              </a:r>
            </a:p>
          </p:txBody>
        </p:sp>
      </p:grpSp>
      <p:cxnSp>
        <p:nvCxnSpPr>
          <p:cNvPr id="34" name="Straight Arrow Connector 33"/>
          <p:cNvCxnSpPr/>
          <p:nvPr/>
        </p:nvCxnSpPr>
        <p:spPr>
          <a:xfrm rot="5400000" flipH="1" flipV="1">
            <a:off x="5600700" y="1866900"/>
            <a:ext cx="2286000" cy="1143000"/>
          </a:xfrm>
          <a:prstGeom prst="straightConnector1">
            <a:avLst/>
          </a:prstGeom>
          <a:ln w="381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398623" y="3002281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7267302" y="1273628"/>
            <a:ext cx="91440" cy="914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>
            <a:off x="7293795" y="1110342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, </a:t>
            </a:r>
            <a:r>
              <a:rPr lang="en-US" i="1" dirty="0"/>
              <a:t>w</a:t>
            </a:r>
            <a:r>
              <a:rPr lang="en-US" dirty="0"/>
              <a:t>)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4876800" y="2208814"/>
            <a:ext cx="3810000" cy="1187528"/>
            <a:chOff x="4876800" y="2208814"/>
            <a:chExt cx="3810000" cy="1187528"/>
          </a:xfrm>
        </p:grpSpPr>
        <p:sp>
          <p:nvSpPr>
            <p:cNvPr id="26" name="Parallelogram 25"/>
            <p:cNvSpPr/>
            <p:nvPr/>
          </p:nvSpPr>
          <p:spPr>
            <a:xfrm>
              <a:off x="4876800" y="2208814"/>
              <a:ext cx="3810000" cy="1143986"/>
            </a:xfrm>
            <a:prstGeom prst="parallelogram">
              <a:avLst>
                <a:gd name="adj" fmla="val 101702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061858" y="3027010"/>
              <a:ext cx="6880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w</a:t>
              </a:r>
              <a:r>
                <a:rPr lang="en-US" dirty="0"/>
                <a:t> = 1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6401167" y="2895600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/</a:t>
            </a:r>
            <a:r>
              <a:rPr lang="en-US" i="1" dirty="0"/>
              <a:t>w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dirty="0"/>
              <a:t>/</a:t>
            </a:r>
            <a:r>
              <a:rPr lang="en-US" i="1" dirty="0"/>
              <a:t>w</a:t>
            </a:r>
            <a:r>
              <a:rPr lang="en-US" dirty="0"/>
              <a:t>, </a:t>
            </a:r>
            <a:r>
              <a:rPr lang="en-US" i="1" dirty="0"/>
              <a:t>1</a:t>
            </a:r>
            <a:r>
              <a:rPr lang="en-US" dirty="0"/>
              <a:t>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9000" y="1927034"/>
            <a:ext cx="16755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homogeneous plane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404070-780E-22C6-B4CB-E5C19A18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41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5" grpId="0"/>
      <p:bldP spid="20487" grpId="0"/>
      <p:bldP spid="36" grpId="0" animBg="1"/>
      <p:bldP spid="37" grpId="0" animBg="1"/>
      <p:bldP spid="38" grpId="0"/>
      <p:bldP spid="39" grpId="0"/>
      <p:bldP spid="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46FA9-2023-3346-B6D2-19F61B1B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	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C2309-9C80-9A4A-B974-325BA4B60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Which</a:t>
            </a:r>
            <a:r>
              <a:rPr lang="zh-CN" altLang="en-US" dirty="0"/>
              <a:t> </a:t>
            </a:r>
            <a:r>
              <a:rPr lang="en-US" altLang="zh-CN" dirty="0"/>
              <a:t>one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true</a:t>
            </a:r>
            <a:r>
              <a:rPr lang="zh-CN" altLang="en-US" dirty="0"/>
              <a:t>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homogeneous</a:t>
            </a:r>
            <a:r>
              <a:rPr lang="zh-CN" altLang="en-US" dirty="0"/>
              <a:t> </a:t>
            </a:r>
            <a:r>
              <a:rPr lang="en-US" altLang="zh-CN" dirty="0"/>
              <a:t>coordinate?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points</a:t>
            </a:r>
            <a:r>
              <a:rPr lang="zh-CN" altLang="en-US" dirty="0"/>
              <a:t> </a:t>
            </a:r>
            <a:r>
              <a:rPr lang="en-US" altLang="zh-CN" dirty="0"/>
              <a:t>(2,3,1)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(2,3,2)</a:t>
            </a:r>
            <a:r>
              <a:rPr lang="zh-CN" altLang="en-US" dirty="0"/>
              <a:t> </a:t>
            </a:r>
            <a:r>
              <a:rPr lang="en-US" altLang="zh-CN" dirty="0"/>
              <a:t>refer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same</a:t>
            </a:r>
            <a:r>
              <a:rPr lang="zh-CN" altLang="en-US" dirty="0"/>
              <a:t> </a:t>
            </a:r>
            <a:r>
              <a:rPr lang="en-US" altLang="zh-CN" dirty="0"/>
              <a:t>point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image</a:t>
            </a:r>
            <a:r>
              <a:rPr lang="zh-CN" altLang="en-US" dirty="0"/>
              <a:t> </a:t>
            </a:r>
            <a:r>
              <a:rPr lang="en-US" altLang="zh-CN" dirty="0"/>
              <a:t>coordinate</a:t>
            </a:r>
          </a:p>
          <a:p>
            <a:pPr lvl="1"/>
            <a:r>
              <a:rPr lang="en-US" altLang="zh-CN" dirty="0"/>
              <a:t>Homogeneous</a:t>
            </a:r>
            <a:r>
              <a:rPr lang="zh-CN" altLang="en-US" dirty="0"/>
              <a:t> </a:t>
            </a:r>
            <a:r>
              <a:rPr lang="en-US" altLang="zh-CN" dirty="0"/>
              <a:t>coordinate</a:t>
            </a:r>
            <a:r>
              <a:rPr lang="zh-CN" altLang="en-US" dirty="0"/>
              <a:t> </a:t>
            </a:r>
            <a:r>
              <a:rPr lang="en-US" altLang="zh-CN" dirty="0"/>
              <a:t>could represent translation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homogeneous</a:t>
            </a:r>
            <a:r>
              <a:rPr lang="zh-CN" altLang="en-US" dirty="0"/>
              <a:t> </a:t>
            </a:r>
            <a:r>
              <a:rPr lang="en-US" altLang="zh-CN" dirty="0"/>
              <a:t>coordinate</a:t>
            </a:r>
            <a:r>
              <a:rPr lang="zh-CN" altLang="en-US" dirty="0"/>
              <a:t> </a:t>
            </a:r>
            <a:r>
              <a:rPr lang="en-US" altLang="zh-CN" dirty="0"/>
              <a:t>must</a:t>
            </a:r>
            <a:r>
              <a:rPr lang="zh-CN" altLang="en-US" dirty="0"/>
              <a:t> </a:t>
            </a:r>
            <a:r>
              <a:rPr lang="en-US" altLang="zh-CN" dirty="0"/>
              <a:t>be</a:t>
            </a:r>
            <a:r>
              <a:rPr lang="zh-CN" altLang="en-US" dirty="0"/>
              <a:t> </a:t>
            </a:r>
            <a:r>
              <a:rPr lang="en-US" altLang="zh-CN" dirty="0"/>
              <a:t>greater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equal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1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280AE-3BF7-CFFB-434F-B49610B1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8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 homogeneous coordinates to the rescue</a:t>
            </a:r>
          </a:p>
        </p:txBody>
      </p:sp>
      <p:pic>
        <p:nvPicPr>
          <p:cNvPr id="78950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1926" y="2775858"/>
            <a:ext cx="364557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950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49136" y="4691717"/>
            <a:ext cx="6588578" cy="17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675D0-7B5E-0153-E836-BADE8C29E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59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Affine transformations</a:t>
            </a:r>
          </a:p>
        </p:txBody>
      </p:sp>
      <p:pic>
        <p:nvPicPr>
          <p:cNvPr id="7895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1926" y="2775858"/>
            <a:ext cx="3645578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438400" y="3897086"/>
            <a:ext cx="1905000" cy="424543"/>
          </a:xfrm>
          <a:prstGeom prst="rect">
            <a:avLst/>
          </a:prstGeom>
          <a:solidFill>
            <a:srgbClr val="FFFF00">
              <a:alpha val="4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flipH="1">
            <a:off x="4822372" y="3897086"/>
            <a:ext cx="457200" cy="4027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410199" y="3646715"/>
            <a:ext cx="29173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any transformation with </a:t>
            </a:r>
          </a:p>
          <a:p>
            <a:r>
              <a:rPr lang="en-US" sz="2000" dirty="0"/>
              <a:t>last row [ 0 0 1 ] we call an </a:t>
            </a:r>
          </a:p>
          <a:p>
            <a:r>
              <a:rPr lang="en-US" sz="2000" i="1" dirty="0"/>
              <a:t>affine</a:t>
            </a:r>
            <a:r>
              <a:rPr lang="en-US" sz="2000" dirty="0"/>
              <a:t> transformation</a:t>
            </a:r>
            <a:endParaRPr lang="en-US" sz="2000" i="1" dirty="0"/>
          </a:p>
        </p:txBody>
      </p:sp>
      <p:pic>
        <p:nvPicPr>
          <p:cNvPr id="79053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35385" y="4708957"/>
            <a:ext cx="2520044" cy="172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A6F9F8-8921-4455-8F02-4F85DDC6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223838" y="76200"/>
            <a:ext cx="8723312" cy="838200"/>
          </a:xfrm>
        </p:spPr>
        <p:txBody>
          <a:bodyPr/>
          <a:lstStyle/>
          <a:p>
            <a:pPr eaLnBrk="1" hangingPunct="1"/>
            <a:r>
              <a:rPr lang="en-US"/>
              <a:t>Affine Transformations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12900"/>
            <a:ext cx="8566150" cy="49403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Affine transformations are combinations of 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Linear transformations, 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Translations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</p:txBody>
      </p:sp>
      <p:graphicFrame>
        <p:nvGraphicFramePr>
          <p:cNvPr id="23554" name="Object 4"/>
          <p:cNvGraphicFramePr>
            <a:graphicFrameLocks noChangeAspect="1"/>
          </p:cNvGraphicFramePr>
          <p:nvPr/>
        </p:nvGraphicFramePr>
        <p:xfrm>
          <a:off x="5638800" y="2209800"/>
          <a:ext cx="2782887" cy="118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71600" imgH="583920" progId="Equation.3">
                  <p:embed/>
                </p:oleObj>
              </mc:Choice>
              <mc:Fallback>
                <p:oleObj name="Equation" r:id="rId2" imgW="1371600" imgH="583920" progId="Equation.3">
                  <p:embed/>
                  <p:pic>
                    <p:nvPicPr>
                      <p:cNvPr id="2355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2209800"/>
                        <a:ext cx="2782887" cy="1184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6466439"/>
              </p:ext>
            </p:extLst>
          </p:nvPr>
        </p:nvGraphicFramePr>
        <p:xfrm>
          <a:off x="1154430" y="5303162"/>
          <a:ext cx="2868612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54000" imgH="711000" progId="Equation.3">
                  <p:embed/>
                </p:oleObj>
              </mc:Choice>
              <mc:Fallback>
                <p:oleObj name="Equation" r:id="rId4" imgW="1854000" imgH="711000" progId="Equation.3">
                  <p:embed/>
                  <p:pic>
                    <p:nvPicPr>
                      <p:cNvPr id="1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430" y="5303162"/>
                        <a:ext cx="2868612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0989941"/>
              </p:ext>
            </p:extLst>
          </p:nvPr>
        </p:nvGraphicFramePr>
        <p:xfrm>
          <a:off x="1432242" y="3473011"/>
          <a:ext cx="210185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440" imgH="698400" progId="Equation.3">
                  <p:embed/>
                </p:oleObj>
              </mc:Choice>
              <mc:Fallback>
                <p:oleObj name="Equation" r:id="rId6" imgW="1333440" imgH="698400" progId="Equation.3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242" y="3473011"/>
                        <a:ext cx="2101850" cy="1101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139776"/>
              </p:ext>
            </p:extLst>
          </p:nvPr>
        </p:nvGraphicFramePr>
        <p:xfrm>
          <a:off x="5364480" y="5303162"/>
          <a:ext cx="2522537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00200" imgH="711000" progId="Equation.3">
                  <p:embed/>
                </p:oleObj>
              </mc:Choice>
              <mc:Fallback>
                <p:oleObj name="Equation" r:id="rId8" imgW="1600200" imgH="711000" progId="Equation.3">
                  <p:embed/>
                  <p:pic>
                    <p:nvPicPr>
                      <p:cNvPr id="1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480" y="5303162"/>
                        <a:ext cx="2522537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1835467" y="4584261"/>
            <a:ext cx="1293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" charset="0"/>
              </a:rPr>
              <a:t>Translate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1497999" y="6423937"/>
            <a:ext cx="21980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dirty="0">
                <a:latin typeface="Arial" charset="0"/>
              </a:rPr>
              <a:t>2D </a:t>
            </a:r>
            <a:r>
              <a:rPr lang="en-US" i="1" dirty="0">
                <a:latin typeface="Arial" charset="0"/>
              </a:rPr>
              <a:t>in-plane </a:t>
            </a:r>
            <a:r>
              <a:rPr lang="en-US" dirty="0">
                <a:latin typeface="Arial" charset="0"/>
              </a:rPr>
              <a:t>rotation</a:t>
            </a:r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6102667" y="6423937"/>
            <a:ext cx="8874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" charset="0"/>
              </a:rPr>
              <a:t>Shear</a:t>
            </a:r>
          </a:p>
        </p:txBody>
      </p:sp>
      <p:graphicFrame>
        <p:nvGraphicFramePr>
          <p:cNvPr id="1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868354"/>
              </p:ext>
            </p:extLst>
          </p:nvPr>
        </p:nvGraphicFramePr>
        <p:xfrm>
          <a:off x="5364480" y="3463486"/>
          <a:ext cx="22828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47560" imgH="711000" progId="Equation.3">
                  <p:embed/>
                </p:oleObj>
              </mc:Choice>
              <mc:Fallback>
                <p:oleObj name="Equation" r:id="rId10" imgW="1447560" imgH="711000" progId="Equation.3">
                  <p:embed/>
                  <p:pic>
                    <p:nvPicPr>
                      <p:cNvPr id="16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480" y="3463486"/>
                        <a:ext cx="2282825" cy="1120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6102667" y="4606486"/>
            <a:ext cx="8429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>
                <a:latin typeface="Arial" charset="0"/>
              </a:rPr>
              <a:t>Scale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820B1A-0499-F089-4278-14682FA07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93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 go from here?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2438400"/>
            <a:ext cx="2520044" cy="172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600200" y="4191000"/>
            <a:ext cx="28463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dirty="0">
                <a:solidFill>
                  <a:prstClr val="black"/>
                </a:solidFill>
              </a:rPr>
              <a:t>affine transformation</a:t>
            </a:r>
          </a:p>
        </p:txBody>
      </p:sp>
      <p:sp>
        <p:nvSpPr>
          <p:cNvPr id="6" name="Right Arrow 5"/>
          <p:cNvSpPr/>
          <p:nvPr/>
        </p:nvSpPr>
        <p:spPr>
          <a:xfrm flipH="1">
            <a:off x="4256314" y="3643422"/>
            <a:ext cx="457200" cy="4027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822369" y="3494002"/>
            <a:ext cx="2917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happens when we mess </a:t>
            </a:r>
            <a:r>
              <a:rPr lang="en-US" sz="2000"/>
              <a:t>with this row?</a:t>
            </a:r>
            <a:endParaRPr lang="en-US" sz="2000" i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9D934-3078-5880-71B4-F8A9BB5B3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9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4638"/>
            <a:ext cx="86868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3600" dirty="0"/>
              <a:t>Projective Transformations a.k.a. </a:t>
            </a:r>
            <a:r>
              <a:rPr lang="en-US" sz="3600" dirty="0" err="1"/>
              <a:t>Homographies</a:t>
            </a:r>
            <a:r>
              <a:rPr lang="en-US" sz="3600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969" y="3352799"/>
            <a:ext cx="3755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Called a </a:t>
            </a:r>
            <a:r>
              <a:rPr lang="en-US" sz="2400" i="1" dirty="0" err="1"/>
              <a:t>homography</a:t>
            </a:r>
            <a:r>
              <a:rPr lang="en-US" sz="2400" dirty="0"/>
              <a:t> </a:t>
            </a:r>
          </a:p>
        </p:txBody>
      </p:sp>
      <p:grpSp>
        <p:nvGrpSpPr>
          <p:cNvPr id="2" name="Group 11"/>
          <p:cNvGrpSpPr/>
          <p:nvPr/>
        </p:nvGrpSpPr>
        <p:grpSpPr>
          <a:xfrm>
            <a:off x="4788807" y="1774146"/>
            <a:ext cx="3989666" cy="1992311"/>
            <a:chOff x="750206" y="1393146"/>
            <a:chExt cx="7893051" cy="3941536"/>
          </a:xfrm>
        </p:grpSpPr>
        <p:pic>
          <p:nvPicPr>
            <p:cNvPr id="9" name="Picture 2" descr="C:\snavely\work\teaching\09Fa-CS6610\lectures\lec02\images\bee_persp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701721" y="1393146"/>
              <a:ext cx="3941536" cy="3941536"/>
            </a:xfrm>
            <a:prstGeom prst="rect">
              <a:avLst/>
            </a:prstGeom>
            <a:noFill/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0" name="Picture 3" descr="C:\snavely\work\teaching\09Fa-CS6610\lectures\lec02\images\bee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0206" y="2612346"/>
              <a:ext cx="2613025" cy="2613025"/>
            </a:xfrm>
            <a:prstGeom prst="rect">
              <a:avLst/>
            </a:prstGeom>
            <a:noFill/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Right Arrow 10"/>
            <p:cNvSpPr/>
            <p:nvPr/>
          </p:nvSpPr>
          <p:spPr>
            <a:xfrm>
              <a:off x="3929742" y="3418114"/>
              <a:ext cx="892629" cy="859972"/>
            </a:xfrm>
            <a:prstGeom prst="right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16"/>
          <p:cNvGrpSpPr/>
          <p:nvPr/>
        </p:nvGrpSpPr>
        <p:grpSpPr>
          <a:xfrm>
            <a:off x="2032906" y="4637314"/>
            <a:ext cx="5154387" cy="1763486"/>
            <a:chOff x="1543049" y="4365172"/>
            <a:chExt cx="5154387" cy="1763486"/>
          </a:xfrm>
        </p:grpSpPr>
        <p:pic>
          <p:nvPicPr>
            <p:cNvPr id="798724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543049" y="4365172"/>
              <a:ext cx="2204358" cy="1763486"/>
            </a:xfrm>
            <a:prstGeom prst="rect">
              <a:avLst/>
            </a:prstGeom>
            <a:noFill/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98725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4493078" y="4365172"/>
              <a:ext cx="2204358" cy="1763486"/>
            </a:xfrm>
            <a:prstGeom prst="rect">
              <a:avLst/>
            </a:prstGeom>
            <a:noFill/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Right Arrow 15"/>
            <p:cNvSpPr/>
            <p:nvPr/>
          </p:nvSpPr>
          <p:spPr>
            <a:xfrm>
              <a:off x="3914010" y="5061926"/>
              <a:ext cx="451193" cy="434686"/>
            </a:xfrm>
            <a:prstGeom prst="rightArrow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blurRad="1016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40993" name="Picture 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" y="1828800"/>
            <a:ext cx="3178899" cy="153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2DBA3-447A-11A1-8BC7-D8D16505F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4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Homographies</a:t>
            </a:r>
            <a:endParaRPr lang="en-US" dirty="0"/>
          </a:p>
        </p:txBody>
      </p:sp>
      <p:pic>
        <p:nvPicPr>
          <p:cNvPr id="3348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0241" y="3574197"/>
            <a:ext cx="40386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 flipH="1">
            <a:off x="152400" y="2133600"/>
            <a:ext cx="114300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48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1630778"/>
            <a:ext cx="8991600" cy="15696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638800" y="1524000"/>
            <a:ext cx="3429000" cy="1981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88B1B4-7A7F-A3D2-D676-0672AB37B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9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4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Szeliski: Chapter 3.6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D6E45-A6E7-FF5F-75C6-97F1CF4FF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328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(x,y) \Rightarrow&#10;\left[&#10;\begin{array}{c}&#10;x \\ y \\ 1&#10;\end{array}&#10;\right]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486.875"/>
  <p:tag name="_INSTRUCTOR VIEW19C14C36-AC8E-43BC-9DB6-C2AAF774C7DC|PANE__TAG" val="_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eft[&#10;\begin{array}{c}&#10;x \\ y \\ w&#10;\end{array}&#10;\right]&#10;\Rightarrow&#10;(x/w,y/w) &#10;\]&#10;\end{document}&#10;"/>
  <p:tag name="EXTERNALNAME" val="Edittex"/>
  <p:tag name="BLEND" val="False"/>
  <p:tag name="TRANSPARENT" val="False"/>
  <p:tag name="BITMAPFORMAT" val="bmpmono"/>
  <p:tag name="DEBUGINTERACTIVE" val="True"/>
  <p:tag name="ORIGWIDTH" val="693"/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1">
  <a:themeElements>
    <a:clrScheme name="custom1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custom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custom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11203</TotalTime>
  <Words>1061</Words>
  <Application>Microsoft Office PowerPoint</Application>
  <PresentationFormat>On-screen Show (4:3)</PresentationFormat>
  <Paragraphs>221</Paragraphs>
  <Slides>24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Arial,Bold</vt:lpstr>
      <vt:lpstr>SymbolMT</vt:lpstr>
      <vt:lpstr>TimesNewRoman</vt:lpstr>
      <vt:lpstr>TimesNewRoman,BoldItalic</vt:lpstr>
      <vt:lpstr>Arial</vt:lpstr>
      <vt:lpstr>Calibri</vt:lpstr>
      <vt:lpstr>Times New Roman</vt:lpstr>
      <vt:lpstr>Verdana</vt:lpstr>
      <vt:lpstr>Wingdings</vt:lpstr>
      <vt:lpstr>Office Theme</vt:lpstr>
      <vt:lpstr>custom1</vt:lpstr>
      <vt:lpstr>Equation</vt:lpstr>
      <vt:lpstr> CS 5187: Vision and Image Lecture 7-1 Geometric Transformations</vt:lpstr>
      <vt:lpstr>What is the geometric relationship between these two images?</vt:lpstr>
      <vt:lpstr>Image Warping</vt:lpstr>
      <vt:lpstr>Image Warping</vt:lpstr>
      <vt:lpstr>Image Warping</vt:lpstr>
      <vt:lpstr>Forward Warping</vt:lpstr>
      <vt:lpstr>Forward Warping</vt:lpstr>
      <vt:lpstr>Backward (Inverse) Warping</vt:lpstr>
      <vt:lpstr>Inverse Warping</vt:lpstr>
      <vt:lpstr>Interpolation</vt:lpstr>
      <vt:lpstr>Parametric (global) warping</vt:lpstr>
      <vt:lpstr>Common linear transformations</vt:lpstr>
      <vt:lpstr>2x2 Matrices</vt:lpstr>
      <vt:lpstr>2x2 Matrices</vt:lpstr>
      <vt:lpstr>All 2D Linear Transformations</vt:lpstr>
      <vt:lpstr>Homogeneous coordinates</vt:lpstr>
      <vt:lpstr>Quiz </vt:lpstr>
      <vt:lpstr>Translation</vt:lpstr>
      <vt:lpstr>Affine transformations</vt:lpstr>
      <vt:lpstr>Affine Transformations</vt:lpstr>
      <vt:lpstr>Where do we go from here?</vt:lpstr>
      <vt:lpstr>Projective Transformations a.k.a. Homographies </vt:lpstr>
      <vt:lpstr>Homographies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Prof. WU Dapeng</cp:lastModifiedBy>
  <cp:revision>238</cp:revision>
  <cp:lastPrinted>2021-02-27T08:27:24Z</cp:lastPrinted>
  <dcterms:created xsi:type="dcterms:W3CDTF">2009-08-25T02:47:59Z</dcterms:created>
  <dcterms:modified xsi:type="dcterms:W3CDTF">2025-10-14T08:50:01Z</dcterms:modified>
</cp:coreProperties>
</file>