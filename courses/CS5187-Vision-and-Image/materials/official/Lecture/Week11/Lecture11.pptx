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8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9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2" r:id="rId2"/>
    <p:sldMasterId id="2147483685" r:id="rId3"/>
    <p:sldMasterId id="2147483697" r:id="rId4"/>
    <p:sldMasterId id="2147483709" r:id="rId5"/>
    <p:sldMasterId id="2147483721" r:id="rId6"/>
    <p:sldMasterId id="2147483745" r:id="rId7"/>
    <p:sldMasterId id="2147483757" r:id="rId8"/>
    <p:sldMasterId id="2147483771" r:id="rId9"/>
    <p:sldMasterId id="2147483785" r:id="rId10"/>
  </p:sldMasterIdLst>
  <p:notesMasterIdLst>
    <p:notesMasterId r:id="rId53"/>
  </p:notesMasterIdLst>
  <p:sldIdLst>
    <p:sldId id="498" r:id="rId11"/>
    <p:sldId id="351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47" r:id="rId20"/>
    <p:sldId id="348" r:id="rId21"/>
    <p:sldId id="335" r:id="rId22"/>
    <p:sldId id="349" r:id="rId23"/>
    <p:sldId id="270" r:id="rId24"/>
    <p:sldId id="271" r:id="rId25"/>
    <p:sldId id="272" r:id="rId26"/>
    <p:sldId id="337" r:id="rId27"/>
    <p:sldId id="338" r:id="rId28"/>
    <p:sldId id="339" r:id="rId29"/>
    <p:sldId id="273" r:id="rId30"/>
    <p:sldId id="274" r:id="rId31"/>
    <p:sldId id="277" r:id="rId32"/>
    <p:sldId id="278" r:id="rId33"/>
    <p:sldId id="279" r:id="rId34"/>
    <p:sldId id="281" r:id="rId35"/>
    <p:sldId id="310" r:id="rId36"/>
    <p:sldId id="341" r:id="rId37"/>
    <p:sldId id="342" r:id="rId38"/>
    <p:sldId id="331" r:id="rId39"/>
    <p:sldId id="332" r:id="rId40"/>
    <p:sldId id="333" r:id="rId41"/>
    <p:sldId id="330" r:id="rId42"/>
    <p:sldId id="311" r:id="rId43"/>
    <p:sldId id="312" r:id="rId44"/>
    <p:sldId id="289" r:id="rId45"/>
    <p:sldId id="309" r:id="rId46"/>
    <p:sldId id="290" r:id="rId47"/>
    <p:sldId id="324" r:id="rId48"/>
    <p:sldId id="313" r:id="rId49"/>
    <p:sldId id="293" r:id="rId50"/>
    <p:sldId id="294" r:id="rId51"/>
    <p:sldId id="296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/>
    <p:restoredTop sz="83089"/>
  </p:normalViewPr>
  <p:slideViewPr>
    <p:cSldViewPr snapToGrid="0" snapToObjects="1">
      <p:cViewPr varScale="1">
        <p:scale>
          <a:sx n="55" d="100"/>
          <a:sy n="55" d="100"/>
        </p:scale>
        <p:origin x="1942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18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WU Dapeng" userId="766581d8-4b49-4c74-b70d-570e2257b99b" providerId="ADAL" clId="{257BCA3E-003F-402F-B715-E7621891ABC5}"/>
    <pc:docChg chg="modSld">
      <pc:chgData name="Prof. WU Dapeng" userId="766581d8-4b49-4c74-b70d-570e2257b99b" providerId="ADAL" clId="{257BCA3E-003F-402F-B715-E7621891ABC5}" dt="2025-11-09T07:50:47.950" v="3" actId="20577"/>
      <pc:docMkLst>
        <pc:docMk/>
      </pc:docMkLst>
      <pc:sldChg chg="modSp mod">
        <pc:chgData name="Prof. WU Dapeng" userId="766581d8-4b49-4c74-b70d-570e2257b99b" providerId="ADAL" clId="{257BCA3E-003F-402F-B715-E7621891ABC5}" dt="2025-11-09T07:50:47.950" v="3" actId="20577"/>
        <pc:sldMkLst>
          <pc:docMk/>
          <pc:sldMk cId="0" sldId="498"/>
        </pc:sldMkLst>
        <pc:spChg chg="mod">
          <ac:chgData name="Prof. WU Dapeng" userId="766581d8-4b49-4c74-b70d-570e2257b99b" providerId="ADAL" clId="{257BCA3E-003F-402F-B715-E7621891ABC5}" dt="2025-11-09T07:50:47.950" v="3" actId="20577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53F8C5DE-64C7-464C-896C-4A326D44F6CE}"/>
    <pc:docChg chg="modSld">
      <pc:chgData name="Prof. WU Dapeng" userId="766581d8-4b49-4c74-b70d-570e2257b99b" providerId="ADAL" clId="{53F8C5DE-64C7-464C-896C-4A326D44F6CE}" dt="2023-08-27T19:49:56.364" v="0"/>
      <pc:docMkLst>
        <pc:docMk/>
      </pc:docMkLst>
      <pc:sldChg chg="modSp mod">
        <pc:chgData name="Prof. WU Dapeng" userId="766581d8-4b49-4c74-b70d-570e2257b99b" providerId="ADAL" clId="{53F8C5DE-64C7-464C-896C-4A326D44F6CE}" dt="2023-08-27T19:49:56.364" v="0"/>
        <pc:sldMkLst>
          <pc:docMk/>
          <pc:sldMk cId="0" sldId="498"/>
        </pc:sldMkLst>
        <pc:spChg chg="mod">
          <ac:chgData name="Prof. WU Dapeng" userId="766581d8-4b49-4c74-b70d-570e2257b99b" providerId="ADAL" clId="{53F8C5DE-64C7-464C-896C-4A326D44F6CE}" dt="2023-08-27T19:49:56.364" v="0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F4FDB81C-73DA-4690-BA2D-456553FC6067}"/>
    <pc:docChg chg="delSld">
      <pc:chgData name="Prof. WU Dapeng" userId="766581d8-4b49-4c74-b70d-570e2257b99b" providerId="ADAL" clId="{F4FDB81C-73DA-4690-BA2D-456553FC6067}" dt="2023-11-15T08:21:02.711" v="1" actId="2696"/>
      <pc:docMkLst>
        <pc:docMk/>
      </pc:docMkLst>
      <pc:sldChg chg="del">
        <pc:chgData name="Prof. WU Dapeng" userId="766581d8-4b49-4c74-b70d-570e2257b99b" providerId="ADAL" clId="{F4FDB81C-73DA-4690-BA2D-456553FC6067}" dt="2023-11-15T08:20:52.285" v="0" actId="2696"/>
        <pc:sldMkLst>
          <pc:docMk/>
          <pc:sldMk cId="2514324329" sldId="352"/>
        </pc:sldMkLst>
      </pc:sldChg>
      <pc:sldChg chg="del">
        <pc:chgData name="Prof. WU Dapeng" userId="766581d8-4b49-4c74-b70d-570e2257b99b" providerId="ADAL" clId="{F4FDB81C-73DA-4690-BA2D-456553FC6067}" dt="2023-11-15T08:21:02.711" v="1" actId="2696"/>
        <pc:sldMkLst>
          <pc:docMk/>
          <pc:sldMk cId="162520794" sldId="353"/>
        </pc:sldMkLst>
      </pc:sldChg>
    </pc:docChg>
  </pc:docChgLst>
  <pc:docChgLst>
    <pc:chgData name="Dapeng" userId="766581d8-4b49-4c74-b70d-570e2257b99b" providerId="ADAL" clId="{17878720-7C98-4BD9-9959-33121A1A8211}"/>
    <pc:docChg chg="modSld">
      <pc:chgData name="Dapeng" userId="766581d8-4b49-4c74-b70d-570e2257b99b" providerId="ADAL" clId="{17878720-7C98-4BD9-9959-33121A1A8211}" dt="2024-08-31T07:11:16.748" v="3" actId="20577"/>
      <pc:docMkLst>
        <pc:docMk/>
      </pc:docMkLst>
      <pc:sldChg chg="modSp mod">
        <pc:chgData name="Dapeng" userId="766581d8-4b49-4c74-b70d-570e2257b99b" providerId="ADAL" clId="{17878720-7C98-4BD9-9959-33121A1A8211}" dt="2024-08-31T07:11:16.748" v="3" actId="20577"/>
        <pc:sldMkLst>
          <pc:docMk/>
          <pc:sldMk cId="0" sldId="498"/>
        </pc:sldMkLst>
        <pc:spChg chg="mod">
          <ac:chgData name="Dapeng" userId="766581d8-4b49-4c74-b70d-570e2257b99b" providerId="ADAL" clId="{17878720-7C98-4BD9-9959-33121A1A8211}" dt="2024-08-31T07:11:16.748" v="3" actId="20577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73AB01B7-1326-403D-8910-977130EB97A7}"/>
    <pc:docChg chg="undo custSel addSld delSld modSld">
      <pc:chgData name="Prof. WU Dapeng" userId="766581d8-4b49-4c74-b70d-570e2257b99b" providerId="ADAL" clId="{73AB01B7-1326-403D-8910-977130EB97A7}" dt="2023-03-28T10:50:20.038" v="77" actId="20577"/>
      <pc:docMkLst>
        <pc:docMk/>
      </pc:docMkLst>
      <pc:sldChg chg="addSp delSp del mod">
        <pc:chgData name="Prof. WU Dapeng" userId="766581d8-4b49-4c74-b70d-570e2257b99b" providerId="ADAL" clId="{73AB01B7-1326-403D-8910-977130EB97A7}" dt="2023-03-17T07:32:38.917" v="7" actId="2696"/>
        <pc:sldMkLst>
          <pc:docMk/>
          <pc:sldMk cId="2879505136" sldId="350"/>
        </pc:sldMkLst>
        <pc:spChg chg="add del">
          <ac:chgData name="Prof. WU Dapeng" userId="766581d8-4b49-4c74-b70d-570e2257b99b" providerId="ADAL" clId="{73AB01B7-1326-403D-8910-977130EB97A7}" dt="2023-03-17T07:30:56.558" v="1" actId="22"/>
          <ac:spMkLst>
            <pc:docMk/>
            <pc:sldMk cId="2879505136" sldId="350"/>
            <ac:spMk id="3" creationId="{100B3119-B470-3883-E128-C7523362FB4C}"/>
          </ac:spMkLst>
        </pc:spChg>
      </pc:sldChg>
      <pc:sldChg chg="modSp">
        <pc:chgData name="Prof. WU Dapeng" userId="766581d8-4b49-4c74-b70d-570e2257b99b" providerId="ADAL" clId="{73AB01B7-1326-403D-8910-977130EB97A7}" dt="2023-03-28T10:18:16.432" v="12" actId="20577"/>
        <pc:sldMkLst>
          <pc:docMk/>
          <pc:sldMk cId="264042694" sldId="357"/>
        </pc:sldMkLst>
        <pc:spChg chg="mod">
          <ac:chgData name="Prof. WU Dapeng" userId="766581d8-4b49-4c74-b70d-570e2257b99b" providerId="ADAL" clId="{73AB01B7-1326-403D-8910-977130EB97A7}" dt="2023-03-28T10:18:16.432" v="12" actId="20577"/>
          <ac:spMkLst>
            <pc:docMk/>
            <pc:sldMk cId="264042694" sldId="357"/>
            <ac:spMk id="3" creationId="{00000000-0000-0000-0000-000000000000}"/>
          </ac:spMkLst>
        </pc:spChg>
      </pc:sldChg>
      <pc:sldChg chg="modSp mod">
        <pc:chgData name="Prof. WU Dapeng" userId="766581d8-4b49-4c74-b70d-570e2257b99b" providerId="ADAL" clId="{73AB01B7-1326-403D-8910-977130EB97A7}" dt="2023-03-28T10:47:11.802" v="20" actId="6549"/>
        <pc:sldMkLst>
          <pc:docMk/>
          <pc:sldMk cId="2569916343" sldId="358"/>
        </pc:sldMkLst>
        <pc:spChg chg="mod">
          <ac:chgData name="Prof. WU Dapeng" userId="766581d8-4b49-4c74-b70d-570e2257b99b" providerId="ADAL" clId="{73AB01B7-1326-403D-8910-977130EB97A7}" dt="2023-03-28T10:21:27.945" v="19" actId="20577"/>
          <ac:spMkLst>
            <pc:docMk/>
            <pc:sldMk cId="2569916343" sldId="358"/>
            <ac:spMk id="6147" creationId="{00000000-0000-0000-0000-000000000000}"/>
          </ac:spMkLst>
        </pc:spChg>
        <pc:spChg chg="mod">
          <ac:chgData name="Prof. WU Dapeng" userId="766581d8-4b49-4c74-b70d-570e2257b99b" providerId="ADAL" clId="{73AB01B7-1326-403D-8910-977130EB97A7}" dt="2023-03-28T10:47:11.802" v="20" actId="6549"/>
          <ac:spMkLst>
            <pc:docMk/>
            <pc:sldMk cId="2569916343" sldId="358"/>
            <ac:spMk id="6150" creationId="{00000000-0000-0000-0000-000000000000}"/>
          </ac:spMkLst>
        </pc:spChg>
      </pc:sldChg>
      <pc:sldChg chg="modSp">
        <pc:chgData name="Prof. WU Dapeng" userId="766581d8-4b49-4c74-b70d-570e2257b99b" providerId="ADAL" clId="{73AB01B7-1326-403D-8910-977130EB97A7}" dt="2023-03-28T10:50:20.038" v="77" actId="20577"/>
        <pc:sldMkLst>
          <pc:docMk/>
          <pc:sldMk cId="1861803711" sldId="359"/>
        </pc:sldMkLst>
        <pc:spChg chg="mod">
          <ac:chgData name="Prof. WU Dapeng" userId="766581d8-4b49-4c74-b70d-570e2257b99b" providerId="ADAL" clId="{73AB01B7-1326-403D-8910-977130EB97A7}" dt="2023-03-28T10:50:20.038" v="77" actId="20577"/>
          <ac:spMkLst>
            <pc:docMk/>
            <pc:sldMk cId="1861803711" sldId="359"/>
            <ac:spMk id="3" creationId="{00000000-0000-0000-0000-000000000000}"/>
          </ac:spMkLst>
        </pc:spChg>
      </pc:sldChg>
      <pc:sldChg chg="modSp add mod">
        <pc:chgData name="Prof. WU Dapeng" userId="766581d8-4b49-4c74-b70d-570e2257b99b" providerId="ADAL" clId="{73AB01B7-1326-403D-8910-977130EB97A7}" dt="2023-03-17T07:31:57.148" v="6" actId="6549"/>
        <pc:sldMkLst>
          <pc:docMk/>
          <pc:sldMk cId="0" sldId="498"/>
        </pc:sldMkLst>
        <pc:spChg chg="mod">
          <ac:chgData name="Prof. WU Dapeng" userId="766581d8-4b49-4c74-b70d-570e2257b99b" providerId="ADAL" clId="{73AB01B7-1326-403D-8910-977130EB97A7}" dt="2023-03-17T07:31:57.148" v="6" actId="6549"/>
          <ac:spMkLst>
            <pc:docMk/>
            <pc:sldMk cId="0" sldId="498"/>
            <ac:spMk id="6147" creationId="{5BE92627-13FA-5965-1CCF-590FF9EDF74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8C7A6-AC87-B04D-8F42-DDED753A63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E8434-BA2D-9F42-8012-34186139F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A151658E-0B71-4434-DFB4-41BC10ABD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47A9DF-152B-4AEC-BF36-9E524F5D87A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EF1B46B6-127E-BDD5-6080-A0D6ADC9F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636F34A0-05B3-6623-F909-DB061325E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E3464-AF22-E843-A894-78E49D51821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11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FMRI:</a:t>
            </a:r>
            <a:r>
              <a:rPr lang="en-US" b="1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magnetic resonance imaging or functional MRI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8434-BA2D-9F42-8012-34186139FF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9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3B314A-4759-4F32-BFA5-B65A246545E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01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Harris</a:t>
            </a:r>
            <a:r>
              <a:rPr lang="zh-CN" altLang="en-US" dirty="0"/>
              <a:t> </a:t>
            </a:r>
            <a:r>
              <a:rPr lang="en-US" altLang="zh-CN" dirty="0"/>
              <a:t>corner</a:t>
            </a:r>
            <a:r>
              <a:rPr lang="zh-CN" altLang="en-US" dirty="0"/>
              <a:t> </a:t>
            </a:r>
            <a:r>
              <a:rPr lang="en-US" altLang="zh-CN" dirty="0"/>
              <a:t>detection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53E927-CA64-4BC9-BE69-4BDF42029A5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17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B9E6A483-0A92-D843-A095-0FE2F9CB18C7}" type="slidenum">
              <a:rPr lang="en-US" altLang="x-none" sz="1200">
                <a:solidFill>
                  <a:srgbClr val="000000"/>
                </a:solidFill>
              </a:rPr>
              <a:pPr/>
              <a:t>9</a:t>
            </a:fld>
            <a:endParaRPr lang="en-US" altLang="x-none" sz="1200">
              <a:solidFill>
                <a:srgbClr val="000000"/>
              </a:solidFill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x-none" dirty="0"/>
              <a:t>explain: arrows and dots of flow field</a:t>
            </a:r>
          </a:p>
          <a:p>
            <a:pPr eaLnBrk="1" hangingPunct="1">
              <a:defRPr/>
            </a:pPr>
            <a:endParaRPr lang="en-US" altLang="x-none" dirty="0"/>
          </a:p>
          <a:p>
            <a:pPr eaLnBrk="1" hangingPunct="1">
              <a:defRPr/>
            </a:pP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motion,</a:t>
            </a:r>
            <a:r>
              <a:rPr lang="zh-CN" altLang="en-US" dirty="0"/>
              <a:t> </a:t>
            </a:r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pixel</a:t>
            </a:r>
            <a:r>
              <a:rPr lang="zh-CN" altLang="en-US" dirty="0"/>
              <a:t> </a:t>
            </a:r>
            <a:r>
              <a:rPr lang="en-US" altLang="zh-CN" dirty="0"/>
              <a:t>lies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8920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348A7154-0B8B-DA41-A7EF-A0DB60F2E3B2}" type="slidenum">
              <a:rPr lang="en-US" altLang="x-none" sz="1200">
                <a:solidFill>
                  <a:srgbClr val="000000"/>
                </a:solidFill>
              </a:rPr>
              <a:pPr/>
              <a:t>11</a:t>
            </a:fld>
            <a:endParaRPr lang="en-US" altLang="x-none" sz="1200">
              <a:solidFill>
                <a:srgbClr val="000000"/>
              </a:solidFill>
            </a:endParaRPr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07658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8350C9-D28D-4D25-AB9A-35751E43857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0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ECCF6F-D77F-45A4-A55F-DAD69F81FC8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805" y="4343704"/>
            <a:ext cx="5030391" cy="41138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/>
              <a:t>Brightness constancy equation is equivalent to minimizing the squared error of I(t) and I(t+1)</a:t>
            </a:r>
          </a:p>
        </p:txBody>
      </p:sp>
    </p:spTree>
    <p:extLst>
      <p:ext uri="{BB962C8B-B14F-4D97-AF65-F5344CB8AC3E}">
        <p14:creationId xmlns:p14="http://schemas.microsoft.com/office/powerpoint/2010/main" val="3900868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BB3983-C8A9-4302-80AE-228D8A1F377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638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8434-BA2D-9F42-8012-34186139FF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18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B44C53-E22F-45F6-BA35-BA53DFFC450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4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59CED6-076E-4388-BD0F-76E4B148C42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71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8F2660-97C7-4F59-9AB9-BF63B006FD3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4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A13AFB-4986-435B-8BB2-A26F58ACE41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97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153FAF-2EDA-4553-A59F-43A419D3CDF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61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BB9A79-7404-49EC-B864-BFB9686CF5FC}" type="slidenum">
              <a:rPr lang="en-US"/>
              <a:pPr/>
              <a:t>25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computer sees the motion in flow estimation? </a:t>
            </a:r>
          </a:p>
        </p:txBody>
      </p:sp>
    </p:spTree>
    <p:extLst>
      <p:ext uri="{BB962C8B-B14F-4D97-AF65-F5344CB8AC3E}">
        <p14:creationId xmlns:p14="http://schemas.microsoft.com/office/powerpoint/2010/main" val="4214144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D7D665-2BAB-4E19-913C-2E138E59389D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499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9616BF-14A3-41DE-986C-29E0D09C663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9825" y="682625"/>
            <a:ext cx="4552950" cy="34147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992" y="4324048"/>
            <a:ext cx="5048250" cy="41713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89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3F2D7D-FBF4-4BB5-A27C-54E609175FDB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441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size of the window is a problem. </a:t>
            </a:r>
          </a:p>
          <a:p>
            <a:endParaRPr lang="en-US" dirty="0"/>
          </a:p>
          <a:p>
            <a:r>
              <a:rPr lang="en-US" dirty="0"/>
              <a:t>Big window: foreground and background,</a:t>
            </a:r>
            <a:r>
              <a:rPr lang="en-US" baseline="0" dirty="0"/>
              <a:t> not the same motion, quite noisy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8434-BA2D-9F42-8012-34186139FFF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8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0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8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6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23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9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8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41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67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4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96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BAD38-9BE8-AA42-98EF-065B08A1A1B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5B7FF-2107-2E4D-B137-1827A67D10D9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5C3241-D289-B348-AB74-42AC5E39CC6B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F535A1-11E5-6845-8680-52F3B2CE8D85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0C40B-EB5D-A74E-8660-9BBC8A1620E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32A73-919B-DB47-9F2A-D39320F2162E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90948-BC85-F442-A5D9-6E97D585E12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3F090-9A9A-F04F-88BD-2ADF71CE2E1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E3760-5CD1-0645-A8D1-41166B2D19DC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A18DE-FD13-3D49-86E0-CCE0EEF4FAB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987DF-D870-2D49-BD98-C1544519D47D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6DAC21D-9E1A-1C49-A945-11DA8083849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9ADFB5-E8FE-164E-908E-6E72DADE6E4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AAAB6-A89E-A04B-8D2F-4CA3E59F7C79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2F1131-66C1-7443-AFA0-16B33DE80E7F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100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38100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9C306-60CC-A140-A52A-F28EEBB36B0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623EB-11B7-3A45-A04F-35087B84C51B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C085C-8CF8-F348-82F1-5258BDA1D86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12BB95-AC9C-8341-A676-93C1F83B1425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8AAC3-ADCE-3448-ADDE-F9423EB12F7C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6BC14D-E33B-AA4B-8024-34F6417915E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0DC6E-A4C1-F647-B036-EB0B98824579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0CEF82-CB4E-B24C-B389-764B5696F42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854B3-97A2-7D40-B8D6-BF27C217706A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0F8EE6-2AE2-7141-B1B9-7E0EE9FD57BE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2B354-DDF6-F244-91DB-31B8201B3F1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6D8E1-6192-FF4A-A654-777B6C03E4D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BA08C5-93AC-5C42-82B2-E9C94D2001EE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0AB53-67E3-1C44-8816-07EF71D3898A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86C0B-9CFE-B842-BC51-E4CAA23D616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2E3DF-F803-6C48-B2EF-2D8562C116D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BB9AD-85F5-2742-8DC1-AEFB31C6C94D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2AB62-91B9-1441-B815-1067D73F5EF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B92656-30A8-744E-B091-565088396145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95AFD6-22A6-E941-9703-3A4106DBE24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F44E4-550F-0A46-909E-6E4279750EDF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E6810-6D7C-0A4C-B1EE-464A8A1E46A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70A22-34BB-D945-B4AA-77CD6EC1E89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909CC-BC76-734B-8EDA-F0DB2577357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D1DEE-20F5-A542-9BD3-D98D635CDAE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EA2AF-F241-6C45-ACFD-4384A7901D6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BC93A-94D3-C04F-8D45-BD0A033A2DA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BBC6B-4256-894A-8A89-35F8325633F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01BA5-3BF6-E04C-833F-4CACD9373B7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D8B43-900B-2549-BCF5-C8B1D599BE7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95AFD6-22A6-E941-9703-3A4106DBE24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F44E4-550F-0A46-909E-6E4279750EDF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E6810-6D7C-0A4C-B1EE-464A8A1E46A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70A22-34BB-D945-B4AA-77CD6EC1E89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909CC-BC76-734B-8EDA-F0DB2577357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D1DEE-20F5-A542-9BD3-D98D635CDAE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EA2AF-F241-6C45-ACFD-4384A7901D6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BC93A-94D3-C04F-8D45-BD0A033A2DA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BBC6B-4256-894A-8A89-35F8325633F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01BA5-3BF6-E04C-833F-4CACD9373B7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D8B43-900B-2549-BCF5-C8B1D599BE7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95AFD6-22A6-E941-9703-3A4106DBE24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F44E4-550F-0A46-909E-6E4279750EDF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E6810-6D7C-0A4C-B1EE-464A8A1E46A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70A22-34BB-D945-B4AA-77CD6EC1E89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909CC-BC76-734B-8EDA-F0DB25773571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D1DEE-20F5-A542-9BD3-D98D635CDAE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EA2AF-F241-6C45-ACFD-4384A7901D6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BC93A-94D3-C04F-8D45-BD0A033A2DA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BBC6B-4256-894A-8A89-35F8325633F8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01BA5-3BF6-E04C-833F-4CACD9373B7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D8B43-900B-2549-BCF5-C8B1D599BE7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93BF8F-9264-C94E-B701-61CFFB34940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35542-5721-034C-A143-071D7CC2398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34901D-0CE6-5F47-AA77-85C387A0F88B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13758-ABEC-F642-ADC2-3D21B3F086C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615DCC-89B4-CF45-AB79-98A0BDDF046E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B91A61-0E3F-004E-BDAC-1AEB7CA4549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4C0FE8-4C9A-7C43-AB41-8952E3C068E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119DCD-0BDA-FE4D-A1E4-27C66319E685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1E9D2E-D5F9-5740-A888-E175B41CBB74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188BA3-7CB8-8F4A-899F-D805DCECDFAA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D7A51-2384-A948-9410-339E7B211C5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609E57-A29A-3A43-AC09-076376E3223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D58CDF-54BB-204D-87EE-54E547000CE9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93BF8F-9264-C94E-B701-61CFFB34940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35542-5721-034C-A143-071D7CC2398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34901D-0CE6-5F47-AA77-85C387A0F88B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13758-ABEC-F642-ADC2-3D21B3F086C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615DCC-89B4-CF45-AB79-98A0BDDF046E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B91A61-0E3F-004E-BDAC-1AEB7CA45490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4C0FE8-4C9A-7C43-AB41-8952E3C068E7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119DCD-0BDA-FE4D-A1E4-27C66319E685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1E9D2E-D5F9-5740-A888-E175B41CBB74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188BA3-7CB8-8F4A-899F-D805DCECDFAA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D7A51-2384-A948-9410-339E7B211C56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609E57-A29A-3A43-AC09-076376E32233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D58CDF-54BB-204D-87EE-54E547000CE9}" type="slidenum">
              <a:rPr lang="en-US" altLang="x-none">
                <a:solidFill>
                  <a:srgbClr val="000000"/>
                </a:solidFill>
              </a:rPr>
              <a:pPr/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433456-C4C1-565F-F191-280C8538C33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B017622-5D87-B3A7-AB62-C0BAA48AC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BC3600B-D1F0-2D1F-E68C-6300C8D75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11AA45A-9763-6A52-AA76-CF9D096B4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EC0283C-F593-BDD0-4B7F-D0E8799DD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8DAA44-8A7A-1720-AED1-E524F1F2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FA3B63-FBFF-1C36-6F13-BD533307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596DC4B-D776-DF22-4BFF-0E6230BD1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8CD06715-64E0-F349-1D3F-696A49E8B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AF6723A-DC40-B39A-ADD5-86B775FE17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1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3256826A-240B-8005-0856-0903301657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B38B3953-530B-59F5-75DD-2053D4A13F9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9790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460879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9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995"/>
            </a:lvl1pPr>
            <a:lvl2pPr marL="456057" indent="0">
              <a:buNone/>
              <a:defRPr sz="1795"/>
            </a:lvl2pPr>
            <a:lvl3pPr marL="912114" indent="0">
              <a:buNone/>
              <a:defRPr sz="1596"/>
            </a:lvl3pPr>
            <a:lvl4pPr marL="1368171" indent="0">
              <a:buNone/>
              <a:defRPr sz="1397"/>
            </a:lvl4pPr>
            <a:lvl5pPr marL="1824228" indent="0">
              <a:buNone/>
              <a:defRPr sz="1397"/>
            </a:lvl5pPr>
            <a:lvl6pPr marL="2280285" indent="0">
              <a:buNone/>
              <a:defRPr sz="1397"/>
            </a:lvl6pPr>
            <a:lvl7pPr marL="2736342" indent="0">
              <a:buNone/>
              <a:defRPr sz="1397"/>
            </a:lvl7pPr>
            <a:lvl8pPr marL="3192399" indent="0">
              <a:buNone/>
              <a:defRPr sz="1397"/>
            </a:lvl8pPr>
            <a:lvl9pPr marL="3648456" indent="0">
              <a:buNone/>
              <a:defRPr sz="13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976204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04302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46807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922161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06445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257574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053572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068451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463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D7F01-05FC-FF41-AC91-244B21A2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9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032A0E1A-808C-744D-8D96-816C11C3E012}" type="slidenum">
              <a:rPr lang="en-US" altLang="x-none" smtClean="0">
                <a:solidFill>
                  <a:srgbClr val="000000"/>
                </a:solidFill>
                <a:latin typeface="Times New Roman" charset="0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63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52600"/>
            <a:ext cx="77724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6537AD0B-D946-634E-8916-1121CD6ADB70}" type="slidenum">
              <a:rPr lang="en-US" altLang="x-none" smtClean="0">
                <a:solidFill>
                  <a:srgbClr val="000000"/>
                </a:solidFill>
                <a:latin typeface="Times New Roman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685800" y="1524000"/>
            <a:ext cx="77724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 advClick="0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hlink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A156593-C885-3347-A367-6EECC0165291}" type="slidenum">
              <a:rPr lang="en-US" altLang="x-none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21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9616E4C9-50C4-DC4A-B919-909A776C3B21}" type="slidenum">
              <a:rPr lang="en-US" altLang="x-none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02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9616E4C9-50C4-DC4A-B919-909A776C3B21}" type="slidenum">
              <a:rPr lang="en-US" altLang="x-none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63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9616E4C9-50C4-DC4A-B919-909A776C3B21}" type="slidenum">
              <a:rPr lang="en-US" altLang="x-none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11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6DC2A29-1E1B-A04D-8691-BF77EEC93D3C}" type="slidenum">
              <a:rPr lang="en-US" altLang="x-none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9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6DC2A29-1E1B-A04D-8691-BF77EEC93D3C}" type="slidenum">
              <a:rPr lang="en-US" altLang="x-none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3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E4C1FD-48CA-EF6B-CDC9-79B6A5032D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7B5B71D-D90C-CB27-EA02-35B75F7E80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9929771-D650-55A6-41BD-05224FFA19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B1490FA-33CA-562E-CE45-99FDFFA58A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F48C85F-B560-AC77-9481-252F834947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CA5A6A1-84E4-A5C7-8116-A1AC5A9EF9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0B77DABB-736B-1C1D-31CF-96903EA2D6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C0C4E697-C1E3-FD3A-39AE-3692587AF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E91A416F-C803-6604-3933-DF6BC0E6F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B9ED297A-FB42-374F-C1CF-0FEC9865A6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2004E158-F89E-444D-A8CD-4439976CD804}" type="slidenum">
              <a:rPr lang="en-GB" altLang="en-US" sz="1397" smtClean="0">
                <a:solidFill>
                  <a:srgbClr val="0000FF"/>
                </a:solidFill>
              </a:rPr>
              <a:pPr>
                <a:defRPr/>
              </a:pPr>
              <a:t>‹#›</a:t>
            </a:fld>
            <a:endParaRPr lang="en-US" altLang="en-US" sz="1397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20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6057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6pPr>
      <a:lvl7pPr marL="912114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7pPr>
      <a:lvl8pPr marL="1368171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8pPr>
      <a:lvl9pPr marL="1824228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41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2pPr>
      <a:lvl3pPr marL="1139825" indent="-2270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3pPr>
      <a:lvl4pPr marL="1595438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4pPr>
      <a:lvl5pPr marL="205105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5pPr>
      <a:lvl6pPr marL="2508314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6pPr>
      <a:lvl7pPr marL="2964371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7pPr>
      <a:lvl8pPr marL="3420428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8pPr>
      <a:lvl9pPr marL="3876485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8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7.png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33.png"/><Relationship Id="rId18" Type="http://schemas.openxmlformats.org/officeDocument/2006/relationships/image" Target="../media/image36.wmf"/><Relationship Id="rId3" Type="http://schemas.openxmlformats.org/officeDocument/2006/relationships/tags" Target="../tags/tag3.xml"/><Relationship Id="rId7" Type="http://schemas.openxmlformats.org/officeDocument/2006/relationships/image" Target="../media/image29.wmf"/><Relationship Id="rId12" Type="http://schemas.openxmlformats.org/officeDocument/2006/relationships/image" Target="../media/image32.png"/><Relationship Id="rId17" Type="http://schemas.openxmlformats.org/officeDocument/2006/relationships/oleObject" Target="../embeddings/oleObject16.bin"/><Relationship Id="rId2" Type="http://schemas.openxmlformats.org/officeDocument/2006/relationships/tags" Target="../tags/tag2.xml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tags" Target="../tags/tag1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31.wmf"/><Relationship Id="rId5" Type="http://schemas.openxmlformats.org/officeDocument/2006/relationships/notesSlide" Target="../notesSlides/notesSlide9.xml"/><Relationship Id="rId15" Type="http://schemas.openxmlformats.org/officeDocument/2006/relationships/oleObject" Target="../embeddings/oleObject15.bin"/><Relationship Id="rId10" Type="http://schemas.openxmlformats.org/officeDocument/2006/relationships/oleObject" Target="../embeddings/oleObject14.bin"/><Relationship Id="rId19" Type="http://schemas.openxmlformats.org/officeDocument/2006/relationships/oleObject" Target="../embeddings/oleObject17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0.wmf"/><Relationship Id="rId1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8.xml"/><Relationship Id="rId7" Type="http://schemas.openxmlformats.org/officeDocument/2006/relationships/notesSlide" Target="../notesSlides/notesSlide15.xml"/><Relationship Id="rId12" Type="http://schemas.openxmlformats.org/officeDocument/2006/relationships/image" Target="../media/image4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6.png"/><Relationship Id="rId5" Type="http://schemas.openxmlformats.org/officeDocument/2006/relationships/tags" Target="../tags/tag10.xml"/><Relationship Id="rId10" Type="http://schemas.openxmlformats.org/officeDocument/2006/relationships/image" Target="../media/image45.png"/><Relationship Id="rId4" Type="http://schemas.openxmlformats.org/officeDocument/2006/relationships/tags" Target="../tags/tag9.xml"/><Relationship Id="rId9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44.png"/><Relationship Id="rId18" Type="http://schemas.openxmlformats.org/officeDocument/2006/relationships/image" Target="../media/image48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43.png"/><Relationship Id="rId17" Type="http://schemas.openxmlformats.org/officeDocument/2006/relationships/image" Target="../media/image47.png"/><Relationship Id="rId2" Type="http://schemas.openxmlformats.org/officeDocument/2006/relationships/tags" Target="../tags/tag12.xml"/><Relationship Id="rId16" Type="http://schemas.openxmlformats.org/officeDocument/2006/relationships/image" Target="../media/image42.png"/><Relationship Id="rId20" Type="http://schemas.openxmlformats.org/officeDocument/2006/relationships/image" Target="../media/image50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15.xml"/><Relationship Id="rId15" Type="http://schemas.openxmlformats.org/officeDocument/2006/relationships/image" Target="../media/image46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49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gif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59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slideLayout" Target="../slideLayouts/slideLayout6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32.bin"/><Relationship Id="rId3" Type="http://schemas.openxmlformats.org/officeDocument/2006/relationships/image" Target="../media/image65.wmf"/><Relationship Id="rId21" Type="http://schemas.openxmlformats.org/officeDocument/2006/relationships/image" Target="../media/image70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68.w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62.wmf"/><Relationship Id="rId5" Type="http://schemas.openxmlformats.org/officeDocument/2006/relationships/image" Target="../media/image66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3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67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66.wmf"/><Relationship Id="rId5" Type="http://schemas.openxmlformats.org/officeDocument/2006/relationships/image" Target="../media/image62.wmf"/><Relationship Id="rId15" Type="http://schemas.openxmlformats.org/officeDocument/2006/relationships/image" Target="../media/image7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4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25.xml"/><Relationship Id="rId7" Type="http://schemas.openxmlformats.org/officeDocument/2006/relationships/image" Target="../media/image7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72.png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6.xml"/><Relationship Id="rId9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gif"/><Relationship Id="rId2" Type="http://schemas.openxmlformats.org/officeDocument/2006/relationships/image" Target="../media/image77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gif"/><Relationship Id="rId4" Type="http://schemas.openxmlformats.org/officeDocument/2006/relationships/image" Target="../media/image79.gi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755B4B3F-1C3D-927E-1ED2-99274895B4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23925" y="3808413"/>
            <a:ext cx="7524750" cy="2281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Department of Computer Science</a:t>
            </a:r>
            <a:endParaRPr lang="en-US" altLang="en-US" sz="2394" dirty="0"/>
          </a:p>
          <a:p>
            <a:pPr eaLnBrk="1" hangingPunct="1">
              <a:defRPr/>
            </a:pPr>
            <a:endParaRPr lang="en-US" altLang="en-US" sz="2394" dirty="0"/>
          </a:p>
          <a:p>
            <a:pPr eaLnBrk="1" hangingPunct="1"/>
            <a:r>
              <a:rPr lang="en-US" altLang="zh-CN" sz="2800" dirty="0">
                <a:solidFill>
                  <a:srgbClr val="CC0000"/>
                </a:solidFill>
              </a:rPr>
              <a:t>Semester A, 2025/26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5BE92627-13FA-5965-1CCF-590FF9EDF7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3925" y="388938"/>
            <a:ext cx="7751763" cy="25844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192" dirty="0">
                <a:solidFill>
                  <a:srgbClr val="333399"/>
                </a:solidFill>
              </a:rPr>
              <a:t> CS 5187: Vision and Image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dirty="0">
                <a:solidFill>
                  <a:srgbClr val="000000"/>
                </a:solidFill>
              </a:rPr>
              <a:t>Lecture 11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i="1" dirty="0">
                <a:solidFill>
                  <a:srgbClr val="009900"/>
                </a:solidFill>
              </a:rPr>
              <a:t>Motion and Optical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We live in a moving world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Perceiving, understanding and predicting motion is an important part of our daily lives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9BABD-5AD8-20F9-6873-D3B9B191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2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55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Seeing motion from a static picture?</a:t>
            </a:r>
          </a:p>
        </p:txBody>
      </p:sp>
      <p:pic>
        <p:nvPicPr>
          <p:cNvPr id="2050" name="Picture 2" descr="D:\Documents\Presentation\ComputerVisionMIT-2010\rotsnak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0"/>
            <a:ext cx="61976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67200" y="6418068"/>
            <a:ext cx="4695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http://www.ritsumei.ac.jp/~akitaoka/index-e.html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7EEAC9-35E1-22C0-1AC6-B99C896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3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58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More examples</a:t>
            </a:r>
          </a:p>
        </p:txBody>
      </p:sp>
      <p:pic>
        <p:nvPicPr>
          <p:cNvPr id="3074" name="Picture 2" descr="D:\Documents\Presentation\ComputerVisionMIT-2010\OuchiillusionAshidatyp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110343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ocuments\Presentation\ComputerVisionMIT-2010\movingsnakessmok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990600"/>
            <a:ext cx="2895600" cy="271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D:\Documents\Presentation\ComputerVisionMIT-2010\kamban_yajirushi5plasti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8600"/>
            <a:ext cx="369527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http://www.psy.ritsumei.ac.jp/~akitaoka/mobeang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86200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652C3-9019-3A10-C389-96468C22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1A61-0E3F-004E-BDAC-1AEB7CA45490}" type="slidenum">
              <a:rPr lang="en-US" altLang="x-none" smtClean="0">
                <a:solidFill>
                  <a:srgbClr val="000000"/>
                </a:solidFill>
              </a:rPr>
              <a:pPr/>
              <a:t>4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619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2400"/>
            <a:ext cx="5519056" cy="1143000"/>
          </a:xfrm>
        </p:spPr>
        <p:txBody>
          <a:bodyPr>
            <a:normAutofit/>
          </a:bodyPr>
          <a:lstStyle/>
          <a:p>
            <a:r>
              <a:rPr lang="en-US" dirty="0"/>
              <a:t>How is this possible?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4876800" cy="45259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800"/>
              </a:spcBef>
            </a:pPr>
            <a:r>
              <a:rPr lang="en-US" dirty="0"/>
              <a:t>The true mechanism is yet to be revealed</a:t>
            </a:r>
          </a:p>
          <a:p>
            <a:pPr>
              <a:spcBef>
                <a:spcPts val="1800"/>
              </a:spcBef>
            </a:pPr>
            <a:r>
              <a:rPr lang="en-US" dirty="0"/>
              <a:t>FMRI data suggest that  illusion is related to some component of eye movements</a:t>
            </a:r>
          </a:p>
          <a:p>
            <a:pPr>
              <a:spcBef>
                <a:spcPts val="1800"/>
              </a:spcBef>
            </a:pPr>
            <a:r>
              <a:rPr lang="en-US" dirty="0"/>
              <a:t>We don’t expect computer vision to “see” motion from these patterns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4799"/>
            <a:ext cx="3124200" cy="6362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DA4EE-3CC5-2776-7CC0-D8CEC154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5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24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The cause of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0104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Three factors in imaging process</a:t>
            </a:r>
          </a:p>
          <a:p>
            <a:pPr lvl="1"/>
            <a:r>
              <a:rPr lang="en-US" sz="2000" dirty="0"/>
              <a:t>Light</a:t>
            </a:r>
          </a:p>
          <a:p>
            <a:pPr lvl="1"/>
            <a:r>
              <a:rPr lang="en-US" sz="2000" dirty="0"/>
              <a:t>Object</a:t>
            </a:r>
          </a:p>
          <a:p>
            <a:pPr lvl="1"/>
            <a:r>
              <a:rPr lang="en-US" sz="2000" dirty="0"/>
              <a:t>Camera </a:t>
            </a:r>
          </a:p>
          <a:p>
            <a:r>
              <a:rPr lang="en-US" sz="2400" dirty="0"/>
              <a:t>Varying any of them causes motion</a:t>
            </a:r>
          </a:p>
          <a:p>
            <a:pPr lvl="1"/>
            <a:r>
              <a:rPr lang="en-US" sz="2000" dirty="0"/>
              <a:t>Static camera, moving objects (surveillance)</a:t>
            </a:r>
          </a:p>
          <a:p>
            <a:pPr lvl="1"/>
            <a:r>
              <a:rPr lang="en-US" sz="2000" dirty="0"/>
              <a:t>Moving camera, static scene (3D capture)</a:t>
            </a:r>
          </a:p>
          <a:p>
            <a:pPr lvl="1"/>
            <a:r>
              <a:rPr lang="en-US" sz="2000" dirty="0"/>
              <a:t>Moving camera, moving scene (sports, movie)</a:t>
            </a:r>
          </a:p>
          <a:p>
            <a:pPr lvl="1"/>
            <a:r>
              <a:rPr lang="en-US" sz="2000" dirty="0"/>
              <a:t>Static camera, moving objects, moving light (time lapse)</a:t>
            </a:r>
          </a:p>
        </p:txBody>
      </p:sp>
      <p:pic>
        <p:nvPicPr>
          <p:cNvPr id="1028" name="Picture 4" descr="C:\Users\celiu\AppData\Local\Microsoft\Windows\Temporary Internet Files\Content.IE5\MA1IY8VU\MC90044573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31" y="2401391"/>
            <a:ext cx="785869" cy="167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celiu\AppData\Local\Microsoft\Windows\Temporary Internet Files\Content.IE5\MA1IY8VU\MC900433873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6807">
            <a:off x="8133679" y="4147210"/>
            <a:ext cx="740308" cy="740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celiu\AppData\Local\Microsoft\Windows\Temporary Internet Files\Content.IE5\F27IX13U\MC900432587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49547"/>
            <a:ext cx="925902" cy="92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F020-4174-89B6-3E73-25614EB4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6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4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motion</a:t>
            </a:r>
          </a:p>
        </p:txBody>
      </p:sp>
      <p:sp>
        <p:nvSpPr>
          <p:cNvPr id="614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Feature-tracking</a:t>
            </a:r>
          </a:p>
          <a:p>
            <a:pPr lvl="1" eaLnBrk="1" hangingPunct="1"/>
            <a:r>
              <a:rPr lang="en-US" sz="2000" dirty="0"/>
              <a:t>Extract visual features (corners, textured areas) and “track” them over multiple frames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Optical flow</a:t>
            </a:r>
          </a:p>
          <a:p>
            <a:pPr lvl="1" eaLnBrk="1" hangingPunct="1"/>
            <a:r>
              <a:rPr lang="en-US" sz="2000" dirty="0"/>
              <a:t>Recover image motion at each pixel from </a:t>
            </a:r>
            <a:r>
              <a:rPr lang="en-US" sz="2000" dirty="0" err="1"/>
              <a:t>spatio</a:t>
            </a:r>
            <a:r>
              <a:rPr lang="en-US" sz="2000" dirty="0"/>
              <a:t>-temporal image brightness variations (optical flow)</a:t>
            </a:r>
          </a:p>
          <a:p>
            <a:endParaRPr lang="en-US" dirty="0"/>
          </a:p>
        </p:txBody>
      </p:sp>
      <p:sp>
        <p:nvSpPr>
          <p:cNvPr id="6149" name="Rectangle 34"/>
          <p:cNvSpPr>
            <a:spLocks noChangeArrowheads="1"/>
          </p:cNvSpPr>
          <p:nvPr/>
        </p:nvSpPr>
        <p:spPr bwMode="auto">
          <a:xfrm>
            <a:off x="0" y="5865813"/>
            <a:ext cx="91440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B. Lucas and T. Kanade. </a:t>
            </a:r>
            <a:r>
              <a:rPr lang="en-US">
                <a:hlinkClick r:id="" action="ppaction://noaction"/>
              </a:rPr>
              <a:t>An iterative image registration technique with an application to</a:t>
            </a:r>
          </a:p>
          <a:p>
            <a:r>
              <a:rPr lang="en-US">
                <a:hlinkClick r:id="" action="ppaction://noaction"/>
              </a:rPr>
              <a:t>stereo vision.</a:t>
            </a:r>
            <a:r>
              <a:rPr lang="en-US"/>
              <a:t> In </a:t>
            </a:r>
            <a:r>
              <a:rPr lang="en-US" i="1"/>
              <a:t>Proceedings of the International Joint Conference on Artificial Intelligence</a:t>
            </a:r>
            <a:r>
              <a:rPr lang="en-US"/>
              <a:t>, pp. 674–679, 1981.</a:t>
            </a:r>
          </a:p>
        </p:txBody>
      </p:sp>
      <p:sp>
        <p:nvSpPr>
          <p:cNvPr id="6150" name="TextBox 4"/>
          <p:cNvSpPr txBox="1">
            <a:spLocks noChangeArrowheads="1"/>
          </p:cNvSpPr>
          <p:nvPr/>
        </p:nvSpPr>
        <p:spPr bwMode="auto">
          <a:xfrm>
            <a:off x="1600200" y="5181600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FA638F-D922-16F9-2B93-43F52D2D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7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91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Figure out which features can be tracked</a:t>
            </a:r>
          </a:p>
          <a:p>
            <a:pPr lvl="1"/>
            <a:r>
              <a:rPr lang="en-US" dirty="0"/>
              <a:t>Efficiently track across frames</a:t>
            </a:r>
          </a:p>
          <a:p>
            <a:pPr lvl="1"/>
            <a:r>
              <a:rPr lang="en-US" dirty="0"/>
              <a:t>Some points may change appearance over time (e.g., due to rotation, moving into shadows, etc.)</a:t>
            </a:r>
          </a:p>
          <a:p>
            <a:pPr lvl="1"/>
            <a:r>
              <a:rPr lang="en-US" dirty="0"/>
              <a:t>Drift: small errors can accumulate since errors can propagate </a:t>
            </a:r>
            <a:r>
              <a:rPr lang="en-US"/>
              <a:t>to future image frames</a:t>
            </a:r>
            <a:endParaRPr lang="en-US" dirty="0"/>
          </a:p>
          <a:p>
            <a:pPr lvl="1"/>
            <a:r>
              <a:rPr lang="en-US" dirty="0"/>
              <a:t>Points may appear or disappear: need to be able to add/delete tracked points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86E970-AC4D-636F-F071-2E60D49C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8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0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9906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107763" dir="18900000" algn="ctr" rotWithShape="0">
                    <a:srgbClr val="B069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x-none" sz="3600" dirty="0">
                <a:solidFill>
                  <a:srgbClr val="D857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Optical Flow?</a:t>
            </a:r>
          </a:p>
        </p:txBody>
      </p:sp>
      <p:pic>
        <p:nvPicPr>
          <p:cNvPr id="112650" name="Picture 10" descr="sphere_movie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981200"/>
            <a:ext cx="2514600" cy="2514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220" name="Film"/>
          <p:cNvSpPr>
            <a:spLocks noEditPoints="1" noChangeArrowheads="1"/>
          </p:cNvSpPr>
          <p:nvPr/>
        </p:nvSpPr>
        <p:spPr bwMode="auto">
          <a:xfrm>
            <a:off x="3352800" y="1981200"/>
            <a:ext cx="1752600" cy="3581400"/>
          </a:xfrm>
          <a:custGeom>
            <a:avLst/>
            <a:gdLst>
              <a:gd name="T0" fmla="*/ 0 w 21600"/>
              <a:gd name="T1" fmla="*/ 0 h 21600"/>
              <a:gd name="T2" fmla="*/ 876300 w 21600"/>
              <a:gd name="T3" fmla="*/ 0 h 21600"/>
              <a:gd name="T4" fmla="*/ 1752600 w 21600"/>
              <a:gd name="T5" fmla="*/ 0 h 21600"/>
              <a:gd name="T6" fmla="*/ 1752600 w 21600"/>
              <a:gd name="T7" fmla="*/ 1790700 h 21600"/>
              <a:gd name="T8" fmla="*/ 1752600 w 21600"/>
              <a:gd name="T9" fmla="*/ 3581400 h 21600"/>
              <a:gd name="T10" fmla="*/ 876300 w 21600"/>
              <a:gd name="T11" fmla="*/ 3581400 h 21600"/>
              <a:gd name="T12" fmla="*/ 0 w 21600"/>
              <a:gd name="T13" fmla="*/ 3581400 h 21600"/>
              <a:gd name="T14" fmla="*/ 0 w 21600"/>
              <a:gd name="T15" fmla="*/ 179070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4960 w 21600"/>
              <a:gd name="T25" fmla="*/ 8129 h 21600"/>
              <a:gd name="T26" fmla="*/ 17079 w 21600"/>
              <a:gd name="T27" fmla="*/ 1342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  <a:path w="21600" h="21600" extrusionOk="0">
                <a:moveTo>
                  <a:pt x="3014" y="21600"/>
                </a:moveTo>
                <a:lnTo>
                  <a:pt x="3014" y="0"/>
                </a:lnTo>
                <a:lnTo>
                  <a:pt x="0" y="0"/>
                </a:lnTo>
                <a:lnTo>
                  <a:pt x="0" y="21600"/>
                </a:lnTo>
                <a:lnTo>
                  <a:pt x="3014" y="21600"/>
                </a:lnTo>
                <a:close/>
              </a:path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18586" y="0"/>
                </a:lnTo>
                <a:lnTo>
                  <a:pt x="18586" y="21600"/>
                </a:lnTo>
                <a:lnTo>
                  <a:pt x="21600" y="21600"/>
                </a:lnTo>
                <a:close/>
              </a:path>
              <a:path w="21600" h="21600" extrusionOk="0">
                <a:moveTo>
                  <a:pt x="6028" y="6574"/>
                </a:moveTo>
                <a:lnTo>
                  <a:pt x="15572" y="6574"/>
                </a:lnTo>
                <a:lnTo>
                  <a:pt x="16074" y="6574"/>
                </a:lnTo>
                <a:lnTo>
                  <a:pt x="16326" y="6457"/>
                </a:lnTo>
                <a:lnTo>
                  <a:pt x="16577" y="6339"/>
                </a:lnTo>
                <a:lnTo>
                  <a:pt x="16828" y="6222"/>
                </a:lnTo>
                <a:lnTo>
                  <a:pt x="17079" y="6222"/>
                </a:lnTo>
                <a:lnTo>
                  <a:pt x="17330" y="5987"/>
                </a:lnTo>
                <a:lnTo>
                  <a:pt x="17330" y="5870"/>
                </a:lnTo>
                <a:lnTo>
                  <a:pt x="17581" y="5635"/>
                </a:lnTo>
                <a:lnTo>
                  <a:pt x="17581" y="1526"/>
                </a:lnTo>
                <a:lnTo>
                  <a:pt x="17330" y="1291"/>
                </a:lnTo>
                <a:lnTo>
                  <a:pt x="17330" y="1174"/>
                </a:lnTo>
                <a:lnTo>
                  <a:pt x="17079" y="1057"/>
                </a:lnTo>
                <a:lnTo>
                  <a:pt x="16828" y="939"/>
                </a:lnTo>
                <a:lnTo>
                  <a:pt x="16577" y="822"/>
                </a:lnTo>
                <a:lnTo>
                  <a:pt x="16326" y="704"/>
                </a:lnTo>
                <a:lnTo>
                  <a:pt x="16074" y="704"/>
                </a:lnTo>
                <a:lnTo>
                  <a:pt x="15572" y="587"/>
                </a:lnTo>
                <a:lnTo>
                  <a:pt x="6028" y="587"/>
                </a:lnTo>
                <a:lnTo>
                  <a:pt x="5526" y="704"/>
                </a:lnTo>
                <a:lnTo>
                  <a:pt x="5274" y="704"/>
                </a:lnTo>
                <a:lnTo>
                  <a:pt x="5023" y="822"/>
                </a:lnTo>
                <a:lnTo>
                  <a:pt x="4772" y="939"/>
                </a:lnTo>
                <a:lnTo>
                  <a:pt x="4521" y="1057"/>
                </a:lnTo>
                <a:lnTo>
                  <a:pt x="4270" y="1174"/>
                </a:lnTo>
                <a:lnTo>
                  <a:pt x="4270" y="1291"/>
                </a:lnTo>
                <a:lnTo>
                  <a:pt x="4019" y="1526"/>
                </a:lnTo>
                <a:lnTo>
                  <a:pt x="4019" y="5635"/>
                </a:lnTo>
                <a:lnTo>
                  <a:pt x="4270" y="5870"/>
                </a:lnTo>
                <a:lnTo>
                  <a:pt x="4270" y="5987"/>
                </a:lnTo>
                <a:lnTo>
                  <a:pt x="4521" y="6222"/>
                </a:lnTo>
                <a:lnTo>
                  <a:pt x="4772" y="6222"/>
                </a:lnTo>
                <a:lnTo>
                  <a:pt x="5023" y="6339"/>
                </a:lnTo>
                <a:lnTo>
                  <a:pt x="5274" y="6457"/>
                </a:lnTo>
                <a:lnTo>
                  <a:pt x="5526" y="6574"/>
                </a:lnTo>
                <a:lnTo>
                  <a:pt x="6028" y="6574"/>
                </a:lnTo>
                <a:close/>
              </a:path>
              <a:path w="21600" h="21600" extrusionOk="0">
                <a:moveTo>
                  <a:pt x="6028" y="13617"/>
                </a:moveTo>
                <a:lnTo>
                  <a:pt x="15572" y="13617"/>
                </a:lnTo>
                <a:lnTo>
                  <a:pt x="16074" y="13617"/>
                </a:lnTo>
                <a:lnTo>
                  <a:pt x="16326" y="13617"/>
                </a:lnTo>
                <a:lnTo>
                  <a:pt x="16577" y="13500"/>
                </a:lnTo>
                <a:lnTo>
                  <a:pt x="16828" y="13383"/>
                </a:lnTo>
                <a:lnTo>
                  <a:pt x="17079" y="13265"/>
                </a:lnTo>
                <a:lnTo>
                  <a:pt x="17330" y="13148"/>
                </a:lnTo>
                <a:lnTo>
                  <a:pt x="17330" y="12913"/>
                </a:lnTo>
                <a:lnTo>
                  <a:pt x="17581" y="12796"/>
                </a:lnTo>
                <a:lnTo>
                  <a:pt x="17581" y="8687"/>
                </a:lnTo>
                <a:lnTo>
                  <a:pt x="17330" y="8452"/>
                </a:lnTo>
                <a:lnTo>
                  <a:pt x="17330" y="8335"/>
                </a:lnTo>
                <a:lnTo>
                  <a:pt x="17079" y="8217"/>
                </a:lnTo>
                <a:lnTo>
                  <a:pt x="16828" y="7983"/>
                </a:lnTo>
                <a:lnTo>
                  <a:pt x="16577" y="7983"/>
                </a:lnTo>
                <a:lnTo>
                  <a:pt x="16326" y="7865"/>
                </a:lnTo>
                <a:lnTo>
                  <a:pt x="16074" y="7865"/>
                </a:lnTo>
                <a:lnTo>
                  <a:pt x="15572" y="7748"/>
                </a:lnTo>
                <a:lnTo>
                  <a:pt x="6028" y="7748"/>
                </a:lnTo>
                <a:lnTo>
                  <a:pt x="5526" y="7865"/>
                </a:lnTo>
                <a:lnTo>
                  <a:pt x="5274" y="7865"/>
                </a:lnTo>
                <a:lnTo>
                  <a:pt x="5023" y="7983"/>
                </a:lnTo>
                <a:lnTo>
                  <a:pt x="4772" y="7983"/>
                </a:lnTo>
                <a:lnTo>
                  <a:pt x="4521" y="8217"/>
                </a:lnTo>
                <a:lnTo>
                  <a:pt x="4270" y="8335"/>
                </a:lnTo>
                <a:lnTo>
                  <a:pt x="4270" y="8452"/>
                </a:lnTo>
                <a:lnTo>
                  <a:pt x="4019" y="8687"/>
                </a:lnTo>
                <a:lnTo>
                  <a:pt x="4019" y="12796"/>
                </a:lnTo>
                <a:lnTo>
                  <a:pt x="4270" y="12913"/>
                </a:lnTo>
                <a:lnTo>
                  <a:pt x="4270" y="13148"/>
                </a:lnTo>
                <a:lnTo>
                  <a:pt x="4521" y="13265"/>
                </a:lnTo>
                <a:lnTo>
                  <a:pt x="4772" y="13383"/>
                </a:lnTo>
                <a:lnTo>
                  <a:pt x="5023" y="13500"/>
                </a:lnTo>
                <a:lnTo>
                  <a:pt x="5274" y="13617"/>
                </a:lnTo>
                <a:lnTo>
                  <a:pt x="5526" y="13617"/>
                </a:lnTo>
                <a:lnTo>
                  <a:pt x="6028" y="13617"/>
                </a:lnTo>
                <a:close/>
              </a:path>
              <a:path w="21600" h="21600" extrusionOk="0">
                <a:moveTo>
                  <a:pt x="6028" y="20778"/>
                </a:moveTo>
                <a:lnTo>
                  <a:pt x="15572" y="20778"/>
                </a:lnTo>
                <a:lnTo>
                  <a:pt x="16074" y="20778"/>
                </a:lnTo>
                <a:lnTo>
                  <a:pt x="16326" y="20661"/>
                </a:lnTo>
                <a:lnTo>
                  <a:pt x="16577" y="20661"/>
                </a:lnTo>
                <a:lnTo>
                  <a:pt x="16828" y="20543"/>
                </a:lnTo>
                <a:lnTo>
                  <a:pt x="17079" y="20426"/>
                </a:lnTo>
                <a:lnTo>
                  <a:pt x="17330" y="20309"/>
                </a:lnTo>
                <a:lnTo>
                  <a:pt x="17330" y="20074"/>
                </a:lnTo>
                <a:lnTo>
                  <a:pt x="17581" y="19957"/>
                </a:lnTo>
                <a:lnTo>
                  <a:pt x="17581" y="15730"/>
                </a:lnTo>
                <a:lnTo>
                  <a:pt x="17330" y="15613"/>
                </a:lnTo>
                <a:lnTo>
                  <a:pt x="17330" y="15378"/>
                </a:lnTo>
                <a:lnTo>
                  <a:pt x="17079" y="15378"/>
                </a:lnTo>
                <a:lnTo>
                  <a:pt x="16828" y="15143"/>
                </a:lnTo>
                <a:lnTo>
                  <a:pt x="16577" y="15026"/>
                </a:lnTo>
                <a:lnTo>
                  <a:pt x="16326" y="15026"/>
                </a:lnTo>
                <a:lnTo>
                  <a:pt x="16074" y="15026"/>
                </a:lnTo>
                <a:lnTo>
                  <a:pt x="15572" y="14909"/>
                </a:lnTo>
                <a:lnTo>
                  <a:pt x="6028" y="14909"/>
                </a:lnTo>
                <a:lnTo>
                  <a:pt x="5526" y="15026"/>
                </a:lnTo>
                <a:lnTo>
                  <a:pt x="5274" y="15026"/>
                </a:lnTo>
                <a:lnTo>
                  <a:pt x="5023" y="15026"/>
                </a:lnTo>
                <a:lnTo>
                  <a:pt x="4772" y="15143"/>
                </a:lnTo>
                <a:lnTo>
                  <a:pt x="4521" y="15378"/>
                </a:lnTo>
                <a:lnTo>
                  <a:pt x="4270" y="15378"/>
                </a:lnTo>
                <a:lnTo>
                  <a:pt x="4270" y="15613"/>
                </a:lnTo>
                <a:lnTo>
                  <a:pt x="4019" y="15730"/>
                </a:lnTo>
                <a:lnTo>
                  <a:pt x="4019" y="19957"/>
                </a:lnTo>
                <a:lnTo>
                  <a:pt x="4270" y="20074"/>
                </a:lnTo>
                <a:lnTo>
                  <a:pt x="4270" y="20309"/>
                </a:lnTo>
                <a:lnTo>
                  <a:pt x="4521" y="20426"/>
                </a:lnTo>
                <a:lnTo>
                  <a:pt x="4772" y="20543"/>
                </a:lnTo>
                <a:lnTo>
                  <a:pt x="5023" y="20661"/>
                </a:lnTo>
                <a:lnTo>
                  <a:pt x="5274" y="20661"/>
                </a:lnTo>
                <a:lnTo>
                  <a:pt x="5526" y="20778"/>
                </a:lnTo>
                <a:lnTo>
                  <a:pt x="6028" y="20778"/>
                </a:lnTo>
                <a:close/>
              </a:path>
              <a:path w="21600" h="21600" extrusionOk="0">
                <a:moveTo>
                  <a:pt x="753" y="1291"/>
                </a:moveTo>
                <a:lnTo>
                  <a:pt x="2260" y="1291"/>
                </a:lnTo>
                <a:lnTo>
                  <a:pt x="2260" y="235"/>
                </a:lnTo>
                <a:lnTo>
                  <a:pt x="753" y="235"/>
                </a:lnTo>
                <a:lnTo>
                  <a:pt x="753" y="1291"/>
                </a:lnTo>
                <a:close/>
              </a:path>
              <a:path w="21600" h="21600" extrusionOk="0">
                <a:moveTo>
                  <a:pt x="753" y="2700"/>
                </a:moveTo>
                <a:lnTo>
                  <a:pt x="2260" y="2700"/>
                </a:lnTo>
                <a:lnTo>
                  <a:pt x="2260" y="1643"/>
                </a:lnTo>
                <a:lnTo>
                  <a:pt x="753" y="1643"/>
                </a:lnTo>
                <a:lnTo>
                  <a:pt x="753" y="2700"/>
                </a:lnTo>
                <a:close/>
              </a:path>
              <a:path w="21600" h="21600" extrusionOk="0">
                <a:moveTo>
                  <a:pt x="753" y="4109"/>
                </a:moveTo>
                <a:lnTo>
                  <a:pt x="2260" y="4109"/>
                </a:lnTo>
                <a:lnTo>
                  <a:pt x="2260" y="3052"/>
                </a:lnTo>
                <a:lnTo>
                  <a:pt x="753" y="3052"/>
                </a:lnTo>
                <a:lnTo>
                  <a:pt x="753" y="4109"/>
                </a:lnTo>
                <a:close/>
              </a:path>
              <a:path w="21600" h="21600" extrusionOk="0">
                <a:moveTo>
                  <a:pt x="753" y="5517"/>
                </a:moveTo>
                <a:lnTo>
                  <a:pt x="2260" y="5517"/>
                </a:lnTo>
                <a:lnTo>
                  <a:pt x="2260" y="4461"/>
                </a:lnTo>
                <a:lnTo>
                  <a:pt x="753" y="4461"/>
                </a:lnTo>
                <a:lnTo>
                  <a:pt x="753" y="5517"/>
                </a:lnTo>
                <a:close/>
              </a:path>
              <a:path w="21600" h="21600" extrusionOk="0">
                <a:moveTo>
                  <a:pt x="753" y="6926"/>
                </a:moveTo>
                <a:lnTo>
                  <a:pt x="2260" y="6926"/>
                </a:lnTo>
                <a:lnTo>
                  <a:pt x="2260" y="5870"/>
                </a:lnTo>
                <a:lnTo>
                  <a:pt x="753" y="5870"/>
                </a:lnTo>
                <a:lnTo>
                  <a:pt x="753" y="6926"/>
                </a:lnTo>
                <a:close/>
              </a:path>
              <a:path w="21600" h="21600" extrusionOk="0">
                <a:moveTo>
                  <a:pt x="753" y="8335"/>
                </a:moveTo>
                <a:lnTo>
                  <a:pt x="2260" y="8335"/>
                </a:lnTo>
                <a:lnTo>
                  <a:pt x="2260" y="7278"/>
                </a:lnTo>
                <a:lnTo>
                  <a:pt x="753" y="7278"/>
                </a:lnTo>
                <a:lnTo>
                  <a:pt x="753" y="8335"/>
                </a:lnTo>
                <a:close/>
              </a:path>
              <a:path w="21600" h="21600" extrusionOk="0">
                <a:moveTo>
                  <a:pt x="753" y="9743"/>
                </a:moveTo>
                <a:lnTo>
                  <a:pt x="2260" y="9743"/>
                </a:lnTo>
                <a:lnTo>
                  <a:pt x="2260" y="8687"/>
                </a:lnTo>
                <a:lnTo>
                  <a:pt x="753" y="8687"/>
                </a:lnTo>
                <a:lnTo>
                  <a:pt x="753" y="9743"/>
                </a:lnTo>
                <a:close/>
              </a:path>
              <a:path w="21600" h="21600" extrusionOk="0">
                <a:moveTo>
                  <a:pt x="753" y="11152"/>
                </a:moveTo>
                <a:lnTo>
                  <a:pt x="2260" y="11152"/>
                </a:lnTo>
                <a:lnTo>
                  <a:pt x="2260" y="10096"/>
                </a:lnTo>
                <a:lnTo>
                  <a:pt x="753" y="10096"/>
                </a:lnTo>
                <a:lnTo>
                  <a:pt x="753" y="11152"/>
                </a:lnTo>
                <a:close/>
              </a:path>
              <a:path w="21600" h="21600" extrusionOk="0">
                <a:moveTo>
                  <a:pt x="753" y="12561"/>
                </a:moveTo>
                <a:lnTo>
                  <a:pt x="2260" y="12561"/>
                </a:lnTo>
                <a:lnTo>
                  <a:pt x="2260" y="11504"/>
                </a:lnTo>
                <a:lnTo>
                  <a:pt x="753" y="11504"/>
                </a:lnTo>
                <a:lnTo>
                  <a:pt x="753" y="12561"/>
                </a:lnTo>
                <a:close/>
              </a:path>
              <a:path w="21600" h="21600" extrusionOk="0">
                <a:moveTo>
                  <a:pt x="753" y="13970"/>
                </a:moveTo>
                <a:lnTo>
                  <a:pt x="2260" y="13970"/>
                </a:lnTo>
                <a:lnTo>
                  <a:pt x="2260" y="12913"/>
                </a:lnTo>
                <a:lnTo>
                  <a:pt x="753" y="12913"/>
                </a:lnTo>
                <a:lnTo>
                  <a:pt x="753" y="13970"/>
                </a:lnTo>
                <a:close/>
              </a:path>
              <a:path w="21600" h="21600" extrusionOk="0">
                <a:moveTo>
                  <a:pt x="753" y="15378"/>
                </a:moveTo>
                <a:lnTo>
                  <a:pt x="2260" y="15378"/>
                </a:lnTo>
                <a:lnTo>
                  <a:pt x="2260" y="14322"/>
                </a:lnTo>
                <a:lnTo>
                  <a:pt x="753" y="14322"/>
                </a:lnTo>
                <a:lnTo>
                  <a:pt x="753" y="15378"/>
                </a:lnTo>
                <a:close/>
              </a:path>
              <a:path w="21600" h="21600" extrusionOk="0">
                <a:moveTo>
                  <a:pt x="753" y="16787"/>
                </a:moveTo>
                <a:lnTo>
                  <a:pt x="2260" y="16787"/>
                </a:lnTo>
                <a:lnTo>
                  <a:pt x="2260" y="15730"/>
                </a:lnTo>
                <a:lnTo>
                  <a:pt x="753" y="15730"/>
                </a:lnTo>
                <a:lnTo>
                  <a:pt x="753" y="16787"/>
                </a:lnTo>
                <a:close/>
              </a:path>
              <a:path w="21600" h="21600" extrusionOk="0">
                <a:moveTo>
                  <a:pt x="753" y="18196"/>
                </a:moveTo>
                <a:lnTo>
                  <a:pt x="2260" y="18196"/>
                </a:lnTo>
                <a:lnTo>
                  <a:pt x="2260" y="17139"/>
                </a:lnTo>
                <a:lnTo>
                  <a:pt x="753" y="17139"/>
                </a:lnTo>
                <a:lnTo>
                  <a:pt x="753" y="18196"/>
                </a:lnTo>
                <a:close/>
              </a:path>
              <a:path w="21600" h="21600" extrusionOk="0">
                <a:moveTo>
                  <a:pt x="753" y="19604"/>
                </a:moveTo>
                <a:lnTo>
                  <a:pt x="2260" y="19604"/>
                </a:lnTo>
                <a:lnTo>
                  <a:pt x="2260" y="18548"/>
                </a:lnTo>
                <a:lnTo>
                  <a:pt x="753" y="18548"/>
                </a:lnTo>
                <a:lnTo>
                  <a:pt x="753" y="19604"/>
                </a:lnTo>
                <a:close/>
              </a:path>
              <a:path w="21600" h="21600" extrusionOk="0">
                <a:moveTo>
                  <a:pt x="753" y="21013"/>
                </a:moveTo>
                <a:lnTo>
                  <a:pt x="2260" y="21013"/>
                </a:lnTo>
                <a:lnTo>
                  <a:pt x="2260" y="19957"/>
                </a:lnTo>
                <a:lnTo>
                  <a:pt x="753" y="19957"/>
                </a:lnTo>
                <a:lnTo>
                  <a:pt x="753" y="21013"/>
                </a:lnTo>
                <a:close/>
              </a:path>
              <a:path w="21600" h="21600" extrusionOk="0">
                <a:moveTo>
                  <a:pt x="19340" y="1409"/>
                </a:moveTo>
                <a:lnTo>
                  <a:pt x="20595" y="1409"/>
                </a:lnTo>
                <a:lnTo>
                  <a:pt x="20595" y="352"/>
                </a:lnTo>
                <a:lnTo>
                  <a:pt x="19340" y="352"/>
                </a:lnTo>
                <a:lnTo>
                  <a:pt x="19340" y="1409"/>
                </a:lnTo>
                <a:close/>
              </a:path>
              <a:path w="21600" h="21600" extrusionOk="0">
                <a:moveTo>
                  <a:pt x="19340" y="2700"/>
                </a:moveTo>
                <a:lnTo>
                  <a:pt x="20595" y="2700"/>
                </a:lnTo>
                <a:lnTo>
                  <a:pt x="20595" y="1643"/>
                </a:lnTo>
                <a:lnTo>
                  <a:pt x="19340" y="1643"/>
                </a:lnTo>
                <a:lnTo>
                  <a:pt x="19340" y="2700"/>
                </a:lnTo>
                <a:close/>
              </a:path>
              <a:path w="21600" h="21600" extrusionOk="0">
                <a:moveTo>
                  <a:pt x="19340" y="4109"/>
                </a:moveTo>
                <a:lnTo>
                  <a:pt x="20595" y="4109"/>
                </a:lnTo>
                <a:lnTo>
                  <a:pt x="20595" y="3052"/>
                </a:lnTo>
                <a:lnTo>
                  <a:pt x="19340" y="3052"/>
                </a:lnTo>
                <a:lnTo>
                  <a:pt x="19340" y="4109"/>
                </a:lnTo>
                <a:close/>
              </a:path>
              <a:path w="21600" h="21600" extrusionOk="0">
                <a:moveTo>
                  <a:pt x="19340" y="5517"/>
                </a:moveTo>
                <a:lnTo>
                  <a:pt x="20595" y="5517"/>
                </a:lnTo>
                <a:lnTo>
                  <a:pt x="20595" y="4461"/>
                </a:lnTo>
                <a:lnTo>
                  <a:pt x="19340" y="4461"/>
                </a:lnTo>
                <a:lnTo>
                  <a:pt x="19340" y="5517"/>
                </a:lnTo>
                <a:close/>
              </a:path>
              <a:path w="21600" h="21600" extrusionOk="0">
                <a:moveTo>
                  <a:pt x="19340" y="6926"/>
                </a:moveTo>
                <a:lnTo>
                  <a:pt x="20595" y="6926"/>
                </a:lnTo>
                <a:lnTo>
                  <a:pt x="20595" y="5870"/>
                </a:lnTo>
                <a:lnTo>
                  <a:pt x="19340" y="5870"/>
                </a:lnTo>
                <a:lnTo>
                  <a:pt x="19340" y="6926"/>
                </a:lnTo>
                <a:close/>
              </a:path>
              <a:path w="21600" h="21600" extrusionOk="0">
                <a:moveTo>
                  <a:pt x="19340" y="8335"/>
                </a:moveTo>
                <a:lnTo>
                  <a:pt x="20595" y="8335"/>
                </a:lnTo>
                <a:lnTo>
                  <a:pt x="20595" y="7278"/>
                </a:lnTo>
                <a:lnTo>
                  <a:pt x="19340" y="7278"/>
                </a:lnTo>
                <a:lnTo>
                  <a:pt x="19340" y="8335"/>
                </a:lnTo>
                <a:close/>
              </a:path>
              <a:path w="21600" h="21600" extrusionOk="0">
                <a:moveTo>
                  <a:pt x="19340" y="9743"/>
                </a:moveTo>
                <a:lnTo>
                  <a:pt x="20595" y="9743"/>
                </a:lnTo>
                <a:lnTo>
                  <a:pt x="20595" y="8687"/>
                </a:lnTo>
                <a:lnTo>
                  <a:pt x="19340" y="8687"/>
                </a:lnTo>
                <a:lnTo>
                  <a:pt x="19340" y="9743"/>
                </a:lnTo>
                <a:close/>
              </a:path>
              <a:path w="21600" h="21600" extrusionOk="0">
                <a:moveTo>
                  <a:pt x="19340" y="11152"/>
                </a:moveTo>
                <a:lnTo>
                  <a:pt x="20595" y="11152"/>
                </a:lnTo>
                <a:lnTo>
                  <a:pt x="20595" y="10096"/>
                </a:lnTo>
                <a:lnTo>
                  <a:pt x="19340" y="10096"/>
                </a:lnTo>
                <a:lnTo>
                  <a:pt x="19340" y="11152"/>
                </a:lnTo>
                <a:close/>
              </a:path>
              <a:path w="21600" h="21600" extrusionOk="0">
                <a:moveTo>
                  <a:pt x="19340" y="12561"/>
                </a:moveTo>
                <a:lnTo>
                  <a:pt x="20595" y="12561"/>
                </a:lnTo>
                <a:lnTo>
                  <a:pt x="20595" y="11504"/>
                </a:lnTo>
                <a:lnTo>
                  <a:pt x="19340" y="11504"/>
                </a:lnTo>
                <a:lnTo>
                  <a:pt x="19340" y="12561"/>
                </a:lnTo>
                <a:close/>
              </a:path>
              <a:path w="21600" h="21600" extrusionOk="0">
                <a:moveTo>
                  <a:pt x="19340" y="13970"/>
                </a:moveTo>
                <a:lnTo>
                  <a:pt x="20595" y="13970"/>
                </a:lnTo>
                <a:lnTo>
                  <a:pt x="20595" y="12913"/>
                </a:lnTo>
                <a:lnTo>
                  <a:pt x="19340" y="12913"/>
                </a:lnTo>
                <a:lnTo>
                  <a:pt x="19340" y="13970"/>
                </a:lnTo>
                <a:close/>
              </a:path>
              <a:path w="21600" h="21600" extrusionOk="0">
                <a:moveTo>
                  <a:pt x="19340" y="15378"/>
                </a:moveTo>
                <a:lnTo>
                  <a:pt x="20595" y="15378"/>
                </a:lnTo>
                <a:lnTo>
                  <a:pt x="20595" y="14322"/>
                </a:lnTo>
                <a:lnTo>
                  <a:pt x="19340" y="14322"/>
                </a:lnTo>
                <a:lnTo>
                  <a:pt x="19340" y="15378"/>
                </a:lnTo>
                <a:close/>
              </a:path>
              <a:path w="21600" h="21600" extrusionOk="0">
                <a:moveTo>
                  <a:pt x="19340" y="16787"/>
                </a:moveTo>
                <a:lnTo>
                  <a:pt x="20595" y="16787"/>
                </a:lnTo>
                <a:lnTo>
                  <a:pt x="20595" y="15730"/>
                </a:lnTo>
                <a:lnTo>
                  <a:pt x="19340" y="15730"/>
                </a:lnTo>
                <a:lnTo>
                  <a:pt x="19340" y="16787"/>
                </a:lnTo>
                <a:close/>
              </a:path>
              <a:path w="21600" h="21600" extrusionOk="0">
                <a:moveTo>
                  <a:pt x="19340" y="18196"/>
                </a:moveTo>
                <a:lnTo>
                  <a:pt x="20595" y="18196"/>
                </a:lnTo>
                <a:lnTo>
                  <a:pt x="20595" y="17139"/>
                </a:lnTo>
                <a:lnTo>
                  <a:pt x="19340" y="17139"/>
                </a:lnTo>
                <a:lnTo>
                  <a:pt x="19340" y="18196"/>
                </a:lnTo>
                <a:close/>
              </a:path>
              <a:path w="21600" h="21600" extrusionOk="0">
                <a:moveTo>
                  <a:pt x="19340" y="19604"/>
                </a:moveTo>
                <a:lnTo>
                  <a:pt x="20595" y="19604"/>
                </a:lnTo>
                <a:lnTo>
                  <a:pt x="20595" y="18548"/>
                </a:lnTo>
                <a:lnTo>
                  <a:pt x="19340" y="18548"/>
                </a:lnTo>
                <a:lnTo>
                  <a:pt x="19340" y="19604"/>
                </a:lnTo>
                <a:close/>
              </a:path>
              <a:path w="21600" h="21600" extrusionOk="0">
                <a:moveTo>
                  <a:pt x="19340" y="21013"/>
                </a:moveTo>
                <a:lnTo>
                  <a:pt x="20595" y="21013"/>
                </a:lnTo>
                <a:lnTo>
                  <a:pt x="20595" y="19957"/>
                </a:lnTo>
                <a:lnTo>
                  <a:pt x="19340" y="19957"/>
                </a:lnTo>
                <a:lnTo>
                  <a:pt x="19340" y="21013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pic>
        <p:nvPicPr>
          <p:cNvPr id="9221" name="Picture 38" descr="sphe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025650"/>
            <a:ext cx="11430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39" descr="sp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221038"/>
            <a:ext cx="11430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81" name="Text Box 41"/>
          <p:cNvSpPr txBox="1">
            <a:spLocks noChangeArrowheads="1"/>
          </p:cNvSpPr>
          <p:nvPr/>
        </p:nvSpPr>
        <p:spPr bwMode="auto">
          <a:xfrm>
            <a:off x="3843338" y="4429125"/>
            <a:ext cx="7937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sz="4800">
                <a:solidFill>
                  <a:srgbClr val="008000"/>
                </a:solidFill>
              </a:rPr>
              <a:t>…</a:t>
            </a:r>
          </a:p>
        </p:txBody>
      </p:sp>
      <p:sp>
        <p:nvSpPr>
          <p:cNvPr id="9224" name="AutoShape 43"/>
          <p:cNvSpPr>
            <a:spLocks noChangeArrowheads="1"/>
          </p:cNvSpPr>
          <p:nvPr/>
        </p:nvSpPr>
        <p:spPr bwMode="auto">
          <a:xfrm>
            <a:off x="5181600" y="2514600"/>
            <a:ext cx="762000" cy="1676400"/>
          </a:xfrm>
          <a:prstGeom prst="curvedLeftArrow">
            <a:avLst>
              <a:gd name="adj1" fmla="val 44000"/>
              <a:gd name="adj2" fmla="val 88000"/>
              <a:gd name="adj3" fmla="val 33333"/>
            </a:avLst>
          </a:prstGeom>
          <a:solidFill>
            <a:srgbClr val="4900B4"/>
          </a:solidFill>
          <a:ln>
            <a:noFill/>
          </a:ln>
          <a:effectLst>
            <a:prstShdw prst="shdw17" dist="17961" dir="2700000">
              <a:srgbClr val="2C006C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pic>
        <p:nvPicPr>
          <p:cNvPr id="9225" name="Picture 52" descr="sph_violet_thi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38" y="2209800"/>
            <a:ext cx="227806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AF405-576B-D6E0-E1BF-0AB0D23C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3758-ABEC-F642-ADC2-3D21B3F086C0}" type="slidenum">
              <a:rPr lang="en-US" altLang="x-none" smtClean="0">
                <a:solidFill>
                  <a:srgbClr val="000000"/>
                </a:solidFill>
              </a:rPr>
              <a:pPr/>
              <a:t>9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62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159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x-none" sz="3600">
                <a:solidFill>
                  <a:srgbClr val="D857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Definitions</a:t>
            </a:r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685800" y="1371600"/>
            <a:ext cx="7559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400" dirty="0">
                <a:solidFill>
                  <a:srgbClr val="000000"/>
                </a:solidFill>
              </a:rPr>
              <a:t>The </a:t>
            </a:r>
            <a:r>
              <a:rPr lang="en-US" altLang="x-none" sz="2400" dirty="0">
                <a:solidFill>
                  <a:srgbClr val="4900B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optical flow</a:t>
            </a:r>
            <a:r>
              <a:rPr lang="en-US" altLang="x-none" sz="2400" dirty="0">
                <a:solidFill>
                  <a:srgbClr val="000000"/>
                </a:solidFill>
              </a:rPr>
              <a:t> is a velocity field in the image which transforms one image into the next image in a sequence  </a:t>
            </a:r>
            <a:r>
              <a:rPr lang="en-US" altLang="x-none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 </a:t>
            </a:r>
            <a:r>
              <a:rPr lang="en-US" altLang="x-none" dirty="0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Times New Roman" charset="0"/>
                <a:cs typeface="Times New Roman" charset="0"/>
              </a:rPr>
              <a:t>Horn &amp; </a:t>
            </a:r>
            <a:r>
              <a:rPr lang="en-US" altLang="x-none" dirty="0" err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Times New Roman" charset="0"/>
                <a:cs typeface="Times New Roman" charset="0"/>
              </a:rPr>
              <a:t>Schunck</a:t>
            </a:r>
            <a:r>
              <a:rPr lang="en-US" altLang="x-none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]</a:t>
            </a:r>
          </a:p>
        </p:txBody>
      </p:sp>
      <p:pic>
        <p:nvPicPr>
          <p:cNvPr id="11269" name="Picture 10" descr="sp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11450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11" descr="sphe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711450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2727325" y="2951163"/>
            <a:ext cx="331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0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4648200" y="3016250"/>
            <a:ext cx="331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00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24943" name="Text Box 15"/>
          <p:cNvSpPr txBox="1">
            <a:spLocks noChangeArrowheads="1"/>
          </p:cNvSpPr>
          <p:nvPr/>
        </p:nvSpPr>
        <p:spPr bwMode="auto">
          <a:xfrm>
            <a:off x="1600200" y="3854450"/>
            <a:ext cx="987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1600">
                <a:solidFill>
                  <a:srgbClr val="000000"/>
                </a:solidFill>
              </a:rPr>
              <a:t>frame #1</a:t>
            </a:r>
          </a:p>
        </p:txBody>
      </p:sp>
      <p:sp>
        <p:nvSpPr>
          <p:cNvPr id="124944" name="Text Box 16"/>
          <p:cNvSpPr txBox="1">
            <a:spLocks noChangeArrowheads="1"/>
          </p:cNvSpPr>
          <p:nvPr/>
        </p:nvSpPr>
        <p:spPr bwMode="auto">
          <a:xfrm>
            <a:off x="5486400" y="3821113"/>
            <a:ext cx="987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1600">
                <a:solidFill>
                  <a:srgbClr val="000000"/>
                </a:solidFill>
              </a:rPr>
              <a:t>frame #2</a:t>
            </a:r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3429000" y="3854450"/>
            <a:ext cx="9731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1600">
                <a:solidFill>
                  <a:srgbClr val="000000"/>
                </a:solidFill>
              </a:rPr>
              <a:t>flow field</a:t>
            </a:r>
          </a:p>
        </p:txBody>
      </p:sp>
      <p:pic>
        <p:nvPicPr>
          <p:cNvPr id="11276" name="Picture 22" descr="sph_viol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22563"/>
            <a:ext cx="1114425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791A6F-99CF-2117-BE76-BC129680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35542-5721-034C-A143-071D7CC23986}" type="slidenum">
              <a:rPr lang="en-US" altLang="x-none" smtClean="0">
                <a:solidFill>
                  <a:srgbClr val="000000"/>
                </a:solidFill>
              </a:rPr>
              <a:pPr/>
              <a:t>10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0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2E196697-E1A3-B644-BC50-01EC01E4BD25}" type="slidenum">
              <a:rPr lang="en-US" altLang="x-none" sz="1400">
                <a:solidFill>
                  <a:srgbClr val="000000"/>
                </a:solidFill>
              </a:rPr>
              <a:pPr/>
              <a:t>11</a:t>
            </a:fld>
            <a:endParaRPr lang="en-US" altLang="x-none" sz="1400">
              <a:solidFill>
                <a:srgbClr val="000000"/>
              </a:solidFill>
            </a:endParaRPr>
          </a:p>
        </p:txBody>
      </p:sp>
      <p:pic>
        <p:nvPicPr>
          <p:cNvPr id="127007" name="Picture 31" descr="sphere_warped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267200"/>
            <a:ext cx="1905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x-none" sz="3200" dirty="0">
                <a:solidFill>
                  <a:srgbClr val="D857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Ambiguity of optical flow</a:t>
            </a:r>
          </a:p>
        </p:txBody>
      </p:sp>
      <p:sp useBgFill="1">
        <p:nvSpPr>
          <p:cNvPr id="126993" name="Text Box 17"/>
          <p:cNvSpPr txBox="1">
            <a:spLocks noChangeArrowheads="1"/>
          </p:cNvSpPr>
          <p:nvPr/>
        </p:nvSpPr>
        <p:spPr bwMode="auto">
          <a:xfrm>
            <a:off x="3657600" y="3138488"/>
            <a:ext cx="1981200" cy="304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1400">
                <a:solidFill>
                  <a:srgbClr val="5F5F5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charset="0"/>
              </a:rPr>
              <a:t>Frame 1</a:t>
            </a:r>
          </a:p>
        </p:txBody>
      </p:sp>
      <p:pic>
        <p:nvPicPr>
          <p:cNvPr id="127011" name="Picture 35" descr="sphere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9000" y="1219200"/>
            <a:ext cx="1816100" cy="181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127023" name="Group 47"/>
          <p:cNvGrpSpPr>
            <a:grpSpLocks/>
          </p:cNvGrpSpPr>
          <p:nvPr/>
        </p:nvGrpSpPr>
        <p:grpSpPr bwMode="auto">
          <a:xfrm>
            <a:off x="244475" y="2057400"/>
            <a:ext cx="8447088" cy="2971800"/>
            <a:chOff x="154" y="1296"/>
            <a:chExt cx="5321" cy="1872"/>
          </a:xfrm>
        </p:grpSpPr>
        <p:sp>
          <p:nvSpPr>
            <p:cNvPr id="126991" name="Text Box 15"/>
            <p:cNvSpPr txBox="1">
              <a:spLocks noChangeArrowheads="1"/>
            </p:cNvSpPr>
            <p:nvPr/>
          </p:nvSpPr>
          <p:spPr bwMode="auto">
            <a:xfrm>
              <a:off x="3840" y="1344"/>
              <a:ext cx="16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x-none" sz="2000">
                  <a:solidFill>
                    <a:srgbClr val="4900B4"/>
                  </a:solidFill>
                  <a:latin typeface="Comic Sans MS" charset="0"/>
                </a:rPr>
                <a:t>flow (1): true motion</a:t>
              </a:r>
            </a:p>
          </p:txBody>
        </p:sp>
        <p:sp>
          <p:nvSpPr>
            <p:cNvPr id="126992" name="Text Box 16"/>
            <p:cNvSpPr txBox="1">
              <a:spLocks noChangeArrowheads="1"/>
            </p:cNvSpPr>
            <p:nvPr/>
          </p:nvSpPr>
          <p:spPr bwMode="auto">
            <a:xfrm>
              <a:off x="432" y="1296"/>
              <a:ext cx="6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x-none" sz="2000">
                  <a:solidFill>
                    <a:srgbClr val="4900B4"/>
                  </a:solidFill>
                  <a:latin typeface="Comic Sans MS" charset="0"/>
                </a:rPr>
                <a:t>flow (2)</a:t>
              </a:r>
            </a:p>
          </p:txBody>
        </p:sp>
        <p:sp>
          <p:nvSpPr>
            <p:cNvPr id="12297" name="AutoShape 28"/>
            <p:cNvSpPr>
              <a:spLocks noChangeArrowheads="1"/>
            </p:cNvSpPr>
            <p:nvPr/>
          </p:nvSpPr>
          <p:spPr bwMode="auto">
            <a:xfrm>
              <a:off x="3312" y="1488"/>
              <a:ext cx="666" cy="1650"/>
            </a:xfrm>
            <a:prstGeom prst="curvedLeftArrow">
              <a:avLst>
                <a:gd name="adj1" fmla="val 17159"/>
                <a:gd name="adj2" fmla="val 60515"/>
                <a:gd name="adj3" fmla="val 41944"/>
              </a:avLst>
            </a:prstGeom>
            <a:solidFill>
              <a:srgbClr val="8837FF"/>
            </a:solidFill>
            <a:ln>
              <a:noFill/>
            </a:ln>
            <a:effectLst>
              <a:prstShdw prst="shdw17" dist="17961" dir="2700000">
                <a:srgbClr val="522199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x-none" altLang="x-none">
                <a:solidFill>
                  <a:srgbClr val="000000"/>
                </a:solidFill>
              </a:endParaRPr>
            </a:p>
          </p:txBody>
        </p:sp>
        <p:sp>
          <p:nvSpPr>
            <p:cNvPr id="12298" name="AutoShape 27"/>
            <p:cNvSpPr>
              <a:spLocks noChangeArrowheads="1"/>
            </p:cNvSpPr>
            <p:nvPr/>
          </p:nvSpPr>
          <p:spPr bwMode="auto">
            <a:xfrm>
              <a:off x="1554" y="1488"/>
              <a:ext cx="606" cy="1680"/>
            </a:xfrm>
            <a:prstGeom prst="curvedRightArrow">
              <a:avLst>
                <a:gd name="adj1" fmla="val 21729"/>
                <a:gd name="adj2" fmla="val 66008"/>
                <a:gd name="adj3" fmla="val 36847"/>
              </a:avLst>
            </a:prstGeom>
            <a:solidFill>
              <a:srgbClr val="8837FF"/>
            </a:solidFill>
            <a:ln>
              <a:noFill/>
            </a:ln>
            <a:effectLst>
              <a:prstShdw prst="shdw17" dist="17961" dir="2700000">
                <a:srgbClr val="522199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x-none" altLang="x-none">
                <a:solidFill>
                  <a:srgbClr val="000000"/>
                </a:solidFill>
              </a:endParaRPr>
            </a:p>
          </p:txBody>
        </p:sp>
        <p:pic>
          <p:nvPicPr>
            <p:cNvPr id="12299" name="Picture 43" descr="sph_violet_thin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6" y="1632"/>
              <a:ext cx="1292" cy="1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0" name="Picture 45" descr="sph_violet_spoiled_thi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" y="1554"/>
              <a:ext cx="1388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4527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1201738" y="2162175"/>
            <a:ext cx="2967037" cy="1997075"/>
            <a:chOff x="685" y="1476"/>
            <a:chExt cx="1869" cy="1258"/>
          </a:xfrm>
        </p:grpSpPr>
        <p:pic>
          <p:nvPicPr>
            <p:cNvPr id="7171" name="Picture 3" descr="SEQ_INITIA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" y="1476"/>
              <a:ext cx="1387" cy="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7172" name="Object 4"/>
            <p:cNvGraphicFramePr>
              <a:graphicFrameLocks noChangeAspect="1"/>
            </p:cNvGraphicFramePr>
            <p:nvPr/>
          </p:nvGraphicFramePr>
          <p:xfrm>
            <a:off x="2084" y="2531"/>
            <a:ext cx="47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69800" imgH="203040" progId="Equation.3">
                    <p:embed/>
                  </p:oleObj>
                </mc:Choice>
                <mc:Fallback>
                  <p:oleObj name="Equation" r:id="rId3" imgW="469800" imgH="203040" progId="Equation.3">
                    <p:embed/>
                    <p:pic>
                      <p:nvPicPr>
                        <p:cNvPr id="717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4" y="2531"/>
                          <a:ext cx="470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3" name="Rectangle 5"/>
          <p:cNvSpPr>
            <a:spLocks noGrp="1" noChangeArrowheads="1"/>
          </p:cNvSpPr>
          <p:nvPr>
            <p:ph type="title"/>
          </p:nvPr>
        </p:nvSpPr>
        <p:spPr>
          <a:xfrm>
            <a:off x="587375" y="560388"/>
            <a:ext cx="7913688" cy="862012"/>
          </a:xfrm>
        </p:spPr>
        <p:txBody>
          <a:bodyPr/>
          <a:lstStyle/>
          <a:p>
            <a:r>
              <a:rPr lang="en-US" altLang="x-none"/>
              <a:t>What is Optical Flow?</a:t>
            </a:r>
          </a:p>
        </p:txBody>
      </p:sp>
      <p:grpSp>
        <p:nvGrpSpPr>
          <p:cNvPr id="7174" name="Group 6"/>
          <p:cNvGrpSpPr>
            <a:grpSpLocks/>
          </p:cNvGrpSpPr>
          <p:nvPr/>
        </p:nvGrpSpPr>
        <p:grpSpPr bwMode="auto">
          <a:xfrm>
            <a:off x="3421063" y="2868613"/>
            <a:ext cx="1917700" cy="714375"/>
            <a:chOff x="2083" y="1921"/>
            <a:chExt cx="1208" cy="450"/>
          </a:xfrm>
        </p:grpSpPr>
        <p:sp>
          <p:nvSpPr>
            <p:cNvPr id="7175" name="AutoShape 7"/>
            <p:cNvSpPr>
              <a:spLocks noChangeArrowheads="1"/>
            </p:cNvSpPr>
            <p:nvPr/>
          </p:nvSpPr>
          <p:spPr bwMode="auto">
            <a:xfrm>
              <a:off x="2353" y="1921"/>
              <a:ext cx="938" cy="450"/>
            </a:xfrm>
            <a:prstGeom prst="cube">
              <a:avLst>
                <a:gd name="adj" fmla="val 25000"/>
              </a:avLst>
            </a:prstGeom>
            <a:solidFill>
              <a:srgbClr val="0000FF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76" name="AutoShape 8"/>
            <p:cNvSpPr>
              <a:spLocks noChangeArrowheads="1"/>
            </p:cNvSpPr>
            <p:nvPr/>
          </p:nvSpPr>
          <p:spPr bwMode="auto">
            <a:xfrm>
              <a:off x="2083" y="2060"/>
              <a:ext cx="266" cy="192"/>
            </a:xfrm>
            <a:prstGeom prst="rightArrow">
              <a:avLst>
                <a:gd name="adj1" fmla="val 50000"/>
                <a:gd name="adj2" fmla="val 24745"/>
              </a:avLst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2310" y="2082"/>
              <a:ext cx="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Optical Flow</a:t>
              </a:r>
            </a:p>
          </p:txBody>
        </p:sp>
      </p:grpSp>
      <p:grpSp>
        <p:nvGrpSpPr>
          <p:cNvPr id="7178" name="Group 10"/>
          <p:cNvGrpSpPr>
            <a:grpSpLocks/>
          </p:cNvGrpSpPr>
          <p:nvPr/>
        </p:nvGrpSpPr>
        <p:grpSpPr bwMode="auto">
          <a:xfrm>
            <a:off x="966788" y="2401888"/>
            <a:ext cx="2201862" cy="2120900"/>
            <a:chOff x="537" y="1627"/>
            <a:chExt cx="1387" cy="1336"/>
          </a:xfrm>
        </p:grpSpPr>
        <p:pic>
          <p:nvPicPr>
            <p:cNvPr id="7179" name="Picture 11" descr="SEQ_INITIA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" y="1650"/>
              <a:ext cx="1387" cy="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180" name="Rectangle 12"/>
            <p:cNvSpPr>
              <a:spLocks noChangeArrowheads="1"/>
            </p:cNvSpPr>
            <p:nvPr/>
          </p:nvSpPr>
          <p:spPr bwMode="auto">
            <a:xfrm>
              <a:off x="667" y="2118"/>
              <a:ext cx="86" cy="86"/>
            </a:xfrm>
            <a:prstGeom prst="rect">
              <a:avLst/>
            </a:prstGeom>
            <a:noFill/>
            <a:ln w="12700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81" name="Rectangle 13"/>
            <p:cNvSpPr>
              <a:spLocks noChangeArrowheads="1"/>
            </p:cNvSpPr>
            <p:nvPr/>
          </p:nvSpPr>
          <p:spPr bwMode="auto">
            <a:xfrm>
              <a:off x="881" y="1743"/>
              <a:ext cx="86" cy="8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82" name="Rectangle 14"/>
            <p:cNvSpPr>
              <a:spLocks noChangeArrowheads="1"/>
            </p:cNvSpPr>
            <p:nvPr/>
          </p:nvSpPr>
          <p:spPr bwMode="auto">
            <a:xfrm>
              <a:off x="1824" y="2232"/>
              <a:ext cx="86" cy="86"/>
            </a:xfrm>
            <a:prstGeom prst="rect">
              <a:avLst/>
            </a:prstGeom>
            <a:noFill/>
            <a:ln w="12700">
              <a:solidFill>
                <a:srgbClr val="FF7C8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83" name="Rectangle 15"/>
            <p:cNvSpPr>
              <a:spLocks noChangeArrowheads="1"/>
            </p:cNvSpPr>
            <p:nvPr/>
          </p:nvSpPr>
          <p:spPr bwMode="auto">
            <a:xfrm>
              <a:off x="1707" y="1874"/>
              <a:ext cx="86" cy="86"/>
            </a:xfrm>
            <a:prstGeom prst="rect">
              <a:avLst/>
            </a:prstGeom>
            <a:noFill/>
            <a:ln w="12700">
              <a:solidFill>
                <a:srgbClr val="66FF99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7184" name="Object 16"/>
            <p:cNvGraphicFramePr>
              <a:graphicFrameLocks noChangeAspect="1"/>
            </p:cNvGraphicFramePr>
            <p:nvPr/>
          </p:nvGraphicFramePr>
          <p:xfrm>
            <a:off x="967" y="2734"/>
            <a:ext cx="58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83920" imgH="228600" progId="Equation.3">
                    <p:embed/>
                  </p:oleObj>
                </mc:Choice>
                <mc:Fallback>
                  <p:oleObj name="Equation" r:id="rId5" imgW="583920" imgH="228600" progId="Equation.3">
                    <p:embed/>
                    <p:pic>
                      <p:nvPicPr>
                        <p:cNvPr id="718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7" y="2734"/>
                          <a:ext cx="584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5" name="Object 17"/>
            <p:cNvGraphicFramePr>
              <a:graphicFrameLocks noChangeAspect="1"/>
            </p:cNvGraphicFramePr>
            <p:nvPr/>
          </p:nvGraphicFramePr>
          <p:xfrm>
            <a:off x="579" y="1944"/>
            <a:ext cx="13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7480" imgH="215640" progId="Equation.3">
                    <p:embed/>
                  </p:oleObj>
                </mc:Choice>
                <mc:Fallback>
                  <p:oleObj name="Equation" r:id="rId7" imgW="177480" imgH="215640" progId="Equation.3">
                    <p:embed/>
                    <p:pic>
                      <p:nvPicPr>
                        <p:cNvPr id="718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" y="1944"/>
                          <a:ext cx="13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6" name="Object 18"/>
            <p:cNvGraphicFramePr>
              <a:graphicFrameLocks noChangeAspect="1"/>
            </p:cNvGraphicFramePr>
            <p:nvPr/>
          </p:nvGraphicFramePr>
          <p:xfrm>
            <a:off x="970" y="1627"/>
            <a:ext cx="14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15640" progId="Equation.3">
                    <p:embed/>
                  </p:oleObj>
                </mc:Choice>
                <mc:Fallback>
                  <p:oleObj name="Equation" r:id="rId9" imgW="190440" imgH="215640" progId="Equation.3">
                    <p:embed/>
                    <p:pic>
                      <p:nvPicPr>
                        <p:cNvPr id="718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0" y="1627"/>
                          <a:ext cx="14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7" name="Object 19"/>
            <p:cNvGraphicFramePr>
              <a:graphicFrameLocks noChangeAspect="1"/>
            </p:cNvGraphicFramePr>
            <p:nvPr/>
          </p:nvGraphicFramePr>
          <p:xfrm>
            <a:off x="1779" y="1801"/>
            <a:ext cx="13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7480" imgH="228600" progId="Equation.3">
                    <p:embed/>
                  </p:oleObj>
                </mc:Choice>
                <mc:Fallback>
                  <p:oleObj name="Equation" r:id="rId11" imgW="177480" imgH="228600" progId="Equation.3">
                    <p:embed/>
                    <p:pic>
                      <p:nvPicPr>
                        <p:cNvPr id="718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9" y="1801"/>
                          <a:ext cx="13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8" name="Object 20"/>
            <p:cNvGraphicFramePr>
              <a:graphicFrameLocks noChangeAspect="1"/>
            </p:cNvGraphicFramePr>
            <p:nvPr/>
          </p:nvGraphicFramePr>
          <p:xfrm>
            <a:off x="1732" y="2257"/>
            <a:ext cx="14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90440" imgH="215640" progId="Equation.3">
                    <p:embed/>
                  </p:oleObj>
                </mc:Choice>
                <mc:Fallback>
                  <p:oleObj name="Equation" r:id="rId13" imgW="190440" imgH="215640" progId="Equation.3">
                    <p:embed/>
                    <p:pic>
                      <p:nvPicPr>
                        <p:cNvPr id="718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2" y="2257"/>
                          <a:ext cx="14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89" name="Group 21"/>
          <p:cNvGrpSpPr>
            <a:grpSpLocks/>
          </p:cNvGrpSpPr>
          <p:nvPr/>
        </p:nvGrpSpPr>
        <p:grpSpPr bwMode="auto">
          <a:xfrm>
            <a:off x="5365750" y="2438400"/>
            <a:ext cx="2962275" cy="2130425"/>
            <a:chOff x="3308" y="1650"/>
            <a:chExt cx="1866" cy="1342"/>
          </a:xfrm>
        </p:grpSpPr>
        <p:sp>
          <p:nvSpPr>
            <p:cNvPr id="7190" name="AutoShape 22"/>
            <p:cNvSpPr>
              <a:spLocks noChangeArrowheads="1"/>
            </p:cNvSpPr>
            <p:nvPr/>
          </p:nvSpPr>
          <p:spPr bwMode="auto">
            <a:xfrm>
              <a:off x="3308" y="2057"/>
              <a:ext cx="274" cy="192"/>
            </a:xfrm>
            <a:prstGeom prst="rightArrow">
              <a:avLst>
                <a:gd name="adj1" fmla="val 50000"/>
                <a:gd name="adj2" fmla="val 25489"/>
              </a:avLst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pic>
          <p:nvPicPr>
            <p:cNvPr id="7191" name="Picture 23" descr="SEQ_INITIA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8" y="1650"/>
              <a:ext cx="1387" cy="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192" name="Rectangle 24"/>
            <p:cNvSpPr>
              <a:spLocks noChangeArrowheads="1"/>
            </p:cNvSpPr>
            <p:nvPr/>
          </p:nvSpPr>
          <p:spPr bwMode="auto">
            <a:xfrm>
              <a:off x="3788" y="2118"/>
              <a:ext cx="86" cy="86"/>
            </a:xfrm>
            <a:prstGeom prst="rect">
              <a:avLst/>
            </a:prstGeom>
            <a:noFill/>
            <a:ln w="12700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93" name="Rectangle 25"/>
            <p:cNvSpPr>
              <a:spLocks noChangeArrowheads="1"/>
            </p:cNvSpPr>
            <p:nvPr/>
          </p:nvSpPr>
          <p:spPr bwMode="auto">
            <a:xfrm>
              <a:off x="4002" y="1743"/>
              <a:ext cx="86" cy="8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94" name="Rectangle 26"/>
            <p:cNvSpPr>
              <a:spLocks noChangeArrowheads="1"/>
            </p:cNvSpPr>
            <p:nvPr/>
          </p:nvSpPr>
          <p:spPr bwMode="auto">
            <a:xfrm>
              <a:off x="4945" y="2232"/>
              <a:ext cx="86" cy="86"/>
            </a:xfrm>
            <a:prstGeom prst="rect">
              <a:avLst/>
            </a:prstGeom>
            <a:noFill/>
            <a:ln w="12700">
              <a:solidFill>
                <a:srgbClr val="FF7C8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95" name="Rectangle 27"/>
            <p:cNvSpPr>
              <a:spLocks noChangeArrowheads="1"/>
            </p:cNvSpPr>
            <p:nvPr/>
          </p:nvSpPr>
          <p:spPr bwMode="auto">
            <a:xfrm>
              <a:off x="4828" y="1874"/>
              <a:ext cx="86" cy="86"/>
            </a:xfrm>
            <a:prstGeom prst="rect">
              <a:avLst/>
            </a:prstGeom>
            <a:noFill/>
            <a:ln w="12700">
              <a:solidFill>
                <a:srgbClr val="66FF99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 flipH="1" flipV="1">
              <a:off x="3683" y="2141"/>
              <a:ext cx="145" cy="22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197" name="Line 29"/>
            <p:cNvSpPr>
              <a:spLocks noChangeShapeType="1"/>
            </p:cNvSpPr>
            <p:nvPr/>
          </p:nvSpPr>
          <p:spPr bwMode="auto">
            <a:xfrm flipH="1" flipV="1">
              <a:off x="3914" y="1674"/>
              <a:ext cx="113" cy="9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7198" name="Object 30"/>
            <p:cNvGraphicFramePr>
              <a:graphicFrameLocks noChangeAspect="1"/>
            </p:cNvGraphicFramePr>
            <p:nvPr/>
          </p:nvGraphicFramePr>
          <p:xfrm>
            <a:off x="3683" y="1968"/>
            <a:ext cx="11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215640" progId="Equation.3">
                    <p:embed/>
                  </p:oleObj>
                </mc:Choice>
                <mc:Fallback>
                  <p:oleObj name="Equation" r:id="rId15" imgW="152280" imgH="215640" progId="Equation.3">
                    <p:embed/>
                    <p:pic>
                      <p:nvPicPr>
                        <p:cNvPr id="7198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" y="1968"/>
                          <a:ext cx="11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9" name="Object 31"/>
            <p:cNvGraphicFramePr>
              <a:graphicFrameLocks noChangeAspect="1"/>
            </p:cNvGraphicFramePr>
            <p:nvPr/>
          </p:nvGraphicFramePr>
          <p:xfrm>
            <a:off x="3846" y="1683"/>
            <a:ext cx="12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4880" imgH="215640" progId="Equation.3">
                    <p:embed/>
                  </p:oleObj>
                </mc:Choice>
                <mc:Fallback>
                  <p:oleObj name="Equation" r:id="rId17" imgW="164880" imgH="215640" progId="Equation.3">
                    <p:embed/>
                    <p:pic>
                      <p:nvPicPr>
                        <p:cNvPr id="7199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6" y="1683"/>
                          <a:ext cx="12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0" name="Object 32"/>
            <p:cNvGraphicFramePr>
              <a:graphicFrameLocks noChangeAspect="1"/>
            </p:cNvGraphicFramePr>
            <p:nvPr/>
          </p:nvGraphicFramePr>
          <p:xfrm>
            <a:off x="4914" y="1848"/>
            <a:ext cx="11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52280" imgH="228600" progId="Equation.3">
                    <p:embed/>
                  </p:oleObj>
                </mc:Choice>
                <mc:Fallback>
                  <p:oleObj name="Equation" r:id="rId19" imgW="152280" imgH="228600" progId="Equation.3">
                    <p:embed/>
                    <p:pic>
                      <p:nvPicPr>
                        <p:cNvPr id="720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4" y="1848"/>
                          <a:ext cx="11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1" name="Object 33"/>
            <p:cNvGraphicFramePr>
              <a:graphicFrameLocks noChangeAspect="1"/>
            </p:cNvGraphicFramePr>
            <p:nvPr/>
          </p:nvGraphicFramePr>
          <p:xfrm>
            <a:off x="5045" y="2291"/>
            <a:ext cx="12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215640" progId="Equation.3">
                    <p:embed/>
                  </p:oleObj>
                </mc:Choice>
                <mc:Fallback>
                  <p:oleObj name="Equation" r:id="rId21" imgW="164880" imgH="215640" progId="Equation.3">
                    <p:embed/>
                    <p:pic>
                      <p:nvPicPr>
                        <p:cNvPr id="7201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2291"/>
                          <a:ext cx="12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2" name="Line 34"/>
            <p:cNvSpPr>
              <a:spLocks noChangeShapeType="1"/>
            </p:cNvSpPr>
            <p:nvPr/>
          </p:nvSpPr>
          <p:spPr bwMode="auto">
            <a:xfrm flipV="1">
              <a:off x="4867" y="1810"/>
              <a:ext cx="140" cy="95"/>
            </a:xfrm>
            <a:prstGeom prst="line">
              <a:avLst/>
            </a:prstGeom>
            <a:noFill/>
            <a:ln w="12700">
              <a:solidFill>
                <a:srgbClr val="66FF99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203" name="Line 35"/>
            <p:cNvSpPr>
              <a:spLocks noChangeShapeType="1"/>
            </p:cNvSpPr>
            <p:nvPr/>
          </p:nvSpPr>
          <p:spPr bwMode="auto">
            <a:xfrm>
              <a:off x="4984" y="2268"/>
              <a:ext cx="127" cy="27"/>
            </a:xfrm>
            <a:prstGeom prst="line">
              <a:avLst/>
            </a:prstGeom>
            <a:noFill/>
            <a:ln w="12700">
              <a:solidFill>
                <a:srgbClr val="FF7C8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7204" name="Object 36"/>
            <p:cNvGraphicFramePr>
              <a:graphicFrameLocks noChangeAspect="1"/>
            </p:cNvGraphicFramePr>
            <p:nvPr/>
          </p:nvGraphicFramePr>
          <p:xfrm>
            <a:off x="4745" y="2763"/>
            <a:ext cx="26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66400" imgH="228600" progId="Equation.3">
                    <p:embed/>
                  </p:oleObj>
                </mc:Choice>
                <mc:Fallback>
                  <p:oleObj name="Equation" r:id="rId23" imgW="266400" imgH="228600" progId="Equation.3">
                    <p:embed/>
                    <p:pic>
                      <p:nvPicPr>
                        <p:cNvPr id="720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5" y="2763"/>
                          <a:ext cx="26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5" name="Text Box 37"/>
            <p:cNvSpPr txBox="1">
              <a:spLocks noChangeArrowheads="1"/>
            </p:cNvSpPr>
            <p:nvPr/>
          </p:nvSpPr>
          <p:spPr bwMode="auto">
            <a:xfrm>
              <a:off x="3670" y="2776"/>
              <a:ext cx="109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Velocity vectors</a:t>
              </a:r>
            </a:p>
          </p:txBody>
        </p:sp>
      </p:grpSp>
      <p:sp>
        <p:nvSpPr>
          <p:cNvPr id="7211" name="Text Box 43"/>
          <p:cNvSpPr txBox="1">
            <a:spLocks noChangeArrowheads="1"/>
          </p:cNvSpPr>
          <p:nvPr/>
        </p:nvSpPr>
        <p:spPr bwMode="auto">
          <a:xfrm>
            <a:off x="524139" y="5007571"/>
            <a:ext cx="8507457" cy="92333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b="1" dirty="0">
                <a:solidFill>
                  <a:srgbClr val="0000FF"/>
                </a:solidFill>
              </a:rPr>
              <a:t>Optical flow</a:t>
            </a:r>
            <a:r>
              <a:rPr lang="en-US" dirty="0"/>
              <a:t> is the pattern of apparent motion of objects, surfaces, and edges in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 visual scene caused by the relative motion between an observer and a scene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dirty="0">
                <a:solidFill>
                  <a:srgbClr val="0000FF"/>
                </a:solidFill>
              </a:rPr>
              <a:t>-Wiki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A27B6-E136-9477-5B19-B583AF67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D1DEE-20F5-A542-9BD3-D98D635CDAE6}" type="slidenum">
              <a:rPr lang="en-US" altLang="x-none" smtClean="0">
                <a:solidFill>
                  <a:srgbClr val="000000"/>
                </a:solidFill>
              </a:rPr>
              <a:pPr/>
              <a:t>12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0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88" name="AutoShape 32"/>
          <p:cNvSpPr>
            <a:spLocks noChangeArrowheads="1"/>
          </p:cNvSpPr>
          <p:nvPr/>
        </p:nvSpPr>
        <p:spPr bwMode="auto">
          <a:xfrm>
            <a:off x="1295400" y="2044700"/>
            <a:ext cx="1676400" cy="609600"/>
          </a:xfrm>
          <a:prstGeom prst="flowChartDocument">
            <a:avLst/>
          </a:prstGeom>
          <a:solidFill>
            <a:srgbClr val="A9CD6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265" name="Text Box 9"/>
          <p:cNvSpPr txBox="1">
            <a:spLocks noChangeArrowheads="1"/>
          </p:cNvSpPr>
          <p:nvPr/>
        </p:nvSpPr>
        <p:spPr bwMode="auto">
          <a:xfrm>
            <a:off x="1317625" y="2078038"/>
            <a:ext cx="15367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1600">
                <a:solidFill>
                  <a:srgbClr val="000000"/>
                </a:solidFill>
              </a:rPr>
              <a:t>Horn&amp;Schunck</a:t>
            </a:r>
          </a:p>
        </p:txBody>
      </p:sp>
      <p:sp>
        <p:nvSpPr>
          <p:cNvPr id="224287" name="AutoShape 31"/>
          <p:cNvSpPr>
            <a:spLocks noChangeArrowheads="1"/>
          </p:cNvSpPr>
          <p:nvPr/>
        </p:nvSpPr>
        <p:spPr bwMode="auto">
          <a:xfrm>
            <a:off x="609600" y="2501900"/>
            <a:ext cx="1676400" cy="609600"/>
          </a:xfrm>
          <a:prstGeom prst="flowChartDocument">
            <a:avLst/>
          </a:prstGeom>
          <a:solidFill>
            <a:srgbClr val="A9CD6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20700"/>
            <a:ext cx="8229600" cy="6397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x-none" sz="36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Optical Flow Research: Timeline</a:t>
            </a:r>
          </a:p>
        </p:txBody>
      </p:sp>
      <p:sp>
        <p:nvSpPr>
          <p:cNvPr id="224263" name="Line 7"/>
          <p:cNvSpPr>
            <a:spLocks noChangeShapeType="1"/>
          </p:cNvSpPr>
          <p:nvPr/>
        </p:nvSpPr>
        <p:spPr bwMode="auto">
          <a:xfrm>
            <a:off x="457200" y="3416300"/>
            <a:ext cx="8077200" cy="0"/>
          </a:xfrm>
          <a:prstGeom prst="line">
            <a:avLst/>
          </a:prstGeom>
          <a:noFill/>
          <a:ln w="19050">
            <a:solidFill>
              <a:srgbClr val="A33D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24264" name="Text Box 8"/>
          <p:cNvSpPr txBox="1">
            <a:spLocks noChangeArrowheads="1"/>
          </p:cNvSpPr>
          <p:nvPr/>
        </p:nvSpPr>
        <p:spPr bwMode="auto">
          <a:xfrm>
            <a:off x="609600" y="2587625"/>
            <a:ext cx="1558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1600">
                <a:solidFill>
                  <a:srgbClr val="000000"/>
                </a:solidFill>
              </a:rPr>
              <a:t>Lucas&amp;Kanade</a:t>
            </a:r>
          </a:p>
        </p:txBody>
      </p:sp>
      <p:sp>
        <p:nvSpPr>
          <p:cNvPr id="224267" name="Oval 11"/>
          <p:cNvSpPr>
            <a:spLocks noChangeArrowheads="1"/>
          </p:cNvSpPr>
          <p:nvPr/>
        </p:nvSpPr>
        <p:spPr bwMode="auto">
          <a:xfrm>
            <a:off x="1600200" y="33401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268" name="Oval 12"/>
          <p:cNvSpPr>
            <a:spLocks noChangeArrowheads="1"/>
          </p:cNvSpPr>
          <p:nvPr/>
        </p:nvSpPr>
        <p:spPr bwMode="auto">
          <a:xfrm>
            <a:off x="4876800" y="3340100"/>
            <a:ext cx="152400" cy="152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269" name="Oval 13"/>
          <p:cNvSpPr>
            <a:spLocks noChangeArrowheads="1"/>
          </p:cNvSpPr>
          <p:nvPr/>
        </p:nvSpPr>
        <p:spPr bwMode="auto">
          <a:xfrm>
            <a:off x="6850063" y="3340100"/>
            <a:ext cx="152400" cy="152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270" name="Oval 14"/>
          <p:cNvSpPr>
            <a:spLocks noChangeArrowheads="1"/>
          </p:cNvSpPr>
          <p:nvPr/>
        </p:nvSpPr>
        <p:spPr bwMode="auto">
          <a:xfrm>
            <a:off x="8077200" y="33401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271" name="Text Box 15"/>
          <p:cNvSpPr txBox="1">
            <a:spLocks noChangeArrowheads="1"/>
          </p:cNvSpPr>
          <p:nvPr/>
        </p:nvSpPr>
        <p:spPr bwMode="auto">
          <a:xfrm>
            <a:off x="1306513" y="3459163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000">
                <a:solidFill>
                  <a:srgbClr val="000000"/>
                </a:solidFill>
              </a:rPr>
              <a:t>1981</a:t>
            </a:r>
          </a:p>
        </p:txBody>
      </p:sp>
      <p:sp>
        <p:nvSpPr>
          <p:cNvPr id="224272" name="Text Box 16"/>
          <p:cNvSpPr txBox="1">
            <a:spLocks noChangeArrowheads="1"/>
          </p:cNvSpPr>
          <p:nvPr/>
        </p:nvSpPr>
        <p:spPr bwMode="auto">
          <a:xfrm>
            <a:off x="4572000" y="3476625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000">
                <a:solidFill>
                  <a:srgbClr val="000000"/>
                </a:solidFill>
              </a:rPr>
              <a:t>1992</a:t>
            </a:r>
          </a:p>
        </p:txBody>
      </p:sp>
      <p:sp>
        <p:nvSpPr>
          <p:cNvPr id="224273" name="Text Box 17"/>
          <p:cNvSpPr txBox="1">
            <a:spLocks noChangeArrowheads="1"/>
          </p:cNvSpPr>
          <p:nvPr/>
        </p:nvSpPr>
        <p:spPr bwMode="auto">
          <a:xfrm>
            <a:off x="6545263" y="34925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000">
                <a:solidFill>
                  <a:srgbClr val="000000"/>
                </a:solidFill>
              </a:rPr>
              <a:t>1998</a:t>
            </a:r>
          </a:p>
        </p:txBody>
      </p:sp>
      <p:sp>
        <p:nvSpPr>
          <p:cNvPr id="224275" name="Text Box 19"/>
          <p:cNvSpPr txBox="1">
            <a:spLocks noChangeArrowheads="1"/>
          </p:cNvSpPr>
          <p:nvPr/>
        </p:nvSpPr>
        <p:spPr bwMode="auto">
          <a:xfrm>
            <a:off x="7837488" y="3492500"/>
            <a:ext cx="650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2000">
                <a:solidFill>
                  <a:srgbClr val="000000"/>
                </a:solidFill>
              </a:rPr>
              <a:t>now</a:t>
            </a:r>
          </a:p>
        </p:txBody>
      </p:sp>
      <p:sp>
        <p:nvSpPr>
          <p:cNvPr id="224277" name="Text Box 21"/>
          <p:cNvSpPr txBox="1">
            <a:spLocks noChangeArrowheads="1"/>
          </p:cNvSpPr>
          <p:nvPr/>
        </p:nvSpPr>
        <p:spPr bwMode="auto">
          <a:xfrm>
            <a:off x="4275138" y="4287838"/>
            <a:ext cx="1428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>
                <a:solidFill>
                  <a:srgbClr val="A33D50"/>
                </a:solidFill>
                <a:latin typeface="Comic Sans MS" charset="0"/>
              </a:rPr>
              <a:t>Benchmark:</a:t>
            </a:r>
            <a:br>
              <a:rPr lang="en-US" altLang="x-none">
                <a:solidFill>
                  <a:srgbClr val="A33D50"/>
                </a:solidFill>
                <a:latin typeface="Comic Sans MS" charset="0"/>
              </a:rPr>
            </a:br>
            <a:r>
              <a:rPr lang="en-US" altLang="x-none">
                <a:solidFill>
                  <a:srgbClr val="000000"/>
                </a:solidFill>
              </a:rPr>
              <a:t>Barron et.al.</a:t>
            </a:r>
          </a:p>
        </p:txBody>
      </p:sp>
      <p:sp>
        <p:nvSpPr>
          <p:cNvPr id="224278" name="Text Box 22"/>
          <p:cNvSpPr txBox="1">
            <a:spLocks noChangeArrowheads="1"/>
          </p:cNvSpPr>
          <p:nvPr/>
        </p:nvSpPr>
        <p:spPr bwMode="auto">
          <a:xfrm>
            <a:off x="6249988" y="4267200"/>
            <a:ext cx="1419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sz="1800">
                <a:solidFill>
                  <a:srgbClr val="A33D50"/>
                </a:solidFill>
                <a:latin typeface="Comic Sans MS" charset="0"/>
              </a:rPr>
              <a:t>Benchmark:</a:t>
            </a:r>
            <a:br>
              <a:rPr lang="en-US" altLang="x-none" sz="1800">
                <a:solidFill>
                  <a:srgbClr val="000000"/>
                </a:solidFill>
              </a:rPr>
            </a:br>
            <a:r>
              <a:rPr lang="en-US" altLang="x-none" sz="1800">
                <a:solidFill>
                  <a:srgbClr val="000000"/>
                </a:solidFill>
              </a:rPr>
              <a:t>Galvin et.al.</a:t>
            </a:r>
          </a:p>
        </p:txBody>
      </p:sp>
      <p:grpSp>
        <p:nvGrpSpPr>
          <p:cNvPr id="224311" name="Group 55"/>
          <p:cNvGrpSpPr>
            <a:grpSpLocks/>
          </p:cNvGrpSpPr>
          <p:nvPr/>
        </p:nvGrpSpPr>
        <p:grpSpPr bwMode="auto">
          <a:xfrm>
            <a:off x="3189288" y="2044700"/>
            <a:ext cx="1535112" cy="1282700"/>
            <a:chOff x="2009" y="1152"/>
            <a:chExt cx="967" cy="808"/>
          </a:xfrm>
        </p:grpSpPr>
        <p:sp>
          <p:nvSpPr>
            <p:cNvPr id="224281" name="AutoShape 25"/>
            <p:cNvSpPr>
              <a:spLocks noChangeArrowheads="1"/>
            </p:cNvSpPr>
            <p:nvPr/>
          </p:nvSpPr>
          <p:spPr bwMode="auto">
            <a:xfrm>
              <a:off x="2227" y="1152"/>
              <a:ext cx="749" cy="624"/>
            </a:xfrm>
            <a:prstGeom prst="flowChartMultidocumen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x-none" altLang="x-none">
                <a:solidFill>
                  <a:srgbClr val="000000"/>
                </a:solidFill>
              </a:endParaRPr>
            </a:p>
          </p:txBody>
        </p:sp>
        <p:sp>
          <p:nvSpPr>
            <p:cNvPr id="224282" name="AutoShape 26"/>
            <p:cNvSpPr>
              <a:spLocks noChangeArrowheads="1"/>
            </p:cNvSpPr>
            <p:nvPr/>
          </p:nvSpPr>
          <p:spPr bwMode="auto">
            <a:xfrm>
              <a:off x="2037" y="1323"/>
              <a:ext cx="768" cy="637"/>
            </a:xfrm>
            <a:prstGeom prst="flowChartMultidocumen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x-none" altLang="x-none">
                <a:solidFill>
                  <a:srgbClr val="000000"/>
                </a:solidFill>
              </a:endParaRPr>
            </a:p>
          </p:txBody>
        </p:sp>
        <p:sp>
          <p:nvSpPr>
            <p:cNvPr id="224285" name="Text Box 29"/>
            <p:cNvSpPr txBox="1">
              <a:spLocks noChangeArrowheads="1"/>
            </p:cNvSpPr>
            <p:nvPr/>
          </p:nvSpPr>
          <p:spPr bwMode="auto">
            <a:xfrm>
              <a:off x="2009" y="1494"/>
              <a:ext cx="70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x-none" sz="1600">
                  <a:solidFill>
                    <a:srgbClr val="000000"/>
                  </a:solidFill>
                </a:rPr>
                <a:t>many methods</a:t>
              </a:r>
            </a:p>
          </p:txBody>
        </p:sp>
      </p:grpSp>
      <p:grpSp>
        <p:nvGrpSpPr>
          <p:cNvPr id="224312" name="Group 56"/>
          <p:cNvGrpSpPr>
            <a:grpSpLocks/>
          </p:cNvGrpSpPr>
          <p:nvPr/>
        </p:nvGrpSpPr>
        <p:grpSpPr bwMode="auto">
          <a:xfrm>
            <a:off x="5410200" y="2197100"/>
            <a:ext cx="1295400" cy="1011238"/>
            <a:chOff x="3408" y="1248"/>
            <a:chExt cx="816" cy="637"/>
          </a:xfrm>
        </p:grpSpPr>
        <p:sp>
          <p:nvSpPr>
            <p:cNvPr id="224289" name="AutoShape 33"/>
            <p:cNvSpPr>
              <a:spLocks noChangeArrowheads="1"/>
            </p:cNvSpPr>
            <p:nvPr/>
          </p:nvSpPr>
          <p:spPr bwMode="auto">
            <a:xfrm>
              <a:off x="3456" y="1248"/>
              <a:ext cx="768" cy="637"/>
            </a:xfrm>
            <a:prstGeom prst="flowChartMultidocumen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x-none" altLang="x-none">
                <a:solidFill>
                  <a:srgbClr val="000000"/>
                </a:solidFill>
              </a:endParaRPr>
            </a:p>
          </p:txBody>
        </p:sp>
        <p:sp>
          <p:nvSpPr>
            <p:cNvPr id="224290" name="Text Box 34"/>
            <p:cNvSpPr txBox="1">
              <a:spLocks noChangeArrowheads="1"/>
            </p:cNvSpPr>
            <p:nvPr/>
          </p:nvSpPr>
          <p:spPr bwMode="auto">
            <a:xfrm>
              <a:off x="3408" y="1413"/>
              <a:ext cx="70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x-none" sz="1600">
                  <a:solidFill>
                    <a:srgbClr val="000000"/>
                  </a:solidFill>
                </a:rPr>
                <a:t>more methods</a:t>
              </a:r>
            </a:p>
          </p:txBody>
        </p:sp>
      </p:grpSp>
      <p:sp>
        <p:nvSpPr>
          <p:cNvPr id="224299" name="AutoShape 43"/>
          <p:cNvSpPr>
            <a:spLocks noChangeArrowheads="1"/>
          </p:cNvSpPr>
          <p:nvPr/>
        </p:nvSpPr>
        <p:spPr bwMode="auto">
          <a:xfrm>
            <a:off x="4038600" y="3873500"/>
            <a:ext cx="1828800" cy="1143000"/>
          </a:xfrm>
          <a:prstGeom prst="upArrowCallout">
            <a:avLst>
              <a:gd name="adj1" fmla="val 28607"/>
              <a:gd name="adj2" fmla="val 25000"/>
              <a:gd name="adj3" fmla="val 20417"/>
              <a:gd name="adj4" fmla="val 66667"/>
            </a:avLst>
          </a:prstGeom>
          <a:noFill/>
          <a:ln w="9525">
            <a:solidFill>
              <a:srgbClr val="A33D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0" name="AutoShape 44"/>
          <p:cNvSpPr>
            <a:spLocks noChangeArrowheads="1"/>
          </p:cNvSpPr>
          <p:nvPr/>
        </p:nvSpPr>
        <p:spPr bwMode="auto">
          <a:xfrm>
            <a:off x="6019800" y="3873500"/>
            <a:ext cx="1828800" cy="1143000"/>
          </a:xfrm>
          <a:prstGeom prst="upArrowCallout">
            <a:avLst>
              <a:gd name="adj1" fmla="val 28607"/>
              <a:gd name="adj2" fmla="val 25000"/>
              <a:gd name="adj3" fmla="val 20417"/>
              <a:gd name="adj4" fmla="val 66667"/>
            </a:avLst>
          </a:prstGeom>
          <a:noFill/>
          <a:ln w="9525">
            <a:solidFill>
              <a:srgbClr val="A33D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1" name="Oval 45"/>
          <p:cNvSpPr>
            <a:spLocks noChangeArrowheads="1"/>
          </p:cNvSpPr>
          <p:nvPr/>
        </p:nvSpPr>
        <p:spPr bwMode="auto">
          <a:xfrm>
            <a:off x="4876800" y="3340100"/>
            <a:ext cx="152400" cy="152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5" name="Oval 49"/>
          <p:cNvSpPr>
            <a:spLocks noChangeArrowheads="1"/>
          </p:cNvSpPr>
          <p:nvPr/>
        </p:nvSpPr>
        <p:spPr bwMode="auto">
          <a:xfrm>
            <a:off x="1600200" y="3340100"/>
            <a:ext cx="152400" cy="152400"/>
          </a:xfrm>
          <a:prstGeom prst="ellipse">
            <a:avLst/>
          </a:prstGeom>
          <a:solidFill>
            <a:srgbClr val="A33D50"/>
          </a:solidFill>
          <a:ln w="9525">
            <a:solidFill>
              <a:srgbClr val="A33D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6" name="Oval 50"/>
          <p:cNvSpPr>
            <a:spLocks noChangeArrowheads="1"/>
          </p:cNvSpPr>
          <p:nvPr/>
        </p:nvSpPr>
        <p:spPr bwMode="auto">
          <a:xfrm>
            <a:off x="6850063" y="3340100"/>
            <a:ext cx="152400" cy="152400"/>
          </a:xfrm>
          <a:prstGeom prst="ellipse">
            <a:avLst/>
          </a:prstGeom>
          <a:solidFill>
            <a:srgbClr val="A33D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A33D5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7" name="Oval 51"/>
          <p:cNvSpPr>
            <a:spLocks noChangeArrowheads="1"/>
          </p:cNvSpPr>
          <p:nvPr/>
        </p:nvSpPr>
        <p:spPr bwMode="auto">
          <a:xfrm>
            <a:off x="8077200" y="3340100"/>
            <a:ext cx="152400" cy="152400"/>
          </a:xfrm>
          <a:prstGeom prst="ellipse">
            <a:avLst/>
          </a:prstGeom>
          <a:solidFill>
            <a:srgbClr val="A33D50"/>
          </a:solidFill>
          <a:ln w="9525">
            <a:solidFill>
              <a:srgbClr val="A33D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8" name="Oval 52"/>
          <p:cNvSpPr>
            <a:spLocks noChangeArrowheads="1"/>
          </p:cNvSpPr>
          <p:nvPr/>
        </p:nvSpPr>
        <p:spPr bwMode="auto">
          <a:xfrm>
            <a:off x="4876800" y="3340100"/>
            <a:ext cx="152400" cy="152400"/>
          </a:xfrm>
          <a:prstGeom prst="ellipse">
            <a:avLst/>
          </a:prstGeom>
          <a:solidFill>
            <a:srgbClr val="A33D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A33D5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09" name="AutoShape 53"/>
          <p:cNvSpPr>
            <a:spLocks noChangeArrowheads="1"/>
          </p:cNvSpPr>
          <p:nvPr/>
        </p:nvSpPr>
        <p:spPr bwMode="auto">
          <a:xfrm>
            <a:off x="795338" y="3863975"/>
            <a:ext cx="1828800" cy="1143000"/>
          </a:xfrm>
          <a:prstGeom prst="upArrowCallout">
            <a:avLst>
              <a:gd name="adj1" fmla="val 28607"/>
              <a:gd name="adj2" fmla="val 25000"/>
              <a:gd name="adj3" fmla="val 20417"/>
              <a:gd name="adj4" fmla="val 66667"/>
            </a:avLst>
          </a:prstGeom>
          <a:noFill/>
          <a:ln w="9525">
            <a:solidFill>
              <a:srgbClr val="A33D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x-none" altLang="x-none">
              <a:solidFill>
                <a:srgbClr val="000000"/>
              </a:solidFill>
            </a:endParaRPr>
          </a:p>
        </p:txBody>
      </p:sp>
      <p:sp>
        <p:nvSpPr>
          <p:cNvPr id="224310" name="Text Box 54"/>
          <p:cNvSpPr txBox="1">
            <a:spLocks noChangeArrowheads="1"/>
          </p:cNvSpPr>
          <p:nvPr/>
        </p:nvSpPr>
        <p:spPr bwMode="auto">
          <a:xfrm>
            <a:off x="815975" y="4400550"/>
            <a:ext cx="177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>
                <a:solidFill>
                  <a:srgbClr val="A33D50"/>
                </a:solidFill>
              </a:rPr>
              <a:t>Seminal papers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C8498-62F8-34E4-5D59-9FAD0C4F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1A61-0E3F-004E-BDAC-1AEB7CA45490}" type="slidenum">
              <a:rPr lang="en-US" altLang="x-none" smtClean="0">
                <a:solidFill>
                  <a:srgbClr val="000000"/>
                </a:solidFill>
              </a:rPr>
              <a:pPr/>
              <a:t>13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72" grpId="0"/>
      <p:bldP spid="224273" grpId="0"/>
      <p:bldP spid="224277" grpId="0"/>
      <p:bldP spid="224278" grpId="0"/>
      <p:bldP spid="224299" grpId="0" animBg="1"/>
      <p:bldP spid="224300" grpId="0" animBg="1"/>
      <p:bldP spid="224306" grpId="0" animBg="1"/>
      <p:bldP spid="22430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/>
              <a:t>Optical Flow</a:t>
            </a:r>
            <a:endParaRPr lang="en-US" sz="420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3581400"/>
            <a:ext cx="8915400" cy="990600"/>
          </a:xfrm>
        </p:spPr>
        <p:txBody>
          <a:bodyPr/>
          <a:lstStyle/>
          <a:p>
            <a:pPr eaLnBrk="1" hangingPunct="1"/>
            <a:r>
              <a:rPr lang="en-US" sz="2800"/>
              <a:t>Given two subsequent frames, estimate the point translation</a:t>
            </a: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1752600" y="1219200"/>
            <a:ext cx="2209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Oval 5"/>
          <p:cNvSpPr>
            <a:spLocks noChangeArrowheads="1"/>
          </p:cNvSpPr>
          <p:nvPr/>
        </p:nvSpPr>
        <p:spPr bwMode="auto">
          <a:xfrm>
            <a:off x="2286000" y="1752600"/>
            <a:ext cx="76200" cy="76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Oval 6"/>
          <p:cNvSpPr>
            <a:spLocks noChangeArrowheads="1"/>
          </p:cNvSpPr>
          <p:nvPr/>
        </p:nvSpPr>
        <p:spPr bwMode="auto">
          <a:xfrm>
            <a:off x="3200400" y="1752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Oval 7"/>
          <p:cNvSpPr>
            <a:spLocks noChangeArrowheads="1"/>
          </p:cNvSpPr>
          <p:nvPr/>
        </p:nvSpPr>
        <p:spPr bwMode="auto">
          <a:xfrm>
            <a:off x="2286000" y="2286000"/>
            <a:ext cx="76200" cy="762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Oval 8"/>
          <p:cNvSpPr>
            <a:spLocks noChangeArrowheads="1"/>
          </p:cNvSpPr>
          <p:nvPr/>
        </p:nvSpPr>
        <p:spPr bwMode="auto">
          <a:xfrm>
            <a:off x="3200400" y="2286000"/>
            <a:ext cx="76200" cy="76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362200" y="1600200"/>
            <a:ext cx="1066800" cy="968375"/>
            <a:chOff x="1488" y="1008"/>
            <a:chExt cx="672" cy="610"/>
          </a:xfrm>
        </p:grpSpPr>
        <p:sp>
          <p:nvSpPr>
            <p:cNvPr id="9235" name="Line 10"/>
            <p:cNvSpPr>
              <a:spLocks noChangeShapeType="1"/>
            </p:cNvSpPr>
            <p:nvPr/>
          </p:nvSpPr>
          <p:spPr bwMode="auto">
            <a:xfrm flipV="1">
              <a:off x="1488" y="100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Line 11"/>
            <p:cNvSpPr>
              <a:spLocks noChangeShapeType="1"/>
            </p:cNvSpPr>
            <p:nvPr/>
          </p:nvSpPr>
          <p:spPr bwMode="auto">
            <a:xfrm>
              <a:off x="1488" y="146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7" name="Line 12"/>
            <p:cNvSpPr>
              <a:spLocks noChangeShapeType="1"/>
            </p:cNvSpPr>
            <p:nvPr/>
          </p:nvSpPr>
          <p:spPr bwMode="auto">
            <a:xfrm>
              <a:off x="2063" y="1152"/>
              <a:ext cx="97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8" name="Line 13"/>
            <p:cNvSpPr>
              <a:spLocks noChangeShapeType="1"/>
            </p:cNvSpPr>
            <p:nvPr/>
          </p:nvSpPr>
          <p:spPr bwMode="auto">
            <a:xfrm flipH="1">
              <a:off x="2043" y="1495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6" name="Rectangle 14"/>
          <p:cNvSpPr>
            <a:spLocks noChangeArrowheads="1"/>
          </p:cNvSpPr>
          <p:nvPr/>
        </p:nvSpPr>
        <p:spPr bwMode="auto">
          <a:xfrm>
            <a:off x="5105400" y="1219200"/>
            <a:ext cx="2209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Oval 15"/>
          <p:cNvSpPr>
            <a:spLocks noChangeArrowheads="1"/>
          </p:cNvSpPr>
          <p:nvPr/>
        </p:nvSpPr>
        <p:spPr bwMode="auto">
          <a:xfrm>
            <a:off x="5867400" y="1562100"/>
            <a:ext cx="76200" cy="76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Oval 16"/>
          <p:cNvSpPr>
            <a:spLocks noChangeArrowheads="1"/>
          </p:cNvSpPr>
          <p:nvPr/>
        </p:nvSpPr>
        <p:spPr bwMode="auto">
          <a:xfrm>
            <a:off x="6781800" y="19431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Oval 17"/>
          <p:cNvSpPr>
            <a:spLocks noChangeArrowheads="1"/>
          </p:cNvSpPr>
          <p:nvPr/>
        </p:nvSpPr>
        <p:spPr bwMode="auto">
          <a:xfrm>
            <a:off x="5943600" y="2281238"/>
            <a:ext cx="76200" cy="762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Oval 18"/>
          <p:cNvSpPr>
            <a:spLocks noChangeArrowheads="1"/>
          </p:cNvSpPr>
          <p:nvPr/>
        </p:nvSpPr>
        <p:spPr bwMode="auto">
          <a:xfrm>
            <a:off x="6629400" y="2481263"/>
            <a:ext cx="76200" cy="76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7571" name="Rectangle 19"/>
          <p:cNvSpPr>
            <a:spLocks noChangeArrowheads="1"/>
          </p:cNvSpPr>
          <p:nvPr/>
        </p:nvSpPr>
        <p:spPr bwMode="auto">
          <a:xfrm>
            <a:off x="76200" y="4495800"/>
            <a:ext cx="82296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Key assumptions of Lucas-</a:t>
            </a:r>
            <a:r>
              <a:rPr lang="en-US" sz="2800" dirty="0" err="1"/>
              <a:t>Kanade</a:t>
            </a:r>
            <a:r>
              <a:rPr lang="en-US" sz="2800" dirty="0"/>
              <a:t> Tracker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b="1" dirty="0"/>
              <a:t>Brightness constancy:  </a:t>
            </a:r>
            <a:r>
              <a:rPr lang="en-US" sz="2000" dirty="0"/>
              <a:t>projection of the same point looks the same in every frame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b="1" dirty="0"/>
              <a:t>Small motion:</a:t>
            </a:r>
            <a:r>
              <a:rPr lang="en-US" sz="2000" dirty="0"/>
              <a:t>  points do not move very far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b="1" dirty="0"/>
              <a:t>Spatial coherence:</a:t>
            </a:r>
            <a:r>
              <a:rPr lang="en-US" sz="2000" dirty="0"/>
              <a:t> points move like their neighbors</a:t>
            </a:r>
          </a:p>
        </p:txBody>
      </p:sp>
      <p:sp>
        <p:nvSpPr>
          <p:cNvPr id="9233" name="Text Box 20"/>
          <p:cNvSpPr txBox="1">
            <a:spLocks noChangeArrowheads="1"/>
          </p:cNvSpPr>
          <p:nvPr/>
        </p:nvSpPr>
        <p:spPr bwMode="auto">
          <a:xfrm>
            <a:off x="2286000" y="2895600"/>
            <a:ext cx="1003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i="1">
                <a:latin typeface="Times New Roman" pitchFamily="18" charset="0"/>
              </a:rPr>
              <a:t>I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y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t</a:t>
            </a:r>
            <a:r>
              <a:rPr lang="en-US" sz="2400">
                <a:latin typeface="Times New Roman" pitchFamily="18" charset="0"/>
              </a:rPr>
              <a:t>)</a:t>
            </a:r>
          </a:p>
        </p:txBody>
      </p:sp>
      <p:sp>
        <p:nvSpPr>
          <p:cNvPr id="24593" name="Text Box 21"/>
          <p:cNvSpPr txBox="1">
            <a:spLocks noChangeArrowheads="1"/>
          </p:cNvSpPr>
          <p:nvPr/>
        </p:nvSpPr>
        <p:spPr bwMode="auto">
          <a:xfrm>
            <a:off x="5562600" y="2895600"/>
            <a:ext cx="1366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i="1">
                <a:latin typeface="Times New Roman" pitchFamily="18" charset="0"/>
              </a:rPr>
              <a:t>I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y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t+1</a:t>
            </a:r>
            <a:r>
              <a:rPr lang="en-US" sz="2400">
                <a:latin typeface="Times New Roman" pitchFamily="18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DB62FF-116A-2209-656A-8DA2DD95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0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  <p:bldP spid="24587" grpId="0" animBg="1"/>
      <p:bldP spid="24588" grpId="0" animBg="1"/>
      <p:bldP spid="24589" grpId="0" animBg="1"/>
      <p:bldP spid="24590" grpId="0" animBg="1"/>
      <p:bldP spid="407571" grpId="0" build="p" bldLvl="2"/>
      <p:bldP spid="2459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398588" y="4981575"/>
          <a:ext cx="61436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08080" imgH="241200" progId="Equation.3">
                  <p:embed/>
                </p:oleObj>
              </mc:Choice>
              <mc:Fallback>
                <p:oleObj name="Equation" r:id="rId6" imgW="2908080" imgH="241200" progId="Equation.3">
                  <p:embed/>
                  <p:pic>
                    <p:nvPicPr>
                      <p:cNvPr id="3" name="Object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4981575"/>
                        <a:ext cx="61436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27050" y="2852738"/>
            <a:ext cx="7772400" cy="1360487"/>
          </a:xfrm>
        </p:spPr>
        <p:txBody>
          <a:bodyPr/>
          <a:lstStyle/>
          <a:p>
            <a:pPr eaLnBrk="1" hangingPunct="1"/>
            <a:r>
              <a:rPr lang="en-US"/>
              <a:t>Brightness Constancy Equation: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139950" y="3505200"/>
          <a:ext cx="47259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203040" progId="Equation.3">
                  <p:embed/>
                </p:oleObj>
              </mc:Choice>
              <mc:Fallback>
                <p:oleObj name="Equation" r:id="rId8" imgW="1790640" imgH="203040" progId="Equation.3">
                  <p:embed/>
                  <p:pic>
                    <p:nvPicPr>
                      <p:cNvPr id="1027" name="Object 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3505200"/>
                        <a:ext cx="4725988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5" name="Rectangle 5"/>
          <p:cNvSpPr>
            <a:spLocks noChangeArrowheads="1"/>
          </p:cNvSpPr>
          <p:nvPr/>
        </p:nvSpPr>
        <p:spPr bwMode="auto">
          <a:xfrm>
            <a:off x="527050" y="4114800"/>
            <a:ext cx="861695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/>
              <a:t>Take Taylor expansion of </a:t>
            </a:r>
            <a:r>
              <a:rPr lang="en-US" sz="2000" i="1">
                <a:latin typeface="Times New Roman" pitchFamily="18" charset="0"/>
                <a:cs typeface="Times New Roman" pitchFamily="18" charset="0"/>
              </a:rPr>
              <a:t>I(x+u, y+v, t+1)</a:t>
            </a:r>
            <a:r>
              <a:rPr lang="en-US" sz="2000"/>
              <a:t> at </a:t>
            </a:r>
            <a:r>
              <a:rPr lang="en-US" sz="2000" i="1">
                <a:latin typeface="Times New Roman" pitchFamily="18" charset="0"/>
                <a:cs typeface="Times New Roman" pitchFamily="18" charset="0"/>
              </a:rPr>
              <a:t>(x,y,t)</a:t>
            </a:r>
            <a:r>
              <a:rPr lang="en-US" sz="2000"/>
              <a:t> to linearize the right side:</a:t>
            </a:r>
          </a:p>
        </p:txBody>
      </p:sp>
      <p:graphicFrame>
        <p:nvGraphicFramePr>
          <p:cNvPr id="1028" name="Object 6"/>
          <p:cNvGraphicFramePr>
            <a:graphicFrameLocks noChangeAspect="1"/>
          </p:cNvGraphicFramePr>
          <p:nvPr/>
        </p:nvGraphicFramePr>
        <p:xfrm>
          <a:off x="4672013" y="44005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215640" progId="Equation.3">
                  <p:embed/>
                </p:oleObj>
              </mc:Choice>
              <mc:Fallback>
                <p:oleObj name="Equation" r:id="rId10" imgW="114120" imgH="215640" progId="Equation.3">
                  <p:embed/>
                  <p:pic>
                    <p:nvPicPr>
                      <p:cNvPr id="1028" name="Object 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44005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48128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The brightness constancy constraint</a:t>
            </a:r>
          </a:p>
        </p:txBody>
      </p:sp>
      <p:sp>
        <p:nvSpPr>
          <p:cNvPr id="1036" name="Rectangle 8"/>
          <p:cNvSpPr>
            <a:spLocks noChangeArrowheads="1"/>
          </p:cNvSpPr>
          <p:nvPr/>
        </p:nvSpPr>
        <p:spPr bwMode="auto">
          <a:xfrm>
            <a:off x="1752600" y="990600"/>
            <a:ext cx="2209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7" name="Oval 9"/>
          <p:cNvSpPr>
            <a:spLocks noChangeArrowheads="1"/>
          </p:cNvSpPr>
          <p:nvPr/>
        </p:nvSpPr>
        <p:spPr bwMode="auto">
          <a:xfrm>
            <a:off x="2286000" y="13716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8" name="Line 10"/>
          <p:cNvSpPr>
            <a:spLocks noChangeShapeType="1"/>
          </p:cNvSpPr>
          <p:nvPr/>
        </p:nvSpPr>
        <p:spPr bwMode="auto">
          <a:xfrm>
            <a:off x="2360613" y="1447800"/>
            <a:ext cx="306387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Rectangle 11"/>
          <p:cNvSpPr>
            <a:spLocks noChangeArrowheads="1"/>
          </p:cNvSpPr>
          <p:nvPr/>
        </p:nvSpPr>
        <p:spPr bwMode="auto">
          <a:xfrm>
            <a:off x="5105400" y="990600"/>
            <a:ext cx="2209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0" name="Oval 12"/>
          <p:cNvSpPr>
            <a:spLocks noChangeArrowheads="1"/>
          </p:cNvSpPr>
          <p:nvPr/>
        </p:nvSpPr>
        <p:spPr bwMode="auto">
          <a:xfrm>
            <a:off x="6019800" y="16764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041" name="Picture 13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188" y="1789113"/>
            <a:ext cx="1243012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2" name="Picture 14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1173163"/>
            <a:ext cx="4635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3" name="Picture 15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063" y="1371600"/>
            <a:ext cx="206533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" name="Text Box 16"/>
          <p:cNvSpPr txBox="1">
            <a:spLocks noChangeArrowheads="1"/>
          </p:cNvSpPr>
          <p:nvPr/>
        </p:nvSpPr>
        <p:spPr bwMode="auto">
          <a:xfrm>
            <a:off x="2667000" y="2211388"/>
            <a:ext cx="1003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i="1">
                <a:latin typeface="Times New Roman" pitchFamily="18" charset="0"/>
              </a:rPr>
              <a:t>I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y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t</a:t>
            </a:r>
            <a:r>
              <a:rPr lang="en-US" sz="2400">
                <a:latin typeface="Times New Roman" pitchFamily="18" charset="0"/>
              </a:rPr>
              <a:t>)</a:t>
            </a:r>
          </a:p>
        </p:txBody>
      </p:sp>
      <p:sp>
        <p:nvSpPr>
          <p:cNvPr id="1045" name="Text Box 17"/>
          <p:cNvSpPr txBox="1">
            <a:spLocks noChangeArrowheads="1"/>
          </p:cNvSpPr>
          <p:nvPr/>
        </p:nvSpPr>
        <p:spPr bwMode="auto">
          <a:xfrm>
            <a:off x="6019800" y="2211388"/>
            <a:ext cx="1366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i="1">
                <a:latin typeface="Times New Roman" pitchFamily="18" charset="0"/>
              </a:rPr>
              <a:t>I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y</a:t>
            </a:r>
            <a:r>
              <a:rPr lang="en-US" sz="2400">
                <a:latin typeface="Times New Roman" pitchFamily="18" charset="0"/>
              </a:rPr>
              <a:t>,</a:t>
            </a:r>
            <a:r>
              <a:rPr lang="en-US" sz="2400" i="1">
                <a:latin typeface="Times New Roman" pitchFamily="18" charset="0"/>
              </a:rPr>
              <a:t>t+1</a:t>
            </a:r>
            <a:r>
              <a:rPr lang="en-US" sz="2400">
                <a:latin typeface="Times New Roman" pitchFamily="18" charset="0"/>
              </a:rPr>
              <a:t>)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93725" y="6157913"/>
            <a:ext cx="3916363" cy="571500"/>
            <a:chOff x="1063" y="3460"/>
            <a:chExt cx="2901" cy="398"/>
          </a:xfrm>
        </p:grpSpPr>
        <p:graphicFrame>
          <p:nvGraphicFramePr>
            <p:cNvPr id="1031" name="Object 19"/>
            <p:cNvGraphicFramePr>
              <a:graphicFrameLocks noChangeAspect="1"/>
            </p:cNvGraphicFramePr>
            <p:nvPr/>
          </p:nvGraphicFramePr>
          <p:xfrm>
            <a:off x="1918" y="3460"/>
            <a:ext cx="2046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31560" imgH="241200" progId="Equation.3">
                    <p:embed/>
                  </p:oleObj>
                </mc:Choice>
                <mc:Fallback>
                  <p:oleObj name="Equation" r:id="rId15" imgW="1231560" imgH="241200" progId="Equation.3">
                    <p:embed/>
                    <p:pic>
                      <p:nvPicPr>
                        <p:cNvPr id="1031" name="Object 1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8" y="3460"/>
                          <a:ext cx="2046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1" name="Rectangle 20"/>
            <p:cNvSpPr>
              <a:spLocks noChangeArrowheads="1"/>
            </p:cNvSpPr>
            <p:nvPr/>
          </p:nvSpPr>
          <p:spPr bwMode="auto">
            <a:xfrm>
              <a:off x="1063" y="3521"/>
              <a:ext cx="479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en-US" sz="2400" dirty="0"/>
                <a:t>So:</a:t>
              </a:r>
              <a:endParaRPr lang="en-US" sz="24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409621" name="Rectangle 21"/>
          <p:cNvSpPr>
            <a:spLocks noChangeArrowheads="1"/>
          </p:cNvSpPr>
          <p:nvPr/>
        </p:nvSpPr>
        <p:spPr bwMode="auto">
          <a:xfrm>
            <a:off x="5410200" y="4953000"/>
            <a:ext cx="381000" cy="5334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2" name="Text Box 22"/>
          <p:cNvSpPr txBox="1">
            <a:spLocks noChangeArrowheads="1"/>
          </p:cNvSpPr>
          <p:nvPr/>
        </p:nvSpPr>
        <p:spPr bwMode="auto">
          <a:xfrm>
            <a:off x="4267200" y="4572000"/>
            <a:ext cx="3048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Image derivative along x</a:t>
            </a:r>
          </a:p>
        </p:txBody>
      </p:sp>
      <p:graphicFrame>
        <p:nvGraphicFramePr>
          <p:cNvPr id="409625" name="Object 25"/>
          <p:cNvGraphicFramePr>
            <a:graphicFrameLocks noChangeAspect="1"/>
          </p:cNvGraphicFramePr>
          <p:nvPr/>
        </p:nvGraphicFramePr>
        <p:xfrm>
          <a:off x="4724400" y="6096000"/>
          <a:ext cx="30480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07880" imgH="253800" progId="Equation.3">
                  <p:embed/>
                </p:oleObj>
              </mc:Choice>
              <mc:Fallback>
                <p:oleObj name="Equation" r:id="rId17" imgW="1307880" imgH="253800" progId="Equation.3">
                  <p:embed/>
                  <p:pic>
                    <p:nvPicPr>
                      <p:cNvPr id="409625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6096000"/>
                        <a:ext cx="30480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7251700" y="4953000"/>
            <a:ext cx="381000" cy="5334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304925" y="5562600"/>
          <a:ext cx="63293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97000" imgH="241200" progId="Equation.3">
                  <p:embed/>
                </p:oleObj>
              </mc:Choice>
              <mc:Fallback>
                <p:oleObj name="Equation" r:id="rId19" imgW="2997000" imgH="241200" progId="Equation.3">
                  <p:embed/>
                  <p:pic>
                    <p:nvPicPr>
                      <p:cNvPr id="4" name="Object 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5562600"/>
                        <a:ext cx="632936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6858000" y="4572000"/>
            <a:ext cx="3048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Difference over frames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E074D-4C02-E6DB-3F91-1B0B3C70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5" grpId="0"/>
      <p:bldP spid="409621" grpId="0" animBg="1"/>
      <p:bldP spid="409622" grpId="0"/>
      <p:bldP spid="26" grpId="0" animBg="1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0259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The brightness constancy constraint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3648075"/>
            <a:ext cx="8153400" cy="685800"/>
          </a:xfrm>
        </p:spPr>
        <p:txBody>
          <a:bodyPr/>
          <a:lstStyle/>
          <a:p>
            <a:pPr eaLnBrk="1" hangingPunct="1"/>
            <a:r>
              <a:rPr lang="en-US" sz="2400"/>
              <a:t>How many equations and unknowns per pixel?</a:t>
            </a:r>
          </a:p>
        </p:txBody>
      </p:sp>
      <p:sp>
        <p:nvSpPr>
          <p:cNvPr id="411670" name="Rectangle 22"/>
          <p:cNvSpPr>
            <a:spLocks noChangeArrowheads="1"/>
          </p:cNvSpPr>
          <p:nvPr/>
        </p:nvSpPr>
        <p:spPr bwMode="auto">
          <a:xfrm>
            <a:off x="1041400" y="4105275"/>
            <a:ext cx="40158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FontTx/>
              <a:buChar char="•"/>
            </a:pPr>
            <a:r>
              <a:rPr lang="en-US" dirty="0"/>
              <a:t>One equation, two unknowns (</a:t>
            </a:r>
            <a:r>
              <a:rPr lang="en-US" dirty="0" err="1"/>
              <a:t>u,v</a:t>
            </a:r>
            <a:r>
              <a:rPr lang="en-US" dirty="0"/>
              <a:t>)</a:t>
            </a:r>
          </a:p>
        </p:txBody>
      </p:sp>
      <p:graphicFrame>
        <p:nvGraphicFramePr>
          <p:cNvPr id="205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73396"/>
              </p:ext>
            </p:extLst>
          </p:nvPr>
        </p:nvGraphicFramePr>
        <p:xfrm>
          <a:off x="2819400" y="2489200"/>
          <a:ext cx="260508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440" imgH="253800" progId="Equation.3">
                  <p:embed/>
                </p:oleObj>
              </mc:Choice>
              <mc:Fallback>
                <p:oleObj name="Equation" r:id="rId3" imgW="1117440" imgH="253800" progId="Equation.3">
                  <p:embed/>
                  <p:pic>
                    <p:nvPicPr>
                      <p:cNvPr id="2050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489200"/>
                        <a:ext cx="2605088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" name="Rectangle 18"/>
          <p:cNvSpPr>
            <a:spLocks noChangeArrowheads="1"/>
          </p:cNvSpPr>
          <p:nvPr/>
        </p:nvSpPr>
        <p:spPr bwMode="auto">
          <a:xfrm>
            <a:off x="381000" y="1803400"/>
            <a:ext cx="8305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 dirty="0"/>
              <a:t>Can we use this equation to recover image motion (</a:t>
            </a:r>
            <a:r>
              <a:rPr lang="en-US" sz="2400" dirty="0" err="1"/>
              <a:t>u,v</a:t>
            </a:r>
            <a:r>
              <a:rPr lang="en-US" sz="2400" dirty="0"/>
              <a:t>) at each pixel?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FC35AF-30B0-7DE3-D27D-830A802B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4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  <p:bldP spid="4116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sz="3600" dirty="0"/>
              <a:t>Optical Flow</a:t>
            </a:r>
          </a:p>
        </p:txBody>
      </p:sp>
      <p:pic>
        <p:nvPicPr>
          <p:cNvPr id="36879" name="Picture 15" descr="Black_Notation1D2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3608388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34B21C-3EC4-41F8-B387-94E5E9F96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3235578"/>
            <a:ext cx="5057775" cy="11049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822143-C2B7-37DC-3300-78026B2B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5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sz="4000" dirty="0"/>
              <a:t>How does this show up visually?</a:t>
            </a:r>
            <a:br>
              <a:rPr lang="en-US" altLang="x-none" sz="4000" dirty="0"/>
            </a:br>
            <a:r>
              <a:rPr lang="en-US" altLang="x-none" sz="4000" dirty="0"/>
              <a:t>Known as the “Aperture Problem”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743200" y="2362200"/>
            <a:ext cx="1295400" cy="22860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2743200" y="2133600"/>
            <a:ext cx="3581400" cy="3581400"/>
            <a:chOff x="1632" y="1728"/>
            <a:chExt cx="2256" cy="2256"/>
          </a:xfrm>
        </p:grpSpPr>
        <p:sp>
          <p:nvSpPr>
            <p:cNvPr id="34821" name="Rectangle 5"/>
            <p:cNvSpPr>
              <a:spLocks noChangeArrowheads="1"/>
            </p:cNvSpPr>
            <p:nvPr/>
          </p:nvSpPr>
          <p:spPr bwMode="auto">
            <a:xfrm>
              <a:off x="1632" y="1728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4822" name="Rectangle 6"/>
            <p:cNvSpPr>
              <a:spLocks noChangeArrowheads="1"/>
            </p:cNvSpPr>
            <p:nvPr/>
          </p:nvSpPr>
          <p:spPr bwMode="auto">
            <a:xfrm rot="5400000">
              <a:off x="2376" y="2472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 rot="-5400000">
              <a:off x="888" y="2472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1632" y="3216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2400" y="2496"/>
              <a:ext cx="720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4826" name="Rectangle 10"/>
            <p:cNvSpPr>
              <a:spLocks noChangeArrowheads="1"/>
            </p:cNvSpPr>
            <p:nvPr/>
          </p:nvSpPr>
          <p:spPr bwMode="auto">
            <a:xfrm>
              <a:off x="1632" y="1728"/>
              <a:ext cx="2256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D90233-DF26-232E-E1D2-EF9C3905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D1DEE-20F5-A542-9BD3-D98D635CDAE6}" type="slidenum">
              <a:rPr lang="en-US" altLang="x-none" smtClean="0">
                <a:solidFill>
                  <a:srgbClr val="000000"/>
                </a:solidFill>
              </a:rPr>
              <a:pPr/>
              <a:t>18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4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0.09584 0.133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2743200" y="2133600"/>
            <a:ext cx="3581400" cy="3581400"/>
            <a:chOff x="1632" y="1728"/>
            <a:chExt cx="2256" cy="2256"/>
          </a:xfrm>
        </p:grpSpPr>
        <p:sp>
          <p:nvSpPr>
            <p:cNvPr id="35843" name="Rectangle 3"/>
            <p:cNvSpPr>
              <a:spLocks noChangeArrowheads="1"/>
            </p:cNvSpPr>
            <p:nvPr/>
          </p:nvSpPr>
          <p:spPr bwMode="auto">
            <a:xfrm>
              <a:off x="1632" y="1728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5844" name="Rectangle 4"/>
            <p:cNvSpPr>
              <a:spLocks noChangeArrowheads="1"/>
            </p:cNvSpPr>
            <p:nvPr/>
          </p:nvSpPr>
          <p:spPr bwMode="auto">
            <a:xfrm rot="5400000">
              <a:off x="2376" y="2472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 rot="-5400000">
              <a:off x="888" y="2472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1632" y="3216"/>
              <a:ext cx="2256" cy="7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400" y="2496"/>
              <a:ext cx="720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1632" y="1728"/>
              <a:ext cx="2256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358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Aperture Problem Exposed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2743200" y="2362200"/>
            <a:ext cx="1295400" cy="22860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2743200" y="6172200"/>
            <a:ext cx="421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>
                <a:solidFill>
                  <a:srgbClr val="000000"/>
                </a:solidFill>
              </a:rPr>
              <a:t>Motion along just an edge is ambiguous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5D6D6-BE45-73E5-8AC1-D904C82C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D1DEE-20F5-A542-9BD3-D98D635CDAE6}" type="slidenum">
              <a:rPr lang="en-US" altLang="x-none" smtClean="0">
                <a:solidFill>
                  <a:srgbClr val="000000"/>
                </a:solidFill>
              </a:rPr>
              <a:pPr/>
              <a:t>19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99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0.09584 0.133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aperture problem</a:t>
            </a:r>
          </a:p>
        </p:txBody>
      </p:sp>
      <p:sp>
        <p:nvSpPr>
          <p:cNvPr id="417795" name="Line 3"/>
          <p:cNvSpPr>
            <a:spLocks noChangeShapeType="1"/>
          </p:cNvSpPr>
          <p:nvPr/>
        </p:nvSpPr>
        <p:spPr bwMode="auto">
          <a:xfrm>
            <a:off x="3200400" y="1600200"/>
            <a:ext cx="1524000" cy="396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7796" name="Line 4"/>
          <p:cNvSpPr>
            <a:spLocks noChangeShapeType="1"/>
          </p:cNvSpPr>
          <p:nvPr/>
        </p:nvSpPr>
        <p:spPr bwMode="auto">
          <a:xfrm>
            <a:off x="4495800" y="1905000"/>
            <a:ext cx="1524000" cy="403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Oval 5"/>
          <p:cNvSpPr>
            <a:spLocks noChangeArrowheads="1"/>
          </p:cNvSpPr>
          <p:nvPr/>
        </p:nvSpPr>
        <p:spPr bwMode="auto">
          <a:xfrm>
            <a:off x="3352800" y="2362200"/>
            <a:ext cx="2590800" cy="2590800"/>
          </a:xfrm>
          <a:prstGeom prst="ellips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798" name="Line 6"/>
          <p:cNvSpPr>
            <a:spLocks noChangeShapeType="1"/>
          </p:cNvSpPr>
          <p:nvPr/>
        </p:nvSpPr>
        <p:spPr bwMode="auto">
          <a:xfrm>
            <a:off x="4572000" y="5867400"/>
            <a:ext cx="1828800" cy="6858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7799" name="Text Box 7"/>
          <p:cNvSpPr txBox="1">
            <a:spLocks noChangeArrowheads="1"/>
          </p:cNvSpPr>
          <p:nvPr/>
        </p:nvSpPr>
        <p:spPr bwMode="auto">
          <a:xfrm>
            <a:off x="6419850" y="5791200"/>
            <a:ext cx="2214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b="1"/>
              <a:t>Actual motion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903329-193D-FDE9-7940-E8F34CF0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animBg="1"/>
      <p:bldP spid="417796" grpId="0" animBg="1"/>
      <p:bldP spid="417798" grpId="0" animBg="1"/>
      <p:bldP spid="41779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aperture problem</a:t>
            </a:r>
          </a:p>
        </p:txBody>
      </p:sp>
      <p:sp>
        <p:nvSpPr>
          <p:cNvPr id="415747" name="Line 3"/>
          <p:cNvSpPr>
            <a:spLocks noChangeShapeType="1"/>
          </p:cNvSpPr>
          <p:nvPr/>
        </p:nvSpPr>
        <p:spPr bwMode="auto">
          <a:xfrm>
            <a:off x="3690938" y="2813050"/>
            <a:ext cx="788987" cy="2139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748" name="Line 4"/>
          <p:cNvSpPr>
            <a:spLocks noChangeShapeType="1"/>
          </p:cNvSpPr>
          <p:nvPr/>
        </p:nvSpPr>
        <p:spPr bwMode="auto">
          <a:xfrm>
            <a:off x="4648200" y="2362200"/>
            <a:ext cx="865188" cy="22526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Oval 5"/>
          <p:cNvSpPr>
            <a:spLocks noChangeArrowheads="1"/>
          </p:cNvSpPr>
          <p:nvPr/>
        </p:nvSpPr>
        <p:spPr bwMode="auto">
          <a:xfrm>
            <a:off x="3352800" y="2362200"/>
            <a:ext cx="2590800" cy="2590800"/>
          </a:xfrm>
          <a:prstGeom prst="ellips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750" name="Line 6"/>
          <p:cNvSpPr>
            <a:spLocks noChangeShapeType="1"/>
          </p:cNvSpPr>
          <p:nvPr/>
        </p:nvSpPr>
        <p:spPr bwMode="auto">
          <a:xfrm flipV="1">
            <a:off x="4648200" y="5410200"/>
            <a:ext cx="1524000" cy="6096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751" name="Text Box 7"/>
          <p:cNvSpPr txBox="1">
            <a:spLocks noChangeArrowheads="1"/>
          </p:cNvSpPr>
          <p:nvPr/>
        </p:nvSpPr>
        <p:spPr bwMode="auto">
          <a:xfrm>
            <a:off x="5429250" y="5868988"/>
            <a:ext cx="2576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b="1"/>
              <a:t>Perceived motion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11F151-5002-2347-2636-AE17A79F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9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 animBg="1"/>
      <p:bldP spid="415748" grpId="0" animBg="1"/>
      <p:bldP spid="415750" grpId="0" animBg="1"/>
      <p:bldP spid="4157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0928"/>
            <a:ext cx="8229600" cy="1143000"/>
          </a:xfrm>
        </p:spPr>
        <p:txBody>
          <a:bodyPr/>
          <a:lstStyle/>
          <a:p>
            <a:pPr eaLnBrk="1" hangingPunct="1"/>
            <a:r>
              <a:rPr lang="en-US" sz="4400" b="1" u="sng" dirty="0"/>
              <a:t>Lucas and </a:t>
            </a:r>
            <a:r>
              <a:rPr lang="en-US" sz="4400" b="1" u="sng" dirty="0" err="1"/>
              <a:t>Kanade</a:t>
            </a:r>
            <a:endParaRPr lang="en-US" dirty="0"/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7772400" cy="5257800"/>
          </a:xfrm>
        </p:spPr>
        <p:txBody>
          <a:bodyPr/>
          <a:lstStyle/>
          <a:p>
            <a:pPr eaLnBrk="1" hangingPunct="1"/>
            <a:r>
              <a:rPr lang="en-US" sz="2400" dirty="0"/>
              <a:t>How to get more equations for a pixel?</a:t>
            </a:r>
          </a:p>
          <a:p>
            <a:pPr eaLnBrk="1" hangingPunct="1"/>
            <a:r>
              <a:rPr lang="en-US" sz="2400" b="1" dirty="0"/>
              <a:t>Spatial coherence constraint</a:t>
            </a:r>
            <a:r>
              <a:rPr lang="en-US" sz="2400" dirty="0"/>
              <a:t> </a:t>
            </a:r>
          </a:p>
          <a:p>
            <a:pPr eaLnBrk="1" hangingPunct="1"/>
            <a:r>
              <a:rPr lang="en-US" sz="2400"/>
              <a:t>Assume the pixel’s neighbors have the same (</a:t>
            </a:r>
            <a:r>
              <a:rPr lang="en-US" sz="2400" dirty="0" err="1"/>
              <a:t>u,v</a:t>
            </a:r>
            <a:r>
              <a:rPr lang="en-US" sz="2400" dirty="0"/>
              <a:t>)</a:t>
            </a:r>
          </a:p>
          <a:p>
            <a:pPr lvl="1" eaLnBrk="1" hangingPunct="1"/>
            <a:r>
              <a:rPr lang="en-US" sz="1800" dirty="0"/>
              <a:t>If we use a 5x5 window, that gives us 25 equations per pixel</a:t>
            </a:r>
          </a:p>
        </p:txBody>
      </p:sp>
      <p:pic>
        <p:nvPicPr>
          <p:cNvPr id="425988" name="Picture 4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962400"/>
            <a:ext cx="2989263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5989" name="Picture 5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4699000"/>
            <a:ext cx="61309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04800" y="1006475"/>
            <a:ext cx="855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1400" b="1" u="sng" dirty="0"/>
              <a:t>B. Lucas and T. </a:t>
            </a:r>
            <a:r>
              <a:rPr lang="en-US" sz="1400" b="1" u="sng" dirty="0" err="1"/>
              <a:t>Kanade</a:t>
            </a:r>
            <a:r>
              <a:rPr lang="en-US" sz="1400" dirty="0"/>
              <a:t>. An iterative image registration technique with an application to stereo vision. In </a:t>
            </a:r>
            <a:r>
              <a:rPr lang="en-US" sz="1400" i="1" dirty="0"/>
              <a:t>Proceedings of the International Joint Conference on Artificial Intelligence</a:t>
            </a:r>
            <a:r>
              <a:rPr lang="en-US" sz="1400" dirty="0"/>
              <a:t>, pp. 674–679, 1981.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5177E-E636-A51C-9060-39D799D1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9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06413"/>
          </a:xfrm>
        </p:spPr>
        <p:txBody>
          <a:bodyPr/>
          <a:lstStyle/>
          <a:p>
            <a:pPr eaLnBrk="1" hangingPunct="1"/>
            <a:r>
              <a:rPr lang="en-US" sz="2400" dirty="0"/>
              <a:t>Least squares problem: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6637338" y="1905000"/>
            <a:ext cx="1592262" cy="533400"/>
            <a:chOff x="1680" y="945"/>
            <a:chExt cx="1003" cy="305"/>
          </a:xfrm>
        </p:grpSpPr>
        <p:pic>
          <p:nvPicPr>
            <p:cNvPr id="15367" name="Picture 5" descr="Edittex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1155"/>
              <a:ext cx="292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8" name="Picture 6" descr="Edittex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6" y="945"/>
              <a:ext cx="7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9" name="Picture 7" descr="Edittex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1152"/>
              <a:ext cx="211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0" name="Picture 8" descr="Edittex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7" y="1157"/>
              <a:ext cx="286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365" name="Picture 9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1524000"/>
            <a:ext cx="5445125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13"/>
          <p:cNvSpPr>
            <a:spLocks noGrp="1" noChangeArrowheads="1"/>
          </p:cNvSpPr>
          <p:nvPr>
            <p:ph type="title"/>
          </p:nvPr>
        </p:nvSpPr>
        <p:spPr>
          <a:xfrm>
            <a:off x="457200" y="15758"/>
            <a:ext cx="8229600" cy="1143000"/>
          </a:xfrm>
        </p:spPr>
        <p:txBody>
          <a:bodyPr/>
          <a:lstStyle/>
          <a:p>
            <a:pPr eaLnBrk="1" hangingPunct="1"/>
            <a:r>
              <a:rPr lang="en-US" sz="4400" dirty="0"/>
              <a:t>Least squares problem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3E37A3-9144-9447-50B1-21C10898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72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9750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Matching patches across images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06413"/>
          </a:xfrm>
        </p:spPr>
        <p:txBody>
          <a:bodyPr/>
          <a:lstStyle/>
          <a:p>
            <a:pPr eaLnBrk="1" hangingPunct="1"/>
            <a:r>
              <a:rPr lang="en-US" sz="2400"/>
              <a:t>Overconstrained linear system</a:t>
            </a: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6637338" y="1905000"/>
            <a:ext cx="1592262" cy="533400"/>
            <a:chOff x="1680" y="945"/>
            <a:chExt cx="1003" cy="305"/>
          </a:xfrm>
        </p:grpSpPr>
        <p:pic>
          <p:nvPicPr>
            <p:cNvPr id="16398" name="Picture 5" descr="Edittex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1155"/>
              <a:ext cx="292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9" name="Picture 6" descr="Edittex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6" y="945"/>
              <a:ext cx="7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00" name="Picture 7" descr="Edittex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1152"/>
              <a:ext cx="211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01" name="Picture 8" descr="Edittex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7" y="1157"/>
              <a:ext cx="286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6390" name="Picture 9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1524000"/>
            <a:ext cx="5445125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762000" y="3962400"/>
            <a:ext cx="5561013" cy="1335088"/>
            <a:chOff x="769" y="1919"/>
            <a:chExt cx="3503" cy="817"/>
          </a:xfrm>
        </p:grpSpPr>
        <p:pic>
          <p:nvPicPr>
            <p:cNvPr id="16395" name="Picture 12" descr="Edittex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" y="1919"/>
              <a:ext cx="3503" cy="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6" name="Picture 13" descr="Edittex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2547"/>
              <a:ext cx="42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7" name="Picture 14" descr="Edittex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7" y="2542"/>
              <a:ext cx="35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4191" name="Rectangle 15"/>
          <p:cNvSpPr>
            <a:spLocks noChangeArrowheads="1"/>
          </p:cNvSpPr>
          <p:nvPr/>
        </p:nvSpPr>
        <p:spPr bwMode="auto">
          <a:xfrm>
            <a:off x="76200" y="5610225"/>
            <a:ext cx="80010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r>
              <a:rPr lang="en-US" sz="2000"/>
              <a:t>The summations are over all pixels in the K x K window</a:t>
            </a:r>
          </a:p>
        </p:txBody>
      </p:sp>
      <p:pic>
        <p:nvPicPr>
          <p:cNvPr id="434192" name="Picture 16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838" y="3308350"/>
            <a:ext cx="23161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7"/>
          <p:cNvSpPr>
            <a:spLocks noChangeArrowheads="1"/>
          </p:cNvSpPr>
          <p:nvPr/>
        </p:nvSpPr>
        <p:spPr bwMode="auto">
          <a:xfrm>
            <a:off x="685800" y="3302000"/>
            <a:ext cx="7772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/>
              <a:t>Least squares solution for </a:t>
            </a:r>
            <a:r>
              <a:rPr lang="en-US" sz="2400" i="1"/>
              <a:t>d</a:t>
            </a:r>
            <a:r>
              <a:rPr lang="en-US" sz="2400"/>
              <a:t> given by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133600" y="6324600"/>
            <a:ext cx="4770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/>
              <a:t>Criteria for Harris corner detector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CFAF31-EC30-D1EA-8B37-A4E254C4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9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91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1143000"/>
          </a:xfrm>
          <a:noFill/>
        </p:spPr>
        <p:txBody>
          <a:bodyPr lIns="0" rIns="0"/>
          <a:lstStyle/>
          <a:p>
            <a:r>
              <a:rPr lang="en-US" sz="3200" dirty="0"/>
              <a:t>Aperture problem</a:t>
            </a:r>
          </a:p>
        </p:txBody>
      </p:sp>
      <p:pic>
        <p:nvPicPr>
          <p:cNvPr id="111620" name="Picture 4" descr="dancer_stimulus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0974" y="1373188"/>
            <a:ext cx="3492500" cy="4265612"/>
          </a:xfrm>
          <a:prstGeom prst="rect">
            <a:avLst/>
          </a:prstGeom>
          <a:noFill/>
        </p:spPr>
      </p:pic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920974" y="1373188"/>
            <a:ext cx="3492500" cy="4265612"/>
            <a:chOff x="864" y="1056"/>
            <a:chExt cx="2200" cy="2688"/>
          </a:xfrm>
        </p:grpSpPr>
        <p:pic>
          <p:nvPicPr>
            <p:cNvPr id="111622" name="Picture 6" descr="dancer_mask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64" y="1056"/>
              <a:ext cx="2200" cy="2688"/>
            </a:xfrm>
            <a:prstGeom prst="rect">
              <a:avLst/>
            </a:prstGeom>
            <a:noFill/>
          </p:spPr>
        </p:pic>
        <p:sp>
          <p:nvSpPr>
            <p:cNvPr id="111625" name="Oval 9"/>
            <p:cNvSpPr>
              <a:spLocks noChangeAspect="1" noChangeArrowheads="1"/>
            </p:cNvSpPr>
            <p:nvPr/>
          </p:nvSpPr>
          <p:spPr bwMode="auto">
            <a:xfrm>
              <a:off x="1632" y="1311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920974" y="1373188"/>
            <a:ext cx="3492500" cy="4265612"/>
            <a:chOff x="864" y="1056"/>
            <a:chExt cx="2200" cy="2688"/>
          </a:xfrm>
        </p:grpSpPr>
        <p:pic>
          <p:nvPicPr>
            <p:cNvPr id="111636" name="Picture 20" descr="dancer_mask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64" y="1056"/>
              <a:ext cx="2200" cy="2688"/>
            </a:xfrm>
            <a:prstGeom prst="rect">
              <a:avLst/>
            </a:prstGeom>
            <a:noFill/>
          </p:spPr>
        </p:pic>
        <p:sp>
          <p:nvSpPr>
            <p:cNvPr id="111637" name="Oval 21"/>
            <p:cNvSpPr>
              <a:spLocks noChangeAspect="1" noChangeArrowheads="1"/>
            </p:cNvSpPr>
            <p:nvPr/>
          </p:nvSpPr>
          <p:spPr bwMode="auto">
            <a:xfrm>
              <a:off x="1632" y="1311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38" name="Oval 22"/>
            <p:cNvSpPr>
              <a:spLocks noChangeAspect="1" noChangeArrowheads="1"/>
            </p:cNvSpPr>
            <p:nvPr/>
          </p:nvSpPr>
          <p:spPr bwMode="auto">
            <a:xfrm>
              <a:off x="1287" y="1548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2920974" y="1373188"/>
            <a:ext cx="3492500" cy="4265612"/>
            <a:chOff x="864" y="1056"/>
            <a:chExt cx="2200" cy="2688"/>
          </a:xfrm>
        </p:grpSpPr>
        <p:pic>
          <p:nvPicPr>
            <p:cNvPr id="111643" name="Picture 27" descr="dancer_mask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864" y="1056"/>
              <a:ext cx="2200" cy="2688"/>
            </a:xfrm>
            <a:prstGeom prst="rect">
              <a:avLst/>
            </a:prstGeom>
            <a:noFill/>
          </p:spPr>
        </p:pic>
        <p:sp>
          <p:nvSpPr>
            <p:cNvPr id="111644" name="Oval 28"/>
            <p:cNvSpPr>
              <a:spLocks noChangeAspect="1" noChangeArrowheads="1"/>
            </p:cNvSpPr>
            <p:nvPr/>
          </p:nvSpPr>
          <p:spPr bwMode="auto">
            <a:xfrm>
              <a:off x="1632" y="1311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45" name="Oval 29"/>
            <p:cNvSpPr>
              <a:spLocks noChangeAspect="1" noChangeArrowheads="1"/>
            </p:cNvSpPr>
            <p:nvPr/>
          </p:nvSpPr>
          <p:spPr bwMode="auto">
            <a:xfrm>
              <a:off x="1287" y="1548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46" name="Oval 30"/>
            <p:cNvSpPr>
              <a:spLocks noChangeAspect="1" noChangeArrowheads="1"/>
            </p:cNvSpPr>
            <p:nvPr/>
          </p:nvSpPr>
          <p:spPr bwMode="auto">
            <a:xfrm>
              <a:off x="1389" y="3012"/>
              <a:ext cx="249" cy="249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2920974" y="1373188"/>
            <a:ext cx="3492500" cy="4265612"/>
            <a:chOff x="3368" y="1056"/>
            <a:chExt cx="2200" cy="2688"/>
          </a:xfrm>
        </p:grpSpPr>
        <p:pic>
          <p:nvPicPr>
            <p:cNvPr id="111662" name="Picture 46" descr="dancer_mask4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368" y="1056"/>
              <a:ext cx="2200" cy="2688"/>
            </a:xfrm>
            <a:prstGeom prst="rect">
              <a:avLst/>
            </a:prstGeom>
            <a:noFill/>
          </p:spPr>
        </p:pic>
        <p:sp>
          <p:nvSpPr>
            <p:cNvPr id="111663" name="Oval 47"/>
            <p:cNvSpPr>
              <a:spLocks noChangeAspect="1" noChangeArrowheads="1"/>
            </p:cNvSpPr>
            <p:nvPr/>
          </p:nvSpPr>
          <p:spPr bwMode="auto">
            <a:xfrm>
              <a:off x="4136" y="1311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64" name="Oval 48"/>
            <p:cNvSpPr>
              <a:spLocks noChangeAspect="1" noChangeArrowheads="1"/>
            </p:cNvSpPr>
            <p:nvPr/>
          </p:nvSpPr>
          <p:spPr bwMode="auto">
            <a:xfrm>
              <a:off x="3791" y="1548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65" name="Oval 49"/>
            <p:cNvSpPr>
              <a:spLocks noChangeAspect="1" noChangeArrowheads="1"/>
            </p:cNvSpPr>
            <p:nvPr/>
          </p:nvSpPr>
          <p:spPr bwMode="auto">
            <a:xfrm>
              <a:off x="3893" y="3012"/>
              <a:ext cx="249" cy="249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66" name="Oval 50"/>
            <p:cNvSpPr>
              <a:spLocks noChangeAspect="1" noChangeArrowheads="1"/>
            </p:cNvSpPr>
            <p:nvPr/>
          </p:nvSpPr>
          <p:spPr bwMode="auto">
            <a:xfrm>
              <a:off x="4488" y="1344"/>
              <a:ext cx="230" cy="230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67" name="Oval 51"/>
            <p:cNvSpPr>
              <a:spLocks noChangeAspect="1" noChangeArrowheads="1"/>
            </p:cNvSpPr>
            <p:nvPr/>
          </p:nvSpPr>
          <p:spPr bwMode="auto">
            <a:xfrm>
              <a:off x="4105" y="2469"/>
              <a:ext cx="253" cy="253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68" name="Oval 52"/>
            <p:cNvSpPr>
              <a:spLocks noChangeAspect="1" noChangeArrowheads="1"/>
            </p:cNvSpPr>
            <p:nvPr/>
          </p:nvSpPr>
          <p:spPr bwMode="auto">
            <a:xfrm>
              <a:off x="3826" y="2003"/>
              <a:ext cx="271" cy="271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2920974" y="1373188"/>
            <a:ext cx="3492500" cy="4265612"/>
            <a:chOff x="3312" y="1488"/>
            <a:chExt cx="2200" cy="2688"/>
          </a:xfrm>
        </p:grpSpPr>
        <p:pic>
          <p:nvPicPr>
            <p:cNvPr id="111669" name="Picture 53" descr="dancer_mask5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312" y="1488"/>
              <a:ext cx="2200" cy="2688"/>
            </a:xfrm>
            <a:prstGeom prst="rect">
              <a:avLst/>
            </a:prstGeom>
            <a:noFill/>
          </p:spPr>
        </p:pic>
        <p:sp>
          <p:nvSpPr>
            <p:cNvPr id="111654" name="Oval 38"/>
            <p:cNvSpPr>
              <a:spLocks noChangeAspect="1" noChangeArrowheads="1"/>
            </p:cNvSpPr>
            <p:nvPr/>
          </p:nvSpPr>
          <p:spPr bwMode="auto">
            <a:xfrm>
              <a:off x="4080" y="1743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5" name="Oval 39"/>
            <p:cNvSpPr>
              <a:spLocks noChangeAspect="1" noChangeArrowheads="1"/>
            </p:cNvSpPr>
            <p:nvPr/>
          </p:nvSpPr>
          <p:spPr bwMode="auto">
            <a:xfrm>
              <a:off x="3735" y="1980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6" name="Oval 40"/>
            <p:cNvSpPr>
              <a:spLocks noChangeAspect="1" noChangeArrowheads="1"/>
            </p:cNvSpPr>
            <p:nvPr/>
          </p:nvSpPr>
          <p:spPr bwMode="auto">
            <a:xfrm>
              <a:off x="3837" y="3444"/>
              <a:ext cx="249" cy="249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7" name="Oval 41"/>
            <p:cNvSpPr>
              <a:spLocks noChangeAspect="1" noChangeArrowheads="1"/>
            </p:cNvSpPr>
            <p:nvPr/>
          </p:nvSpPr>
          <p:spPr bwMode="auto">
            <a:xfrm>
              <a:off x="4432" y="1776"/>
              <a:ext cx="230" cy="230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8" name="Oval 42"/>
            <p:cNvSpPr>
              <a:spLocks noChangeAspect="1" noChangeArrowheads="1"/>
            </p:cNvSpPr>
            <p:nvPr/>
          </p:nvSpPr>
          <p:spPr bwMode="auto">
            <a:xfrm>
              <a:off x="4049" y="2901"/>
              <a:ext cx="253" cy="253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9" name="Oval 43"/>
            <p:cNvSpPr>
              <a:spLocks noChangeAspect="1" noChangeArrowheads="1"/>
            </p:cNvSpPr>
            <p:nvPr/>
          </p:nvSpPr>
          <p:spPr bwMode="auto">
            <a:xfrm>
              <a:off x="3770" y="2435"/>
              <a:ext cx="271" cy="271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71" name="Oval 55"/>
            <p:cNvSpPr>
              <a:spLocks noChangeAspect="1" noChangeArrowheads="1"/>
            </p:cNvSpPr>
            <p:nvPr/>
          </p:nvSpPr>
          <p:spPr bwMode="auto">
            <a:xfrm>
              <a:off x="5115" y="1536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72" name="Oval 56"/>
            <p:cNvSpPr>
              <a:spLocks noChangeAspect="1" noChangeArrowheads="1"/>
            </p:cNvSpPr>
            <p:nvPr/>
          </p:nvSpPr>
          <p:spPr bwMode="auto">
            <a:xfrm>
              <a:off x="3356" y="1571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73" name="Oval 57"/>
            <p:cNvSpPr>
              <a:spLocks noChangeAspect="1" noChangeArrowheads="1"/>
            </p:cNvSpPr>
            <p:nvPr/>
          </p:nvSpPr>
          <p:spPr bwMode="auto">
            <a:xfrm>
              <a:off x="3400" y="3128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2990824" y="1447800"/>
            <a:ext cx="3195638" cy="3425825"/>
            <a:chOff x="3260" y="1584"/>
            <a:chExt cx="2012" cy="2157"/>
          </a:xfrm>
        </p:grpSpPr>
        <p:sp>
          <p:nvSpPr>
            <p:cNvPr id="111678" name="Oval 62"/>
            <p:cNvSpPr>
              <a:spLocks noChangeAspect="1" noChangeArrowheads="1"/>
            </p:cNvSpPr>
            <p:nvPr/>
          </p:nvSpPr>
          <p:spPr bwMode="auto">
            <a:xfrm>
              <a:off x="3984" y="1791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79" name="Oval 63"/>
            <p:cNvSpPr>
              <a:spLocks noChangeAspect="1" noChangeArrowheads="1"/>
            </p:cNvSpPr>
            <p:nvPr/>
          </p:nvSpPr>
          <p:spPr bwMode="auto">
            <a:xfrm>
              <a:off x="3639" y="2028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0" name="Oval 64"/>
            <p:cNvSpPr>
              <a:spLocks noChangeAspect="1" noChangeArrowheads="1"/>
            </p:cNvSpPr>
            <p:nvPr/>
          </p:nvSpPr>
          <p:spPr bwMode="auto">
            <a:xfrm>
              <a:off x="3741" y="3492"/>
              <a:ext cx="249" cy="249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1" name="Oval 65"/>
            <p:cNvSpPr>
              <a:spLocks noChangeAspect="1" noChangeArrowheads="1"/>
            </p:cNvSpPr>
            <p:nvPr/>
          </p:nvSpPr>
          <p:spPr bwMode="auto">
            <a:xfrm>
              <a:off x="4336" y="1824"/>
              <a:ext cx="230" cy="230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2" name="Oval 66"/>
            <p:cNvSpPr>
              <a:spLocks noChangeAspect="1" noChangeArrowheads="1"/>
            </p:cNvSpPr>
            <p:nvPr/>
          </p:nvSpPr>
          <p:spPr bwMode="auto">
            <a:xfrm>
              <a:off x="3953" y="2949"/>
              <a:ext cx="253" cy="253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3" name="Oval 67"/>
            <p:cNvSpPr>
              <a:spLocks noChangeAspect="1" noChangeArrowheads="1"/>
            </p:cNvSpPr>
            <p:nvPr/>
          </p:nvSpPr>
          <p:spPr bwMode="auto">
            <a:xfrm>
              <a:off x="3674" y="2483"/>
              <a:ext cx="271" cy="271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4" name="Oval 68"/>
            <p:cNvSpPr>
              <a:spLocks noChangeAspect="1" noChangeArrowheads="1"/>
            </p:cNvSpPr>
            <p:nvPr/>
          </p:nvSpPr>
          <p:spPr bwMode="auto">
            <a:xfrm>
              <a:off x="5019" y="1584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5" name="Oval 69"/>
            <p:cNvSpPr>
              <a:spLocks noChangeAspect="1" noChangeArrowheads="1"/>
            </p:cNvSpPr>
            <p:nvPr/>
          </p:nvSpPr>
          <p:spPr bwMode="auto">
            <a:xfrm>
              <a:off x="3260" y="1619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86" name="Oval 70"/>
            <p:cNvSpPr>
              <a:spLocks noChangeAspect="1" noChangeArrowheads="1"/>
            </p:cNvSpPr>
            <p:nvPr/>
          </p:nvSpPr>
          <p:spPr bwMode="auto">
            <a:xfrm>
              <a:off x="3304" y="3176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72"/>
          <p:cNvGrpSpPr>
            <a:grpSpLocks/>
          </p:cNvGrpSpPr>
          <p:nvPr/>
        </p:nvGrpSpPr>
        <p:grpSpPr bwMode="auto">
          <a:xfrm>
            <a:off x="2989237" y="1452563"/>
            <a:ext cx="3194050" cy="3422650"/>
            <a:chOff x="3260" y="1584"/>
            <a:chExt cx="2012" cy="2157"/>
          </a:xfrm>
        </p:grpSpPr>
        <p:sp>
          <p:nvSpPr>
            <p:cNvPr id="111689" name="Oval 73"/>
            <p:cNvSpPr>
              <a:spLocks noChangeAspect="1" noChangeArrowheads="1"/>
            </p:cNvSpPr>
            <p:nvPr/>
          </p:nvSpPr>
          <p:spPr bwMode="auto">
            <a:xfrm>
              <a:off x="3984" y="1791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0" name="Oval 74"/>
            <p:cNvSpPr>
              <a:spLocks noChangeAspect="1" noChangeArrowheads="1"/>
            </p:cNvSpPr>
            <p:nvPr/>
          </p:nvSpPr>
          <p:spPr bwMode="auto">
            <a:xfrm>
              <a:off x="3639" y="2028"/>
              <a:ext cx="276" cy="276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1" name="Oval 75"/>
            <p:cNvSpPr>
              <a:spLocks noChangeAspect="1" noChangeArrowheads="1"/>
            </p:cNvSpPr>
            <p:nvPr/>
          </p:nvSpPr>
          <p:spPr bwMode="auto">
            <a:xfrm>
              <a:off x="3741" y="3492"/>
              <a:ext cx="249" cy="249"/>
            </a:xfrm>
            <a:prstGeom prst="ellips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2" name="Oval 76"/>
            <p:cNvSpPr>
              <a:spLocks noChangeAspect="1" noChangeArrowheads="1"/>
            </p:cNvSpPr>
            <p:nvPr/>
          </p:nvSpPr>
          <p:spPr bwMode="auto">
            <a:xfrm>
              <a:off x="4336" y="1824"/>
              <a:ext cx="230" cy="230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3" name="Oval 77"/>
            <p:cNvSpPr>
              <a:spLocks noChangeAspect="1" noChangeArrowheads="1"/>
            </p:cNvSpPr>
            <p:nvPr/>
          </p:nvSpPr>
          <p:spPr bwMode="auto">
            <a:xfrm>
              <a:off x="3953" y="2949"/>
              <a:ext cx="253" cy="253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4" name="Oval 78"/>
            <p:cNvSpPr>
              <a:spLocks noChangeAspect="1" noChangeArrowheads="1"/>
            </p:cNvSpPr>
            <p:nvPr/>
          </p:nvSpPr>
          <p:spPr bwMode="auto">
            <a:xfrm>
              <a:off x="3674" y="2483"/>
              <a:ext cx="271" cy="271"/>
            </a:xfrm>
            <a:prstGeom prst="ellipse">
              <a:avLst/>
            </a:prstGeom>
            <a:noFill/>
            <a:ln w="15875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5" name="Oval 79"/>
            <p:cNvSpPr>
              <a:spLocks noChangeAspect="1" noChangeArrowheads="1"/>
            </p:cNvSpPr>
            <p:nvPr/>
          </p:nvSpPr>
          <p:spPr bwMode="auto">
            <a:xfrm>
              <a:off x="5019" y="1584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6" name="Oval 80"/>
            <p:cNvSpPr>
              <a:spLocks noChangeAspect="1" noChangeArrowheads="1"/>
            </p:cNvSpPr>
            <p:nvPr/>
          </p:nvSpPr>
          <p:spPr bwMode="auto">
            <a:xfrm>
              <a:off x="3260" y="1619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97" name="Oval 81"/>
            <p:cNvSpPr>
              <a:spLocks noChangeAspect="1" noChangeArrowheads="1"/>
            </p:cNvSpPr>
            <p:nvPr/>
          </p:nvSpPr>
          <p:spPr bwMode="auto">
            <a:xfrm>
              <a:off x="3304" y="3176"/>
              <a:ext cx="253" cy="253"/>
            </a:xfrm>
            <a:prstGeom prst="ellipse">
              <a:avLst/>
            </a:prstGeom>
            <a:noFill/>
            <a:ln w="15875">
              <a:solidFill>
                <a:srgbClr val="3366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1698" name="Text Box 82"/>
          <p:cNvSpPr txBox="1">
            <a:spLocks noChangeArrowheads="1"/>
          </p:cNvSpPr>
          <p:nvPr/>
        </p:nvSpPr>
        <p:spPr bwMode="auto">
          <a:xfrm>
            <a:off x="1754187" y="6107668"/>
            <a:ext cx="1065213" cy="369332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Corners</a:t>
            </a:r>
          </a:p>
        </p:txBody>
      </p:sp>
      <p:sp>
        <p:nvSpPr>
          <p:cNvPr id="111699" name="Text Box 83"/>
          <p:cNvSpPr txBox="1">
            <a:spLocks noChangeArrowheads="1"/>
          </p:cNvSpPr>
          <p:nvPr/>
        </p:nvSpPr>
        <p:spPr bwMode="auto">
          <a:xfrm>
            <a:off x="4038600" y="6106081"/>
            <a:ext cx="914400" cy="369332"/>
          </a:xfrm>
          <a:prstGeom prst="rect">
            <a:avLst/>
          </a:prstGeom>
          <a:noFill/>
          <a:ln w="19050">
            <a:solidFill>
              <a:srgbClr val="33CCCC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Lines</a:t>
            </a:r>
          </a:p>
        </p:txBody>
      </p:sp>
      <p:sp>
        <p:nvSpPr>
          <p:cNvPr id="111700" name="Text Box 84"/>
          <p:cNvSpPr txBox="1">
            <a:spLocks noChangeArrowheads="1"/>
          </p:cNvSpPr>
          <p:nvPr/>
        </p:nvSpPr>
        <p:spPr bwMode="auto">
          <a:xfrm>
            <a:off x="6096000" y="6107668"/>
            <a:ext cx="1449388" cy="369332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Flat regions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3AFD9-1389-D6E8-E5F8-93D686B1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8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98" grpId="0" animBg="1"/>
      <p:bldP spid="111699" grpId="0" animBg="1"/>
      <p:bldP spid="11170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5F34-3027-4898-ACEE-7F7A1CDAABCD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Errors in Lukas-</a:t>
            </a:r>
            <a:r>
              <a:rPr lang="en-US" altLang="en-US" dirty="0" err="1"/>
              <a:t>Kanade</a:t>
            </a:r>
            <a:endParaRPr lang="en-US" altLang="en-US" dirty="0"/>
          </a:p>
        </p:txBody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57154"/>
            <a:ext cx="80772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What are the potential causes of errors in this procedure?</a:t>
            </a:r>
          </a:p>
          <a:p>
            <a:pPr lvl="1"/>
            <a:r>
              <a:rPr lang="en-US" altLang="en-US" dirty="0"/>
              <a:t>Suppose A</a:t>
            </a:r>
            <a:r>
              <a:rPr lang="en-US" altLang="en-US" baseline="30000" dirty="0"/>
              <a:t>T</a:t>
            </a:r>
            <a:r>
              <a:rPr lang="en-US" altLang="en-US" dirty="0"/>
              <a:t>A is easily invertible</a:t>
            </a:r>
          </a:p>
          <a:p>
            <a:pPr lvl="1"/>
            <a:r>
              <a:rPr lang="en-US" altLang="en-US" dirty="0"/>
              <a:t>Suppose there is not much noise in the image</a:t>
            </a:r>
          </a:p>
          <a:p>
            <a:endParaRPr lang="en-US" altLang="en-US" dirty="0"/>
          </a:p>
        </p:txBody>
      </p:sp>
      <p:sp>
        <p:nvSpPr>
          <p:cNvPr id="513030" name="Rectangle 6"/>
          <p:cNvSpPr>
            <a:spLocks noChangeArrowheads="1"/>
          </p:cNvSpPr>
          <p:nvPr/>
        </p:nvSpPr>
        <p:spPr bwMode="auto">
          <a:xfrm>
            <a:off x="685800" y="3615070"/>
            <a:ext cx="8077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Our assumptions </a:t>
            </a:r>
          </a:p>
          <a:p>
            <a:pPr lvl="1"/>
            <a:r>
              <a:rPr lang="en-US" altLang="en-US" dirty="0"/>
              <a:t>Brightness constancy is not satisfied</a:t>
            </a:r>
          </a:p>
          <a:p>
            <a:pPr lvl="1"/>
            <a:r>
              <a:rPr lang="en-US" altLang="en-US" dirty="0"/>
              <a:t>The motion is </a:t>
            </a:r>
            <a:r>
              <a:rPr lang="en-US" altLang="en-US" b="1" dirty="0"/>
              <a:t>not</a:t>
            </a:r>
            <a:r>
              <a:rPr lang="en-US" altLang="en-US" dirty="0"/>
              <a:t> small</a:t>
            </a:r>
            <a:endParaRPr lang="en-US" altLang="en-US" b="1" dirty="0"/>
          </a:p>
          <a:p>
            <a:pPr lvl="1"/>
            <a:r>
              <a:rPr lang="en-US" altLang="en-US" dirty="0"/>
              <a:t>A point does </a:t>
            </a:r>
            <a:r>
              <a:rPr lang="en-US" altLang="en-US" b="1" dirty="0"/>
              <a:t>not</a:t>
            </a:r>
            <a:r>
              <a:rPr lang="en-US" altLang="en-US" dirty="0"/>
              <a:t> move like its neighbors</a:t>
            </a:r>
          </a:p>
          <a:p>
            <a:pPr lvl="2"/>
            <a:r>
              <a:rPr lang="en-US" altLang="en-US" sz="1800" dirty="0"/>
              <a:t>window size is too large</a:t>
            </a:r>
          </a:p>
          <a:p>
            <a:pPr lvl="2"/>
            <a:r>
              <a:rPr lang="en-US" altLang="en-US" sz="1800" dirty="0"/>
              <a:t>what is the ideal window size?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30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762290" y="3634373"/>
            <a:ext cx="8077200" cy="281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lvl="1" indent="0" defTabSz="914400" fontAlgn="base">
              <a:spcAft>
                <a:spcPct val="0"/>
              </a:spcAft>
              <a:buNone/>
            </a:pPr>
            <a:endParaRPr lang="en-US" altLang="x-none" sz="2000" dirty="0">
              <a:solidFill>
                <a:srgbClr val="000000"/>
              </a:solidFill>
            </a:endParaRPr>
          </a:p>
          <a:p>
            <a:pPr lvl="1" defTabSz="914400" fontAlgn="base">
              <a:spcAft>
                <a:spcPct val="0"/>
              </a:spcAft>
            </a:pPr>
            <a:r>
              <a:rPr lang="en-US" altLang="x-none" sz="2000" dirty="0">
                <a:solidFill>
                  <a:srgbClr val="000000"/>
                </a:solidFill>
              </a:rPr>
              <a:t>Lukas-</a:t>
            </a:r>
            <a:r>
              <a:rPr lang="en-US" altLang="x-none" sz="2000" dirty="0" err="1">
                <a:solidFill>
                  <a:srgbClr val="000000"/>
                </a:solidFill>
              </a:rPr>
              <a:t>Kanade</a:t>
            </a:r>
            <a:r>
              <a:rPr lang="en-US" altLang="x-none" sz="2000" dirty="0">
                <a:solidFill>
                  <a:srgbClr val="000000"/>
                </a:solidFill>
              </a:rPr>
              <a:t> method does one iteration of Newton’s method</a:t>
            </a:r>
          </a:p>
          <a:p>
            <a:pPr lvl="2" defTabSz="914400" fontAlgn="base">
              <a:spcAft>
                <a:spcPct val="0"/>
              </a:spcAft>
            </a:pPr>
            <a:r>
              <a:rPr lang="en-US" altLang="x-none" sz="1800" dirty="0">
                <a:solidFill>
                  <a:srgbClr val="000000"/>
                </a:solidFill>
              </a:rPr>
              <a:t>Better results are obtained via more iterations</a:t>
            </a:r>
          </a:p>
          <a:p>
            <a:pPr lvl="2" defTabSz="914400" fontAlgn="base">
              <a:spcAft>
                <a:spcPct val="0"/>
              </a:spcAft>
            </a:pPr>
            <a:endParaRPr lang="en-US" altLang="x-none" sz="1400" dirty="0">
              <a:solidFill>
                <a:srgbClr val="000000"/>
              </a:solidFill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1143000"/>
          </a:xfrm>
        </p:spPr>
        <p:txBody>
          <a:bodyPr/>
          <a:lstStyle/>
          <a:p>
            <a:r>
              <a:rPr lang="en-US" altLang="x-none"/>
              <a:t>Improving accuracy</a:t>
            </a: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157288"/>
            <a:ext cx="8229600" cy="522287"/>
          </a:xfrm>
        </p:spPr>
        <p:txBody>
          <a:bodyPr/>
          <a:lstStyle/>
          <a:p>
            <a:r>
              <a:rPr lang="en-US" altLang="x-none" sz="2400"/>
              <a:t>Recall our small motion assumption</a:t>
            </a:r>
          </a:p>
        </p:txBody>
      </p:sp>
      <p:pic>
        <p:nvPicPr>
          <p:cNvPr id="70661" name="Picture 5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698625"/>
            <a:ext cx="39751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0662" name="Picture 6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214563"/>
            <a:ext cx="4175125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685800" y="2543175"/>
            <a:ext cx="7772400" cy="83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fontAlgn="base">
              <a:spcAft>
                <a:spcPct val="0"/>
              </a:spcAft>
            </a:pPr>
            <a:r>
              <a:rPr lang="en-US" altLang="x-none" sz="2400">
                <a:solidFill>
                  <a:srgbClr val="000000"/>
                </a:solidFill>
              </a:rPr>
              <a:t>This is not exact</a:t>
            </a:r>
          </a:p>
          <a:p>
            <a:pPr lvl="1" defTabSz="914400" fontAlgn="base">
              <a:spcAft>
                <a:spcPct val="0"/>
              </a:spcAft>
            </a:pPr>
            <a:r>
              <a:rPr lang="en-US" altLang="x-none" sz="2000">
                <a:solidFill>
                  <a:srgbClr val="000000"/>
                </a:solidFill>
              </a:rPr>
              <a:t>To do better, we need to add higher order terms back in:</a:t>
            </a:r>
          </a:p>
        </p:txBody>
      </p:sp>
      <p:pic>
        <p:nvPicPr>
          <p:cNvPr id="70664" name="Picture 8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3529013"/>
            <a:ext cx="6453187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4430713" y="1571625"/>
            <a:ext cx="10969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sz="2400" b="1" i="1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x-none" sz="2400" b="1" i="1" baseline="-25000">
                <a:solidFill>
                  <a:srgbClr val="000000"/>
                </a:solidFill>
                <a:latin typeface="Times New Roman" charset="0"/>
              </a:rPr>
              <a:t>t-1</a:t>
            </a:r>
            <a:r>
              <a:rPr lang="en-US" altLang="x-none" sz="2400" b="1" i="1">
                <a:solidFill>
                  <a:srgbClr val="000000"/>
                </a:solidFill>
                <a:latin typeface="Times New Roman" charset="0"/>
              </a:rPr>
              <a:t>(x,y)</a:t>
            </a:r>
            <a:endParaRPr lang="en-US" altLang="x-none" sz="2400" b="1" i="1" baseline="-250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4878388" y="2109788"/>
            <a:ext cx="10969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sz="2400" b="1" i="1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x-none" sz="2400" b="1" i="1" baseline="-25000">
                <a:solidFill>
                  <a:srgbClr val="000000"/>
                </a:solidFill>
                <a:latin typeface="Times New Roman" charset="0"/>
              </a:rPr>
              <a:t>t-1</a:t>
            </a:r>
            <a:r>
              <a:rPr lang="en-US" altLang="x-none" sz="2400" b="1" i="1">
                <a:solidFill>
                  <a:srgbClr val="000000"/>
                </a:solidFill>
                <a:latin typeface="Times New Roman" charset="0"/>
              </a:rPr>
              <a:t>(x,y)</a:t>
            </a:r>
            <a:endParaRPr lang="en-US" altLang="x-none" sz="2400" b="1" i="1" baseline="-250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7132638" y="3413125"/>
            <a:ext cx="10969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x-none" sz="2400" b="1" i="1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x-none" sz="2400" b="1" i="1" baseline="-25000">
                <a:solidFill>
                  <a:srgbClr val="000000"/>
                </a:solidFill>
                <a:latin typeface="Times New Roman" charset="0"/>
              </a:rPr>
              <a:t>t-1</a:t>
            </a:r>
            <a:r>
              <a:rPr lang="en-US" altLang="x-none" sz="2400" b="1" i="1">
                <a:solidFill>
                  <a:srgbClr val="000000"/>
                </a:solidFill>
                <a:latin typeface="Times New Roman" charset="0"/>
              </a:rPr>
              <a:t>(x,y)</a:t>
            </a:r>
            <a:endParaRPr lang="en-US" altLang="x-none" sz="2400" b="1" i="1" baseline="-250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E3CF64-2BE4-3BAD-B80C-CEDD61A6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44E4-550F-0A46-909E-6E4279750EDF}" type="slidenum">
              <a:rPr lang="en-US" altLang="x-none" smtClean="0">
                <a:solidFill>
                  <a:srgbClr val="000000"/>
                </a:solidFill>
              </a:rPr>
              <a:pPr/>
              <a:t>27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27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Iterative Refinement</a:t>
            </a: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381000" y="1441450"/>
            <a:ext cx="8305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838200" indent="-381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76400" indent="-304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95500" indent="-2667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527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30099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671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9243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fontAlgn="base">
              <a:spcAft>
                <a:spcPct val="0"/>
              </a:spcAft>
            </a:pPr>
            <a:r>
              <a:rPr lang="en-US" altLang="x-none">
                <a:solidFill>
                  <a:srgbClr val="000000"/>
                </a:solidFill>
              </a:rPr>
              <a:t>Iterative Lukas-Kanade Algorithm</a:t>
            </a:r>
          </a:p>
          <a:p>
            <a:pPr lvl="1" defTabSz="914400" fontAlgn="base">
              <a:spcAft>
                <a:spcPct val="0"/>
              </a:spcAft>
              <a:buFontTx/>
              <a:buAutoNum type="arabicPeriod"/>
            </a:pPr>
            <a:r>
              <a:rPr lang="en-US" altLang="x-none" sz="2400">
                <a:solidFill>
                  <a:srgbClr val="000000"/>
                </a:solidFill>
              </a:rPr>
              <a:t>Estimate velocity at each pixel by solving Lucas-Kanade equations</a:t>
            </a:r>
          </a:p>
          <a:p>
            <a:pPr lvl="1" defTabSz="914400" fontAlgn="base">
              <a:spcAft>
                <a:spcPct val="0"/>
              </a:spcAft>
              <a:buFontTx/>
              <a:buAutoNum type="arabicPeriod"/>
            </a:pPr>
            <a:r>
              <a:rPr lang="en-US" altLang="x-none" sz="2400">
                <a:solidFill>
                  <a:srgbClr val="000000"/>
                </a:solidFill>
              </a:rPr>
              <a:t>Warp I(t-1) towards I(t) using the estimated flow field</a:t>
            </a:r>
          </a:p>
          <a:p>
            <a:pPr lvl="2" defTabSz="914400" fontAlgn="base">
              <a:spcAft>
                <a:spcPct val="0"/>
              </a:spcAft>
              <a:buFontTx/>
              <a:buNone/>
            </a:pPr>
            <a:r>
              <a:rPr lang="en-US" altLang="x-none" sz="2000" i="1">
                <a:solidFill>
                  <a:srgbClr val="000000"/>
                </a:solidFill>
              </a:rPr>
              <a:t>- use image warping techniques</a:t>
            </a:r>
          </a:p>
          <a:p>
            <a:pPr lvl="1" defTabSz="914400" fontAlgn="base">
              <a:spcAft>
                <a:spcPct val="0"/>
              </a:spcAft>
              <a:buFontTx/>
              <a:buAutoNum type="arabicPeriod"/>
            </a:pPr>
            <a:r>
              <a:rPr lang="en-US" altLang="x-none" sz="2400">
                <a:solidFill>
                  <a:srgbClr val="000000"/>
                </a:solidFill>
              </a:rPr>
              <a:t>Repeat until convergence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082DA-A5A0-C004-A70F-B94C95A3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44E4-550F-0A46-909E-6E4279750EDF}" type="slidenum">
              <a:rPr lang="en-US" altLang="x-none" smtClean="0">
                <a:solidFill>
                  <a:srgbClr val="000000"/>
                </a:solidFill>
              </a:rPr>
              <a:pPr/>
              <a:t>28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3765550" y="3332163"/>
            <a:ext cx="706438" cy="304800"/>
            <a:chOff x="2372" y="2099"/>
            <a:chExt cx="445" cy="192"/>
          </a:xfrm>
        </p:grpSpPr>
        <p:sp>
          <p:nvSpPr>
            <p:cNvPr id="17411" name="Line 3"/>
            <p:cNvSpPr>
              <a:spLocks noChangeShapeType="1"/>
            </p:cNvSpPr>
            <p:nvPr/>
          </p:nvSpPr>
          <p:spPr bwMode="auto">
            <a:xfrm>
              <a:off x="2372" y="2268"/>
              <a:ext cx="4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2449" y="2108"/>
            <a:ext cx="115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77480" progId="Equation.3">
                    <p:embed/>
                  </p:oleObj>
                </mc:Choice>
                <mc:Fallback>
                  <p:oleObj name="Equation" r:id="rId2" imgW="126720" imgH="177480" progId="Equation.3">
                    <p:embed/>
                    <p:pic>
                      <p:nvPicPr>
                        <p:cNvPr id="174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9" y="2108"/>
                          <a:ext cx="115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3" name="Text Box 5"/>
            <p:cNvSpPr txBox="1">
              <a:spLocks noChangeArrowheads="1"/>
            </p:cNvSpPr>
            <p:nvPr/>
          </p:nvSpPr>
          <p:spPr bwMode="auto">
            <a:xfrm>
              <a:off x="2528" y="2099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sz="1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?</a:t>
              </a:r>
            </a:p>
          </p:txBody>
        </p:sp>
      </p:grp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581025" y="315913"/>
            <a:ext cx="7913688" cy="862012"/>
          </a:xfrm>
        </p:spPr>
        <p:txBody>
          <a:bodyPr/>
          <a:lstStyle/>
          <a:p>
            <a:r>
              <a:rPr lang="en-US" altLang="x-none"/>
              <a:t>Tracking in the 1D case: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 flipV="1">
            <a:off x="1179513" y="2268538"/>
            <a:ext cx="0" cy="2173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1179513" y="4456113"/>
            <a:ext cx="6178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7405688" y="4381500"/>
          <a:ext cx="2032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39680" progId="Equation.3">
                  <p:embed/>
                </p:oleObj>
              </mc:Choice>
              <mc:Fallback>
                <p:oleObj name="Equation" r:id="rId4" imgW="126720" imgH="139680" progId="Equation.3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8" y="4381500"/>
                        <a:ext cx="203200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8" name="Group 10"/>
          <p:cNvGrpSpPr>
            <a:grpSpLocks/>
          </p:cNvGrpSpPr>
          <p:nvPr/>
        </p:nvGrpSpPr>
        <p:grpSpPr bwMode="auto">
          <a:xfrm>
            <a:off x="1187450" y="2503488"/>
            <a:ext cx="5422900" cy="1736725"/>
            <a:chOff x="748" y="1577"/>
            <a:chExt cx="3416" cy="1094"/>
          </a:xfrm>
        </p:grpSpPr>
        <p:graphicFrame>
          <p:nvGraphicFramePr>
            <p:cNvPr id="17419" name="Object 11"/>
            <p:cNvGraphicFramePr>
              <a:graphicFrameLocks noChangeAspect="1"/>
            </p:cNvGraphicFramePr>
            <p:nvPr/>
          </p:nvGraphicFramePr>
          <p:xfrm>
            <a:off x="1068" y="1577"/>
            <a:ext cx="42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9040" imgH="203040" progId="Equation.3">
                    <p:embed/>
                  </p:oleObj>
                </mc:Choice>
                <mc:Fallback>
                  <p:oleObj name="Equation" r:id="rId6" imgW="419040" imgH="203040" progId="Equation.3">
                    <p:embed/>
                    <p:pic>
                      <p:nvPicPr>
                        <p:cNvPr id="1741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1577"/>
                          <a:ext cx="42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20" name="Group 12"/>
            <p:cNvGrpSpPr>
              <a:grpSpLocks/>
            </p:cNvGrpSpPr>
            <p:nvPr/>
          </p:nvGrpSpPr>
          <p:grpSpPr bwMode="auto">
            <a:xfrm>
              <a:off x="748" y="1901"/>
              <a:ext cx="3416" cy="770"/>
              <a:chOff x="703" y="1511"/>
              <a:chExt cx="3416" cy="770"/>
            </a:xfrm>
          </p:grpSpPr>
          <p:sp>
            <p:nvSpPr>
              <p:cNvPr id="17421" name="Line 13"/>
              <p:cNvSpPr>
                <a:spLocks noChangeShapeType="1"/>
              </p:cNvSpPr>
              <p:nvPr/>
            </p:nvSpPr>
            <p:spPr bwMode="auto">
              <a:xfrm>
                <a:off x="703" y="1519"/>
                <a:ext cx="10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2" name="Freeform 14"/>
              <p:cNvSpPr>
                <a:spLocks/>
              </p:cNvSpPr>
              <p:nvPr/>
            </p:nvSpPr>
            <p:spPr bwMode="auto">
              <a:xfrm>
                <a:off x="1742" y="1511"/>
                <a:ext cx="1356" cy="770"/>
              </a:xfrm>
              <a:custGeom>
                <a:avLst/>
                <a:gdLst>
                  <a:gd name="T0" fmla="*/ 0 w 1356"/>
                  <a:gd name="T1" fmla="*/ 8 h 770"/>
                  <a:gd name="T2" fmla="*/ 231 w 1356"/>
                  <a:gd name="T3" fmla="*/ 36 h 770"/>
                  <a:gd name="T4" fmla="*/ 462 w 1356"/>
                  <a:gd name="T5" fmla="*/ 222 h 770"/>
                  <a:gd name="T6" fmla="*/ 666 w 1356"/>
                  <a:gd name="T7" fmla="*/ 457 h 770"/>
                  <a:gd name="T8" fmla="*/ 866 w 1356"/>
                  <a:gd name="T9" fmla="*/ 634 h 770"/>
                  <a:gd name="T10" fmla="*/ 1088 w 1356"/>
                  <a:gd name="T11" fmla="*/ 739 h 770"/>
                  <a:gd name="T12" fmla="*/ 1356 w 1356"/>
                  <a:gd name="T13" fmla="*/ 770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6" h="770">
                    <a:moveTo>
                      <a:pt x="0" y="8"/>
                    </a:moveTo>
                    <a:cubicBezTo>
                      <a:pt x="77" y="4"/>
                      <a:pt x="154" y="0"/>
                      <a:pt x="231" y="36"/>
                    </a:cubicBezTo>
                    <a:cubicBezTo>
                      <a:pt x="308" y="72"/>
                      <a:pt x="390" y="152"/>
                      <a:pt x="462" y="222"/>
                    </a:cubicBezTo>
                    <a:cubicBezTo>
                      <a:pt x="534" y="292"/>
                      <a:pt x="599" y="388"/>
                      <a:pt x="666" y="457"/>
                    </a:cubicBezTo>
                    <a:cubicBezTo>
                      <a:pt x="733" y="526"/>
                      <a:pt x="796" y="587"/>
                      <a:pt x="866" y="634"/>
                    </a:cubicBezTo>
                    <a:cubicBezTo>
                      <a:pt x="936" y="681"/>
                      <a:pt x="1006" y="716"/>
                      <a:pt x="1088" y="739"/>
                    </a:cubicBezTo>
                    <a:cubicBezTo>
                      <a:pt x="1170" y="762"/>
                      <a:pt x="1263" y="766"/>
                      <a:pt x="1356" y="770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3" name="Line 15"/>
              <p:cNvSpPr>
                <a:spLocks noChangeShapeType="1"/>
              </p:cNvSpPr>
              <p:nvPr/>
            </p:nvSpPr>
            <p:spPr bwMode="auto">
              <a:xfrm>
                <a:off x="3080" y="2281"/>
                <a:ext cx="10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7424" name="Group 16"/>
          <p:cNvGrpSpPr>
            <a:grpSpLocks/>
          </p:cNvGrpSpPr>
          <p:nvPr/>
        </p:nvGrpSpPr>
        <p:grpSpPr bwMode="auto">
          <a:xfrm>
            <a:off x="1905000" y="2514600"/>
            <a:ext cx="5422900" cy="1708150"/>
            <a:chOff x="1194" y="1596"/>
            <a:chExt cx="3416" cy="1076"/>
          </a:xfrm>
        </p:grpSpPr>
        <p:grpSp>
          <p:nvGrpSpPr>
            <p:cNvPr id="17425" name="Group 17"/>
            <p:cNvGrpSpPr>
              <a:grpSpLocks/>
            </p:cNvGrpSpPr>
            <p:nvPr/>
          </p:nvGrpSpPr>
          <p:grpSpPr bwMode="auto">
            <a:xfrm>
              <a:off x="1194" y="1902"/>
              <a:ext cx="3416" cy="770"/>
              <a:chOff x="703" y="1511"/>
              <a:chExt cx="3416" cy="770"/>
            </a:xfrm>
          </p:grpSpPr>
          <p:sp>
            <p:nvSpPr>
              <p:cNvPr id="17426" name="Line 18"/>
              <p:cNvSpPr>
                <a:spLocks noChangeShapeType="1"/>
              </p:cNvSpPr>
              <p:nvPr/>
            </p:nvSpPr>
            <p:spPr bwMode="auto">
              <a:xfrm>
                <a:off x="703" y="1519"/>
                <a:ext cx="1039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7" name="Freeform 19"/>
              <p:cNvSpPr>
                <a:spLocks/>
              </p:cNvSpPr>
              <p:nvPr/>
            </p:nvSpPr>
            <p:spPr bwMode="auto">
              <a:xfrm>
                <a:off x="1742" y="1511"/>
                <a:ext cx="1356" cy="770"/>
              </a:xfrm>
              <a:custGeom>
                <a:avLst/>
                <a:gdLst>
                  <a:gd name="T0" fmla="*/ 0 w 1356"/>
                  <a:gd name="T1" fmla="*/ 8 h 770"/>
                  <a:gd name="T2" fmla="*/ 231 w 1356"/>
                  <a:gd name="T3" fmla="*/ 36 h 770"/>
                  <a:gd name="T4" fmla="*/ 462 w 1356"/>
                  <a:gd name="T5" fmla="*/ 222 h 770"/>
                  <a:gd name="T6" fmla="*/ 666 w 1356"/>
                  <a:gd name="T7" fmla="*/ 457 h 770"/>
                  <a:gd name="T8" fmla="*/ 866 w 1356"/>
                  <a:gd name="T9" fmla="*/ 634 h 770"/>
                  <a:gd name="T10" fmla="*/ 1088 w 1356"/>
                  <a:gd name="T11" fmla="*/ 739 h 770"/>
                  <a:gd name="T12" fmla="*/ 1356 w 1356"/>
                  <a:gd name="T13" fmla="*/ 770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6" h="770">
                    <a:moveTo>
                      <a:pt x="0" y="8"/>
                    </a:moveTo>
                    <a:cubicBezTo>
                      <a:pt x="77" y="4"/>
                      <a:pt x="154" y="0"/>
                      <a:pt x="231" y="36"/>
                    </a:cubicBezTo>
                    <a:cubicBezTo>
                      <a:pt x="308" y="72"/>
                      <a:pt x="390" y="152"/>
                      <a:pt x="462" y="222"/>
                    </a:cubicBezTo>
                    <a:cubicBezTo>
                      <a:pt x="534" y="292"/>
                      <a:pt x="599" y="388"/>
                      <a:pt x="666" y="457"/>
                    </a:cubicBezTo>
                    <a:cubicBezTo>
                      <a:pt x="733" y="526"/>
                      <a:pt x="796" y="587"/>
                      <a:pt x="866" y="634"/>
                    </a:cubicBezTo>
                    <a:cubicBezTo>
                      <a:pt x="936" y="681"/>
                      <a:pt x="1006" y="716"/>
                      <a:pt x="1088" y="739"/>
                    </a:cubicBezTo>
                    <a:cubicBezTo>
                      <a:pt x="1170" y="762"/>
                      <a:pt x="1263" y="766"/>
                      <a:pt x="1356" y="770"/>
                    </a:cubicBezTo>
                  </a:path>
                </a:pathLst>
              </a:custGeom>
              <a:noFill/>
              <a:ln w="12700" cap="flat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8" name="Line 20"/>
              <p:cNvSpPr>
                <a:spLocks noChangeShapeType="1"/>
              </p:cNvSpPr>
              <p:nvPr/>
            </p:nvSpPr>
            <p:spPr bwMode="auto">
              <a:xfrm>
                <a:off x="3080" y="2281"/>
                <a:ext cx="1039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7429" name="Object 21"/>
            <p:cNvGraphicFramePr>
              <a:graphicFrameLocks noChangeAspect="1"/>
            </p:cNvGraphicFramePr>
            <p:nvPr/>
          </p:nvGraphicFramePr>
          <p:xfrm>
            <a:off x="1571" y="1596"/>
            <a:ext cx="61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09480" imgH="203040" progId="Equation.3">
                    <p:embed/>
                  </p:oleObj>
                </mc:Choice>
                <mc:Fallback>
                  <p:oleObj name="Equation" r:id="rId8" imgW="609480" imgH="203040" progId="Equation.3">
                    <p:embed/>
                    <p:pic>
                      <p:nvPicPr>
                        <p:cNvPr id="174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1" y="1596"/>
                          <a:ext cx="61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30" name="Group 22"/>
          <p:cNvGrpSpPr>
            <a:grpSpLocks/>
          </p:cNvGrpSpPr>
          <p:nvPr/>
        </p:nvGrpSpPr>
        <p:grpSpPr bwMode="auto">
          <a:xfrm>
            <a:off x="3481388" y="3551238"/>
            <a:ext cx="328612" cy="249237"/>
            <a:chOff x="2193" y="2237"/>
            <a:chExt cx="207" cy="157"/>
          </a:xfrm>
        </p:grpSpPr>
        <p:sp>
          <p:nvSpPr>
            <p:cNvPr id="17431" name="Oval 23"/>
            <p:cNvSpPr>
              <a:spLocks noChangeArrowheads="1"/>
            </p:cNvSpPr>
            <p:nvPr/>
          </p:nvSpPr>
          <p:spPr bwMode="auto">
            <a:xfrm>
              <a:off x="2344" y="2237"/>
              <a:ext cx="56" cy="5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7432" name="Object 24"/>
            <p:cNvGraphicFramePr>
              <a:graphicFrameLocks noChangeAspect="1"/>
            </p:cNvGraphicFramePr>
            <p:nvPr/>
          </p:nvGraphicFramePr>
          <p:xfrm>
            <a:off x="2193" y="2245"/>
            <a:ext cx="138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80" imgH="164880" progId="Equation.3">
                    <p:embed/>
                  </p:oleObj>
                </mc:Choice>
                <mc:Fallback>
                  <p:oleObj name="Equation" r:id="rId10" imgW="152280" imgH="164880" progId="Equation.3">
                    <p:embed/>
                    <p:pic>
                      <p:nvPicPr>
                        <p:cNvPr id="1743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3" y="2245"/>
                          <a:ext cx="138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42ADA-13EB-3BBB-DDB3-9CDA022B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AB53-67E3-1C44-8816-07EF71D3898A}" type="slidenum">
              <a:rPr lang="en-US" altLang="x-none" smtClean="0">
                <a:solidFill>
                  <a:srgbClr val="000000"/>
                </a:solidFill>
              </a:rPr>
              <a:pPr/>
              <a:t>29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8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3757613" y="3557588"/>
            <a:ext cx="527050" cy="255587"/>
            <a:chOff x="2367" y="2241"/>
            <a:chExt cx="332" cy="161"/>
          </a:xfrm>
        </p:grpSpPr>
        <p:sp>
          <p:nvSpPr>
            <p:cNvPr id="18435" name="Line 3"/>
            <p:cNvSpPr>
              <a:spLocks noChangeShapeType="1"/>
            </p:cNvSpPr>
            <p:nvPr/>
          </p:nvSpPr>
          <p:spPr bwMode="auto">
            <a:xfrm>
              <a:off x="2367" y="2268"/>
              <a:ext cx="3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8436" name="Object 4"/>
            <p:cNvGraphicFramePr>
              <a:graphicFrameLocks noChangeAspect="1"/>
            </p:cNvGraphicFramePr>
            <p:nvPr/>
          </p:nvGraphicFramePr>
          <p:xfrm>
            <a:off x="2506" y="2241"/>
            <a:ext cx="115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77480" progId="Equation.3">
                    <p:embed/>
                  </p:oleObj>
                </mc:Choice>
                <mc:Fallback>
                  <p:oleObj name="Equation" r:id="rId2" imgW="126720" imgH="177480" progId="Equation.3">
                    <p:embed/>
                    <p:pic>
                      <p:nvPicPr>
                        <p:cNvPr id="1843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6" y="2241"/>
                          <a:ext cx="115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37" name="Group 5"/>
          <p:cNvGrpSpPr>
            <a:grpSpLocks/>
          </p:cNvGrpSpPr>
          <p:nvPr/>
        </p:nvGrpSpPr>
        <p:grpSpPr bwMode="auto">
          <a:xfrm>
            <a:off x="3048000" y="2859088"/>
            <a:ext cx="2063750" cy="2632075"/>
            <a:chOff x="1920" y="1801"/>
            <a:chExt cx="1300" cy="1658"/>
          </a:xfrm>
        </p:grpSpPr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>
              <a:off x="1945" y="1801"/>
              <a:ext cx="1216" cy="13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>
              <a:off x="2961" y="2898"/>
              <a:ext cx="0" cy="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2961" y="2980"/>
              <a:ext cx="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8441" name="Object 9"/>
            <p:cNvGraphicFramePr>
              <a:graphicFrameLocks noChangeAspect="1"/>
            </p:cNvGraphicFramePr>
            <p:nvPr/>
          </p:nvGraphicFramePr>
          <p:xfrm>
            <a:off x="2821" y="2910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228600" progId="Equation.3">
                    <p:embed/>
                  </p:oleObj>
                </mc:Choice>
                <mc:Fallback>
                  <p:oleObj name="Equation" r:id="rId4" imgW="164880" imgH="228600" progId="Equation.3">
                    <p:embed/>
                    <p:pic>
                      <p:nvPicPr>
                        <p:cNvPr id="1844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1" y="2910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1920" y="3228"/>
              <a:ext cx="1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b="1">
                  <a:solidFill>
                    <a:srgbClr val="FF7C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Spatial derivative</a:t>
              </a:r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 flipV="1">
              <a:off x="2784" y="3107"/>
              <a:ext cx="78" cy="158"/>
            </a:xfrm>
            <a:prstGeom prst="line">
              <a:avLst/>
            </a:prstGeom>
            <a:noFill/>
            <a:ln w="19050">
              <a:solidFill>
                <a:srgbClr val="FF7C8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8444" name="Group 12"/>
          <p:cNvGrpSpPr>
            <a:grpSpLocks/>
          </p:cNvGrpSpPr>
          <p:nvPr/>
        </p:nvGrpSpPr>
        <p:grpSpPr bwMode="auto">
          <a:xfrm>
            <a:off x="1074738" y="3024188"/>
            <a:ext cx="2690812" cy="568325"/>
            <a:chOff x="677" y="1905"/>
            <a:chExt cx="1695" cy="358"/>
          </a:xfrm>
        </p:grpSpPr>
        <p:sp>
          <p:nvSpPr>
            <p:cNvPr id="18445" name="Text Box 13"/>
            <p:cNvSpPr txBox="1">
              <a:spLocks noChangeArrowheads="1"/>
            </p:cNvSpPr>
            <p:nvPr/>
          </p:nvSpPr>
          <p:spPr bwMode="auto">
            <a:xfrm>
              <a:off x="677" y="2032"/>
              <a:ext cx="1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b="1">
                  <a:solidFill>
                    <a:srgbClr val="FF7C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Temporal derivative</a:t>
              </a:r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 flipV="1">
              <a:off x="2372" y="1905"/>
              <a:ext cx="0" cy="3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8447" name="Object 15"/>
            <p:cNvGraphicFramePr>
              <a:graphicFrameLocks noChangeAspect="1"/>
            </p:cNvGraphicFramePr>
            <p:nvPr/>
          </p:nvGraphicFramePr>
          <p:xfrm>
            <a:off x="2246" y="1905"/>
            <a:ext cx="126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228600" progId="Equation.3">
                    <p:embed/>
                  </p:oleObj>
                </mc:Choice>
                <mc:Fallback>
                  <p:oleObj name="Equation" r:id="rId6" imgW="139680" imgH="228600" progId="Equation.3">
                    <p:embed/>
                    <p:pic>
                      <p:nvPicPr>
                        <p:cNvPr id="1844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6" y="1905"/>
                          <a:ext cx="126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V="1">
              <a:off x="2055" y="2001"/>
              <a:ext cx="201" cy="118"/>
            </a:xfrm>
            <a:prstGeom prst="line">
              <a:avLst/>
            </a:prstGeom>
            <a:noFill/>
            <a:ln w="19050">
              <a:solidFill>
                <a:srgbClr val="FF7C8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8449" name="Rectangle 17"/>
          <p:cNvSpPr>
            <a:spLocks noGrp="1" noChangeArrowheads="1"/>
          </p:cNvSpPr>
          <p:nvPr>
            <p:ph type="title"/>
          </p:nvPr>
        </p:nvSpPr>
        <p:spPr>
          <a:xfrm>
            <a:off x="581025" y="315913"/>
            <a:ext cx="7913688" cy="862012"/>
          </a:xfrm>
        </p:spPr>
        <p:txBody>
          <a:bodyPr/>
          <a:lstStyle/>
          <a:p>
            <a:r>
              <a:rPr lang="en-US" altLang="x-none"/>
              <a:t>Tracking in the 1D case:</a:t>
            </a:r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 flipV="1">
            <a:off x="1179513" y="2268538"/>
            <a:ext cx="0" cy="2173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1179513" y="4456113"/>
            <a:ext cx="6178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8452" name="Object 20"/>
          <p:cNvGraphicFramePr>
            <a:graphicFrameLocks noChangeAspect="1"/>
          </p:cNvGraphicFramePr>
          <p:nvPr/>
        </p:nvGraphicFramePr>
        <p:xfrm>
          <a:off x="7405688" y="4381500"/>
          <a:ext cx="2032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39680" progId="Equation.3">
                  <p:embed/>
                </p:oleObj>
              </mc:Choice>
              <mc:Fallback>
                <p:oleObj name="Equation" r:id="rId8" imgW="126720" imgH="139680" progId="Equation.3">
                  <p:embed/>
                  <p:pic>
                    <p:nvPicPr>
                      <p:cNvPr id="184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8" y="4381500"/>
                        <a:ext cx="203200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3" name="Object 21"/>
          <p:cNvGraphicFramePr>
            <a:graphicFrameLocks noChangeAspect="1"/>
          </p:cNvGraphicFramePr>
          <p:nvPr/>
        </p:nvGraphicFramePr>
        <p:xfrm>
          <a:off x="1695450" y="2503488"/>
          <a:ext cx="6699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203040" progId="Equation.3">
                  <p:embed/>
                </p:oleObj>
              </mc:Choice>
              <mc:Fallback>
                <p:oleObj name="Equation" r:id="rId10" imgW="419040" imgH="203040" progId="Equation.3">
                  <p:embed/>
                  <p:pic>
                    <p:nvPicPr>
                      <p:cNvPr id="1845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2503488"/>
                        <a:ext cx="66992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4" name="Group 22"/>
          <p:cNvGrpSpPr>
            <a:grpSpLocks/>
          </p:cNvGrpSpPr>
          <p:nvPr/>
        </p:nvGrpSpPr>
        <p:grpSpPr bwMode="auto">
          <a:xfrm>
            <a:off x="1895475" y="3019425"/>
            <a:ext cx="5422900" cy="1222375"/>
            <a:chOff x="703" y="1511"/>
            <a:chExt cx="3416" cy="770"/>
          </a:xfrm>
        </p:grpSpPr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703" y="1519"/>
              <a:ext cx="103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456" name="Freeform 24"/>
            <p:cNvSpPr>
              <a:spLocks/>
            </p:cNvSpPr>
            <p:nvPr/>
          </p:nvSpPr>
          <p:spPr bwMode="auto">
            <a:xfrm>
              <a:off x="1742" y="1511"/>
              <a:ext cx="1356" cy="770"/>
            </a:xfrm>
            <a:custGeom>
              <a:avLst/>
              <a:gdLst>
                <a:gd name="T0" fmla="*/ 0 w 1356"/>
                <a:gd name="T1" fmla="*/ 8 h 770"/>
                <a:gd name="T2" fmla="*/ 231 w 1356"/>
                <a:gd name="T3" fmla="*/ 36 h 770"/>
                <a:gd name="T4" fmla="*/ 462 w 1356"/>
                <a:gd name="T5" fmla="*/ 222 h 770"/>
                <a:gd name="T6" fmla="*/ 666 w 1356"/>
                <a:gd name="T7" fmla="*/ 457 h 770"/>
                <a:gd name="T8" fmla="*/ 866 w 1356"/>
                <a:gd name="T9" fmla="*/ 634 h 770"/>
                <a:gd name="T10" fmla="*/ 1088 w 1356"/>
                <a:gd name="T11" fmla="*/ 739 h 770"/>
                <a:gd name="T12" fmla="*/ 1356 w 1356"/>
                <a:gd name="T13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6" h="770">
                  <a:moveTo>
                    <a:pt x="0" y="8"/>
                  </a:moveTo>
                  <a:cubicBezTo>
                    <a:pt x="77" y="4"/>
                    <a:pt x="154" y="0"/>
                    <a:pt x="231" y="36"/>
                  </a:cubicBezTo>
                  <a:cubicBezTo>
                    <a:pt x="308" y="72"/>
                    <a:pt x="390" y="152"/>
                    <a:pt x="462" y="222"/>
                  </a:cubicBezTo>
                  <a:cubicBezTo>
                    <a:pt x="534" y="292"/>
                    <a:pt x="599" y="388"/>
                    <a:pt x="666" y="457"/>
                  </a:cubicBezTo>
                  <a:cubicBezTo>
                    <a:pt x="733" y="526"/>
                    <a:pt x="796" y="587"/>
                    <a:pt x="866" y="634"/>
                  </a:cubicBezTo>
                  <a:cubicBezTo>
                    <a:pt x="936" y="681"/>
                    <a:pt x="1006" y="716"/>
                    <a:pt x="1088" y="739"/>
                  </a:cubicBezTo>
                  <a:cubicBezTo>
                    <a:pt x="1170" y="762"/>
                    <a:pt x="1263" y="766"/>
                    <a:pt x="1356" y="770"/>
                  </a:cubicBez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>
              <a:off x="3080" y="2281"/>
              <a:ext cx="103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8458" name="Group 26"/>
          <p:cNvGrpSpPr>
            <a:grpSpLocks/>
          </p:cNvGrpSpPr>
          <p:nvPr/>
        </p:nvGrpSpPr>
        <p:grpSpPr bwMode="auto">
          <a:xfrm>
            <a:off x="1187450" y="3017838"/>
            <a:ext cx="5422900" cy="1222375"/>
            <a:chOff x="703" y="1511"/>
            <a:chExt cx="3416" cy="770"/>
          </a:xfrm>
        </p:grpSpPr>
        <p:sp>
          <p:nvSpPr>
            <p:cNvPr id="18459" name="Line 27"/>
            <p:cNvSpPr>
              <a:spLocks noChangeShapeType="1"/>
            </p:cNvSpPr>
            <p:nvPr/>
          </p:nvSpPr>
          <p:spPr bwMode="auto">
            <a:xfrm>
              <a:off x="703" y="1519"/>
              <a:ext cx="10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460" name="Freeform 28"/>
            <p:cNvSpPr>
              <a:spLocks/>
            </p:cNvSpPr>
            <p:nvPr/>
          </p:nvSpPr>
          <p:spPr bwMode="auto">
            <a:xfrm>
              <a:off x="1742" y="1511"/>
              <a:ext cx="1356" cy="770"/>
            </a:xfrm>
            <a:custGeom>
              <a:avLst/>
              <a:gdLst>
                <a:gd name="T0" fmla="*/ 0 w 1356"/>
                <a:gd name="T1" fmla="*/ 8 h 770"/>
                <a:gd name="T2" fmla="*/ 231 w 1356"/>
                <a:gd name="T3" fmla="*/ 36 h 770"/>
                <a:gd name="T4" fmla="*/ 462 w 1356"/>
                <a:gd name="T5" fmla="*/ 222 h 770"/>
                <a:gd name="T6" fmla="*/ 666 w 1356"/>
                <a:gd name="T7" fmla="*/ 457 h 770"/>
                <a:gd name="T8" fmla="*/ 866 w 1356"/>
                <a:gd name="T9" fmla="*/ 634 h 770"/>
                <a:gd name="T10" fmla="*/ 1088 w 1356"/>
                <a:gd name="T11" fmla="*/ 739 h 770"/>
                <a:gd name="T12" fmla="*/ 1356 w 1356"/>
                <a:gd name="T13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6" h="770">
                  <a:moveTo>
                    <a:pt x="0" y="8"/>
                  </a:moveTo>
                  <a:cubicBezTo>
                    <a:pt x="77" y="4"/>
                    <a:pt x="154" y="0"/>
                    <a:pt x="231" y="36"/>
                  </a:cubicBezTo>
                  <a:cubicBezTo>
                    <a:pt x="308" y="72"/>
                    <a:pt x="390" y="152"/>
                    <a:pt x="462" y="222"/>
                  </a:cubicBezTo>
                  <a:cubicBezTo>
                    <a:pt x="534" y="292"/>
                    <a:pt x="599" y="388"/>
                    <a:pt x="666" y="457"/>
                  </a:cubicBezTo>
                  <a:cubicBezTo>
                    <a:pt x="733" y="526"/>
                    <a:pt x="796" y="587"/>
                    <a:pt x="866" y="634"/>
                  </a:cubicBezTo>
                  <a:cubicBezTo>
                    <a:pt x="936" y="681"/>
                    <a:pt x="1006" y="716"/>
                    <a:pt x="1088" y="739"/>
                  </a:cubicBezTo>
                  <a:cubicBezTo>
                    <a:pt x="1170" y="762"/>
                    <a:pt x="1263" y="766"/>
                    <a:pt x="1356" y="77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461" name="Line 29"/>
            <p:cNvSpPr>
              <a:spLocks noChangeShapeType="1"/>
            </p:cNvSpPr>
            <p:nvPr/>
          </p:nvSpPr>
          <p:spPr bwMode="auto">
            <a:xfrm>
              <a:off x="3080" y="2281"/>
              <a:ext cx="10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18462" name="Object 30"/>
          <p:cNvGraphicFramePr>
            <a:graphicFrameLocks noChangeAspect="1"/>
          </p:cNvGraphicFramePr>
          <p:nvPr/>
        </p:nvGraphicFramePr>
        <p:xfrm>
          <a:off x="2493963" y="2533650"/>
          <a:ext cx="9747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480" imgH="203040" progId="Equation.3">
                  <p:embed/>
                </p:oleObj>
              </mc:Choice>
              <mc:Fallback>
                <p:oleObj name="Equation" r:id="rId12" imgW="609480" imgH="203040" progId="Equation.3">
                  <p:embed/>
                  <p:pic>
                    <p:nvPicPr>
                      <p:cNvPr id="1846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533650"/>
                        <a:ext cx="97472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3" name="Object 31"/>
          <p:cNvGraphicFramePr>
            <a:graphicFrameLocks noChangeAspect="1"/>
          </p:cNvGraphicFramePr>
          <p:nvPr/>
        </p:nvGraphicFramePr>
        <p:xfrm>
          <a:off x="3481388" y="3563938"/>
          <a:ext cx="2190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164880" progId="Equation.3">
                  <p:embed/>
                </p:oleObj>
              </mc:Choice>
              <mc:Fallback>
                <p:oleObj name="Equation" r:id="rId14" imgW="152280" imgH="164880" progId="Equation.3">
                  <p:embed/>
                  <p:pic>
                    <p:nvPicPr>
                      <p:cNvPr id="1846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563938"/>
                        <a:ext cx="2190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4" name="Line 32"/>
          <p:cNvSpPr>
            <a:spLocks noChangeShapeType="1"/>
          </p:cNvSpPr>
          <p:nvPr/>
        </p:nvSpPr>
        <p:spPr bwMode="auto">
          <a:xfrm>
            <a:off x="3779838" y="3594100"/>
            <a:ext cx="1252537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65" name="Line 33"/>
          <p:cNvSpPr>
            <a:spLocks noChangeShapeType="1"/>
          </p:cNvSpPr>
          <p:nvPr/>
        </p:nvSpPr>
        <p:spPr bwMode="auto">
          <a:xfrm>
            <a:off x="3597275" y="2860675"/>
            <a:ext cx="1930400" cy="20796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466" name="Oval 34"/>
          <p:cNvSpPr>
            <a:spLocks noChangeArrowheads="1"/>
          </p:cNvSpPr>
          <p:nvPr/>
        </p:nvSpPr>
        <p:spPr bwMode="auto">
          <a:xfrm>
            <a:off x="3721100" y="3551238"/>
            <a:ext cx="88900" cy="88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8467" name="Group 35"/>
          <p:cNvGrpSpPr>
            <a:grpSpLocks/>
          </p:cNvGrpSpPr>
          <p:nvPr/>
        </p:nvGrpSpPr>
        <p:grpSpPr bwMode="auto">
          <a:xfrm>
            <a:off x="1008063" y="5588000"/>
            <a:ext cx="7812088" cy="955675"/>
            <a:chOff x="635" y="3520"/>
            <a:chExt cx="4921" cy="602"/>
          </a:xfrm>
        </p:grpSpPr>
        <p:graphicFrame>
          <p:nvGraphicFramePr>
            <p:cNvPr id="18468" name="Object 36"/>
            <p:cNvGraphicFramePr>
              <a:graphicFrameLocks noChangeAspect="1"/>
            </p:cNvGraphicFramePr>
            <p:nvPr/>
          </p:nvGraphicFramePr>
          <p:xfrm>
            <a:off x="635" y="3667"/>
            <a:ext cx="549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58720" imgH="444240" progId="Equation.3">
                    <p:embed/>
                  </p:oleObj>
                </mc:Choice>
                <mc:Fallback>
                  <p:oleObj name="Equation" r:id="rId16" imgW="558720" imgH="444240" progId="Equation.3">
                    <p:embed/>
                    <p:pic>
                      <p:nvPicPr>
                        <p:cNvPr id="18468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3667"/>
                          <a:ext cx="549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9" name="Object 37"/>
            <p:cNvGraphicFramePr>
              <a:graphicFrameLocks noChangeAspect="1"/>
            </p:cNvGraphicFramePr>
            <p:nvPr/>
          </p:nvGraphicFramePr>
          <p:xfrm>
            <a:off x="1497" y="3671"/>
            <a:ext cx="662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72840" imgH="457200" progId="Equation.3">
                    <p:embed/>
                  </p:oleObj>
                </mc:Choice>
                <mc:Fallback>
                  <p:oleObj name="Equation" r:id="rId18" imgW="672840" imgH="457200" progId="Equation.3">
                    <p:embed/>
                    <p:pic>
                      <p:nvPicPr>
                        <p:cNvPr id="1846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671"/>
                          <a:ext cx="662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0" name="AutoShape 38"/>
            <p:cNvSpPr>
              <a:spLocks noChangeArrowheads="1"/>
            </p:cNvSpPr>
            <p:nvPr/>
          </p:nvSpPr>
          <p:spPr bwMode="auto">
            <a:xfrm>
              <a:off x="2478" y="3777"/>
              <a:ext cx="274" cy="192"/>
            </a:xfrm>
            <a:prstGeom prst="rightArrow">
              <a:avLst>
                <a:gd name="adj1" fmla="val 50000"/>
                <a:gd name="adj2" fmla="val 25489"/>
              </a:avLst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8471" name="Object 39"/>
            <p:cNvGraphicFramePr>
              <a:graphicFrameLocks noChangeAspect="1"/>
            </p:cNvGraphicFramePr>
            <p:nvPr/>
          </p:nvGraphicFramePr>
          <p:xfrm>
            <a:off x="3035" y="3648"/>
            <a:ext cx="539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45760" imgH="431640" progId="Equation.3">
                    <p:embed/>
                  </p:oleObj>
                </mc:Choice>
                <mc:Fallback>
                  <p:oleObj name="Equation" r:id="rId20" imgW="545760" imgH="431640" progId="Equation.3">
                    <p:embed/>
                    <p:pic>
                      <p:nvPicPr>
                        <p:cNvPr id="18471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5" y="3648"/>
                          <a:ext cx="539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2" name="Text Box 40"/>
            <p:cNvSpPr txBox="1">
              <a:spLocks noChangeArrowheads="1"/>
            </p:cNvSpPr>
            <p:nvPr/>
          </p:nvSpPr>
          <p:spPr bwMode="auto">
            <a:xfrm>
              <a:off x="4010" y="3520"/>
              <a:ext cx="9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sz="16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Assumptions:</a:t>
              </a:r>
            </a:p>
          </p:txBody>
        </p:sp>
        <p:sp>
          <p:nvSpPr>
            <p:cNvPr id="18473" name="Text Box 41"/>
            <p:cNvSpPr txBox="1">
              <a:spLocks noChangeArrowheads="1"/>
            </p:cNvSpPr>
            <p:nvPr/>
          </p:nvSpPr>
          <p:spPr bwMode="auto">
            <a:xfrm>
              <a:off x="4023" y="3742"/>
              <a:ext cx="153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x-none" sz="16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Brightness constancy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x-none" sz="16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Small motion</a:t>
              </a:r>
            </a:p>
          </p:txBody>
        </p:sp>
        <p:sp>
          <p:nvSpPr>
            <p:cNvPr id="18474" name="AutoShape 42"/>
            <p:cNvSpPr>
              <a:spLocks/>
            </p:cNvSpPr>
            <p:nvPr/>
          </p:nvSpPr>
          <p:spPr bwMode="auto">
            <a:xfrm>
              <a:off x="3915" y="3546"/>
              <a:ext cx="91" cy="567"/>
            </a:xfrm>
            <a:prstGeom prst="leftBrace">
              <a:avLst>
                <a:gd name="adj1" fmla="val 5192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9292B-1654-D0EA-A513-6816DA66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AB53-67E3-1C44-8816-07EF71D3898A}" type="slidenum">
              <a:rPr lang="en-US" altLang="x-none" smtClean="0">
                <a:solidFill>
                  <a:srgbClr val="000000"/>
                </a:solidFill>
              </a:rPr>
              <a:pPr/>
              <a:t>30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47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94C99-9237-C844-96F1-990612D1F426}" type="slidenum">
              <a:rPr lang="en-US" altLang="x-none">
                <a:solidFill>
                  <a:srgbClr val="000000"/>
                </a:solidFill>
              </a:rPr>
              <a:pPr/>
              <a:t>31</a:t>
            </a:fld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315913"/>
            <a:ext cx="7913688" cy="862012"/>
          </a:xfrm>
        </p:spPr>
        <p:txBody>
          <a:bodyPr/>
          <a:lstStyle/>
          <a:p>
            <a:r>
              <a:rPr lang="en-US" altLang="x-none"/>
              <a:t>Tracking in the 1D case:</a:t>
            </a:r>
          </a:p>
        </p:txBody>
      </p:sp>
      <p:sp>
        <p:nvSpPr>
          <p:cNvPr id="19459" name="Line 3"/>
          <p:cNvSpPr>
            <a:spLocks noChangeShapeType="1"/>
          </p:cNvSpPr>
          <p:nvPr/>
        </p:nvSpPr>
        <p:spPr bwMode="auto">
          <a:xfrm flipV="1">
            <a:off x="1179513" y="2268538"/>
            <a:ext cx="0" cy="2173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1179513" y="4456113"/>
            <a:ext cx="6178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7405688" y="4381500"/>
          <a:ext cx="2032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39680" progId="Equation.3">
                  <p:embed/>
                </p:oleObj>
              </mc:Choice>
              <mc:Fallback>
                <p:oleObj name="Equation" r:id="rId2" imgW="126720" imgH="139680" progId="Equation.3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8" y="4381500"/>
                        <a:ext cx="203200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695450" y="2503488"/>
          <a:ext cx="6699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03040" progId="Equation.3">
                  <p:embed/>
                </p:oleObj>
              </mc:Choice>
              <mc:Fallback>
                <p:oleObj name="Equation" r:id="rId4" imgW="419040" imgH="203040" progId="Equation.3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2503488"/>
                        <a:ext cx="66992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3" name="Group 7"/>
          <p:cNvGrpSpPr>
            <a:grpSpLocks/>
          </p:cNvGrpSpPr>
          <p:nvPr/>
        </p:nvGrpSpPr>
        <p:grpSpPr bwMode="auto">
          <a:xfrm>
            <a:off x="1895475" y="3019425"/>
            <a:ext cx="5422900" cy="1222375"/>
            <a:chOff x="703" y="1511"/>
            <a:chExt cx="3416" cy="770"/>
          </a:xfrm>
        </p:grpSpPr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>
              <a:off x="703" y="1519"/>
              <a:ext cx="103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465" name="Freeform 9"/>
            <p:cNvSpPr>
              <a:spLocks/>
            </p:cNvSpPr>
            <p:nvPr/>
          </p:nvSpPr>
          <p:spPr bwMode="auto">
            <a:xfrm>
              <a:off x="1742" y="1511"/>
              <a:ext cx="1356" cy="770"/>
            </a:xfrm>
            <a:custGeom>
              <a:avLst/>
              <a:gdLst>
                <a:gd name="T0" fmla="*/ 0 w 1356"/>
                <a:gd name="T1" fmla="*/ 8 h 770"/>
                <a:gd name="T2" fmla="*/ 231 w 1356"/>
                <a:gd name="T3" fmla="*/ 36 h 770"/>
                <a:gd name="T4" fmla="*/ 462 w 1356"/>
                <a:gd name="T5" fmla="*/ 222 h 770"/>
                <a:gd name="T6" fmla="*/ 666 w 1356"/>
                <a:gd name="T7" fmla="*/ 457 h 770"/>
                <a:gd name="T8" fmla="*/ 866 w 1356"/>
                <a:gd name="T9" fmla="*/ 634 h 770"/>
                <a:gd name="T10" fmla="*/ 1088 w 1356"/>
                <a:gd name="T11" fmla="*/ 739 h 770"/>
                <a:gd name="T12" fmla="*/ 1356 w 1356"/>
                <a:gd name="T13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6" h="770">
                  <a:moveTo>
                    <a:pt x="0" y="8"/>
                  </a:moveTo>
                  <a:cubicBezTo>
                    <a:pt x="77" y="4"/>
                    <a:pt x="154" y="0"/>
                    <a:pt x="231" y="36"/>
                  </a:cubicBezTo>
                  <a:cubicBezTo>
                    <a:pt x="308" y="72"/>
                    <a:pt x="390" y="152"/>
                    <a:pt x="462" y="222"/>
                  </a:cubicBezTo>
                  <a:cubicBezTo>
                    <a:pt x="534" y="292"/>
                    <a:pt x="599" y="388"/>
                    <a:pt x="666" y="457"/>
                  </a:cubicBezTo>
                  <a:cubicBezTo>
                    <a:pt x="733" y="526"/>
                    <a:pt x="796" y="587"/>
                    <a:pt x="866" y="634"/>
                  </a:cubicBezTo>
                  <a:cubicBezTo>
                    <a:pt x="936" y="681"/>
                    <a:pt x="1006" y="716"/>
                    <a:pt x="1088" y="739"/>
                  </a:cubicBezTo>
                  <a:cubicBezTo>
                    <a:pt x="1170" y="762"/>
                    <a:pt x="1263" y="766"/>
                    <a:pt x="1356" y="770"/>
                  </a:cubicBezTo>
                </a:path>
              </a:pathLst>
            </a:custGeom>
            <a:noFill/>
            <a:ln w="127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>
              <a:off x="3080" y="2281"/>
              <a:ext cx="103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9467" name="Group 11"/>
          <p:cNvGrpSpPr>
            <a:grpSpLocks/>
          </p:cNvGrpSpPr>
          <p:nvPr/>
        </p:nvGrpSpPr>
        <p:grpSpPr bwMode="auto">
          <a:xfrm>
            <a:off x="1187450" y="3017838"/>
            <a:ext cx="5422900" cy="1222375"/>
            <a:chOff x="703" y="1511"/>
            <a:chExt cx="3416" cy="770"/>
          </a:xfrm>
        </p:grpSpPr>
        <p:sp>
          <p:nvSpPr>
            <p:cNvPr id="19468" name="Line 12"/>
            <p:cNvSpPr>
              <a:spLocks noChangeShapeType="1"/>
            </p:cNvSpPr>
            <p:nvPr/>
          </p:nvSpPr>
          <p:spPr bwMode="auto">
            <a:xfrm>
              <a:off x="703" y="1519"/>
              <a:ext cx="10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469" name="Freeform 13"/>
            <p:cNvSpPr>
              <a:spLocks/>
            </p:cNvSpPr>
            <p:nvPr/>
          </p:nvSpPr>
          <p:spPr bwMode="auto">
            <a:xfrm>
              <a:off x="1742" y="1511"/>
              <a:ext cx="1356" cy="770"/>
            </a:xfrm>
            <a:custGeom>
              <a:avLst/>
              <a:gdLst>
                <a:gd name="T0" fmla="*/ 0 w 1356"/>
                <a:gd name="T1" fmla="*/ 8 h 770"/>
                <a:gd name="T2" fmla="*/ 231 w 1356"/>
                <a:gd name="T3" fmla="*/ 36 h 770"/>
                <a:gd name="T4" fmla="*/ 462 w 1356"/>
                <a:gd name="T5" fmla="*/ 222 h 770"/>
                <a:gd name="T6" fmla="*/ 666 w 1356"/>
                <a:gd name="T7" fmla="*/ 457 h 770"/>
                <a:gd name="T8" fmla="*/ 866 w 1356"/>
                <a:gd name="T9" fmla="*/ 634 h 770"/>
                <a:gd name="T10" fmla="*/ 1088 w 1356"/>
                <a:gd name="T11" fmla="*/ 739 h 770"/>
                <a:gd name="T12" fmla="*/ 1356 w 1356"/>
                <a:gd name="T13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6" h="770">
                  <a:moveTo>
                    <a:pt x="0" y="8"/>
                  </a:moveTo>
                  <a:cubicBezTo>
                    <a:pt x="77" y="4"/>
                    <a:pt x="154" y="0"/>
                    <a:pt x="231" y="36"/>
                  </a:cubicBezTo>
                  <a:cubicBezTo>
                    <a:pt x="308" y="72"/>
                    <a:pt x="390" y="152"/>
                    <a:pt x="462" y="222"/>
                  </a:cubicBezTo>
                  <a:cubicBezTo>
                    <a:pt x="534" y="292"/>
                    <a:pt x="599" y="388"/>
                    <a:pt x="666" y="457"/>
                  </a:cubicBezTo>
                  <a:cubicBezTo>
                    <a:pt x="733" y="526"/>
                    <a:pt x="796" y="587"/>
                    <a:pt x="866" y="634"/>
                  </a:cubicBezTo>
                  <a:cubicBezTo>
                    <a:pt x="936" y="681"/>
                    <a:pt x="1006" y="716"/>
                    <a:pt x="1088" y="739"/>
                  </a:cubicBezTo>
                  <a:cubicBezTo>
                    <a:pt x="1170" y="762"/>
                    <a:pt x="1263" y="766"/>
                    <a:pt x="1356" y="77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auto">
            <a:xfrm>
              <a:off x="3080" y="2281"/>
              <a:ext cx="10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19471" name="Object 15"/>
          <p:cNvGraphicFramePr>
            <a:graphicFrameLocks noChangeAspect="1"/>
          </p:cNvGraphicFramePr>
          <p:nvPr/>
        </p:nvGraphicFramePr>
        <p:xfrm>
          <a:off x="2493963" y="2533650"/>
          <a:ext cx="9747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203040" progId="Equation.3">
                  <p:embed/>
                </p:oleObj>
              </mc:Choice>
              <mc:Fallback>
                <p:oleObj name="Equation" r:id="rId6" imgW="609480" imgH="203040" progId="Equation.3">
                  <p:embed/>
                  <p:pic>
                    <p:nvPicPr>
                      <p:cNvPr id="194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533650"/>
                        <a:ext cx="97472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3721100" y="3551238"/>
            <a:ext cx="88900" cy="88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/>
        </p:nvGraphicFramePr>
        <p:xfrm>
          <a:off x="3481388" y="3563938"/>
          <a:ext cx="2190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164880" progId="Equation.3">
                  <p:embed/>
                </p:oleObj>
              </mc:Choice>
              <mc:Fallback>
                <p:oleObj name="Equation" r:id="rId8" imgW="152280" imgH="164880" progId="Equation.3">
                  <p:embed/>
                  <p:pic>
                    <p:nvPicPr>
                      <p:cNvPr id="1947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563938"/>
                        <a:ext cx="2190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3087688" y="2859088"/>
            <a:ext cx="1930400" cy="20796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75" name="Line 19"/>
          <p:cNvSpPr>
            <a:spLocks noChangeShapeType="1"/>
          </p:cNvSpPr>
          <p:nvPr/>
        </p:nvSpPr>
        <p:spPr bwMode="auto">
          <a:xfrm>
            <a:off x="4700588" y="4600575"/>
            <a:ext cx="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76" name="Line 20"/>
          <p:cNvSpPr>
            <a:spLocks noChangeShapeType="1"/>
          </p:cNvSpPr>
          <p:nvPr/>
        </p:nvSpPr>
        <p:spPr bwMode="auto">
          <a:xfrm>
            <a:off x="4700588" y="4730750"/>
            <a:ext cx="1222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9477" name="Object 21"/>
          <p:cNvGraphicFramePr>
            <a:graphicFrameLocks noChangeAspect="1"/>
          </p:cNvGraphicFramePr>
          <p:nvPr/>
        </p:nvGraphicFramePr>
        <p:xfrm>
          <a:off x="4478338" y="4619625"/>
          <a:ext cx="236537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28600" progId="Equation.3">
                  <p:embed/>
                </p:oleObj>
              </mc:Choice>
              <mc:Fallback>
                <p:oleObj name="Equation" r:id="rId10" imgW="164880" imgH="228600" progId="Equation.3">
                  <p:embed/>
                  <p:pic>
                    <p:nvPicPr>
                      <p:cNvPr id="1947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338" y="4619625"/>
                        <a:ext cx="236537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Line 22"/>
          <p:cNvSpPr>
            <a:spLocks noChangeShapeType="1"/>
          </p:cNvSpPr>
          <p:nvPr/>
        </p:nvSpPr>
        <p:spPr bwMode="auto">
          <a:xfrm flipV="1">
            <a:off x="3765550" y="3024188"/>
            <a:ext cx="0" cy="568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>
            <a:off x="4276725" y="3355975"/>
            <a:ext cx="719138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>
            <a:off x="3779838" y="3594100"/>
            <a:ext cx="1252537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9481" name="Object 25"/>
          <p:cNvGraphicFramePr>
            <a:graphicFrameLocks noChangeAspect="1"/>
          </p:cNvGraphicFramePr>
          <p:nvPr/>
        </p:nvGraphicFramePr>
        <p:xfrm>
          <a:off x="4919663" y="3317875"/>
          <a:ext cx="2000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228600" progId="Equation.3">
                  <p:embed/>
                </p:oleObj>
              </mc:Choice>
              <mc:Fallback>
                <p:oleObj name="Equation" r:id="rId12" imgW="139680" imgH="228600" progId="Equation.3">
                  <p:embed/>
                  <p:pic>
                    <p:nvPicPr>
                      <p:cNvPr id="1948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3317875"/>
                        <a:ext cx="200025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3597275" y="2860675"/>
            <a:ext cx="1930400" cy="20796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83" name="Line 27"/>
          <p:cNvSpPr>
            <a:spLocks noChangeShapeType="1"/>
          </p:cNvSpPr>
          <p:nvPr/>
        </p:nvSpPr>
        <p:spPr bwMode="auto">
          <a:xfrm flipV="1">
            <a:off x="4278313" y="3362325"/>
            <a:ext cx="0" cy="230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484" name="Line 28"/>
          <p:cNvSpPr>
            <a:spLocks noChangeShapeType="1"/>
          </p:cNvSpPr>
          <p:nvPr/>
        </p:nvSpPr>
        <p:spPr bwMode="auto">
          <a:xfrm>
            <a:off x="3948113" y="3013075"/>
            <a:ext cx="1930400" cy="20796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9485" name="Group 29"/>
          <p:cNvGrpSpPr>
            <a:grpSpLocks/>
          </p:cNvGrpSpPr>
          <p:nvPr/>
        </p:nvGrpSpPr>
        <p:grpSpPr bwMode="auto">
          <a:xfrm>
            <a:off x="4475163" y="2794000"/>
            <a:ext cx="3952875" cy="590550"/>
            <a:chOff x="2819" y="1760"/>
            <a:chExt cx="2490" cy="372"/>
          </a:xfrm>
        </p:grpSpPr>
        <p:sp>
          <p:nvSpPr>
            <p:cNvPr id="19486" name="Rectangle 30"/>
            <p:cNvSpPr>
              <a:spLocks noChangeArrowheads="1"/>
            </p:cNvSpPr>
            <p:nvPr/>
          </p:nvSpPr>
          <p:spPr bwMode="auto">
            <a:xfrm>
              <a:off x="2819" y="1760"/>
              <a:ext cx="24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b="1">
                  <a:solidFill>
                    <a:srgbClr val="FF7C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Temporal derivative at 2</a:t>
              </a:r>
              <a:r>
                <a:rPr lang="en-US" altLang="x-none" b="1" baseline="30000">
                  <a:solidFill>
                    <a:srgbClr val="FF7C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nd</a:t>
              </a:r>
              <a:r>
                <a:rPr lang="en-US" altLang="x-none" b="1">
                  <a:solidFill>
                    <a:srgbClr val="FF7C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iteration</a:t>
              </a:r>
            </a:p>
          </p:txBody>
        </p:sp>
        <p:sp>
          <p:nvSpPr>
            <p:cNvPr id="19487" name="Line 31"/>
            <p:cNvSpPr>
              <a:spLocks noChangeShapeType="1"/>
            </p:cNvSpPr>
            <p:nvPr/>
          </p:nvSpPr>
          <p:spPr bwMode="auto">
            <a:xfrm flipH="1">
              <a:off x="3220" y="1977"/>
              <a:ext cx="145" cy="155"/>
            </a:xfrm>
            <a:prstGeom prst="line">
              <a:avLst/>
            </a:prstGeom>
            <a:noFill/>
            <a:ln w="19050">
              <a:solidFill>
                <a:srgbClr val="FF7C8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303213" y="1517650"/>
            <a:ext cx="471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x-none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Iterating helps refining the velocity vector</a:t>
            </a:r>
          </a:p>
        </p:txBody>
      </p:sp>
      <p:grpSp>
        <p:nvGrpSpPr>
          <p:cNvPr id="19489" name="Group 33"/>
          <p:cNvGrpSpPr>
            <a:grpSpLocks/>
          </p:cNvGrpSpPr>
          <p:nvPr/>
        </p:nvGrpSpPr>
        <p:grpSpPr bwMode="auto">
          <a:xfrm>
            <a:off x="3500438" y="4997450"/>
            <a:ext cx="5530850" cy="590550"/>
            <a:chOff x="2205" y="3148"/>
            <a:chExt cx="3484" cy="372"/>
          </a:xfrm>
        </p:grpSpPr>
        <p:sp>
          <p:nvSpPr>
            <p:cNvPr id="19490" name="Line 34"/>
            <p:cNvSpPr>
              <a:spLocks noChangeShapeType="1"/>
            </p:cNvSpPr>
            <p:nvPr/>
          </p:nvSpPr>
          <p:spPr bwMode="auto">
            <a:xfrm flipV="1">
              <a:off x="3615" y="3148"/>
              <a:ext cx="0" cy="167"/>
            </a:xfrm>
            <a:prstGeom prst="line">
              <a:avLst/>
            </a:prstGeom>
            <a:noFill/>
            <a:ln w="28575">
              <a:solidFill>
                <a:srgbClr val="FF7C8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491" name="Rectangle 35"/>
            <p:cNvSpPr>
              <a:spLocks noChangeArrowheads="1"/>
            </p:cNvSpPr>
            <p:nvPr/>
          </p:nvSpPr>
          <p:spPr bwMode="auto">
            <a:xfrm>
              <a:off x="2205" y="3289"/>
              <a:ext cx="34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x-none" b="1">
                  <a:solidFill>
                    <a:srgbClr val="FF7C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Can keep the same estimate for spatial derivative</a:t>
              </a:r>
            </a:p>
          </p:txBody>
        </p:sp>
      </p:grpSp>
      <p:graphicFrame>
        <p:nvGraphicFramePr>
          <p:cNvPr id="19492" name="Object 36"/>
          <p:cNvGraphicFramePr>
            <a:graphicFrameLocks noChangeAspect="1"/>
          </p:cNvGraphicFramePr>
          <p:nvPr/>
        </p:nvGraphicFramePr>
        <p:xfrm>
          <a:off x="1866900" y="5827713"/>
          <a:ext cx="196532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431640" progId="Equation.3">
                  <p:embed/>
                </p:oleObj>
              </mc:Choice>
              <mc:Fallback>
                <p:oleObj name="Equation" r:id="rId14" imgW="1041120" imgH="431640" progId="Equation.3">
                  <p:embed/>
                  <p:pic>
                    <p:nvPicPr>
                      <p:cNvPr id="1949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5827713"/>
                        <a:ext cx="196532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3" name="Text Box 37"/>
          <p:cNvSpPr txBox="1">
            <a:spLocks noChangeArrowheads="1"/>
          </p:cNvSpPr>
          <p:nvPr/>
        </p:nvSpPr>
        <p:spPr bwMode="auto">
          <a:xfrm>
            <a:off x="4786313" y="6026150"/>
            <a:ext cx="360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x-none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Converges in about 5 iterations</a:t>
            </a:r>
          </a:p>
        </p:txBody>
      </p:sp>
    </p:spTree>
    <p:extLst>
      <p:ext uri="{BB962C8B-B14F-4D97-AF65-F5344CB8AC3E}">
        <p14:creationId xmlns:p14="http://schemas.microsoft.com/office/powerpoint/2010/main" val="189250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850" name="Picture 2" descr="aliasing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3116263"/>
            <a:ext cx="3227388" cy="181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Optical Flow: Aliasing</a:t>
            </a:r>
          </a:p>
        </p:txBody>
      </p:sp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811213" y="1647825"/>
            <a:ext cx="7445375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9144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  <a:buSzPct val="120000"/>
            </a:pPr>
            <a:r>
              <a:rPr lang="en-US" altLang="x-none" sz="2000">
                <a:solidFill>
                  <a:srgbClr val="000000"/>
                </a:solidFill>
              </a:rPr>
              <a:t>Temporal aliasing causes ambiguities in optical flow because images can have many pixels with the same intensity.</a:t>
            </a:r>
          </a:p>
          <a:p>
            <a:pPr defTabSz="9144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  <a:buSzPct val="120000"/>
            </a:pPr>
            <a:r>
              <a:rPr lang="en-US" altLang="x-none" sz="2000">
                <a:solidFill>
                  <a:srgbClr val="000000"/>
                </a:solidFill>
              </a:rPr>
              <a:t>I.e., how do we know which ‘correspondence’ is correct? </a:t>
            </a:r>
          </a:p>
        </p:txBody>
      </p:sp>
      <p:pic>
        <p:nvPicPr>
          <p:cNvPr id="334853" name="Picture 5" descr="aliasing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3122613"/>
            <a:ext cx="3208338" cy="180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854" name="Text Box 6"/>
          <p:cNvSpPr txBox="1">
            <a:spLocks noChangeArrowheads="1"/>
          </p:cNvSpPr>
          <p:nvPr/>
        </p:nvSpPr>
        <p:spPr bwMode="auto">
          <a:xfrm>
            <a:off x="1231900" y="4943475"/>
            <a:ext cx="2833688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9144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  <a:buSzPct val="120000"/>
            </a:pPr>
            <a:r>
              <a:rPr lang="en-US" altLang="x-none" i="1">
                <a:solidFill>
                  <a:srgbClr val="000000"/>
                </a:solidFill>
              </a:rPr>
              <a:t>nearest match is correct (no aliasing)</a:t>
            </a:r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4940300" y="4943475"/>
            <a:ext cx="2833688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9144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  <a:buSzPct val="120000"/>
            </a:pPr>
            <a:r>
              <a:rPr lang="en-US" altLang="x-none" i="1">
                <a:solidFill>
                  <a:srgbClr val="000000"/>
                </a:solidFill>
              </a:rPr>
              <a:t>nearest match is incorrect (aliasing)</a:t>
            </a:r>
          </a:p>
        </p:txBody>
      </p:sp>
      <p:sp>
        <p:nvSpPr>
          <p:cNvPr id="334856" name="Text Box 8"/>
          <p:cNvSpPr txBox="1">
            <a:spLocks noChangeArrowheads="1"/>
          </p:cNvSpPr>
          <p:nvPr/>
        </p:nvSpPr>
        <p:spPr bwMode="auto">
          <a:xfrm>
            <a:off x="811213" y="5638800"/>
            <a:ext cx="5583237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9144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  <a:buSzPct val="120000"/>
            </a:pPr>
            <a:r>
              <a:rPr lang="en-US" altLang="x-none" sz="2000">
                <a:solidFill>
                  <a:srgbClr val="000000"/>
                </a:solidFill>
              </a:rPr>
              <a:t>To overcome aliasing: </a:t>
            </a:r>
            <a:r>
              <a:rPr lang="en-US" altLang="x-none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coarse-to-fine estimation</a:t>
            </a:r>
            <a:r>
              <a:rPr lang="en-US" altLang="x-none" sz="20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34857" name="Oval 9"/>
          <p:cNvSpPr>
            <a:spLocks noChangeAspect="1" noChangeArrowheads="1"/>
          </p:cNvSpPr>
          <p:nvPr/>
        </p:nvSpPr>
        <p:spPr bwMode="auto">
          <a:xfrm>
            <a:off x="1809750" y="4079875"/>
            <a:ext cx="55563" cy="5556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34858" name="Oval 10"/>
          <p:cNvSpPr>
            <a:spLocks noChangeAspect="1" noChangeArrowheads="1"/>
          </p:cNvSpPr>
          <p:nvPr/>
        </p:nvSpPr>
        <p:spPr bwMode="auto">
          <a:xfrm>
            <a:off x="1892300" y="4079875"/>
            <a:ext cx="55563" cy="5556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 defTabSz="9144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10000"/>
              </a:spcAft>
              <a:buSzPct val="120000"/>
              <a:buFontTx/>
              <a:buChar char="•"/>
            </a:pPr>
            <a:endParaRPr lang="x-none" altLang="x-none" sz="2000">
              <a:solidFill>
                <a:srgbClr val="FF0000"/>
              </a:solidFill>
            </a:endParaRPr>
          </a:p>
        </p:txBody>
      </p:sp>
      <p:sp>
        <p:nvSpPr>
          <p:cNvPr id="334859" name="Oval 11"/>
          <p:cNvSpPr>
            <a:spLocks noChangeAspect="1" noChangeArrowheads="1"/>
          </p:cNvSpPr>
          <p:nvPr/>
        </p:nvSpPr>
        <p:spPr bwMode="auto">
          <a:xfrm>
            <a:off x="5326063" y="4079875"/>
            <a:ext cx="55562" cy="5556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34860" name="Oval 12"/>
          <p:cNvSpPr>
            <a:spLocks noChangeAspect="1" noChangeArrowheads="1"/>
          </p:cNvSpPr>
          <p:nvPr/>
        </p:nvSpPr>
        <p:spPr bwMode="auto">
          <a:xfrm>
            <a:off x="5453063" y="4079875"/>
            <a:ext cx="55562" cy="5556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334861" name="Group 13"/>
          <p:cNvGrpSpPr>
            <a:grpSpLocks/>
          </p:cNvGrpSpPr>
          <p:nvPr/>
        </p:nvGrpSpPr>
        <p:grpSpPr bwMode="auto">
          <a:xfrm>
            <a:off x="4914900" y="3262313"/>
            <a:ext cx="1176338" cy="1204912"/>
            <a:chOff x="3096" y="1833"/>
            <a:chExt cx="741" cy="759"/>
          </a:xfrm>
        </p:grpSpPr>
        <p:sp>
          <p:nvSpPr>
            <p:cNvPr id="334862" name="Line 14"/>
            <p:cNvSpPr>
              <a:spLocks noChangeShapeType="1"/>
            </p:cNvSpPr>
            <p:nvPr/>
          </p:nvSpPr>
          <p:spPr bwMode="auto">
            <a:xfrm>
              <a:off x="3096" y="2592"/>
              <a:ext cx="288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334863" name="Text Box 15"/>
            <p:cNvSpPr txBox="1">
              <a:spLocks noChangeArrowheads="1"/>
            </p:cNvSpPr>
            <p:nvPr/>
          </p:nvSpPr>
          <p:spPr bwMode="auto">
            <a:xfrm>
              <a:off x="3111" y="1833"/>
              <a:ext cx="726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3DAB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9144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10000"/>
                </a:spcAft>
                <a:buSzPct val="120000"/>
              </a:pPr>
              <a:r>
                <a:rPr lang="en-US" altLang="x-none" sz="1600">
                  <a:solidFill>
                    <a:srgbClr val="990000"/>
                  </a:solidFill>
                </a:rPr>
                <a:t>actual shift</a:t>
              </a:r>
            </a:p>
          </p:txBody>
        </p:sp>
        <p:sp>
          <p:nvSpPr>
            <p:cNvPr id="334864" name="Freeform 16"/>
            <p:cNvSpPr>
              <a:spLocks/>
            </p:cNvSpPr>
            <p:nvPr/>
          </p:nvSpPr>
          <p:spPr bwMode="auto">
            <a:xfrm rot="16516015" flipH="1">
              <a:off x="2995" y="2274"/>
              <a:ext cx="520" cy="70"/>
            </a:xfrm>
            <a:custGeom>
              <a:avLst/>
              <a:gdLst>
                <a:gd name="T0" fmla="*/ 0 w 704"/>
                <a:gd name="T1" fmla="*/ 121 h 121"/>
                <a:gd name="T2" fmla="*/ 376 w 704"/>
                <a:gd name="T3" fmla="*/ 9 h 121"/>
                <a:gd name="T4" fmla="*/ 704 w 704"/>
                <a:gd name="T5" fmla="*/ 65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4" h="121">
                  <a:moveTo>
                    <a:pt x="0" y="121"/>
                  </a:moveTo>
                  <a:cubicBezTo>
                    <a:pt x="129" y="69"/>
                    <a:pt x="259" y="18"/>
                    <a:pt x="376" y="9"/>
                  </a:cubicBezTo>
                  <a:cubicBezTo>
                    <a:pt x="493" y="0"/>
                    <a:pt x="598" y="32"/>
                    <a:pt x="704" y="65"/>
                  </a:cubicBezTo>
                </a:path>
              </a:pathLst>
            </a:custGeom>
            <a:noFill/>
            <a:ln w="19050" cap="flat" cmpd="sng">
              <a:solidFill>
                <a:srgbClr val="990000"/>
              </a:solidFill>
              <a:prstDash val="solid"/>
              <a:round/>
              <a:headEnd type="none" w="med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</p:grpSp>
      <p:grpSp>
        <p:nvGrpSpPr>
          <p:cNvPr id="334865" name="Group 17"/>
          <p:cNvGrpSpPr>
            <a:grpSpLocks/>
          </p:cNvGrpSpPr>
          <p:nvPr/>
        </p:nvGrpSpPr>
        <p:grpSpPr bwMode="auto">
          <a:xfrm>
            <a:off x="5341938" y="4106863"/>
            <a:ext cx="2089150" cy="598487"/>
            <a:chOff x="3365" y="2365"/>
            <a:chExt cx="1316" cy="377"/>
          </a:xfrm>
        </p:grpSpPr>
        <p:sp>
          <p:nvSpPr>
            <p:cNvPr id="334866" name="Line 18"/>
            <p:cNvSpPr>
              <a:spLocks noChangeShapeType="1"/>
            </p:cNvSpPr>
            <p:nvPr/>
          </p:nvSpPr>
          <p:spPr bwMode="auto">
            <a:xfrm>
              <a:off x="3370" y="2365"/>
              <a:ext cx="92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334867" name="Text Box 19"/>
            <p:cNvSpPr txBox="1">
              <a:spLocks noChangeArrowheads="1"/>
            </p:cNvSpPr>
            <p:nvPr/>
          </p:nvSpPr>
          <p:spPr bwMode="auto">
            <a:xfrm>
              <a:off x="3741" y="2524"/>
              <a:ext cx="940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3DAB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9144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10000"/>
                </a:spcAft>
                <a:buSzPct val="120000"/>
              </a:pPr>
              <a:r>
                <a:rPr lang="en-US" altLang="x-none" sz="1600">
                  <a:solidFill>
                    <a:srgbClr val="990000"/>
                  </a:solidFill>
                </a:rPr>
                <a:t>estimated shift</a:t>
              </a:r>
            </a:p>
          </p:txBody>
        </p:sp>
        <p:sp>
          <p:nvSpPr>
            <p:cNvPr id="334868" name="Freeform 20"/>
            <p:cNvSpPr>
              <a:spLocks/>
            </p:cNvSpPr>
            <p:nvPr/>
          </p:nvSpPr>
          <p:spPr bwMode="auto">
            <a:xfrm rot="24131935" flipH="1" flipV="1">
              <a:off x="3365" y="2486"/>
              <a:ext cx="422" cy="121"/>
            </a:xfrm>
            <a:custGeom>
              <a:avLst/>
              <a:gdLst>
                <a:gd name="T0" fmla="*/ 0 w 704"/>
                <a:gd name="T1" fmla="*/ 121 h 121"/>
                <a:gd name="T2" fmla="*/ 376 w 704"/>
                <a:gd name="T3" fmla="*/ 9 h 121"/>
                <a:gd name="T4" fmla="*/ 704 w 704"/>
                <a:gd name="T5" fmla="*/ 65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4" h="121">
                  <a:moveTo>
                    <a:pt x="0" y="121"/>
                  </a:moveTo>
                  <a:cubicBezTo>
                    <a:pt x="129" y="69"/>
                    <a:pt x="259" y="18"/>
                    <a:pt x="376" y="9"/>
                  </a:cubicBezTo>
                  <a:cubicBezTo>
                    <a:pt x="493" y="0"/>
                    <a:pt x="598" y="32"/>
                    <a:pt x="704" y="65"/>
                  </a:cubicBezTo>
                </a:path>
              </a:pathLst>
            </a:custGeom>
            <a:noFill/>
            <a:ln w="19050" cap="flat" cmpd="sng">
              <a:solidFill>
                <a:srgbClr val="990000"/>
              </a:solidFill>
              <a:prstDash val="solid"/>
              <a:round/>
              <a:headEnd type="none" w="med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</p:grpSp>
      <p:pic>
        <p:nvPicPr>
          <p:cNvPr id="334869" name="Picture 2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63" y="3109913"/>
            <a:ext cx="56038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34870" name="Picture 2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3109913"/>
            <a:ext cx="56038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34871" name="Picture 2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3109913"/>
            <a:ext cx="56038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34872" name="Picture 24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663" y="3109913"/>
            <a:ext cx="56038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DAB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C4ECBC-5715-6786-AB8C-E276EA99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AAAB6-A89E-A04B-8D2F-4CA3E59F7C79}" type="slidenum">
              <a:rPr lang="en-US" altLang="x-none" smtClean="0">
                <a:solidFill>
                  <a:srgbClr val="000000"/>
                </a:solidFill>
              </a:rPr>
              <a:pPr/>
              <a:t>32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764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6" grpId="0" autoUpdateAnimBg="0"/>
      <p:bldP spid="334857" grpId="0" animBg="1"/>
      <p:bldP spid="334858" grpId="0" animBg="1" autoUpdateAnimBg="0"/>
      <p:bldP spid="334859" grpId="0" animBg="1"/>
      <p:bldP spid="33486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88DC7-A74B-404F-B3D4-74B95B9E8451}" type="slidenum">
              <a:rPr lang="en-US" altLang="en-US"/>
              <a:pPr/>
              <a:t>33</a:t>
            </a:fld>
            <a:endParaRPr lang="en-US" altLang="en-US"/>
          </a:p>
        </p:txBody>
      </p:sp>
      <p:pic>
        <p:nvPicPr>
          <p:cNvPr id="516098" name="Picture 1026" descr="garden_0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17638"/>
            <a:ext cx="6032500" cy="411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099" name="Rectangle 102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Revisiting the small motion assumption</a:t>
            </a:r>
          </a:p>
        </p:txBody>
      </p:sp>
      <p:sp>
        <p:nvSpPr>
          <p:cNvPr id="516100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685800" y="5484813"/>
            <a:ext cx="8229600" cy="1220787"/>
          </a:xfrm>
        </p:spPr>
        <p:txBody>
          <a:bodyPr/>
          <a:lstStyle/>
          <a:p>
            <a:r>
              <a:rPr lang="en-US" altLang="en-US" sz="2000" dirty="0"/>
              <a:t>Is this motion small enough?</a:t>
            </a:r>
          </a:p>
          <a:p>
            <a:pPr lvl="1"/>
            <a:r>
              <a:rPr lang="en-US" altLang="en-US" sz="1800" dirty="0"/>
              <a:t>Probably not—it’s much larger than one pixel  </a:t>
            </a:r>
          </a:p>
          <a:p>
            <a:pPr lvl="1"/>
            <a:r>
              <a:rPr lang="en-US" altLang="en-US" sz="1800" dirty="0"/>
              <a:t>How might we solve this problem?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00" grpId="0" build="p" bldLvl="2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E866-E021-4F39-A033-CB31AC0CF744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Reduce the resolution!</a:t>
            </a:r>
          </a:p>
        </p:txBody>
      </p:sp>
      <p:pic>
        <p:nvPicPr>
          <p:cNvPr id="517123" name="Picture 3" descr="garden_4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3" y="3843486"/>
            <a:ext cx="3656013" cy="274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124" name="Picture 4" descr="garden_2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4" y="1101873"/>
            <a:ext cx="3656013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125" name="Picture 5" descr="garden_1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1101873"/>
            <a:ext cx="3656013" cy="274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126" name="Picture 6" descr="garden_3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3843486"/>
            <a:ext cx="3656013" cy="274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963" name="Group 2"/>
          <p:cNvGrpSpPr>
            <a:grpSpLocks/>
          </p:cNvGrpSpPr>
          <p:nvPr/>
        </p:nvGrpSpPr>
        <p:grpSpPr bwMode="auto">
          <a:xfrm>
            <a:off x="5221288" y="4884738"/>
            <a:ext cx="3609975" cy="1203325"/>
            <a:chOff x="3289" y="3273"/>
            <a:chExt cx="2274" cy="758"/>
          </a:xfrm>
        </p:grpSpPr>
        <p:sp>
          <p:nvSpPr>
            <p:cNvPr id="41007" name="AutoShape 3"/>
            <p:cNvSpPr>
              <a:spLocks noChangeAspect="1" noChangeArrowheads="1"/>
            </p:cNvSpPr>
            <p:nvPr/>
          </p:nvSpPr>
          <p:spPr bwMode="auto">
            <a:xfrm>
              <a:off x="3289" y="3273"/>
              <a:ext cx="2274" cy="758"/>
            </a:xfrm>
            <a:prstGeom prst="parallelogram">
              <a:avLst>
                <a:gd name="adj" fmla="val 7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8" name="Text Box 4"/>
            <p:cNvSpPr txBox="1">
              <a:spLocks noChangeArrowheads="1"/>
            </p:cNvSpPr>
            <p:nvPr/>
          </p:nvSpPr>
          <p:spPr bwMode="auto">
            <a:xfrm>
              <a:off x="4116" y="3566"/>
              <a:ext cx="562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>
                  <a:latin typeface="Times New Roman" pitchFamily="18" charset="0"/>
                </a:rPr>
                <a:t>image I</a:t>
              </a:r>
            </a:p>
          </p:txBody>
        </p:sp>
      </p:grpSp>
      <p:grpSp>
        <p:nvGrpSpPr>
          <p:cNvPr id="40964" name="Group 5"/>
          <p:cNvGrpSpPr>
            <a:grpSpLocks/>
          </p:cNvGrpSpPr>
          <p:nvPr/>
        </p:nvGrpSpPr>
        <p:grpSpPr bwMode="auto">
          <a:xfrm>
            <a:off x="177800" y="4905375"/>
            <a:ext cx="3606800" cy="1203325"/>
            <a:chOff x="112" y="3286"/>
            <a:chExt cx="2272" cy="758"/>
          </a:xfrm>
        </p:grpSpPr>
        <p:sp>
          <p:nvSpPr>
            <p:cNvPr id="41005" name="AutoShape 6"/>
            <p:cNvSpPr>
              <a:spLocks noChangeAspect="1" noChangeArrowheads="1"/>
            </p:cNvSpPr>
            <p:nvPr/>
          </p:nvSpPr>
          <p:spPr bwMode="auto">
            <a:xfrm>
              <a:off x="112" y="3286"/>
              <a:ext cx="2272" cy="758"/>
            </a:xfrm>
            <a:prstGeom prst="parallelogram">
              <a:avLst>
                <a:gd name="adj" fmla="val 7493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6" name="Text Box 7"/>
            <p:cNvSpPr txBox="1">
              <a:spLocks noChangeArrowheads="1"/>
            </p:cNvSpPr>
            <p:nvPr/>
          </p:nvSpPr>
          <p:spPr bwMode="auto">
            <a:xfrm>
              <a:off x="887" y="3557"/>
              <a:ext cx="582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>
                  <a:latin typeface="Times New Roman" pitchFamily="18" charset="0"/>
                </a:rPr>
                <a:t>image J</a:t>
              </a:r>
            </a:p>
          </p:txBody>
        </p:sp>
      </p:grpSp>
      <p:grpSp>
        <p:nvGrpSpPr>
          <p:cNvPr id="40965" name="Group 8"/>
          <p:cNvGrpSpPr>
            <a:grpSpLocks/>
          </p:cNvGrpSpPr>
          <p:nvPr/>
        </p:nvGrpSpPr>
        <p:grpSpPr bwMode="auto">
          <a:xfrm>
            <a:off x="177800" y="1143000"/>
            <a:ext cx="8797925" cy="5324475"/>
            <a:chOff x="112" y="916"/>
            <a:chExt cx="5542" cy="3354"/>
          </a:xfrm>
        </p:grpSpPr>
        <p:grpSp>
          <p:nvGrpSpPr>
            <p:cNvPr id="40980" name="Group 9"/>
            <p:cNvGrpSpPr>
              <a:grpSpLocks/>
            </p:cNvGrpSpPr>
            <p:nvPr/>
          </p:nvGrpSpPr>
          <p:grpSpPr bwMode="auto">
            <a:xfrm>
              <a:off x="112" y="916"/>
              <a:ext cx="5542" cy="3354"/>
              <a:chOff x="112" y="916"/>
              <a:chExt cx="5542" cy="3354"/>
            </a:xfrm>
          </p:grpSpPr>
          <p:grpSp>
            <p:nvGrpSpPr>
              <p:cNvPr id="40983" name="Group 10"/>
              <p:cNvGrpSpPr>
                <a:grpSpLocks/>
              </p:cNvGrpSpPr>
              <p:nvPr/>
            </p:nvGrpSpPr>
            <p:grpSpPr bwMode="auto">
              <a:xfrm>
                <a:off x="112" y="931"/>
                <a:ext cx="2571" cy="3339"/>
                <a:chOff x="112" y="931"/>
                <a:chExt cx="2571" cy="3339"/>
              </a:xfrm>
            </p:grpSpPr>
            <p:grpSp>
              <p:nvGrpSpPr>
                <p:cNvPr id="40995" name="Group 11"/>
                <p:cNvGrpSpPr>
                  <a:grpSpLocks/>
                </p:cNvGrpSpPr>
                <p:nvPr/>
              </p:nvGrpSpPr>
              <p:grpSpPr bwMode="auto">
                <a:xfrm>
                  <a:off x="112" y="931"/>
                  <a:ext cx="2272" cy="3113"/>
                  <a:chOff x="112" y="931"/>
                  <a:chExt cx="2272" cy="3113"/>
                </a:xfrm>
              </p:grpSpPr>
              <p:sp>
                <p:nvSpPr>
                  <p:cNvPr id="40997" name="Line 1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24" y="931"/>
                    <a:ext cx="933" cy="30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998" name="Line 1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059" y="938"/>
                    <a:ext cx="1305" cy="2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999" name="Line 1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678" y="972"/>
                    <a:ext cx="394" cy="23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000" name="AutoShape 1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2" y="3286"/>
                    <a:ext cx="2272" cy="758"/>
                  </a:xfrm>
                  <a:prstGeom prst="parallelogram">
                    <a:avLst>
                      <a:gd name="adj" fmla="val 74934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001" name="AutoShape 1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22" y="2095"/>
                    <a:ext cx="1090" cy="318"/>
                  </a:xfrm>
                  <a:prstGeom prst="parallelogram">
                    <a:avLst>
                      <a:gd name="adj" fmla="val 85692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002" name="AutoShape 1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3" y="2626"/>
                    <a:ext cx="1621" cy="472"/>
                  </a:xfrm>
                  <a:prstGeom prst="parallelogram">
                    <a:avLst>
                      <a:gd name="adj" fmla="val 85858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003" name="AutoShape 1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87" y="1576"/>
                    <a:ext cx="644" cy="188"/>
                  </a:xfrm>
                  <a:prstGeom prst="parallelogram">
                    <a:avLst>
                      <a:gd name="adj" fmla="val 85638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004" name="Line 1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063" y="938"/>
                    <a:ext cx="754" cy="30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099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36" y="4076"/>
                  <a:ext cx="2447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sz="2000" b="1"/>
                    <a:t>Gaussian pyramid of image 1 (t)</a:t>
                  </a:r>
                </a:p>
              </p:txBody>
            </p:sp>
          </p:grpSp>
          <p:grpSp>
            <p:nvGrpSpPr>
              <p:cNvPr id="40984" name="Group 21"/>
              <p:cNvGrpSpPr>
                <a:grpSpLocks/>
              </p:cNvGrpSpPr>
              <p:nvPr/>
            </p:nvGrpSpPr>
            <p:grpSpPr bwMode="auto">
              <a:xfrm>
                <a:off x="3024" y="916"/>
                <a:ext cx="2630" cy="3354"/>
                <a:chOff x="3024" y="916"/>
                <a:chExt cx="2630" cy="3354"/>
              </a:xfrm>
            </p:grpSpPr>
            <p:grpSp>
              <p:nvGrpSpPr>
                <p:cNvPr id="40985" name="Group 22"/>
                <p:cNvGrpSpPr>
                  <a:grpSpLocks/>
                </p:cNvGrpSpPr>
                <p:nvPr/>
              </p:nvGrpSpPr>
              <p:grpSpPr bwMode="auto">
                <a:xfrm>
                  <a:off x="3289" y="916"/>
                  <a:ext cx="2274" cy="3115"/>
                  <a:chOff x="3289" y="916"/>
                  <a:chExt cx="2274" cy="3115"/>
                </a:xfrm>
              </p:grpSpPr>
              <p:sp>
                <p:nvSpPr>
                  <p:cNvPr id="40987" name="Line 2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301" y="916"/>
                    <a:ext cx="934" cy="30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988" name="Line 2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4237" y="923"/>
                    <a:ext cx="1306" cy="233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989" name="Line 2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3854" y="957"/>
                    <a:ext cx="396" cy="231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990" name="AutoShape 2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289" y="3273"/>
                    <a:ext cx="2274" cy="758"/>
                  </a:xfrm>
                  <a:prstGeom prst="parallelogram">
                    <a:avLst>
                      <a:gd name="adj" fmla="val 75000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991" name="AutoShape 2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800" y="2081"/>
                    <a:ext cx="1091" cy="317"/>
                  </a:xfrm>
                  <a:prstGeom prst="parallelogram">
                    <a:avLst>
                      <a:gd name="adj" fmla="val 86041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992" name="AutoShape 2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572" y="2612"/>
                    <a:ext cx="1621" cy="472"/>
                  </a:xfrm>
                  <a:prstGeom prst="parallelogram">
                    <a:avLst>
                      <a:gd name="adj" fmla="val 85858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993" name="AutoShape 2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65" y="1562"/>
                    <a:ext cx="643" cy="186"/>
                  </a:xfrm>
                  <a:prstGeom prst="parallelogram">
                    <a:avLst>
                      <a:gd name="adj" fmla="val 86425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994" name="Line 3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4241" y="923"/>
                    <a:ext cx="754" cy="309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098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024" y="4076"/>
                  <a:ext cx="2630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sz="2000" b="1"/>
                    <a:t>Gaussian pyramid of image 2 (t+1)</a:t>
                  </a:r>
                </a:p>
              </p:txBody>
            </p:sp>
          </p:grpSp>
        </p:grpSp>
        <p:sp>
          <p:nvSpPr>
            <p:cNvPr id="40981" name="Text Box 32"/>
            <p:cNvSpPr txBox="1">
              <a:spLocks noChangeArrowheads="1"/>
            </p:cNvSpPr>
            <p:nvPr/>
          </p:nvSpPr>
          <p:spPr bwMode="auto">
            <a:xfrm>
              <a:off x="4124" y="3580"/>
              <a:ext cx="5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 b="1">
                  <a:solidFill>
                    <a:schemeClr val="bg1"/>
                  </a:solidFill>
                </a:rPr>
                <a:t>image 2</a:t>
              </a:r>
            </a:p>
          </p:txBody>
        </p:sp>
        <p:sp>
          <p:nvSpPr>
            <p:cNvPr id="40982" name="Text Box 33"/>
            <p:cNvSpPr txBox="1">
              <a:spLocks noChangeArrowheads="1"/>
            </p:cNvSpPr>
            <p:nvPr/>
          </p:nvSpPr>
          <p:spPr bwMode="auto">
            <a:xfrm>
              <a:off x="887" y="3571"/>
              <a:ext cx="5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 b="1"/>
                <a:t>image 1</a:t>
              </a:r>
            </a:p>
          </p:txBody>
        </p:sp>
      </p:grpSp>
      <p:sp>
        <p:nvSpPr>
          <p:cNvPr id="40966" name="Rectangle 3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Coarse-to-fine optical flow estimation</a:t>
            </a:r>
          </a:p>
        </p:txBody>
      </p:sp>
      <p:sp>
        <p:nvSpPr>
          <p:cNvPr id="40967" name="Text Box 35"/>
          <p:cNvSpPr txBox="1">
            <a:spLocks noChangeArrowheads="1"/>
          </p:cNvSpPr>
          <p:nvPr/>
        </p:nvSpPr>
        <p:spPr bwMode="auto">
          <a:xfrm>
            <a:off x="3276600" y="2187575"/>
            <a:ext cx="1974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run iterative L-K</a:t>
            </a:r>
          </a:p>
        </p:txBody>
      </p:sp>
      <p:sp>
        <p:nvSpPr>
          <p:cNvPr id="40968" name="Line 36"/>
          <p:cNvSpPr>
            <a:spLocks noChangeShapeType="1"/>
          </p:cNvSpPr>
          <p:nvPr/>
        </p:nvSpPr>
        <p:spPr bwMode="auto">
          <a:xfrm>
            <a:off x="2362200" y="2463800"/>
            <a:ext cx="835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Line 37"/>
          <p:cNvSpPr>
            <a:spLocks noChangeShapeType="1"/>
          </p:cNvSpPr>
          <p:nvPr/>
        </p:nvSpPr>
        <p:spPr bwMode="auto">
          <a:xfrm flipH="1">
            <a:off x="5334000" y="2463800"/>
            <a:ext cx="890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2670175" y="3178175"/>
            <a:ext cx="3273425" cy="396875"/>
            <a:chOff x="1682" y="2198"/>
            <a:chExt cx="2062" cy="250"/>
          </a:xfrm>
        </p:grpSpPr>
        <p:sp>
          <p:nvSpPr>
            <p:cNvPr id="40977" name="Line 39"/>
            <p:cNvSpPr>
              <a:spLocks noChangeShapeType="1"/>
            </p:cNvSpPr>
            <p:nvPr/>
          </p:nvSpPr>
          <p:spPr bwMode="auto">
            <a:xfrm>
              <a:off x="1682" y="2304"/>
              <a:ext cx="3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40"/>
            <p:cNvSpPr>
              <a:spLocks noChangeShapeType="1"/>
            </p:cNvSpPr>
            <p:nvPr/>
          </p:nvSpPr>
          <p:spPr bwMode="auto">
            <a:xfrm>
              <a:off x="3360" y="230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Text Box 41"/>
            <p:cNvSpPr txBox="1">
              <a:spLocks noChangeArrowheads="1"/>
            </p:cNvSpPr>
            <p:nvPr/>
          </p:nvSpPr>
          <p:spPr bwMode="auto">
            <a:xfrm>
              <a:off x="2068" y="2198"/>
              <a:ext cx="1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/>
                <a:t>run iterative L-K</a:t>
              </a:r>
            </a:p>
          </p:txBody>
        </p:sp>
      </p:grpSp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4191000" y="2584450"/>
            <a:ext cx="2243138" cy="593725"/>
            <a:chOff x="2640" y="1824"/>
            <a:chExt cx="1413" cy="374"/>
          </a:xfrm>
        </p:grpSpPr>
        <p:sp>
          <p:nvSpPr>
            <p:cNvPr id="40975" name="Line 43"/>
            <p:cNvSpPr>
              <a:spLocks noChangeShapeType="1"/>
            </p:cNvSpPr>
            <p:nvPr/>
          </p:nvSpPr>
          <p:spPr bwMode="auto">
            <a:xfrm>
              <a:off x="2640" y="1824"/>
              <a:ext cx="0" cy="3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Text Box 44"/>
            <p:cNvSpPr txBox="1">
              <a:spLocks noChangeArrowheads="1"/>
            </p:cNvSpPr>
            <p:nvPr/>
          </p:nvSpPr>
          <p:spPr bwMode="auto">
            <a:xfrm>
              <a:off x="2644" y="1862"/>
              <a:ext cx="140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/>
                <a:t>warp &amp; upsample 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0" y="3498850"/>
            <a:ext cx="303213" cy="685800"/>
            <a:chOff x="2640" y="2400"/>
            <a:chExt cx="191" cy="432"/>
          </a:xfrm>
        </p:grpSpPr>
        <p:sp>
          <p:nvSpPr>
            <p:cNvPr id="40973" name="Line 46"/>
            <p:cNvSpPr>
              <a:spLocks noChangeShapeType="1"/>
            </p:cNvSpPr>
            <p:nvPr/>
          </p:nvSpPr>
          <p:spPr bwMode="auto">
            <a:xfrm>
              <a:off x="2640" y="2458"/>
              <a:ext cx="0" cy="3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Text Box 47"/>
            <p:cNvSpPr txBox="1">
              <a:spLocks noChangeArrowheads="1"/>
            </p:cNvSpPr>
            <p:nvPr/>
          </p:nvSpPr>
          <p:spPr bwMode="auto">
            <a:xfrm>
              <a:off x="2688" y="2400"/>
              <a:ext cx="143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 b="1"/>
                <a:t>.</a:t>
              </a:r>
            </a:p>
            <a:p>
              <a:r>
                <a:rPr lang="en-US" sz="1200" b="1"/>
                <a:t>.</a:t>
              </a:r>
            </a:p>
            <a:p>
              <a:r>
                <a:rPr lang="en-US" sz="1200" b="1"/>
                <a:t>.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8C8DFE-87EC-11A9-C8AE-A303CF2E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9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2CB-9C27-4264-B642-751C59D4D95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Few Details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638800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Char char="•"/>
            </a:pPr>
            <a:r>
              <a:rPr lang="en-US" altLang="en-US" dirty="0">
                <a:solidFill>
                  <a:schemeClr val="hlink"/>
                </a:solidFill>
              </a:rPr>
              <a:t>Top Level</a:t>
            </a:r>
          </a:p>
          <a:p>
            <a:pPr lvl="1"/>
            <a:r>
              <a:rPr lang="en-US" altLang="en-US" dirty="0"/>
              <a:t>Apply L-K to get a flow field representing the flow from the first frame to the second frame.</a:t>
            </a:r>
          </a:p>
          <a:p>
            <a:pPr lvl="1"/>
            <a:r>
              <a:rPr lang="en-US" altLang="en-US" dirty="0"/>
              <a:t>Apply this flow field to warp the first frame toward the second frame.</a:t>
            </a:r>
          </a:p>
          <a:p>
            <a:pPr lvl="1"/>
            <a:r>
              <a:rPr lang="en-US" altLang="en-US" dirty="0"/>
              <a:t>Return L-K on the new warped image to get a flow field from it to the second frame.</a:t>
            </a:r>
          </a:p>
          <a:p>
            <a:pPr lvl="1"/>
            <a:r>
              <a:rPr lang="en-US" altLang="en-US" dirty="0"/>
              <a:t>Repeat till convergence.</a:t>
            </a:r>
          </a:p>
          <a:p>
            <a:pPr>
              <a:buFontTx/>
              <a:buChar char="•"/>
            </a:pPr>
            <a:r>
              <a:rPr lang="en-US" altLang="en-US" dirty="0">
                <a:solidFill>
                  <a:schemeClr val="hlink"/>
                </a:solidFill>
              </a:rPr>
              <a:t>Next Level</a:t>
            </a:r>
          </a:p>
          <a:p>
            <a:pPr lvl="1"/>
            <a:r>
              <a:rPr lang="en-US" altLang="en-US" dirty="0" err="1"/>
              <a:t>Upsample</a:t>
            </a:r>
            <a:r>
              <a:rPr lang="en-US" altLang="en-US" dirty="0"/>
              <a:t> the flow field to the next level as the first guess of the flow at that level.</a:t>
            </a:r>
          </a:p>
          <a:p>
            <a:pPr lvl="1"/>
            <a:r>
              <a:rPr lang="en-US" altLang="en-US" dirty="0"/>
              <a:t>Apply this flow field to warp the first frame toward the second frame.</a:t>
            </a:r>
          </a:p>
          <a:p>
            <a:pPr lvl="1"/>
            <a:r>
              <a:rPr lang="en-US" altLang="en-US" dirty="0"/>
              <a:t>Rerun L-K and warping till convergence as above.</a:t>
            </a:r>
          </a:p>
          <a:p>
            <a:pPr>
              <a:buFontTx/>
              <a:buChar char="•"/>
            </a:pPr>
            <a:r>
              <a:rPr lang="en-US" altLang="en-US" dirty="0">
                <a:solidFill>
                  <a:schemeClr val="hlink"/>
                </a:solidFill>
              </a:rPr>
              <a:t>Etc.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"/>
          <p:cNvGrpSpPr>
            <a:grpSpLocks/>
          </p:cNvGrpSpPr>
          <p:nvPr/>
        </p:nvGrpSpPr>
        <p:grpSpPr bwMode="auto">
          <a:xfrm>
            <a:off x="5221288" y="4886325"/>
            <a:ext cx="3609975" cy="1203325"/>
            <a:chOff x="3289" y="3273"/>
            <a:chExt cx="2274" cy="758"/>
          </a:xfrm>
        </p:grpSpPr>
        <p:sp>
          <p:nvSpPr>
            <p:cNvPr id="42022" name="AutoShape 3"/>
            <p:cNvSpPr>
              <a:spLocks noChangeAspect="1" noChangeArrowheads="1"/>
            </p:cNvSpPr>
            <p:nvPr/>
          </p:nvSpPr>
          <p:spPr bwMode="auto">
            <a:xfrm>
              <a:off x="3289" y="3273"/>
              <a:ext cx="2274" cy="758"/>
            </a:xfrm>
            <a:prstGeom prst="parallelogram">
              <a:avLst>
                <a:gd name="adj" fmla="val 7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3" name="Text Box 4"/>
            <p:cNvSpPr txBox="1">
              <a:spLocks noChangeArrowheads="1"/>
            </p:cNvSpPr>
            <p:nvPr/>
          </p:nvSpPr>
          <p:spPr bwMode="auto">
            <a:xfrm>
              <a:off x="4116" y="3566"/>
              <a:ext cx="562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>
                  <a:latin typeface="Times New Roman" pitchFamily="18" charset="0"/>
                </a:rPr>
                <a:t>image I</a:t>
              </a:r>
            </a:p>
          </p:txBody>
        </p:sp>
      </p:grpSp>
      <p:grpSp>
        <p:nvGrpSpPr>
          <p:cNvPr id="41987" name="Group 5"/>
          <p:cNvGrpSpPr>
            <a:grpSpLocks/>
          </p:cNvGrpSpPr>
          <p:nvPr/>
        </p:nvGrpSpPr>
        <p:grpSpPr bwMode="auto">
          <a:xfrm>
            <a:off x="177800" y="4906963"/>
            <a:ext cx="3606800" cy="1203325"/>
            <a:chOff x="112" y="3286"/>
            <a:chExt cx="2272" cy="758"/>
          </a:xfrm>
        </p:grpSpPr>
        <p:sp>
          <p:nvSpPr>
            <p:cNvPr id="42020" name="AutoShape 6"/>
            <p:cNvSpPr>
              <a:spLocks noChangeAspect="1" noChangeArrowheads="1"/>
            </p:cNvSpPr>
            <p:nvPr/>
          </p:nvSpPr>
          <p:spPr bwMode="auto">
            <a:xfrm>
              <a:off x="112" y="3286"/>
              <a:ext cx="2272" cy="758"/>
            </a:xfrm>
            <a:prstGeom prst="parallelogram">
              <a:avLst>
                <a:gd name="adj" fmla="val 7493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1" name="Text Box 7"/>
            <p:cNvSpPr txBox="1">
              <a:spLocks noChangeArrowheads="1"/>
            </p:cNvSpPr>
            <p:nvPr/>
          </p:nvSpPr>
          <p:spPr bwMode="auto">
            <a:xfrm>
              <a:off x="887" y="3557"/>
              <a:ext cx="631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>
                  <a:latin typeface="Times New Roman" pitchFamily="18" charset="0"/>
                </a:rPr>
                <a:t>image H</a:t>
              </a:r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77800" y="1143000"/>
            <a:ext cx="8763000" cy="5321300"/>
            <a:chOff x="112" y="916"/>
            <a:chExt cx="5520" cy="3352"/>
          </a:xfrm>
        </p:grpSpPr>
        <p:grpSp>
          <p:nvGrpSpPr>
            <p:cNvPr id="41995" name="Group 9"/>
            <p:cNvGrpSpPr>
              <a:grpSpLocks/>
            </p:cNvGrpSpPr>
            <p:nvPr/>
          </p:nvGrpSpPr>
          <p:grpSpPr bwMode="auto">
            <a:xfrm>
              <a:off x="112" y="916"/>
              <a:ext cx="5520" cy="3352"/>
              <a:chOff x="112" y="916"/>
              <a:chExt cx="5520" cy="3352"/>
            </a:xfrm>
          </p:grpSpPr>
          <p:grpSp>
            <p:nvGrpSpPr>
              <p:cNvPr id="41998" name="Group 10"/>
              <p:cNvGrpSpPr>
                <a:grpSpLocks/>
              </p:cNvGrpSpPr>
              <p:nvPr/>
            </p:nvGrpSpPr>
            <p:grpSpPr bwMode="auto">
              <a:xfrm>
                <a:off x="112" y="931"/>
                <a:ext cx="2344" cy="3337"/>
                <a:chOff x="112" y="931"/>
                <a:chExt cx="2344" cy="3337"/>
              </a:xfrm>
            </p:grpSpPr>
            <p:grpSp>
              <p:nvGrpSpPr>
                <p:cNvPr id="42010" name="Group 11"/>
                <p:cNvGrpSpPr>
                  <a:grpSpLocks/>
                </p:cNvGrpSpPr>
                <p:nvPr/>
              </p:nvGrpSpPr>
              <p:grpSpPr bwMode="auto">
                <a:xfrm>
                  <a:off x="112" y="931"/>
                  <a:ext cx="2272" cy="3113"/>
                  <a:chOff x="112" y="931"/>
                  <a:chExt cx="2272" cy="3113"/>
                </a:xfrm>
              </p:grpSpPr>
              <p:sp>
                <p:nvSpPr>
                  <p:cNvPr id="42012" name="Line 1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24" y="931"/>
                    <a:ext cx="933" cy="308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013" name="Line 1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059" y="938"/>
                    <a:ext cx="1305" cy="2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014" name="Line 1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678" y="972"/>
                    <a:ext cx="394" cy="23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015" name="AutoShape 1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2" y="3286"/>
                    <a:ext cx="2272" cy="758"/>
                  </a:xfrm>
                  <a:prstGeom prst="parallelogram">
                    <a:avLst>
                      <a:gd name="adj" fmla="val 74934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16" name="AutoShape 1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22" y="2095"/>
                    <a:ext cx="1090" cy="318"/>
                  </a:xfrm>
                  <a:prstGeom prst="parallelogram">
                    <a:avLst>
                      <a:gd name="adj" fmla="val 85692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17" name="AutoShape 1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3" y="2626"/>
                    <a:ext cx="1621" cy="472"/>
                  </a:xfrm>
                  <a:prstGeom prst="parallelogram">
                    <a:avLst>
                      <a:gd name="adj" fmla="val 85858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18" name="AutoShape 1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87" y="1576"/>
                    <a:ext cx="644" cy="188"/>
                  </a:xfrm>
                  <a:prstGeom prst="parallelogram">
                    <a:avLst>
                      <a:gd name="adj" fmla="val 85638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19" name="Line 1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063" y="938"/>
                    <a:ext cx="754" cy="30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01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36" y="4076"/>
                  <a:ext cx="222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sz="2000" b="1"/>
                    <a:t>Gaussian pyramid of image 1</a:t>
                  </a:r>
                </a:p>
              </p:txBody>
            </p:sp>
          </p:grpSp>
          <p:grpSp>
            <p:nvGrpSpPr>
              <p:cNvPr id="41999" name="Group 21"/>
              <p:cNvGrpSpPr>
                <a:grpSpLocks/>
              </p:cNvGrpSpPr>
              <p:nvPr/>
            </p:nvGrpSpPr>
            <p:grpSpPr bwMode="auto">
              <a:xfrm>
                <a:off x="3289" y="916"/>
                <a:ext cx="2343" cy="3352"/>
                <a:chOff x="3289" y="916"/>
                <a:chExt cx="2343" cy="3352"/>
              </a:xfrm>
            </p:grpSpPr>
            <p:grpSp>
              <p:nvGrpSpPr>
                <p:cNvPr id="42000" name="Group 22"/>
                <p:cNvGrpSpPr>
                  <a:grpSpLocks/>
                </p:cNvGrpSpPr>
                <p:nvPr/>
              </p:nvGrpSpPr>
              <p:grpSpPr bwMode="auto">
                <a:xfrm>
                  <a:off x="3289" y="916"/>
                  <a:ext cx="2274" cy="3115"/>
                  <a:chOff x="3289" y="916"/>
                  <a:chExt cx="2274" cy="3115"/>
                </a:xfrm>
              </p:grpSpPr>
              <p:sp>
                <p:nvSpPr>
                  <p:cNvPr id="42002" name="Line 2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301" y="916"/>
                    <a:ext cx="934" cy="30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003" name="Line 2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4237" y="923"/>
                    <a:ext cx="1306" cy="233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004" name="Line 2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3854" y="957"/>
                    <a:ext cx="396" cy="231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005" name="AutoShape 2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289" y="3273"/>
                    <a:ext cx="2274" cy="758"/>
                  </a:xfrm>
                  <a:prstGeom prst="parallelogram">
                    <a:avLst>
                      <a:gd name="adj" fmla="val 75000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06" name="AutoShape 2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800" y="2081"/>
                    <a:ext cx="1091" cy="317"/>
                  </a:xfrm>
                  <a:prstGeom prst="parallelogram">
                    <a:avLst>
                      <a:gd name="adj" fmla="val 86041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07" name="AutoShape 2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572" y="2612"/>
                    <a:ext cx="1621" cy="472"/>
                  </a:xfrm>
                  <a:prstGeom prst="parallelogram">
                    <a:avLst>
                      <a:gd name="adj" fmla="val 85858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08" name="AutoShape 2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65" y="1562"/>
                    <a:ext cx="643" cy="186"/>
                  </a:xfrm>
                  <a:prstGeom prst="parallelogram">
                    <a:avLst>
                      <a:gd name="adj" fmla="val 86425"/>
                    </a:avLst>
                  </a:prstGeom>
                  <a:solidFill>
                    <a:srgbClr val="0000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009" name="Line 3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4241" y="923"/>
                    <a:ext cx="754" cy="309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001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412" y="4076"/>
                  <a:ext cx="222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sz="2000" b="1"/>
                    <a:t>Gaussian pyramid of image 2</a:t>
                  </a:r>
                </a:p>
              </p:txBody>
            </p:sp>
          </p:grpSp>
        </p:grpSp>
        <p:sp>
          <p:nvSpPr>
            <p:cNvPr id="41996" name="Text Box 32"/>
            <p:cNvSpPr txBox="1">
              <a:spLocks noChangeArrowheads="1"/>
            </p:cNvSpPr>
            <p:nvPr/>
          </p:nvSpPr>
          <p:spPr bwMode="auto">
            <a:xfrm>
              <a:off x="4124" y="3580"/>
              <a:ext cx="5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 b="1"/>
                <a:t>image 2</a:t>
              </a:r>
            </a:p>
          </p:txBody>
        </p:sp>
        <p:sp>
          <p:nvSpPr>
            <p:cNvPr id="41997" name="Text Box 33"/>
            <p:cNvSpPr txBox="1">
              <a:spLocks noChangeArrowheads="1"/>
            </p:cNvSpPr>
            <p:nvPr/>
          </p:nvSpPr>
          <p:spPr bwMode="auto">
            <a:xfrm>
              <a:off x="887" y="3571"/>
              <a:ext cx="5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 b="1"/>
                <a:t>image 1</a:t>
              </a:r>
            </a:p>
          </p:txBody>
        </p:sp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3951288" y="2043113"/>
            <a:ext cx="1724025" cy="3602037"/>
            <a:chOff x="2489" y="1482"/>
            <a:chExt cx="1086" cy="2269"/>
          </a:xfrm>
        </p:grpSpPr>
        <p:sp>
          <p:nvSpPr>
            <p:cNvPr id="41991" name="Text Box 35"/>
            <p:cNvSpPr txBox="1">
              <a:spLocks noChangeArrowheads="1"/>
            </p:cNvSpPr>
            <p:nvPr/>
          </p:nvSpPr>
          <p:spPr bwMode="auto">
            <a:xfrm>
              <a:off x="2489" y="3482"/>
              <a:ext cx="95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 i="1">
                  <a:solidFill>
                    <a:srgbClr val="D60093"/>
                  </a:solidFill>
                  <a:latin typeface="Times New Roman" pitchFamily="18" charset="0"/>
                </a:rPr>
                <a:t>u=10 pixels</a:t>
              </a:r>
              <a:endParaRPr lang="en-US" sz="2200" b="1">
                <a:latin typeface="Times New Roman" pitchFamily="18" charset="0"/>
              </a:endParaRPr>
            </a:p>
          </p:txBody>
        </p:sp>
        <p:sp>
          <p:nvSpPr>
            <p:cNvPr id="41992" name="Text Box 36"/>
            <p:cNvSpPr txBox="1">
              <a:spLocks noChangeArrowheads="1"/>
            </p:cNvSpPr>
            <p:nvPr/>
          </p:nvSpPr>
          <p:spPr bwMode="auto">
            <a:xfrm>
              <a:off x="2489" y="2658"/>
              <a:ext cx="86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 i="1">
                  <a:solidFill>
                    <a:srgbClr val="D60093"/>
                  </a:solidFill>
                  <a:latin typeface="Times New Roman" pitchFamily="18" charset="0"/>
                </a:rPr>
                <a:t>u=5 pixels</a:t>
              </a:r>
              <a:endParaRPr lang="en-US" sz="2200" b="1">
                <a:latin typeface="Times New Roman" pitchFamily="18" charset="0"/>
              </a:endParaRPr>
            </a:p>
          </p:txBody>
        </p:sp>
        <p:sp>
          <p:nvSpPr>
            <p:cNvPr id="41993" name="Text Box 37"/>
            <p:cNvSpPr txBox="1">
              <a:spLocks noChangeArrowheads="1"/>
            </p:cNvSpPr>
            <p:nvPr/>
          </p:nvSpPr>
          <p:spPr bwMode="auto">
            <a:xfrm>
              <a:off x="2489" y="2026"/>
              <a:ext cx="9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 i="1">
                  <a:solidFill>
                    <a:srgbClr val="D60093"/>
                  </a:solidFill>
                  <a:latin typeface="Times New Roman" pitchFamily="18" charset="0"/>
                </a:rPr>
                <a:t>u=2.5 pixels</a:t>
              </a:r>
              <a:endParaRPr lang="en-US" sz="2200" b="1">
                <a:latin typeface="Times New Roman" pitchFamily="18" charset="0"/>
              </a:endParaRPr>
            </a:p>
          </p:txBody>
        </p:sp>
        <p:sp>
          <p:nvSpPr>
            <p:cNvPr id="41994" name="Text Box 38"/>
            <p:cNvSpPr txBox="1">
              <a:spLocks noChangeArrowheads="1"/>
            </p:cNvSpPr>
            <p:nvPr/>
          </p:nvSpPr>
          <p:spPr bwMode="auto">
            <a:xfrm>
              <a:off x="2489" y="1482"/>
              <a:ext cx="10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200" b="1" i="1">
                  <a:solidFill>
                    <a:srgbClr val="D60093"/>
                  </a:solidFill>
                  <a:latin typeface="Times New Roman" pitchFamily="18" charset="0"/>
                </a:rPr>
                <a:t>u=1.25 pixels</a:t>
              </a:r>
              <a:endParaRPr lang="en-US" sz="2200" b="1">
                <a:latin typeface="Times New Roman" pitchFamily="18" charset="0"/>
              </a:endParaRPr>
            </a:p>
          </p:txBody>
        </p:sp>
      </p:grpSp>
      <p:sp>
        <p:nvSpPr>
          <p:cNvPr id="41990" name="Rectangle 3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Coarse-to-fine optical flow estimation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F2AFB0-0BFB-B4ED-E64C-E2B97B9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939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Optical flow result</a:t>
            </a:r>
          </a:p>
        </p:txBody>
      </p:sp>
      <p:pic>
        <p:nvPicPr>
          <p:cNvPr id="523268" name="Picture 4" descr="_8196_figure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2498725"/>
            <a:ext cx="4251325" cy="19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270" name="Picture 6" descr="_8196_figure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1600200"/>
            <a:ext cx="4057650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3272" name="Rectangle 8"/>
          <p:cNvSpPr>
            <a:spLocks noChangeArrowheads="1"/>
          </p:cNvSpPr>
          <p:nvPr/>
        </p:nvSpPr>
        <p:spPr bwMode="auto">
          <a:xfrm>
            <a:off x="774700" y="5486400"/>
            <a:ext cx="7772400" cy="122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defTabSz="914400" eaLnBrk="0" fontAlgn="base" hangingPunct="0">
              <a:spcAft>
                <a:spcPct val="0"/>
              </a:spcAft>
            </a:pPr>
            <a:endParaRPr lang="x-none" altLang="x-none" sz="1800">
              <a:solidFill>
                <a:srgbClr val="0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6AD4F7-BA3E-8573-826D-EFC659847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2A73-919B-DB47-9F2A-D39320F2162E}" type="slidenum">
              <a:rPr lang="en-US" altLang="x-none" smtClean="0">
                <a:solidFill>
                  <a:srgbClr val="000000"/>
                </a:solidFill>
              </a:rPr>
              <a:pPr/>
              <a:t>38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40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ChangeArrowheads="1"/>
          </p:cNvSpPr>
          <p:nvPr/>
        </p:nvSpPr>
        <p:spPr bwMode="auto">
          <a:xfrm>
            <a:off x="5105400" y="1474788"/>
            <a:ext cx="3200400" cy="2259012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Flower Garden Video</a:t>
            </a:r>
          </a:p>
        </p:txBody>
      </p:sp>
      <p:pic>
        <p:nvPicPr>
          <p:cNvPr id="581637" name="Picture 5" descr="fg13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600200"/>
            <a:ext cx="2925763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1638" name="Rectangle 6"/>
          <p:cNvSpPr>
            <a:spLocks noChangeArrowheads="1"/>
          </p:cNvSpPr>
          <p:nvPr/>
        </p:nvSpPr>
        <p:spPr bwMode="auto">
          <a:xfrm>
            <a:off x="7146925" y="2641600"/>
            <a:ext cx="152400" cy="152400"/>
          </a:xfrm>
          <a:prstGeom prst="rect">
            <a:avLst/>
          </a:prstGeom>
          <a:noFill/>
          <a:ln w="9525">
            <a:solidFill>
              <a:srgbClr val="FFFF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39" name="Rectangle 7"/>
          <p:cNvSpPr>
            <a:spLocks noChangeArrowheads="1"/>
          </p:cNvSpPr>
          <p:nvPr/>
        </p:nvSpPr>
        <p:spPr bwMode="auto">
          <a:xfrm>
            <a:off x="7023100" y="2660650"/>
            <a:ext cx="152400" cy="152400"/>
          </a:xfrm>
          <a:prstGeom prst="rect">
            <a:avLst/>
          </a:prstGeom>
          <a:noFill/>
          <a:ln w="9525">
            <a:solidFill>
              <a:srgbClr val="FFFF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0" name="Rectangle 8"/>
          <p:cNvSpPr>
            <a:spLocks noChangeArrowheads="1"/>
          </p:cNvSpPr>
          <p:nvPr/>
        </p:nvSpPr>
        <p:spPr bwMode="auto">
          <a:xfrm>
            <a:off x="7839075" y="2000250"/>
            <a:ext cx="152400" cy="152400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1" name="Rectangle 9"/>
          <p:cNvSpPr>
            <a:spLocks noChangeArrowheads="1"/>
          </p:cNvSpPr>
          <p:nvPr/>
        </p:nvSpPr>
        <p:spPr bwMode="auto">
          <a:xfrm>
            <a:off x="5486400" y="2286000"/>
            <a:ext cx="152400" cy="152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2" name="Rectangle 10"/>
          <p:cNvSpPr>
            <a:spLocks noChangeArrowheads="1"/>
          </p:cNvSpPr>
          <p:nvPr/>
        </p:nvSpPr>
        <p:spPr bwMode="auto">
          <a:xfrm>
            <a:off x="7239000" y="3124200"/>
            <a:ext cx="152400" cy="152400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3" name="Text Box 11"/>
          <p:cNvSpPr txBox="1">
            <a:spLocks noChangeArrowheads="1"/>
          </p:cNvSpPr>
          <p:nvPr/>
        </p:nvSpPr>
        <p:spPr bwMode="auto">
          <a:xfrm>
            <a:off x="1431925" y="2454275"/>
            <a:ext cx="21796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What should the</a:t>
            </a:r>
          </a:p>
          <a:p>
            <a:r>
              <a:rPr lang="en-US" altLang="en-US">
                <a:solidFill>
                  <a:srgbClr val="FF0000"/>
                </a:solidFill>
              </a:rPr>
              <a:t>optical flow be?</a:t>
            </a:r>
          </a:p>
        </p:txBody>
      </p:sp>
      <p:pic>
        <p:nvPicPr>
          <p:cNvPr id="581644" name="Picture 12" descr="fgvec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7638" y="3986213"/>
            <a:ext cx="3078162" cy="2052637"/>
          </a:xfrm>
          <a:noFill/>
          <a:ln w="762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B40E6F-1670-9AA5-4887-B646D55F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Optical Flow Results</a:t>
            </a: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31863"/>
            <a:ext cx="7623175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5195888" y="6613525"/>
            <a:ext cx="39481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000"/>
              <a:t>* From Khurram Hassan-Shafique </a:t>
            </a:r>
            <a:r>
              <a:rPr lang="en-US" sz="1000">
                <a:solidFill>
                  <a:schemeClr val="tx2"/>
                </a:solidFill>
              </a:rPr>
              <a:t>CAP5415 Computer Vision 2003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735920-3D7E-F4EE-4FCC-E518FA93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15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Optical Flow Results</a:t>
            </a:r>
          </a:p>
        </p:txBody>
      </p:sp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231900"/>
            <a:ext cx="77978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5195888" y="6613525"/>
            <a:ext cx="39481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000"/>
              <a:t>* From Khurram Hassan-Shafique </a:t>
            </a:r>
            <a:r>
              <a:rPr lang="en-US" sz="1000">
                <a:solidFill>
                  <a:schemeClr val="tx2"/>
                </a:solidFill>
              </a:rPr>
              <a:t>CAP5415 Computer Vision 2003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892E1E-C476-2E46-2B4B-CBB716F3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46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Major contributions from Lucas, </a:t>
            </a:r>
            <a:r>
              <a:rPr lang="en-US" dirty="0" err="1"/>
              <a:t>Tomasi</a:t>
            </a:r>
            <a:r>
              <a:rPr lang="en-US" dirty="0"/>
              <a:t>, </a:t>
            </a:r>
            <a:r>
              <a:rPr lang="en-US" dirty="0" err="1"/>
              <a:t>Kanade</a:t>
            </a:r>
            <a:endParaRPr lang="en-US" dirty="0"/>
          </a:p>
          <a:p>
            <a:pPr lvl="1">
              <a:defRPr/>
            </a:pPr>
            <a:r>
              <a:rPr lang="en-US" dirty="0"/>
              <a:t>Tracking feature points</a:t>
            </a:r>
          </a:p>
          <a:p>
            <a:pPr lvl="1">
              <a:defRPr/>
            </a:pPr>
            <a:r>
              <a:rPr lang="en-US" dirty="0"/>
              <a:t>Optical flow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Key ideas</a:t>
            </a:r>
          </a:p>
          <a:p>
            <a:pPr lvl="1">
              <a:defRPr/>
            </a:pPr>
            <a:r>
              <a:rPr lang="en-US" dirty="0"/>
              <a:t>By assuming brightness constancy, truncated Taylor expansion leads to simple and fast patch matching across frames</a:t>
            </a:r>
          </a:p>
          <a:p>
            <a:pPr lvl="1">
              <a:defRPr/>
            </a:pPr>
            <a:r>
              <a:rPr lang="en-US" dirty="0"/>
              <a:t>Coarse-to-fine registration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5A4A86-3CE5-B73B-74C0-AFDA005F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7F01-05FC-FF41-AC91-244B21A24F9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86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x+u, y+v)$&#10;\end{document}&#10;"/>
  <p:tag name="EXTERNALNAME" val="Edittex"/>
  <p:tag name="BLEND" val="False"/>
  <p:tag name="TRANSPARENT" val="False"/>
  <p:tag name="BITMAPFORMAT" val="bmpmono"/>
  <p:tag name="DEBUGINTERACTIVE" val="True"/>
  <p:tag name="ORIGWIDTH" val="483.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x, y)$&#10;\end{document}&#10;"/>
  <p:tag name="EXTERNALNAME" val="Edittex"/>
  <p:tag name="BLEND" val="False"/>
  <p:tag name="TRANSPARENT" val="False"/>
  <p:tag name="BITMAPFORMAT" val="bmpmono"/>
  <p:tag name="DEBUGINTERACTIVE" val="True"/>
  <p:tag name="ORIGWIDTH" val="18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displacement $= (u, v)$&#10;\end{document}&#10;"/>
  <p:tag name="EXTERNALNAME" val="Edittex"/>
  <p:tag name="BLEND" val="False"/>
  <p:tag name="TRANSPARENT" val="False"/>
  <p:tag name="BITMAPFORMAT" val="bmpmono"/>
  <p:tag name="DEBUGINTERACTIVE" val="True"/>
  <p:tag name="ORIGWIDTH" val="801.8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0 =  I_t({\bf p_i}) +\nabla I({\bf p_i}) \cdot [u~v]$&#10;\end{document}&#10;"/>
  <p:tag name="EXTERNALNAME" val="Edittex"/>
  <p:tag name="BLEND" val="False"/>
  <p:tag name="TRANSPARENT" val="False"/>
  <p:tag name="BITMAPFORMAT" val="bmpmono"/>
  <p:tag name="DEBUGINTERACTIVE" val="True"/>
  <p:tag name="ORIGWIDTH" val="94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eft[&#10;\begin{array}{cc}&#10;I_x({\bf p_1}) &amp; I_y({\bf p_1})  \\&#10;I_x({\bf p_2}) &amp; I_y({\bf p_2})  \\&#10;\vdots &amp; \vdots \\&#10;I_x({\bf p_{25}}) &amp; I_y({\bf p_{25}})  \\&#10;\end{array}&#10;\right]&#10;\left[&#10;\begin{array}{c}&#10;u \\&#10;v&#10;\end{array}&#10;\right]&#10;=&#10;-\left[&#10;\begin{array}{c}&#10;I_t({\bf p_1}) \\&#10;I_t({\bf p_2}) \\&#10;\vdots \\&#10;I_t({\bf p_{25}})&#10;\end{array}&#10;\right]&#10;\]&#10;\end{document}&#10;"/>
  <p:tag name="EXTERNALNAME" val="Edittex"/>
  <p:tag name="BLEND" val="False"/>
  <p:tag name="TRANSPARENT" val="False"/>
  <p:tag name="BITMAPFORMAT" val="bmp256"/>
  <p:tag name="DEBUGINTERACTIVE" val="True"/>
  <p:tag name="ORIGWIDTH" val="1488.6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eft[&#10;\begin{array}{cc}&#10;I_x({\bf p_1}) &amp; I_y({\bf p_1})  \\&#10;I_x({\bf p_2}) &amp; I_y({\bf p_2})  \\&#10;\vdots &amp; \vdots \\&#10;I_x({\bf p_{25}}) &amp; I_y({\bf p_{25}})  \\&#10;\end{array}&#10;\right]&#10;\left[&#10;\begin{array}{c}&#10;u \\&#10;v&#10;\end{array}&#10;\right]&#10;=&#10;-\left[&#10;\begin{array}{c}&#10;I_t({\bf p_1}) \\&#10;I_t({\bf p_2}) \\&#10;\vdots \\&#10;I_t({\bf p_{25}})&#10;\end{array}&#10;\right]&#10;\]&#10;\end{document}&#10;"/>
  <p:tag name="EXTERNALNAME" val="Edittex"/>
  <p:tag name="BLEND" val="False"/>
  <p:tag name="TRANSPARENT" val="False"/>
  <p:tag name="BITMAPFORMAT" val="bmp256"/>
  <p:tag name="DEBUGINTERACTIVE" val="True"/>
  <p:tag name="ORIGWIDTH" val="1488.6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25x2&#10;\end{document}&#10;"/>
  <p:tag name="EXTERNALNAME" val="Edittex"/>
  <p:tag name="BLEND" val="False"/>
  <p:tag name="TRANSPARENT" val="False"/>
  <p:tag name="BITMAPFORMAT" val="bmpmono"/>
  <p:tag name="DEBUGINTERACTIVE" val="True"/>
  <p:tag name="ORIGWIDTH" val="175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A~~d = b$&#10;\end{document}&#10;"/>
  <p:tag name="EXTERNALNAME" val="Edittex"/>
  <p:tag name="BLEND" val="False"/>
  <p:tag name="TRANSPARENT" val="False"/>
  <p:tag name="BITMAPFORMAT" val="bmpmono"/>
  <p:tag name="DEBUGINTERACTIVE" val="True"/>
  <p:tag name="ORIGWIDTH" val="306.8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2x1&#10;\end{document}&#10;"/>
  <p:tag name="EXTERNALNAME" val="Edittex"/>
  <p:tag name="BLEND" val="False"/>
  <p:tag name="TRANSPARENT" val="False"/>
  <p:tag name="BITMAPFORMAT" val="bmpmono"/>
  <p:tag name="DEBUGINTERACTIVE" val="True"/>
  <p:tag name="ORIGWIDTH" val="126.8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25x1&#10;\end{document}&#10;"/>
  <p:tag name="EXTERNALNAME" val="Edittex"/>
  <p:tag name="BLEND" val="False"/>
  <p:tag name="TRANSPARENT" val="False"/>
  <p:tag name="BITMAPFORMAT" val="bmpmono"/>
  <p:tag name="DEBUGINTERACTIVE" val="True"/>
  <p:tag name="ORIGWIDTH" val="171.8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eft[&#10;\begin{array}{cc}&#10;I_x({\bf p_1}) &amp; I_y({\bf p_1})  \\&#10;I_x({\bf p_2}) &amp; I_y({\bf p_2})  \\&#10;\vdots &amp; \vdots \\&#10;I_x({\bf p_{25}}) &amp; I_y({\bf p_{25}})  \\&#10;\end{array}&#10;\right]&#10;\left[&#10;\begin{array}{c}&#10;u \\&#10;v&#10;\end{array}&#10;\right]&#10;=&#10;-\left[&#10;\begin{array}{c}&#10;I_t({\bf p_1}) \\&#10;I_t({\bf p_2}) \\&#10;\vdots \\&#10;I_t({\bf p_{25}})&#10;\end{array}&#10;\right]&#10;\]&#10;\end{document}&#10;"/>
  <p:tag name="EXTERNALNAME" val="Edittex"/>
  <p:tag name="BLEND" val="False"/>
  <p:tag name="TRANSPARENT" val="False"/>
  <p:tag name="BITMAPFORMAT" val="bmp256"/>
  <p:tag name="DEBUGINTERACTIVE" val="True"/>
  <p:tag name="ORIGWIDTH" val="1488.62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(A^TA)~d = A^Tb$&#10;\end{document}&#10;"/>
  <p:tag name="EXTERNALNAME" val="Edittex"/>
  <p:tag name="BLEND" val="False"/>
  <p:tag name="TRANSPARENT" val="False"/>
  <p:tag name="BITMAPFORMAT" val="bmp256"/>
  <p:tag name="DEBUGINTERACTIVE" val="True"/>
  <p:tag name="ORIGWIDTH" val="562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eft[&#10;\begin{array}{cc}&#10;\sum I_x I_x &amp; \sum I_x I_y \\&#10;\sum I_x I_y &amp; \sum I_y I_y&#10;\end{array}&#10;\right]&#10;\left[&#10;\begin{array}{c}&#10;u \\&#10;v&#10;\end{array}&#10;\right]&#10;=&#10;-\left[&#10;\begin{array}{c}&#10;\sum I_x I_t \\&#10;\sum I_y I_t&#10;\end{array}&#10;\right]&#10;\]&#10;\end{document}&#10;"/>
  <p:tag name="EXTERNALNAME" val="Edittex"/>
  <p:tag name="BLEND" val="False"/>
  <p:tag name="TRANSPARENT" val="False"/>
  <p:tag name="BITMAPFORMAT" val="bmp256"/>
  <p:tag name="DEBUGINTERACTIVE" val="True"/>
  <p:tag name="ORIGWIDTH" val="135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A^TA$&#10;\end{document}&#10;"/>
  <p:tag name="EXTERNALNAME" val="Edittex"/>
  <p:tag name="BLEND" val="False"/>
  <p:tag name="TRANSPARENT" val="False"/>
  <p:tag name="BITMAPFORMAT" val="bmpmono"/>
  <p:tag name="DEBUGINTERACTIVE" val="True"/>
  <p:tag name="ORIGWIDTH" val="164.7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A^Tb$&#10;\end{document}&#10;"/>
  <p:tag name="EXTERNALNAME" val="Edittex"/>
  <p:tag name="BLEND" val="False"/>
  <p:tag name="TRANSPARENT" val="False"/>
  <p:tag name="BITMAPFORMAT" val="bmpmono"/>
  <p:tag name="DEBUGINTERACTIVE" val="True"/>
  <p:tag name="ORIGWIDTH" val="138.62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25x2&#10;\end{document}&#10;"/>
  <p:tag name="EXTERNALNAME" val="Edittex"/>
  <p:tag name="BLEND" val="False"/>
  <p:tag name="TRANSPARENT" val="False"/>
  <p:tag name="BITMAPFORMAT" val="bmpmono"/>
  <p:tag name="DEBUGINTERACTIVE" val="True"/>
  <p:tag name="ORIGWIDTH" val="175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A~~d = b$&#10;\end{document}&#10;"/>
  <p:tag name="EXTERNALNAME" val="Edittex"/>
  <p:tag name="BLEND" val="False"/>
  <p:tag name="TRANSPARENT" val="False"/>
  <p:tag name="BITMAPFORMAT" val="bmpmono"/>
  <p:tag name="DEBUGINTERACTIVE" val="True"/>
  <p:tag name="ORIGWIDTH" val="306.87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2x1&#10;\end{document}&#10;"/>
  <p:tag name="EXTERNALNAME" val="Edittex"/>
  <p:tag name="BLEND" val="False"/>
  <p:tag name="TRANSPARENT" val="False"/>
  <p:tag name="BITMAPFORMAT" val="bmpmono"/>
  <p:tag name="DEBUGINTERACTIVE" val="True"/>
  <p:tag name="ORIGWIDTH" val="126.87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25x1&#10;\end{document}&#10;"/>
  <p:tag name="EXTERNALNAME" val="Edittex"/>
  <p:tag name="BLEND" val="False"/>
  <p:tag name="TRANSPARENT" val="False"/>
  <p:tag name="BITMAPFORMAT" val="bmpmono"/>
  <p:tag name="DEBUGINTERACTIVE" val="True"/>
  <p:tag name="ORIGWIDTH" val="171.87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0 = I(x+u, y+v)- H(x,y)$&#10;\end{document}&#10;"/>
  <p:tag name="EXTERNALNAME" val="Edittex"/>
  <p:tag name="BLEND" val="False"/>
  <p:tag name="TRANSPARENT" val="False"/>
  <p:tag name="BITMAPFORMAT" val="bmpmono"/>
  <p:tag name="DEBUGINTERACTIVE" val="True"/>
  <p:tag name="ORIGWIDTH" val="1049.37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approx I(x,y) + I_x u + I_y v  - H(x,y) $&#10;\end{document}&#10;"/>
  <p:tag name="EXTERNALNAME" val="Edittex"/>
  <p:tag name="BLEND" val="False"/>
  <p:tag name="TRANSPARENT" val="False"/>
  <p:tag name="BITMAPFORMAT" val="bmpmono"/>
  <p:tag name="DEBUGINTERACTIVE" val="True"/>
  <p:tag name="ORIGWIDTH" val="1113.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= I(x,y) + I_x u + I_y v + \mbox{\tiny higher order terms} - H(x,y) $&#10;\end{document}&#10;"/>
  <p:tag name="EXTERNALNAME" val="Edittex"/>
  <p:tag name="BLEND" val="False"/>
  <p:tag name="TRANSPARENT" val="False"/>
  <p:tag name="BITMAPFORMAT" val="bmpmono"/>
  <p:tag name="DEBUGINTERACTIVE" val="True"/>
  <p:tag name="ORIGWIDTH" val="1720.7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begin{eqnarray}&#10;f_1(x) &#10;\nonumber&#10;\end{eqnarra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26"/>
  <p:tag name="BOXFONT" val="10"/>
  <p:tag name="BOXWRAP" val="False"/>
  <p:tag name="WORKAROUNDTRANSPARENCYBUG" val="False"/>
  <p:tag name="BITMAPFORMAT" val="pngmono"/>
  <p:tag name="DEBUGINTERACTIVE" val="True"/>
  <p:tag name="ORIGWIDTH" val="49"/>
  <p:tag name="PICTUREFILESIZE" val="317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begin{eqnarray}&#10;f_2(x) &#10;\nonumber&#10;\end{eqnarra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26"/>
  <p:tag name="BOXFONT" val="10"/>
  <p:tag name="BOXWRAP" val="False"/>
  <p:tag name="WORKAROUNDTRANSPARENCYBUG" val="False"/>
  <p:tag name="BITMAPFORMAT" val="pngmono"/>
  <p:tag name="DEBUGINTERACTIVE" val="True"/>
  <p:tag name="ORIGWIDTH" val="49"/>
  <p:tag name="PICTUREFILESIZE" val="355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begin{eqnarray}&#10;f_1(x) &#10;\nonumber&#10;\end{eqnarra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26"/>
  <p:tag name="BOXFONT" val="10"/>
  <p:tag name="BOXWRAP" val="False"/>
  <p:tag name="WORKAROUNDTRANSPARENCYBUG" val="False"/>
  <p:tag name="BITMAPFORMAT" val="pngmono"/>
  <p:tag name="DEBUGINTERACTIVE" val="True"/>
  <p:tag name="ORIGWIDTH" val="49"/>
  <p:tag name="PICTUREFILESIZE" val="317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begin{eqnarray}&#10;f_2(x) &#10;\nonumber&#10;\end{eqnarra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26"/>
  <p:tag name="BOXFONT" val="10"/>
  <p:tag name="BOXWRAP" val="False"/>
  <p:tag name="WORKAROUNDTRANSPARENCYBUG" val="False"/>
  <p:tag name="BITMAPFORMAT" val="pngmono"/>
  <p:tag name="DEBUGINTERACTIVE" val="True"/>
  <p:tag name="ORIGWIDTH" val="49"/>
  <p:tag name="PICTUREFILESIZE" val="35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66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</TotalTime>
  <Words>1491</Words>
  <Application>Microsoft Office PowerPoint</Application>
  <PresentationFormat>On-screen Show (4:3)</PresentationFormat>
  <Paragraphs>298</Paragraphs>
  <Slides>42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9" baseType="lpstr">
      <vt:lpstr>Arial</vt:lpstr>
      <vt:lpstr>Calibri</vt:lpstr>
      <vt:lpstr>Comic Sans MS</vt:lpstr>
      <vt:lpstr>Times New Roman</vt:lpstr>
      <vt:lpstr>Verdana</vt:lpstr>
      <vt:lpstr>Wingdings</vt:lpstr>
      <vt:lpstr>Office Theme</vt:lpstr>
      <vt:lpstr>Blank Presentation</vt:lpstr>
      <vt:lpstr>Default Design</vt:lpstr>
      <vt:lpstr>1_Default Design</vt:lpstr>
      <vt:lpstr>2_Default Design</vt:lpstr>
      <vt:lpstr>3_Default Design</vt:lpstr>
      <vt:lpstr>5_Default Design</vt:lpstr>
      <vt:lpstr>6_Default Design</vt:lpstr>
      <vt:lpstr>7_Default Design</vt:lpstr>
      <vt:lpstr>custom1</vt:lpstr>
      <vt:lpstr>Equation</vt:lpstr>
      <vt:lpstr> CS 5187: Vision and Image Lecture 11 Motion and Optical Flow</vt:lpstr>
      <vt:lpstr>We live in a moving world</vt:lpstr>
      <vt:lpstr>Seeing motion from a static picture?</vt:lpstr>
      <vt:lpstr>More examples</vt:lpstr>
      <vt:lpstr>How is this possible?</vt:lpstr>
      <vt:lpstr>The cause of motion</vt:lpstr>
      <vt:lpstr>Estimating motion</vt:lpstr>
      <vt:lpstr>Feature tracking</vt:lpstr>
      <vt:lpstr>What is Optical Flow?</vt:lpstr>
      <vt:lpstr>Definitions</vt:lpstr>
      <vt:lpstr>Ambiguity of optical flow</vt:lpstr>
      <vt:lpstr>What is Optical Flow?</vt:lpstr>
      <vt:lpstr>Optical Flow Research: Timeline</vt:lpstr>
      <vt:lpstr>Optical Flow</vt:lpstr>
      <vt:lpstr>The brightness constancy constraint</vt:lpstr>
      <vt:lpstr>The brightness constancy constraint</vt:lpstr>
      <vt:lpstr>Optical Flow</vt:lpstr>
      <vt:lpstr>How does this show up visually? Known as the “Aperture Problem”</vt:lpstr>
      <vt:lpstr>Aperture Problem Exposed</vt:lpstr>
      <vt:lpstr>The aperture problem</vt:lpstr>
      <vt:lpstr>The aperture problem</vt:lpstr>
      <vt:lpstr>Lucas and Kanade</vt:lpstr>
      <vt:lpstr>Least squares problem</vt:lpstr>
      <vt:lpstr>Matching patches across images</vt:lpstr>
      <vt:lpstr>Aperture problem</vt:lpstr>
      <vt:lpstr>Errors in Lukas-Kanade</vt:lpstr>
      <vt:lpstr>Improving accuracy</vt:lpstr>
      <vt:lpstr>Iterative Refinement</vt:lpstr>
      <vt:lpstr>Tracking in the 1D case:</vt:lpstr>
      <vt:lpstr>Tracking in the 1D case:</vt:lpstr>
      <vt:lpstr>Tracking in the 1D case:</vt:lpstr>
      <vt:lpstr>Optical Flow: Aliasing</vt:lpstr>
      <vt:lpstr>Revisiting the small motion assumption</vt:lpstr>
      <vt:lpstr>Reduce the resolution!</vt:lpstr>
      <vt:lpstr>Coarse-to-fine optical flow estimation</vt:lpstr>
      <vt:lpstr>A Few Details</vt:lpstr>
      <vt:lpstr>Coarse-to-fine optical flow estimation</vt:lpstr>
      <vt:lpstr>Optical flow result</vt:lpstr>
      <vt:lpstr>The Flower Garden Video</vt:lpstr>
      <vt:lpstr>Optical Flow Results</vt:lpstr>
      <vt:lpstr>Optical Flow Results</vt:lpstr>
      <vt:lpstr>Summary</vt:lpstr>
    </vt:vector>
  </TitlesOfParts>
  <Company>UW 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and Optical Flow</dc:title>
  <dc:creator>Ali Farhadi</dc:creator>
  <cp:lastModifiedBy>Prof. WU Dapeng</cp:lastModifiedBy>
  <cp:revision>85</cp:revision>
  <dcterms:created xsi:type="dcterms:W3CDTF">2013-05-01T00:12:02Z</dcterms:created>
  <dcterms:modified xsi:type="dcterms:W3CDTF">2025-11-09T07:51:08Z</dcterms:modified>
</cp:coreProperties>
</file>