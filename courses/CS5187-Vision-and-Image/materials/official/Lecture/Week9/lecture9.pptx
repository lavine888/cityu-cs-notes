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6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9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36.xml" ContentType="application/vnd.openxmlformats-officedocument.presentationml.notesSlide+xml"/>
  <Override PartName="/ppt/tags/tag34.xml" ContentType="application/vnd.openxmlformats-officedocument.presentationml.tags+xml"/>
  <Override PartName="/ppt/notesSlides/notesSlide3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702" r:id="rId2"/>
    <p:sldMasterId id="2147483714" r:id="rId3"/>
    <p:sldMasterId id="2147483726" r:id="rId4"/>
    <p:sldMasterId id="2147483739" r:id="rId5"/>
    <p:sldMasterId id="2147483751" r:id="rId6"/>
    <p:sldMasterId id="2147483766" r:id="rId7"/>
  </p:sldMasterIdLst>
  <p:notesMasterIdLst>
    <p:notesMasterId r:id="rId58"/>
  </p:notesMasterIdLst>
  <p:handoutMasterIdLst>
    <p:handoutMasterId r:id="rId59"/>
  </p:handoutMasterIdLst>
  <p:sldIdLst>
    <p:sldId id="498" r:id="rId8"/>
    <p:sldId id="764" r:id="rId9"/>
    <p:sldId id="765" r:id="rId10"/>
    <p:sldId id="766" r:id="rId11"/>
    <p:sldId id="767" r:id="rId12"/>
    <p:sldId id="768" r:id="rId13"/>
    <p:sldId id="769" r:id="rId14"/>
    <p:sldId id="770" r:id="rId15"/>
    <p:sldId id="771" r:id="rId16"/>
    <p:sldId id="772" r:id="rId17"/>
    <p:sldId id="773" r:id="rId18"/>
    <p:sldId id="774" r:id="rId19"/>
    <p:sldId id="716" r:id="rId20"/>
    <p:sldId id="717" r:id="rId21"/>
    <p:sldId id="718" r:id="rId22"/>
    <p:sldId id="757" r:id="rId23"/>
    <p:sldId id="759" r:id="rId24"/>
    <p:sldId id="760" r:id="rId25"/>
    <p:sldId id="719" r:id="rId26"/>
    <p:sldId id="761" r:id="rId27"/>
    <p:sldId id="721" r:id="rId28"/>
    <p:sldId id="722" r:id="rId29"/>
    <p:sldId id="724" r:id="rId30"/>
    <p:sldId id="725" r:id="rId31"/>
    <p:sldId id="726" r:id="rId32"/>
    <p:sldId id="727" r:id="rId33"/>
    <p:sldId id="895" r:id="rId34"/>
    <p:sldId id="909" r:id="rId35"/>
    <p:sldId id="905" r:id="rId36"/>
    <p:sldId id="906" r:id="rId37"/>
    <p:sldId id="907" r:id="rId38"/>
    <p:sldId id="899" r:id="rId39"/>
    <p:sldId id="729" r:id="rId40"/>
    <p:sldId id="731" r:id="rId41"/>
    <p:sldId id="762" r:id="rId42"/>
    <p:sldId id="734" r:id="rId43"/>
    <p:sldId id="735" r:id="rId44"/>
    <p:sldId id="736" r:id="rId45"/>
    <p:sldId id="737" r:id="rId46"/>
    <p:sldId id="738" r:id="rId47"/>
    <p:sldId id="739" r:id="rId48"/>
    <p:sldId id="740" r:id="rId49"/>
    <p:sldId id="742" r:id="rId50"/>
    <p:sldId id="743" r:id="rId51"/>
    <p:sldId id="747" r:id="rId52"/>
    <p:sldId id="748" r:id="rId53"/>
    <p:sldId id="749" r:id="rId54"/>
    <p:sldId id="751" r:id="rId55"/>
    <p:sldId id="752" r:id="rId56"/>
    <p:sldId id="753" r:id="rId57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99"/>
    <a:srgbClr val="EEECE1"/>
    <a:srgbClr val="00FF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69" autoAdjust="0"/>
    <p:restoredTop sz="73327" autoAdjust="0"/>
  </p:normalViewPr>
  <p:slideViewPr>
    <p:cSldViewPr>
      <p:cViewPr varScale="1">
        <p:scale>
          <a:sx n="49" d="100"/>
          <a:sy n="49" d="100"/>
        </p:scale>
        <p:origin x="2084" y="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viewProps" Target="viewProp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microsoft.com/office/2016/11/relationships/changesInfo" Target="changesInfos/changesInfo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peng" userId="766581d8-4b49-4c74-b70d-570e2257b99b" providerId="ADAL" clId="{74054531-8070-4E2B-9CA6-7A15D687AEBB}"/>
    <pc:docChg chg="modSld">
      <pc:chgData name="Dapeng" userId="766581d8-4b49-4c74-b70d-570e2257b99b" providerId="ADAL" clId="{74054531-8070-4E2B-9CA6-7A15D687AEBB}" dt="2024-08-31T07:07:39.065" v="3" actId="20577"/>
      <pc:docMkLst>
        <pc:docMk/>
      </pc:docMkLst>
      <pc:sldChg chg="modSp mod">
        <pc:chgData name="Dapeng" userId="766581d8-4b49-4c74-b70d-570e2257b99b" providerId="ADAL" clId="{74054531-8070-4E2B-9CA6-7A15D687AEBB}" dt="2024-08-31T07:07:39.065" v="3" actId="20577"/>
        <pc:sldMkLst>
          <pc:docMk/>
          <pc:sldMk cId="0" sldId="498"/>
        </pc:sldMkLst>
        <pc:spChg chg="mod">
          <ac:chgData name="Dapeng" userId="766581d8-4b49-4c74-b70d-570e2257b99b" providerId="ADAL" clId="{74054531-8070-4E2B-9CA6-7A15D687AEBB}" dt="2024-08-31T07:07:39.065" v="3" actId="20577"/>
          <ac:spMkLst>
            <pc:docMk/>
            <pc:sldMk cId="0" sldId="498"/>
            <ac:spMk id="6146" creationId="{755B4B3F-1C3D-927E-1ED2-99274895B418}"/>
          </ac:spMkLst>
        </pc:spChg>
      </pc:sldChg>
    </pc:docChg>
  </pc:docChgLst>
  <pc:docChgLst>
    <pc:chgData name="Prof. WU Dapeng" userId="766581d8-4b49-4c74-b70d-570e2257b99b" providerId="ADAL" clId="{C2097CE2-6968-4D62-A6D8-0C7ECC0F7974}"/>
    <pc:docChg chg="undo redo custSel delSld modSld">
      <pc:chgData name="Prof. WU Dapeng" userId="766581d8-4b49-4c74-b70d-570e2257b99b" providerId="ADAL" clId="{C2097CE2-6968-4D62-A6D8-0C7ECC0F7974}" dt="2023-03-15T11:30:28.757" v="357"/>
      <pc:docMkLst>
        <pc:docMk/>
      </pc:docMkLst>
      <pc:sldChg chg="modSp mod">
        <pc:chgData name="Prof. WU Dapeng" userId="766581d8-4b49-4c74-b70d-570e2257b99b" providerId="ADAL" clId="{C2097CE2-6968-4D62-A6D8-0C7ECC0F7974}" dt="2023-03-08T07:43:52.055" v="3" actId="20577"/>
        <pc:sldMkLst>
          <pc:docMk/>
          <pc:sldMk cId="0" sldId="498"/>
        </pc:sldMkLst>
        <pc:spChg chg="mod">
          <ac:chgData name="Prof. WU Dapeng" userId="766581d8-4b49-4c74-b70d-570e2257b99b" providerId="ADAL" clId="{C2097CE2-6968-4D62-A6D8-0C7ECC0F7974}" dt="2023-03-08T07:43:52.055" v="3" actId="20577"/>
          <ac:spMkLst>
            <pc:docMk/>
            <pc:sldMk cId="0" sldId="498"/>
            <ac:spMk id="6147" creationId="{5BE92627-13FA-5965-1CCF-590FF9EDF749}"/>
          </ac:spMkLst>
        </pc:spChg>
      </pc:sldChg>
      <pc:sldChg chg="addSp delSp mod">
        <pc:chgData name="Prof. WU Dapeng" userId="766581d8-4b49-4c74-b70d-570e2257b99b" providerId="ADAL" clId="{C2097CE2-6968-4D62-A6D8-0C7ECC0F7974}" dt="2023-03-15T01:46:58.813" v="131" actId="9405"/>
        <pc:sldMkLst>
          <pc:docMk/>
          <pc:sldMk cId="442676353" sldId="725"/>
        </pc:sldMkLst>
        <pc:inkChg chg="add del">
          <ac:chgData name="Prof. WU Dapeng" userId="766581d8-4b49-4c74-b70d-570e2257b99b" providerId="ADAL" clId="{C2097CE2-6968-4D62-A6D8-0C7ECC0F7974}" dt="2023-03-15T01:46:58.813" v="131" actId="9405"/>
          <ac:inkMkLst>
            <pc:docMk/>
            <pc:sldMk cId="442676353" sldId="725"/>
            <ac:inkMk id="4" creationId="{A3EC9CD1-A24A-2732-3D7B-7386B72FEEEB}"/>
          </ac:inkMkLst>
        </pc:inkChg>
      </pc:sldChg>
      <pc:sldChg chg="delSp modSp mod">
        <pc:chgData name="Prof. WU Dapeng" userId="766581d8-4b49-4c74-b70d-570e2257b99b" providerId="ADAL" clId="{C2097CE2-6968-4D62-A6D8-0C7ECC0F7974}" dt="2023-03-15T01:46:51.945" v="129" actId="20577"/>
        <pc:sldMkLst>
          <pc:docMk/>
          <pc:sldMk cId="93726955" sldId="729"/>
        </pc:sldMkLst>
        <pc:spChg chg="mod">
          <ac:chgData name="Prof. WU Dapeng" userId="766581d8-4b49-4c74-b70d-570e2257b99b" providerId="ADAL" clId="{C2097CE2-6968-4D62-A6D8-0C7ECC0F7974}" dt="2023-03-15T01:46:51.945" v="129" actId="20577"/>
          <ac:spMkLst>
            <pc:docMk/>
            <pc:sldMk cId="93726955" sldId="729"/>
            <ac:spMk id="2" creationId="{00000000-0000-0000-0000-000000000000}"/>
          </ac:spMkLst>
        </pc:spChg>
        <pc:spChg chg="del mod">
          <ac:chgData name="Prof. WU Dapeng" userId="766581d8-4b49-4c74-b70d-570e2257b99b" providerId="ADAL" clId="{C2097CE2-6968-4D62-A6D8-0C7ECC0F7974}" dt="2023-03-15T00:19:04.417" v="18"/>
          <ac:spMkLst>
            <pc:docMk/>
            <pc:sldMk cId="93726955" sldId="729"/>
            <ac:spMk id="38922" creationId="{00000000-0000-0000-0000-000000000000}"/>
          </ac:spMkLst>
        </pc:spChg>
      </pc:sldChg>
      <pc:sldChg chg="modSp mod">
        <pc:chgData name="Prof. WU Dapeng" userId="766581d8-4b49-4c74-b70d-570e2257b99b" providerId="ADAL" clId="{C2097CE2-6968-4D62-A6D8-0C7ECC0F7974}" dt="2023-03-15T06:20:02.487" v="288" actId="1076"/>
        <pc:sldMkLst>
          <pc:docMk/>
          <pc:sldMk cId="303091582" sldId="740"/>
        </pc:sldMkLst>
        <pc:spChg chg="mod">
          <ac:chgData name="Prof. WU Dapeng" userId="766581d8-4b49-4c74-b70d-570e2257b99b" providerId="ADAL" clId="{C2097CE2-6968-4D62-A6D8-0C7ECC0F7974}" dt="2023-03-15T06:18:59.191" v="275" actId="1076"/>
          <ac:spMkLst>
            <pc:docMk/>
            <pc:sldMk cId="303091582" sldId="740"/>
            <ac:spMk id="50182" creationId="{00000000-0000-0000-0000-000000000000}"/>
          </ac:spMkLst>
        </pc:spChg>
        <pc:spChg chg="mod">
          <ac:chgData name="Prof. WU Dapeng" userId="766581d8-4b49-4c74-b70d-570e2257b99b" providerId="ADAL" clId="{C2097CE2-6968-4D62-A6D8-0C7ECC0F7974}" dt="2023-03-15T06:20:02.487" v="288" actId="1076"/>
          <ac:spMkLst>
            <pc:docMk/>
            <pc:sldMk cId="303091582" sldId="740"/>
            <ac:spMk id="50183" creationId="{00000000-0000-0000-0000-000000000000}"/>
          </ac:spMkLst>
        </pc:spChg>
      </pc:sldChg>
      <pc:sldChg chg="modSp mod">
        <pc:chgData name="Prof. WU Dapeng" userId="766581d8-4b49-4c74-b70d-570e2257b99b" providerId="ADAL" clId="{C2097CE2-6968-4D62-A6D8-0C7ECC0F7974}" dt="2023-03-15T03:02:34.022" v="241" actId="20577"/>
        <pc:sldMkLst>
          <pc:docMk/>
          <pc:sldMk cId="148577838" sldId="742"/>
        </pc:sldMkLst>
        <pc:spChg chg="mod">
          <ac:chgData name="Prof. WU Dapeng" userId="766581d8-4b49-4c74-b70d-570e2257b99b" providerId="ADAL" clId="{C2097CE2-6968-4D62-A6D8-0C7ECC0F7974}" dt="2023-03-15T03:02:06.702" v="239" actId="255"/>
          <ac:spMkLst>
            <pc:docMk/>
            <pc:sldMk cId="148577838" sldId="742"/>
            <ac:spMk id="14340" creationId="{00000000-0000-0000-0000-000000000000}"/>
          </ac:spMkLst>
        </pc:spChg>
        <pc:spChg chg="mod">
          <ac:chgData name="Prof. WU Dapeng" userId="766581d8-4b49-4c74-b70d-570e2257b99b" providerId="ADAL" clId="{C2097CE2-6968-4D62-A6D8-0C7ECC0F7974}" dt="2023-03-15T03:02:34.022" v="241" actId="20577"/>
          <ac:spMkLst>
            <pc:docMk/>
            <pc:sldMk cId="148577838" sldId="742"/>
            <ac:spMk id="14341" creationId="{00000000-0000-0000-0000-000000000000}"/>
          </ac:spMkLst>
        </pc:spChg>
        <pc:spChg chg="mod">
          <ac:chgData name="Prof. WU Dapeng" userId="766581d8-4b49-4c74-b70d-570e2257b99b" providerId="ADAL" clId="{C2097CE2-6968-4D62-A6D8-0C7ECC0F7974}" dt="2023-03-15T02:59:39.857" v="197" actId="20577"/>
          <ac:spMkLst>
            <pc:docMk/>
            <pc:sldMk cId="148577838" sldId="742"/>
            <ac:spMk id="14342" creationId="{00000000-0000-0000-0000-000000000000}"/>
          </ac:spMkLst>
        </pc:spChg>
      </pc:sldChg>
      <pc:sldChg chg="modSp mod">
        <pc:chgData name="Prof. WU Dapeng" userId="766581d8-4b49-4c74-b70d-570e2257b99b" providerId="ADAL" clId="{C2097CE2-6968-4D62-A6D8-0C7ECC0F7974}" dt="2023-03-14T14:03:30.499" v="8" actId="6549"/>
        <pc:sldMkLst>
          <pc:docMk/>
          <pc:sldMk cId="381422462" sldId="743"/>
        </pc:sldMkLst>
        <pc:spChg chg="mod">
          <ac:chgData name="Prof. WU Dapeng" userId="766581d8-4b49-4c74-b70d-570e2257b99b" providerId="ADAL" clId="{C2097CE2-6968-4D62-A6D8-0C7ECC0F7974}" dt="2023-03-14T14:03:30.499" v="8" actId="6549"/>
          <ac:spMkLst>
            <pc:docMk/>
            <pc:sldMk cId="381422462" sldId="743"/>
            <ac:spMk id="52227" creationId="{00000000-0000-0000-0000-000000000000}"/>
          </ac:spMkLst>
        </pc:spChg>
      </pc:sldChg>
      <pc:sldChg chg="del">
        <pc:chgData name="Prof. WU Dapeng" userId="766581d8-4b49-4c74-b70d-570e2257b99b" providerId="ADAL" clId="{C2097CE2-6968-4D62-A6D8-0C7ECC0F7974}" dt="2023-03-14T14:00:15.955" v="5" actId="2696"/>
        <pc:sldMkLst>
          <pc:docMk/>
          <pc:sldMk cId="328632539" sldId="744"/>
        </pc:sldMkLst>
      </pc:sldChg>
      <pc:sldChg chg="del">
        <pc:chgData name="Prof. WU Dapeng" userId="766581d8-4b49-4c74-b70d-570e2257b99b" providerId="ADAL" clId="{C2097CE2-6968-4D62-A6D8-0C7ECC0F7974}" dt="2023-03-14T14:01:16.860" v="6" actId="2696"/>
        <pc:sldMkLst>
          <pc:docMk/>
          <pc:sldMk cId="626920952" sldId="745"/>
        </pc:sldMkLst>
      </pc:sldChg>
      <pc:sldChg chg="del">
        <pc:chgData name="Prof. WU Dapeng" userId="766581d8-4b49-4c74-b70d-570e2257b99b" providerId="ADAL" clId="{C2097CE2-6968-4D62-A6D8-0C7ECC0F7974}" dt="2023-03-14T14:01:32.760" v="7" actId="2696"/>
        <pc:sldMkLst>
          <pc:docMk/>
          <pc:sldMk cId="787456683" sldId="746"/>
        </pc:sldMkLst>
      </pc:sldChg>
      <pc:sldChg chg="modSp mod">
        <pc:chgData name="Prof. WU Dapeng" userId="766581d8-4b49-4c74-b70d-570e2257b99b" providerId="ADAL" clId="{C2097CE2-6968-4D62-A6D8-0C7ECC0F7974}" dt="2023-03-14T14:04:07.267" v="13" actId="27636"/>
        <pc:sldMkLst>
          <pc:docMk/>
          <pc:sldMk cId="730948497" sldId="747"/>
        </pc:sldMkLst>
        <pc:spChg chg="mod">
          <ac:chgData name="Prof. WU Dapeng" userId="766581d8-4b49-4c74-b70d-570e2257b99b" providerId="ADAL" clId="{C2097CE2-6968-4D62-A6D8-0C7ECC0F7974}" dt="2023-03-14T14:04:07.267" v="13" actId="27636"/>
          <ac:spMkLst>
            <pc:docMk/>
            <pc:sldMk cId="730948497" sldId="747"/>
            <ac:spMk id="34819" creationId="{00000000-0000-0000-0000-000000000000}"/>
          </ac:spMkLst>
        </pc:spChg>
        <pc:spChg chg="mod">
          <ac:chgData name="Prof. WU Dapeng" userId="766581d8-4b49-4c74-b70d-570e2257b99b" providerId="ADAL" clId="{C2097CE2-6968-4D62-A6D8-0C7ECC0F7974}" dt="2023-03-14T14:03:41.112" v="11" actId="20577"/>
          <ac:spMkLst>
            <pc:docMk/>
            <pc:sldMk cId="730948497" sldId="747"/>
            <ac:spMk id="57346" creationId="{00000000-0000-0000-0000-000000000000}"/>
          </ac:spMkLst>
        </pc:spChg>
      </pc:sldChg>
      <pc:sldChg chg="addSp modSp mod">
        <pc:chgData name="Prof. WU Dapeng" userId="766581d8-4b49-4c74-b70d-570e2257b99b" providerId="ADAL" clId="{C2097CE2-6968-4D62-A6D8-0C7ECC0F7974}" dt="2023-03-15T03:04:23.246" v="251" actId="20577"/>
        <pc:sldMkLst>
          <pc:docMk/>
          <pc:sldMk cId="1241883298" sldId="749"/>
        </pc:sldMkLst>
        <pc:spChg chg="add mod">
          <ac:chgData name="Prof. WU Dapeng" userId="766581d8-4b49-4c74-b70d-570e2257b99b" providerId="ADAL" clId="{C2097CE2-6968-4D62-A6D8-0C7ECC0F7974}" dt="2023-03-15T03:04:23.246" v="251" actId="20577"/>
          <ac:spMkLst>
            <pc:docMk/>
            <pc:sldMk cId="1241883298" sldId="749"/>
            <ac:spMk id="6" creationId="{DD912E2C-7E4E-0742-6B40-1144AA423F80}"/>
          </ac:spMkLst>
        </pc:spChg>
      </pc:sldChg>
      <pc:sldChg chg="addSp delSp modSp mod">
        <pc:chgData name="Prof. WU Dapeng" userId="766581d8-4b49-4c74-b70d-570e2257b99b" providerId="ADAL" clId="{C2097CE2-6968-4D62-A6D8-0C7ECC0F7974}" dt="2023-03-15T01:46:39.822" v="126" actId="9405"/>
        <pc:sldMkLst>
          <pc:docMk/>
          <pc:sldMk cId="1340859113" sldId="761"/>
        </pc:sldMkLst>
        <pc:grpChg chg="add del mod">
          <ac:chgData name="Prof. WU Dapeng" userId="766581d8-4b49-4c74-b70d-570e2257b99b" providerId="ADAL" clId="{C2097CE2-6968-4D62-A6D8-0C7ECC0F7974}" dt="2023-03-15T01:46:39.302" v="125"/>
          <ac:grpSpMkLst>
            <pc:docMk/>
            <pc:sldMk cId="1340859113" sldId="761"/>
            <ac:grpSpMk id="18" creationId="{F91AD3A0-FEE6-C96E-A7B5-8581208301DD}"/>
          </ac:grpSpMkLst>
        </pc:grpChg>
        <pc:grpChg chg="add del mod">
          <ac:chgData name="Prof. WU Dapeng" userId="766581d8-4b49-4c74-b70d-570e2257b99b" providerId="ADAL" clId="{C2097CE2-6968-4D62-A6D8-0C7ECC0F7974}" dt="2023-03-15T01:46:38.289" v="122"/>
          <ac:grpSpMkLst>
            <pc:docMk/>
            <pc:sldMk cId="1340859113" sldId="761"/>
            <ac:grpSpMk id="21" creationId="{6FAD3C8D-E508-B412-D78F-7A33020BF976}"/>
          </ac:grpSpMkLst>
        </pc:grpChg>
        <pc:grpChg chg="add del mod">
          <ac:chgData name="Prof. WU Dapeng" userId="766581d8-4b49-4c74-b70d-570e2257b99b" providerId="ADAL" clId="{C2097CE2-6968-4D62-A6D8-0C7ECC0F7974}" dt="2023-03-15T01:46:35.152" v="114"/>
          <ac:grpSpMkLst>
            <pc:docMk/>
            <pc:sldMk cId="1340859113" sldId="761"/>
            <ac:grpSpMk id="29" creationId="{9E0A51F8-BEC9-C8A0-E9A3-1C1693519391}"/>
          </ac:grpSpMkLst>
        </pc:grpChg>
        <pc:grpChg chg="add del mod">
          <ac:chgData name="Prof. WU Dapeng" userId="766581d8-4b49-4c74-b70d-570e2257b99b" providerId="ADAL" clId="{C2097CE2-6968-4D62-A6D8-0C7ECC0F7974}" dt="2023-03-15T01:46:32.527" v="110"/>
          <ac:grpSpMkLst>
            <pc:docMk/>
            <pc:sldMk cId="1340859113" sldId="761"/>
            <ac:grpSpMk id="32" creationId="{CFAE0C42-8F43-35FB-0FD0-83A28DBF799C}"/>
          </ac:grpSpMkLst>
        </pc:grpChg>
        <pc:inkChg chg="add del mod">
          <ac:chgData name="Prof. WU Dapeng" userId="766581d8-4b49-4c74-b70d-570e2257b99b" providerId="ADAL" clId="{C2097CE2-6968-4D62-A6D8-0C7ECC0F7974}" dt="2023-03-15T01:46:39.822" v="126" actId="9405"/>
          <ac:inkMkLst>
            <pc:docMk/>
            <pc:sldMk cId="1340859113" sldId="761"/>
            <ac:inkMk id="5" creationId="{0C29963E-F4DC-5DB9-2B96-54AC2869F5D2}"/>
          </ac:inkMkLst>
        </pc:inkChg>
        <pc:inkChg chg="add del mod">
          <ac:chgData name="Prof. WU Dapeng" userId="766581d8-4b49-4c74-b70d-570e2257b99b" providerId="ADAL" clId="{C2097CE2-6968-4D62-A6D8-0C7ECC0F7974}" dt="2023-03-15T01:46:39.302" v="125"/>
          <ac:inkMkLst>
            <pc:docMk/>
            <pc:sldMk cId="1340859113" sldId="761"/>
            <ac:inkMk id="15" creationId="{F1B51B61-53E7-7EA1-AC60-0B01005C5AA3}"/>
          </ac:inkMkLst>
        </pc:inkChg>
        <pc:inkChg chg="add del mod">
          <ac:chgData name="Prof. WU Dapeng" userId="766581d8-4b49-4c74-b70d-570e2257b99b" providerId="ADAL" clId="{C2097CE2-6968-4D62-A6D8-0C7ECC0F7974}" dt="2023-03-15T01:46:38.799" v="123" actId="9405"/>
          <ac:inkMkLst>
            <pc:docMk/>
            <pc:sldMk cId="1340859113" sldId="761"/>
            <ac:inkMk id="19" creationId="{357504CA-7D30-4CA5-3675-482DC423053A}"/>
          </ac:inkMkLst>
        </pc:inkChg>
        <pc:inkChg chg="add del mod">
          <ac:chgData name="Prof. WU Dapeng" userId="766581d8-4b49-4c74-b70d-570e2257b99b" providerId="ADAL" clId="{C2097CE2-6968-4D62-A6D8-0C7ECC0F7974}" dt="2023-03-15T01:46:38.289" v="122"/>
          <ac:inkMkLst>
            <pc:docMk/>
            <pc:sldMk cId="1340859113" sldId="761"/>
            <ac:inkMk id="20" creationId="{B7390B0F-7528-EF85-E3AD-E3C2E6F925D6}"/>
          </ac:inkMkLst>
        </pc:inkChg>
        <pc:inkChg chg="add del mod">
          <ac:chgData name="Prof. WU Dapeng" userId="766581d8-4b49-4c74-b70d-570e2257b99b" providerId="ADAL" clId="{C2097CE2-6968-4D62-A6D8-0C7ECC0F7974}" dt="2023-03-15T01:46:37.858" v="120" actId="9405"/>
          <ac:inkMkLst>
            <pc:docMk/>
            <pc:sldMk cId="1340859113" sldId="761"/>
            <ac:inkMk id="22" creationId="{C7016DBC-7C32-614A-0477-B228371E9011}"/>
          </ac:inkMkLst>
        </pc:inkChg>
        <pc:inkChg chg="add del mod">
          <ac:chgData name="Prof. WU Dapeng" userId="766581d8-4b49-4c74-b70d-570e2257b99b" providerId="ADAL" clId="{C2097CE2-6968-4D62-A6D8-0C7ECC0F7974}" dt="2023-03-15T01:46:37.434" v="119" actId="9405"/>
          <ac:inkMkLst>
            <pc:docMk/>
            <pc:sldMk cId="1340859113" sldId="761"/>
            <ac:inkMk id="23" creationId="{6C56C1A7-517F-ED3C-A4D3-43C66A348EBB}"/>
          </ac:inkMkLst>
        </pc:inkChg>
        <pc:inkChg chg="add del mod">
          <ac:chgData name="Prof. WU Dapeng" userId="766581d8-4b49-4c74-b70d-570e2257b99b" providerId="ADAL" clId="{C2097CE2-6968-4D62-A6D8-0C7ECC0F7974}" dt="2023-03-15T01:46:37.120" v="118" actId="9405"/>
          <ac:inkMkLst>
            <pc:docMk/>
            <pc:sldMk cId="1340859113" sldId="761"/>
            <ac:inkMk id="24" creationId="{C22B8A7D-0DB7-8969-20E8-E7A63FE2480A}"/>
          </ac:inkMkLst>
        </pc:inkChg>
        <pc:inkChg chg="add del mod">
          <ac:chgData name="Prof. WU Dapeng" userId="766581d8-4b49-4c74-b70d-570e2257b99b" providerId="ADAL" clId="{C2097CE2-6968-4D62-A6D8-0C7ECC0F7974}" dt="2023-03-15T01:46:36.805" v="117" actId="9405"/>
          <ac:inkMkLst>
            <pc:docMk/>
            <pc:sldMk cId="1340859113" sldId="761"/>
            <ac:inkMk id="25" creationId="{727E369D-5892-0486-5DE1-C55F63101F76}"/>
          </ac:inkMkLst>
        </pc:inkChg>
        <pc:inkChg chg="add del mod">
          <ac:chgData name="Prof. WU Dapeng" userId="766581d8-4b49-4c74-b70d-570e2257b99b" providerId="ADAL" clId="{C2097CE2-6968-4D62-A6D8-0C7ECC0F7974}" dt="2023-03-15T01:46:36.506" v="116" actId="9405"/>
          <ac:inkMkLst>
            <pc:docMk/>
            <pc:sldMk cId="1340859113" sldId="761"/>
            <ac:inkMk id="26" creationId="{E3C64FE0-3271-D9C4-A87C-9196E2DA47B1}"/>
          </ac:inkMkLst>
        </pc:inkChg>
        <pc:inkChg chg="add del mod">
          <ac:chgData name="Prof. WU Dapeng" userId="766581d8-4b49-4c74-b70d-570e2257b99b" providerId="ADAL" clId="{C2097CE2-6968-4D62-A6D8-0C7ECC0F7974}" dt="2023-03-15T01:46:35.956" v="115" actId="9405"/>
          <ac:inkMkLst>
            <pc:docMk/>
            <pc:sldMk cId="1340859113" sldId="761"/>
            <ac:inkMk id="27" creationId="{7F2F597B-56B8-3983-D740-14DE9E93D88D}"/>
          </ac:inkMkLst>
        </pc:inkChg>
        <pc:inkChg chg="add del mod">
          <ac:chgData name="Prof. WU Dapeng" userId="766581d8-4b49-4c74-b70d-570e2257b99b" providerId="ADAL" clId="{C2097CE2-6968-4D62-A6D8-0C7ECC0F7974}" dt="2023-03-15T01:46:35.152" v="114"/>
          <ac:inkMkLst>
            <pc:docMk/>
            <pc:sldMk cId="1340859113" sldId="761"/>
            <ac:inkMk id="28" creationId="{8128FFC8-EC6A-8725-81EE-31151F55E027}"/>
          </ac:inkMkLst>
        </pc:inkChg>
        <pc:inkChg chg="add del mod">
          <ac:chgData name="Prof. WU Dapeng" userId="766581d8-4b49-4c74-b70d-570e2257b99b" providerId="ADAL" clId="{C2097CE2-6968-4D62-A6D8-0C7ECC0F7974}" dt="2023-03-15T01:46:32.780" v="111" actId="9405"/>
          <ac:inkMkLst>
            <pc:docMk/>
            <pc:sldMk cId="1340859113" sldId="761"/>
            <ac:inkMk id="30" creationId="{1E3587D8-BDCF-B25C-C07B-FB6076E6CCBA}"/>
          </ac:inkMkLst>
        </pc:inkChg>
        <pc:inkChg chg="add del mod">
          <ac:chgData name="Prof. WU Dapeng" userId="766581d8-4b49-4c74-b70d-570e2257b99b" providerId="ADAL" clId="{C2097CE2-6968-4D62-A6D8-0C7ECC0F7974}" dt="2023-03-15T01:46:32.527" v="110"/>
          <ac:inkMkLst>
            <pc:docMk/>
            <pc:sldMk cId="1340859113" sldId="761"/>
            <ac:inkMk id="31" creationId="{7B3112A4-47B0-49B0-3F8A-1776819EA0C1}"/>
          </ac:inkMkLst>
        </pc:inkChg>
      </pc:sldChg>
      <pc:sldChg chg="del">
        <pc:chgData name="Prof. WU Dapeng" userId="766581d8-4b49-4c74-b70d-570e2257b99b" providerId="ADAL" clId="{C2097CE2-6968-4D62-A6D8-0C7ECC0F7974}" dt="2023-03-08T07:44:06.043" v="4" actId="2696"/>
        <pc:sldMkLst>
          <pc:docMk/>
          <pc:sldMk cId="3739009470" sldId="763"/>
        </pc:sldMkLst>
      </pc:sldChg>
      <pc:sldChg chg="addSp modSp mod">
        <pc:chgData name="Prof. WU Dapeng" userId="766581d8-4b49-4c74-b70d-570e2257b99b" providerId="ADAL" clId="{C2097CE2-6968-4D62-A6D8-0C7ECC0F7974}" dt="2023-03-15T06:45:35.075" v="305" actId="1076"/>
        <pc:sldMkLst>
          <pc:docMk/>
          <pc:sldMk cId="2074914924" sldId="764"/>
        </pc:sldMkLst>
        <pc:picChg chg="mod">
          <ac:chgData name="Prof. WU Dapeng" userId="766581d8-4b49-4c74-b70d-570e2257b99b" providerId="ADAL" clId="{C2097CE2-6968-4D62-A6D8-0C7ECC0F7974}" dt="2023-03-15T06:45:23.821" v="303" actId="1036"/>
          <ac:picMkLst>
            <pc:docMk/>
            <pc:sldMk cId="2074914924" sldId="764"/>
            <ac:picMk id="3" creationId="{00000000-0000-0000-0000-000000000000}"/>
          </ac:picMkLst>
        </pc:picChg>
        <pc:picChg chg="add mod">
          <ac:chgData name="Prof. WU Dapeng" userId="766581d8-4b49-4c74-b70d-570e2257b99b" providerId="ADAL" clId="{C2097CE2-6968-4D62-A6D8-0C7ECC0F7974}" dt="2023-03-15T06:45:35.075" v="305" actId="1076"/>
          <ac:picMkLst>
            <pc:docMk/>
            <pc:sldMk cId="2074914924" sldId="764"/>
            <ac:picMk id="7" creationId="{3CAC03D3-5863-3AC9-3FBE-0C820BBD8F99}"/>
          </ac:picMkLst>
        </pc:picChg>
        <pc:cxnChg chg="mod">
          <ac:chgData name="Prof. WU Dapeng" userId="766581d8-4b49-4c74-b70d-570e2257b99b" providerId="ADAL" clId="{C2097CE2-6968-4D62-A6D8-0C7ECC0F7974}" dt="2023-03-15T06:45:23.821" v="303" actId="1036"/>
          <ac:cxnSpMkLst>
            <pc:docMk/>
            <pc:sldMk cId="2074914924" sldId="764"/>
            <ac:cxnSpMk id="5" creationId="{00000000-0000-0000-0000-000000000000}"/>
          </ac:cxnSpMkLst>
        </pc:cxnChg>
        <pc:cxnChg chg="mod">
          <ac:chgData name="Prof. WU Dapeng" userId="766581d8-4b49-4c74-b70d-570e2257b99b" providerId="ADAL" clId="{C2097CE2-6968-4D62-A6D8-0C7ECC0F7974}" dt="2023-03-15T06:45:23.821" v="303" actId="1036"/>
          <ac:cxnSpMkLst>
            <pc:docMk/>
            <pc:sldMk cId="2074914924" sldId="764"/>
            <ac:cxnSpMk id="6" creationId="{00000000-0000-0000-0000-000000000000}"/>
          </ac:cxnSpMkLst>
        </pc:cxnChg>
        <pc:cxnChg chg="mod">
          <ac:chgData name="Prof. WU Dapeng" userId="766581d8-4b49-4c74-b70d-570e2257b99b" providerId="ADAL" clId="{C2097CE2-6968-4D62-A6D8-0C7ECC0F7974}" dt="2023-03-15T06:45:23.821" v="303" actId="1036"/>
          <ac:cxnSpMkLst>
            <pc:docMk/>
            <pc:sldMk cId="2074914924" sldId="764"/>
            <ac:cxnSpMk id="8" creationId="{00000000-0000-0000-0000-000000000000}"/>
          </ac:cxnSpMkLst>
        </pc:cxnChg>
      </pc:sldChg>
      <pc:sldChg chg="addSp delSp modSp mod">
        <pc:chgData name="Prof. WU Dapeng" userId="766581d8-4b49-4c74-b70d-570e2257b99b" providerId="ADAL" clId="{C2097CE2-6968-4D62-A6D8-0C7ECC0F7974}" dt="2023-03-15T11:30:28.757" v="357"/>
        <pc:sldMkLst>
          <pc:docMk/>
          <pc:sldMk cId="929053304" sldId="766"/>
        </pc:sldMkLst>
        <pc:grpChg chg="del mod">
          <ac:chgData name="Prof. WU Dapeng" userId="766581d8-4b49-4c74-b70d-570e2257b99b" providerId="ADAL" clId="{C2097CE2-6968-4D62-A6D8-0C7ECC0F7974}" dt="2023-03-15T11:29:54.564" v="318"/>
          <ac:grpSpMkLst>
            <pc:docMk/>
            <pc:sldMk cId="929053304" sldId="766"/>
            <ac:grpSpMk id="64" creationId="{C1EE3EEB-175A-DDF6-0BFB-7E430E717FAD}"/>
          </ac:grpSpMkLst>
        </pc:grpChg>
        <pc:grpChg chg="mod">
          <ac:chgData name="Prof. WU Dapeng" userId="766581d8-4b49-4c74-b70d-570e2257b99b" providerId="ADAL" clId="{C2097CE2-6968-4D62-A6D8-0C7ECC0F7974}" dt="2023-03-15T11:29:54.564" v="318"/>
          <ac:grpSpMkLst>
            <pc:docMk/>
            <pc:sldMk cId="929053304" sldId="766"/>
            <ac:grpSpMk id="67" creationId="{F68BFCB1-68F5-3C38-5CA6-4C2C8ADD4370}"/>
          </ac:grpSpMkLst>
        </pc:grpChg>
        <pc:grpChg chg="del mod">
          <ac:chgData name="Prof. WU Dapeng" userId="766581d8-4b49-4c74-b70d-570e2257b99b" providerId="ADAL" clId="{C2097CE2-6968-4D62-A6D8-0C7ECC0F7974}" dt="2023-03-15T11:30:08.741" v="331"/>
          <ac:grpSpMkLst>
            <pc:docMk/>
            <pc:sldMk cId="929053304" sldId="766"/>
            <ac:grpSpMk id="78" creationId="{16699A9A-8C7B-4589-51FD-95F55022727F}"/>
          </ac:grpSpMkLst>
        </pc:grpChg>
        <pc:grpChg chg="del mod">
          <ac:chgData name="Prof. WU Dapeng" userId="766581d8-4b49-4c74-b70d-570e2257b99b" providerId="ADAL" clId="{C2097CE2-6968-4D62-A6D8-0C7ECC0F7974}" dt="2023-03-15T11:30:11.838" v="333"/>
          <ac:grpSpMkLst>
            <pc:docMk/>
            <pc:sldMk cId="929053304" sldId="766"/>
            <ac:grpSpMk id="80" creationId="{4E3D9AEC-A967-592F-5244-C0E2CF088CCF}"/>
          </ac:grpSpMkLst>
        </pc:grpChg>
        <pc:grpChg chg="del mod">
          <ac:chgData name="Prof. WU Dapeng" userId="766581d8-4b49-4c74-b70d-570e2257b99b" providerId="ADAL" clId="{C2097CE2-6968-4D62-A6D8-0C7ECC0F7974}" dt="2023-03-15T11:30:25.364" v="352"/>
          <ac:grpSpMkLst>
            <pc:docMk/>
            <pc:sldMk cId="929053304" sldId="766"/>
            <ac:grpSpMk id="82" creationId="{AE9A9035-D22E-4D3D-3740-4C655D48AD97}"/>
          </ac:grpSpMkLst>
        </pc:grpChg>
        <pc:grpChg chg="del mod">
          <ac:chgData name="Prof. WU Dapeng" userId="766581d8-4b49-4c74-b70d-570e2257b99b" providerId="ADAL" clId="{C2097CE2-6968-4D62-A6D8-0C7ECC0F7974}" dt="2023-03-15T11:30:26.824" v="354"/>
          <ac:grpSpMkLst>
            <pc:docMk/>
            <pc:sldMk cId="929053304" sldId="766"/>
            <ac:grpSpMk id="91" creationId="{BA990E36-81D4-E6D1-E958-66EB114DB247}"/>
          </ac:grpSpMkLst>
        </pc:grpChg>
        <pc:grpChg chg="del mod">
          <ac:chgData name="Prof. WU Dapeng" userId="766581d8-4b49-4c74-b70d-570e2257b99b" providerId="ADAL" clId="{C2097CE2-6968-4D62-A6D8-0C7ECC0F7974}" dt="2023-03-15T11:30:28.757" v="357"/>
          <ac:grpSpMkLst>
            <pc:docMk/>
            <pc:sldMk cId="929053304" sldId="766"/>
            <ac:grpSpMk id="93" creationId="{4615748E-8838-EED6-401E-2F5368A155FF}"/>
          </ac:grpSpMkLst>
        </pc:grpChg>
        <pc:grpChg chg="mod">
          <ac:chgData name="Prof. WU Dapeng" userId="766581d8-4b49-4c74-b70d-570e2257b99b" providerId="ADAL" clId="{C2097CE2-6968-4D62-A6D8-0C7ECC0F7974}" dt="2023-03-15T11:30:28.757" v="357"/>
          <ac:grpSpMkLst>
            <pc:docMk/>
            <pc:sldMk cId="929053304" sldId="766"/>
            <ac:grpSpMk id="96" creationId="{DEC6AB10-9678-A0F4-01B0-E03B83CF37C3}"/>
          </ac:grpSpMkLst>
        </pc:grpChg>
        <pc:inkChg chg="add">
          <ac:chgData name="Prof. WU Dapeng" userId="766581d8-4b49-4c74-b70d-570e2257b99b" providerId="ADAL" clId="{C2097CE2-6968-4D62-A6D8-0C7ECC0F7974}" dt="2023-03-15T11:29:36.055" v="306" actId="9405"/>
          <ac:inkMkLst>
            <pc:docMk/>
            <pc:sldMk cId="929053304" sldId="766"/>
            <ac:inkMk id="55" creationId="{9DCBBFD8-6128-8833-557F-1A548C4BBF37}"/>
          </ac:inkMkLst>
        </pc:inkChg>
        <pc:inkChg chg="add">
          <ac:chgData name="Prof. WU Dapeng" userId="766581d8-4b49-4c74-b70d-570e2257b99b" providerId="ADAL" clId="{C2097CE2-6968-4D62-A6D8-0C7ECC0F7974}" dt="2023-03-15T11:29:37.562" v="307" actId="9405"/>
          <ac:inkMkLst>
            <pc:docMk/>
            <pc:sldMk cId="929053304" sldId="766"/>
            <ac:inkMk id="56" creationId="{D1CA362C-3846-DE0E-ADE2-DE8F35DAF218}"/>
          </ac:inkMkLst>
        </pc:inkChg>
        <pc:inkChg chg="add">
          <ac:chgData name="Prof. WU Dapeng" userId="766581d8-4b49-4c74-b70d-570e2257b99b" providerId="ADAL" clId="{C2097CE2-6968-4D62-A6D8-0C7ECC0F7974}" dt="2023-03-15T11:29:39.213" v="308" actId="9405"/>
          <ac:inkMkLst>
            <pc:docMk/>
            <pc:sldMk cId="929053304" sldId="766"/>
            <ac:inkMk id="57" creationId="{F4635290-47F2-7A63-5911-A52CFD06D716}"/>
          </ac:inkMkLst>
        </pc:inkChg>
        <pc:inkChg chg="add mod">
          <ac:chgData name="Prof. WU Dapeng" userId="766581d8-4b49-4c74-b70d-570e2257b99b" providerId="ADAL" clId="{C2097CE2-6968-4D62-A6D8-0C7ECC0F7974}" dt="2023-03-15T11:29:54.564" v="318"/>
          <ac:inkMkLst>
            <pc:docMk/>
            <pc:sldMk cId="929053304" sldId="766"/>
            <ac:inkMk id="58" creationId="{8D009406-E6F5-0A41-FC18-09BA800F98E3}"/>
          </ac:inkMkLst>
        </pc:inkChg>
        <pc:inkChg chg="add mod">
          <ac:chgData name="Prof. WU Dapeng" userId="766581d8-4b49-4c74-b70d-570e2257b99b" providerId="ADAL" clId="{C2097CE2-6968-4D62-A6D8-0C7ECC0F7974}" dt="2023-03-15T11:29:54.564" v="318"/>
          <ac:inkMkLst>
            <pc:docMk/>
            <pc:sldMk cId="929053304" sldId="766"/>
            <ac:inkMk id="59" creationId="{BB64DDA4-761D-E5F8-A6A7-15A42148B77C}"/>
          </ac:inkMkLst>
        </pc:inkChg>
        <pc:inkChg chg="add mod">
          <ac:chgData name="Prof. WU Dapeng" userId="766581d8-4b49-4c74-b70d-570e2257b99b" providerId="ADAL" clId="{C2097CE2-6968-4D62-A6D8-0C7ECC0F7974}" dt="2023-03-15T11:29:54.564" v="318"/>
          <ac:inkMkLst>
            <pc:docMk/>
            <pc:sldMk cId="929053304" sldId="766"/>
            <ac:inkMk id="60" creationId="{C38F28DF-0D92-EA42-9B80-E35C065434C7}"/>
          </ac:inkMkLst>
        </pc:inkChg>
        <pc:inkChg chg="add mod">
          <ac:chgData name="Prof. WU Dapeng" userId="766581d8-4b49-4c74-b70d-570e2257b99b" providerId="ADAL" clId="{C2097CE2-6968-4D62-A6D8-0C7ECC0F7974}" dt="2023-03-15T11:29:54.564" v="318"/>
          <ac:inkMkLst>
            <pc:docMk/>
            <pc:sldMk cId="929053304" sldId="766"/>
            <ac:inkMk id="61" creationId="{8D21B45A-F8AD-0515-5491-95F2ECEAC91A}"/>
          </ac:inkMkLst>
        </pc:inkChg>
        <pc:inkChg chg="add mod">
          <ac:chgData name="Prof. WU Dapeng" userId="766581d8-4b49-4c74-b70d-570e2257b99b" providerId="ADAL" clId="{C2097CE2-6968-4D62-A6D8-0C7ECC0F7974}" dt="2023-03-15T11:29:54.564" v="318"/>
          <ac:inkMkLst>
            <pc:docMk/>
            <pc:sldMk cId="929053304" sldId="766"/>
            <ac:inkMk id="62" creationId="{A0EA8292-338A-345F-CED5-D81ABB0966A9}"/>
          </ac:inkMkLst>
        </pc:inkChg>
        <pc:inkChg chg="add mod">
          <ac:chgData name="Prof. WU Dapeng" userId="766581d8-4b49-4c74-b70d-570e2257b99b" providerId="ADAL" clId="{C2097CE2-6968-4D62-A6D8-0C7ECC0F7974}" dt="2023-03-15T11:29:54.564" v="318"/>
          <ac:inkMkLst>
            <pc:docMk/>
            <pc:sldMk cId="929053304" sldId="766"/>
            <ac:inkMk id="63" creationId="{CC82C371-521F-79E7-C3DF-067DBDAE2DBD}"/>
          </ac:inkMkLst>
        </pc:inkChg>
        <pc:inkChg chg="add mod">
          <ac:chgData name="Prof. WU Dapeng" userId="766581d8-4b49-4c74-b70d-570e2257b99b" providerId="ADAL" clId="{C2097CE2-6968-4D62-A6D8-0C7ECC0F7974}" dt="2023-03-15T11:29:54.564" v="318"/>
          <ac:inkMkLst>
            <pc:docMk/>
            <pc:sldMk cId="929053304" sldId="766"/>
            <ac:inkMk id="65" creationId="{561212B1-AF70-8423-CF17-FBD3706D4798}"/>
          </ac:inkMkLst>
        </pc:inkChg>
        <pc:inkChg chg="add mod">
          <ac:chgData name="Prof. WU Dapeng" userId="766581d8-4b49-4c74-b70d-570e2257b99b" providerId="ADAL" clId="{C2097CE2-6968-4D62-A6D8-0C7ECC0F7974}" dt="2023-03-15T11:29:54.564" v="318"/>
          <ac:inkMkLst>
            <pc:docMk/>
            <pc:sldMk cId="929053304" sldId="766"/>
            <ac:inkMk id="66" creationId="{363B875F-DABE-833C-E2B3-BC89D1EE615E}"/>
          </ac:inkMkLst>
        </pc:inkChg>
        <pc:inkChg chg="add del mod">
          <ac:chgData name="Prof. WU Dapeng" userId="766581d8-4b49-4c74-b70d-570e2257b99b" providerId="ADAL" clId="{C2097CE2-6968-4D62-A6D8-0C7ECC0F7974}" dt="2023-03-15T11:30:16.737" v="335"/>
          <ac:inkMkLst>
            <pc:docMk/>
            <pc:sldMk cId="929053304" sldId="766"/>
            <ac:inkMk id="68" creationId="{BD41B584-EBF3-2C05-F9BE-1699B5D3CA6D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69" creationId="{1176BA04-C587-8C5D-E8D8-493614703CCA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70" creationId="{CB4F83FE-D0B6-3BD7-7B6E-C4EC583D172B}"/>
          </ac:inkMkLst>
        </pc:inkChg>
        <pc:inkChg chg="add del mod">
          <ac:chgData name="Prof. WU Dapeng" userId="766581d8-4b49-4c74-b70d-570e2257b99b" providerId="ADAL" clId="{C2097CE2-6968-4D62-A6D8-0C7ECC0F7974}" dt="2023-03-15T11:30:16.737" v="337"/>
          <ac:inkMkLst>
            <pc:docMk/>
            <pc:sldMk cId="929053304" sldId="766"/>
            <ac:inkMk id="71" creationId="{50AAED67-6211-C92D-334A-638023504048}"/>
          </ac:inkMkLst>
        </pc:inkChg>
        <pc:inkChg chg="add del mod">
          <ac:chgData name="Prof. WU Dapeng" userId="766581d8-4b49-4c74-b70d-570e2257b99b" providerId="ADAL" clId="{C2097CE2-6968-4D62-A6D8-0C7ECC0F7974}" dt="2023-03-15T11:30:16.737" v="341"/>
          <ac:inkMkLst>
            <pc:docMk/>
            <pc:sldMk cId="929053304" sldId="766"/>
            <ac:inkMk id="72" creationId="{25F2C2C6-FFA8-AC9A-1EF4-ECB101F778C7}"/>
          </ac:inkMkLst>
        </pc:inkChg>
        <pc:inkChg chg="add del mod">
          <ac:chgData name="Prof. WU Dapeng" userId="766581d8-4b49-4c74-b70d-570e2257b99b" providerId="ADAL" clId="{C2097CE2-6968-4D62-A6D8-0C7ECC0F7974}" dt="2023-03-15T11:30:16.737" v="339"/>
          <ac:inkMkLst>
            <pc:docMk/>
            <pc:sldMk cId="929053304" sldId="766"/>
            <ac:inkMk id="73" creationId="{829A862F-3E05-4207-6AEB-DA7FACA32FA9}"/>
          </ac:inkMkLst>
        </pc:inkChg>
        <pc:inkChg chg="add del mod">
          <ac:chgData name="Prof. WU Dapeng" userId="766581d8-4b49-4c74-b70d-570e2257b99b" providerId="ADAL" clId="{C2097CE2-6968-4D62-A6D8-0C7ECC0F7974}" dt="2023-03-15T11:30:16.737" v="340"/>
          <ac:inkMkLst>
            <pc:docMk/>
            <pc:sldMk cId="929053304" sldId="766"/>
            <ac:inkMk id="74" creationId="{08708053-EF0F-CB47-7D7D-FDB4D380AAD2}"/>
          </ac:inkMkLst>
        </pc:inkChg>
        <pc:inkChg chg="add del mod">
          <ac:chgData name="Prof. WU Dapeng" userId="766581d8-4b49-4c74-b70d-570e2257b99b" providerId="ADAL" clId="{C2097CE2-6968-4D62-A6D8-0C7ECC0F7974}" dt="2023-03-15T11:30:16.737" v="336"/>
          <ac:inkMkLst>
            <pc:docMk/>
            <pc:sldMk cId="929053304" sldId="766"/>
            <ac:inkMk id="75" creationId="{895E5157-D07B-4354-43DF-50727CF87353}"/>
          </ac:inkMkLst>
        </pc:inkChg>
        <pc:inkChg chg="add del mod">
          <ac:chgData name="Prof. WU Dapeng" userId="766581d8-4b49-4c74-b70d-570e2257b99b" providerId="ADAL" clId="{C2097CE2-6968-4D62-A6D8-0C7ECC0F7974}" dt="2023-03-15T11:30:16.737" v="338"/>
          <ac:inkMkLst>
            <pc:docMk/>
            <pc:sldMk cId="929053304" sldId="766"/>
            <ac:inkMk id="76" creationId="{9DBB6227-4114-D8A2-847F-2AA8DC2AAD2C}"/>
          </ac:inkMkLst>
        </pc:inkChg>
        <pc:inkChg chg="add del mod">
          <ac:chgData name="Prof. WU Dapeng" userId="766581d8-4b49-4c74-b70d-570e2257b99b" providerId="ADAL" clId="{C2097CE2-6968-4D62-A6D8-0C7ECC0F7974}" dt="2023-03-15T11:30:16.737" v="334"/>
          <ac:inkMkLst>
            <pc:docMk/>
            <pc:sldMk cId="929053304" sldId="766"/>
            <ac:inkMk id="77" creationId="{020BDF87-44AB-CDC8-8C4A-68FD8871DD4B}"/>
          </ac:inkMkLst>
        </pc:inkChg>
        <pc:inkChg chg="add del mod">
          <ac:chgData name="Prof. WU Dapeng" userId="766581d8-4b49-4c74-b70d-570e2257b99b" providerId="ADAL" clId="{C2097CE2-6968-4D62-A6D8-0C7ECC0F7974}" dt="2023-03-15T11:30:16.737" v="342"/>
          <ac:inkMkLst>
            <pc:docMk/>
            <pc:sldMk cId="929053304" sldId="766"/>
            <ac:inkMk id="79" creationId="{5133423F-1C21-BBD9-57A8-CBB352402E4D}"/>
          </ac:inkMkLst>
        </pc:inkChg>
        <pc:inkChg chg="add del mod">
          <ac:chgData name="Prof. WU Dapeng" userId="766581d8-4b49-4c74-b70d-570e2257b99b" providerId="ADAL" clId="{C2097CE2-6968-4D62-A6D8-0C7ECC0F7974}" dt="2023-03-15T11:30:16.737" v="343"/>
          <ac:inkMkLst>
            <pc:docMk/>
            <pc:sldMk cId="929053304" sldId="766"/>
            <ac:inkMk id="81" creationId="{D5358FCA-FF88-F6D8-F9F5-EE02E7C1A206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83" creationId="{6A3C6324-B8CC-1168-FE8A-1107822C29BE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84" creationId="{65EF230A-0D97-5AFF-593E-3BD06B2D070D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85" creationId="{694C6815-25BF-C828-7521-7C435DD3A7E1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86" creationId="{72CEAF4C-E8AD-2D51-123A-F88D624C4FF2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87" creationId="{9ACA5BA5-F065-E46D-57CF-CC44A025C383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88" creationId="{769ED721-A082-A5AF-048F-74ECF68B2292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89" creationId="{FB3A0665-0022-9F38-4329-55B5F9476270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90" creationId="{430D999E-D46F-A5CF-5563-ECE5CCDA317A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92" creationId="{B88A5722-77D4-C179-C4D4-02BFB3630788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94" creationId="{155A4DF6-BF02-68CA-260F-F2E21C2E7C82}"/>
          </ac:inkMkLst>
        </pc:inkChg>
        <pc:inkChg chg="add mod">
          <ac:chgData name="Prof. WU Dapeng" userId="766581d8-4b49-4c74-b70d-570e2257b99b" providerId="ADAL" clId="{C2097CE2-6968-4D62-A6D8-0C7ECC0F7974}" dt="2023-03-15T11:30:28.757" v="357"/>
          <ac:inkMkLst>
            <pc:docMk/>
            <pc:sldMk cId="929053304" sldId="766"/>
            <ac:inkMk id="95" creationId="{53A296CC-D0E0-E451-A794-5DF03A5C55E1}"/>
          </ac:inkMkLst>
        </pc:inkChg>
      </pc:sldChg>
      <pc:sldChg chg="modSp mod">
        <pc:chgData name="Prof. WU Dapeng" userId="766581d8-4b49-4c74-b70d-570e2257b99b" providerId="ADAL" clId="{C2097CE2-6968-4D62-A6D8-0C7ECC0F7974}" dt="2023-03-15T01:52:03.140" v="158" actId="14100"/>
        <pc:sldMkLst>
          <pc:docMk/>
          <pc:sldMk cId="2944166965" sldId="769"/>
        </pc:sldMkLst>
        <pc:spChg chg="mod">
          <ac:chgData name="Prof. WU Dapeng" userId="766581d8-4b49-4c74-b70d-570e2257b99b" providerId="ADAL" clId="{C2097CE2-6968-4D62-A6D8-0C7ECC0F7974}" dt="2023-03-15T01:52:03.140" v="158" actId="14100"/>
          <ac:spMkLst>
            <pc:docMk/>
            <pc:sldMk cId="2944166965" sldId="769"/>
            <ac:spMk id="5" creationId="{00000000-0000-0000-0000-000000000000}"/>
          </ac:spMkLst>
        </pc:spChg>
      </pc:sldChg>
      <pc:sldChg chg="modSp mod">
        <pc:chgData name="Prof. WU Dapeng" userId="766581d8-4b49-4c74-b70d-570e2257b99b" providerId="ADAL" clId="{C2097CE2-6968-4D62-A6D8-0C7ECC0F7974}" dt="2023-03-15T02:07:19.248" v="169" actId="20577"/>
        <pc:sldMkLst>
          <pc:docMk/>
          <pc:sldMk cId="3065388385" sldId="773"/>
        </pc:sldMkLst>
        <pc:spChg chg="mod">
          <ac:chgData name="Prof. WU Dapeng" userId="766581d8-4b49-4c74-b70d-570e2257b99b" providerId="ADAL" clId="{C2097CE2-6968-4D62-A6D8-0C7ECC0F7974}" dt="2023-03-15T02:07:19.248" v="169" actId="20577"/>
          <ac:spMkLst>
            <pc:docMk/>
            <pc:sldMk cId="3065388385" sldId="773"/>
            <ac:spMk id="13332" creationId="{00000000-0000-0000-0000-000000000000}"/>
          </ac:spMkLst>
        </pc:spChg>
      </pc:sldChg>
      <pc:sldMasterChg chg="delSldLayout">
        <pc:chgData name="Prof. WU Dapeng" userId="766581d8-4b49-4c74-b70d-570e2257b99b" providerId="ADAL" clId="{C2097CE2-6968-4D62-A6D8-0C7ECC0F7974}" dt="2023-03-08T07:44:06.043" v="4" actId="2696"/>
        <pc:sldMasterMkLst>
          <pc:docMk/>
          <pc:sldMasterMk cId="928288804" sldId="2147483690"/>
        </pc:sldMasterMkLst>
        <pc:sldLayoutChg chg="del">
          <pc:chgData name="Prof. WU Dapeng" userId="766581d8-4b49-4c74-b70d-570e2257b99b" providerId="ADAL" clId="{C2097CE2-6968-4D62-A6D8-0C7ECC0F7974}" dt="2023-03-08T07:44:06.043" v="4" actId="2696"/>
          <pc:sldLayoutMkLst>
            <pc:docMk/>
            <pc:sldMasterMk cId="928288804" sldId="2147483690"/>
            <pc:sldLayoutMk cId="4118016107" sldId="2147483738"/>
          </pc:sldLayoutMkLst>
        </pc:sldLayoutChg>
      </pc:sldMasterChg>
    </pc:docChg>
  </pc:docChgLst>
  <pc:docChgLst>
    <pc:chgData name="Prof. WU Dapeng" userId="766581d8-4b49-4c74-b70d-570e2257b99b" providerId="ADAL" clId="{32B9C4AF-2A1D-4D3D-9820-AFF9C306AEB7}"/>
    <pc:docChg chg="modSld">
      <pc:chgData name="Prof. WU Dapeng" userId="766581d8-4b49-4c74-b70d-570e2257b99b" providerId="ADAL" clId="{32B9C4AF-2A1D-4D3D-9820-AFF9C306AEB7}" dt="2023-10-31T14:22:37.273" v="1" actId="478"/>
      <pc:docMkLst>
        <pc:docMk/>
      </pc:docMkLst>
      <pc:sldChg chg="delSp modSp mod">
        <pc:chgData name="Prof. WU Dapeng" userId="766581d8-4b49-4c74-b70d-570e2257b99b" providerId="ADAL" clId="{32B9C4AF-2A1D-4D3D-9820-AFF9C306AEB7}" dt="2023-10-31T14:22:37.273" v="1" actId="478"/>
        <pc:sldMkLst>
          <pc:docMk/>
          <pc:sldMk cId="1241883298" sldId="749"/>
        </pc:sldMkLst>
        <pc:graphicFrameChg chg="modGraphic">
          <ac:chgData name="Prof. WU Dapeng" userId="766581d8-4b49-4c74-b70d-570e2257b99b" providerId="ADAL" clId="{32B9C4AF-2A1D-4D3D-9820-AFF9C306AEB7}" dt="2023-10-31T14:22:33.882" v="0" actId="6549"/>
          <ac:graphicFrameMkLst>
            <pc:docMk/>
            <pc:sldMk cId="1241883298" sldId="749"/>
            <ac:graphicFrameMk id="3" creationId="{00000000-0000-0000-0000-000000000000}"/>
          </ac:graphicFrameMkLst>
        </pc:graphicFrameChg>
        <pc:picChg chg="del">
          <ac:chgData name="Prof. WU Dapeng" userId="766581d8-4b49-4c74-b70d-570e2257b99b" providerId="ADAL" clId="{32B9C4AF-2A1D-4D3D-9820-AFF9C306AEB7}" dt="2023-10-31T14:22:37.273" v="1" actId="478"/>
          <ac:picMkLst>
            <pc:docMk/>
            <pc:sldMk cId="1241883298" sldId="749"/>
            <ac:picMk id="36881" creationId="{00000000-0000-0000-0000-000000000000}"/>
          </ac:picMkLst>
        </pc:picChg>
      </pc:sldChg>
    </pc:docChg>
  </pc:docChgLst>
  <pc:docChgLst>
    <pc:chgData name="Dapeng" userId="766581d8-4b49-4c74-b70d-570e2257b99b" providerId="ADAL" clId="{B26B86A0-6B80-46F6-92B5-41660978E0DE}"/>
    <pc:docChg chg="modSld">
      <pc:chgData name="Dapeng" userId="766581d8-4b49-4c74-b70d-570e2257b99b" providerId="ADAL" clId="{B26B86A0-6B80-46F6-92B5-41660978E0DE}" dt="2024-11-07T07:18:39.185" v="1" actId="20577"/>
      <pc:docMkLst>
        <pc:docMk/>
      </pc:docMkLst>
      <pc:sldChg chg="modSp">
        <pc:chgData name="Dapeng" userId="766581d8-4b49-4c74-b70d-570e2257b99b" providerId="ADAL" clId="{B26B86A0-6B80-46F6-92B5-41660978E0DE}" dt="2024-11-07T07:18:39.185" v="1" actId="20577"/>
        <pc:sldMkLst>
          <pc:docMk/>
          <pc:sldMk cId="303091582" sldId="740"/>
        </pc:sldMkLst>
        <pc:spChg chg="mod">
          <ac:chgData name="Dapeng" userId="766581d8-4b49-4c74-b70d-570e2257b99b" providerId="ADAL" clId="{B26B86A0-6B80-46F6-92B5-41660978E0DE}" dt="2024-11-07T07:18:39.185" v="1" actId="20577"/>
          <ac:spMkLst>
            <pc:docMk/>
            <pc:sldMk cId="303091582" sldId="740"/>
            <ac:spMk id="11" creationId="{00000000-0000-0000-0000-000000000000}"/>
          </ac:spMkLst>
        </pc:spChg>
      </pc:sldChg>
    </pc:docChg>
  </pc:docChgLst>
  <pc:docChgLst>
    <pc:chgData name="Prof. WU Dapeng" userId="766581d8-4b49-4c74-b70d-570e2257b99b" providerId="ADAL" clId="{B287013F-7F95-4129-8856-3419135BF440}"/>
    <pc:docChg chg="modSld">
      <pc:chgData name="Prof. WU Dapeng" userId="766581d8-4b49-4c74-b70d-570e2257b99b" providerId="ADAL" clId="{B287013F-7F95-4129-8856-3419135BF440}" dt="2023-08-27T19:48:46.829" v="0"/>
      <pc:docMkLst>
        <pc:docMk/>
      </pc:docMkLst>
      <pc:sldChg chg="modSp mod">
        <pc:chgData name="Prof. WU Dapeng" userId="766581d8-4b49-4c74-b70d-570e2257b99b" providerId="ADAL" clId="{B287013F-7F95-4129-8856-3419135BF440}" dt="2023-08-27T19:48:46.829" v="0"/>
        <pc:sldMkLst>
          <pc:docMk/>
          <pc:sldMk cId="0" sldId="498"/>
        </pc:sldMkLst>
        <pc:spChg chg="mod">
          <ac:chgData name="Prof. WU Dapeng" userId="766581d8-4b49-4c74-b70d-570e2257b99b" providerId="ADAL" clId="{B287013F-7F95-4129-8856-3419135BF440}" dt="2023-08-27T19:48:46.829" v="0"/>
          <ac:spMkLst>
            <pc:docMk/>
            <pc:sldMk cId="0" sldId="498"/>
            <ac:spMk id="6146" creationId="{755B4B3F-1C3D-927E-1ED2-99274895B418}"/>
          </ac:spMkLst>
        </pc:spChg>
      </pc:sldChg>
    </pc:docChg>
  </pc:docChgLst>
  <pc:docChgLst>
    <pc:chgData name="Prof. WU Dapeng" userId="766581d8-4b49-4c74-b70d-570e2257b99b" providerId="ADAL" clId="{CE62303E-ED1B-4F5B-8B81-D912E4DD3FC5}"/>
    <pc:docChg chg="addSld delSld modSld">
      <pc:chgData name="Prof. WU Dapeng" userId="766581d8-4b49-4c74-b70d-570e2257b99b" providerId="ADAL" clId="{CE62303E-ED1B-4F5B-8B81-D912E4DD3FC5}" dt="2025-11-09T07:29:40.630" v="11"/>
      <pc:docMkLst>
        <pc:docMk/>
      </pc:docMkLst>
      <pc:sldChg chg="modSp mod">
        <pc:chgData name="Prof. WU Dapeng" userId="766581d8-4b49-4c74-b70d-570e2257b99b" providerId="ADAL" clId="{CE62303E-ED1B-4F5B-8B81-D912E4DD3FC5}" dt="2025-10-29T07:38:14.752" v="7" actId="20577"/>
        <pc:sldMkLst>
          <pc:docMk/>
          <pc:sldMk cId="0" sldId="498"/>
        </pc:sldMkLst>
        <pc:spChg chg="mod">
          <ac:chgData name="Prof. WU Dapeng" userId="766581d8-4b49-4c74-b70d-570e2257b99b" providerId="ADAL" clId="{CE62303E-ED1B-4F5B-8B81-D912E4DD3FC5}" dt="2025-10-29T07:38:14.752" v="7" actId="20577"/>
          <ac:spMkLst>
            <pc:docMk/>
            <pc:sldMk cId="0" sldId="498"/>
            <ac:spMk id="6146" creationId="{755B4B3F-1C3D-927E-1ED2-99274895B418}"/>
          </ac:spMkLst>
        </pc:spChg>
      </pc:sldChg>
      <pc:sldChg chg="add">
        <pc:chgData name="Prof. WU Dapeng" userId="766581d8-4b49-4c74-b70d-570e2257b99b" providerId="ADAL" clId="{CE62303E-ED1B-4F5B-8B81-D912E4DD3FC5}" dt="2025-10-31T13:22:31.716" v="8"/>
        <pc:sldMkLst>
          <pc:docMk/>
          <pc:sldMk cId="0" sldId="895"/>
        </pc:sldMkLst>
      </pc:sldChg>
      <pc:sldChg chg="add del">
        <pc:chgData name="Prof. WU Dapeng" userId="766581d8-4b49-4c74-b70d-570e2257b99b" providerId="ADAL" clId="{CE62303E-ED1B-4F5B-8B81-D912E4DD3FC5}" dt="2025-11-09T07:29:40.630" v="11"/>
        <pc:sldMkLst>
          <pc:docMk/>
          <pc:sldMk cId="0" sldId="899"/>
        </pc:sldMkLst>
      </pc:sldChg>
      <pc:sldChg chg="add">
        <pc:chgData name="Prof. WU Dapeng" userId="766581d8-4b49-4c74-b70d-570e2257b99b" providerId="ADAL" clId="{CE62303E-ED1B-4F5B-8B81-D912E4DD3FC5}" dt="2025-10-31T13:22:31.716" v="8"/>
        <pc:sldMkLst>
          <pc:docMk/>
          <pc:sldMk cId="0" sldId="905"/>
        </pc:sldMkLst>
      </pc:sldChg>
      <pc:sldChg chg="add">
        <pc:chgData name="Prof. WU Dapeng" userId="766581d8-4b49-4c74-b70d-570e2257b99b" providerId="ADAL" clId="{CE62303E-ED1B-4F5B-8B81-D912E4DD3FC5}" dt="2025-10-31T13:22:31.716" v="8"/>
        <pc:sldMkLst>
          <pc:docMk/>
          <pc:sldMk cId="0" sldId="906"/>
        </pc:sldMkLst>
      </pc:sldChg>
      <pc:sldChg chg="add">
        <pc:chgData name="Prof. WU Dapeng" userId="766581d8-4b49-4c74-b70d-570e2257b99b" providerId="ADAL" clId="{CE62303E-ED1B-4F5B-8B81-D912E4DD3FC5}" dt="2025-10-31T13:22:31.716" v="8"/>
        <pc:sldMkLst>
          <pc:docMk/>
          <pc:sldMk cId="0" sldId="907"/>
        </pc:sldMkLst>
      </pc:sldChg>
      <pc:sldChg chg="add del">
        <pc:chgData name="Prof. WU Dapeng" userId="766581d8-4b49-4c74-b70d-570e2257b99b" providerId="ADAL" clId="{CE62303E-ED1B-4F5B-8B81-D912E4DD3FC5}" dt="2025-10-31T13:23:12.213" v="9" actId="47"/>
        <pc:sldMkLst>
          <pc:docMk/>
          <pc:sldMk cId="0" sldId="908"/>
        </pc:sldMkLst>
      </pc:sldChg>
      <pc:sldChg chg="add">
        <pc:chgData name="Prof. WU Dapeng" userId="766581d8-4b49-4c74-b70d-570e2257b99b" providerId="ADAL" clId="{CE62303E-ED1B-4F5B-8B81-D912E4DD3FC5}" dt="2025-10-31T13:22:31.716" v="8"/>
        <pc:sldMkLst>
          <pc:docMk/>
          <pc:sldMk cId="0" sldId="9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09C86-0DB4-461E-B411-3132234C96B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552C4-BC4B-4C71-991C-7B2020479D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550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36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38 504 2304 0 0,'0'0'2914'0'0,"-6"13"-52"0"0,-22 19 466 0 0,28-32-3284 0 0,-1 0-1 0 0,1 1 1 0 0,0-1 0 0 0,-1 0 0 0 0,1 1 0 0 0,0-1 0 0 0,0 1-1 0 0,-1-1 1 0 0,1 1 0 0 0,0-1 0 0 0,0 1 0 0 0,0-1 0 0 0,-1 1-1 0 0,1-1 1 0 0,0 1 0 0 0,0-1 0 0 0,0 1 0 0 0,0-1 0 0 0,0 1-1 0 0,0-1 1 0 0,0 1 0 0 0,0-1 0 0 0,0 1 0 0 0,0-1 0 0 0,1 1-1 0 0,-1-1 1 0 0,0 1 0 0 0,0-1 0 0 0,0 1 0 0 0,0-1 0 0 0,1 0-1 0 0,-1 1 1 0 0,0-1 0 0 0,1 1 0 0 0,-1-1 0 0 0,0 0 0 0 0,1 1-1 0 0,-1-1 1 0 0,0 0 0 0 0,1 1 0 0 0,-1-1 0 0 0,1 0 0 0 0,-1 1-1 0 0,0-1 1 0 0,1 0 0 0 0,-1 0 0 0 0,1 0 0 0 0,-1 1 0 0 0,1-1 0 0 0,-1 0-1 0 0,1 0 1 0 0,-1 0 0 0 0,1 0 0 0 0,-1 0 0 0 0,1 0 0 0 0,-1 0-1 0 0,1 0 1 0 0,-1 0 0 0 0,1 0 0 0 0,0 0 0 0 0,14-2 21 0 0,1 0-1 0 0,18-5 1 0 0,18-5 131 0 0,1 1 0 0 0,91-5-1 0 0,109 10 778 0 0,-246 6-963 0 0,21-2 64 0 0,1-1-1 0 0,-1-1 0 0 0,0-2 1 0 0,42-14-1 0 0,8-2 327 0 0,-17 12-52 0 0,-27 5-97 0 0,-30 4 567 0 0,-7 1-541 0 0,-22-2-76 0 0,-14-6-130 0 0,-33-4 579 0 0,67 11-601 0 0,0-1 0 0 0,-1 0-1 0 0,1 0 1 0 0,0-1-1 0 0,0 1 1 0 0,0-1 0 0 0,0 0-1 0 0,0 0 1 0 0,-5-6-1 0 0,-3-1 76 0 0,-15-14-42 0 0,1-1 0 0 0,0-1 0 0 0,-36-47 0 0 0,-21-23-147 0 0,78 90 222 0 0,-40-39-1770 0 0,30 31-966 0 0,0 1 0 0 0,-29-19 0 0 0,7 8-1176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37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91 4969 0 0,'-79'65'4981'0'0,"78"-64"-4831"0"0,0 0-1 0 0,0 0 1 0 0,0 0-1 0 0,-1-1 1 0 0,1 1-1 0 0,0 0 0 0 0,-1 0 1 0 0,1-1-1 0 0,-1 1 1 0 0,1-1-1 0 0,-1 1 1 0 0,1-1-1 0 0,-1 0 1 0 0,1 0-1 0 0,-1 0 1 0 0,1 0-1 0 0,-1 0 1 0 0,1 0-1 0 0,-1 0 1 0 0,1 0-1 0 0,-1 0 1 0 0,1-1-1 0 0,-3 0 723 0 0,5 1-994 0 0,-1 0 116 0 0,1 0-1 0 0,0-1 1 0 0,-1 1 0 0 0,1 0-1 0 0,0 0 1 0 0,0 0 0 0 0,-1 0 0 0 0,1 0-1 0 0,0 0 1 0 0,-1 0 0 0 0,1 0-1 0 0,0 0 1 0 0,0 0 0 0 0,-1 1-1 0 0,1-1 1 0 0,0 0 0 0 0,8 2-13 0 0,15 2 8 0 0,38 11 0 0 0,-47-10 47 0 0,0-1 1 0 0,1 0 0 0 0,-1-1 0 0 0,1 0-1 0 0,0-1 1 0 0,0-1 0 0 0,0-1 0 0 0,21-2-1 0 0,-23 1-33 0 0,1 0-1 0 0,-1 1 1 0 0,1 1-1 0 0,14 2 1 0 0,55 15 14 0 0,-75-16-13 0 0,66 12-18 0 0,-65-12 20 0 0,0-2 1 0 0,0 1-1 0 0,0-2 1 0 0,0 1-1 0 0,15-3 1 0 0,-23 2-10 0 0,29-3 81 0 0,-30 3-53 0 0,0 1 0 0 0,0 0 0 0 0,0 0 0 0 0,0-1 0 0 0,-1 1 0 0 0,1-1 0 0 0,0 1-1 0 0,0-1 1 0 0,-1 1 0 0 0,1-1 0 0 0,0 1 0 0 0,-1-1 0 0 0,1 1 0 0 0,0-1 0 0 0,-1 0 0 0 0,1 1 0 0 0,-1-1 0 0 0,1 0 0 0 0,-1 0 0 0 0,0 1 0 0 0,1-1 0 0 0,-1 0 0 0 0,0 0 0 0 0,1 0 0 0 0,-1 0 0 0 0,0 0 0 0 0,0 1 0 0 0,0-1 0 0 0,0 0 0 0 0,0 0 0 0 0,0 0 0 0 0,0 0 0 0 0,0 0 0 0 0,0 0 0 0 0,0 1 0 0 0,0-1 0 0 0,-1 0-1 0 0,1 0 1 0 0,0 0 0 0 0,0 0 0 0 0,-1 1 0 0 0,0-2 0 0 0,-1-3 6 0 0,-1 1-1 0 0,1 0 0 0 0,-1-1 0 0 0,0 1 1 0 0,0 0-1 0 0,-1 1 0 0 0,1-1 0 0 0,-1 0 1 0 0,0 1-1 0 0,0 0 0 0 0,0 0 0 0 0,-7-4 1 0 0,-12-5-250 0 0,1-1 1 0 0,0-1 0 0 0,1-1-1 0 0,1 0 1 0 0,0-2 0 0 0,-20-23-1 0 0,18 16-506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39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0 395 8074 0 0,'0'0'1537'0'0,"15"-11"-1109"0"0,-14 10-417 0 0,0 0 0 0 0,0 0 0 0 0,0 1 0 0 0,0-1-1 0 0,-1 0 1 0 0,1 0 0 0 0,0 0 0 0 0,-1 0 0 0 0,1 0-1 0 0,0 0 1 0 0,-1 0 0 0 0,1-1 0 0 0,-1 1-1 0 0,0 0 1 0 0,1 0 0 0 0,-1 0 0 0 0,0 0 0 0 0,0 0-1 0 0,0-1 1 0 0,0 1 0 0 0,0 0 0 0 0,0-2 0 0 0,3 2-7 0 0,-1 0 1 0 0,0 1-1 0 0,1 0 1 0 0,-1-1-1 0 0,0 1 1 0 0,1 0 0 0 0,-1 0-1 0 0,4 1 1 0 0,-3-1 88 0 0,11-3-15 0 0,28-10 6 0 0,-38 13-59 0 0,-1-1 1 0 0,0 0-1 0 0,1-1 1 0 0,-1 1-1 0 0,0-1 1 0 0,6-3-1 0 0,2-1 47 0 0,0 1-14 0 0,1 1 0 0 0,-1 0-1 0 0,1 0 1 0 0,0 2 0 0 0,0-1 0 0 0,1 1-1 0 0,-1 1 1 0 0,0 0 0 0 0,1 1-1 0 0,-1 0 1 0 0,0 1 0 0 0,1 1 0 0 0,-1-1-1 0 0,0 2 1 0 0,0 0 0 0 0,0 0-1 0 0,22 11 1 0 0,-21-8-32 0 0,1 0 1 0 0,0-1-1 0 0,1-1 0 0 0,-1 0 0 0 0,1-1 1 0 0,0 0-1 0 0,0-1 0 0 0,24 0 0 0 0,-4 1-6 0 0,-31-2-19 0 0,1 0 1 0 0,0 0-1 0 0,0 0 0 0 0,-1-1 1 0 0,1 0-1 0 0,0 0 1 0 0,0 0-1 0 0,0-1 0 0 0,0 0 1 0 0,-1 1-1 0 0,1-2 0 0 0,0 1 1 0 0,7-3-1 0 0,-11 3 25 0 0,-1 1 0 0 0,1 0 0 0 0,0-1 0 0 0,-1 1 0 0 0,1-1 0 0 0,0 1 0 0 0,-1 0 0 0 0,1-1 0 0 0,-1 0 0 0 0,1 1 0 0 0,-1-1 0 0 0,1 1 0 0 0,-1-1 0 0 0,1 1-1 0 0,-1-1 1 0 0,0 0 0 0 0,1 1 0 0 0,-1-1 0 0 0,1-1 0 0 0,-1 1 99 0 0,-1 0-1 0 0,1 0 1 0 0,0 0 0 0 0,0 0-1 0 0,-1 0 1 0 0,1 0-1 0 0,-1 0 1 0 0,1 0-1 0 0,-1 0 1 0 0,1 0-1 0 0,-2-1 1 0 0,-1-2-25 0 0,1 1-1 0 0,0-1 1 0 0,0 1 0 0 0,-2-8-1 0 0,-29-121 254 0 0,29 114-474 0 0,-1-1 0 0 0,-1 2 0 0 0,0-1 0 0 0,-2 1 0 0 0,0-1 0 0 0,-19-28 0 0 0,14 25-322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48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0 3929 0 0,'-15'10'501'0'0,"0"-1"1"0"0,-24 12-1 0 0,26-15-381 0 0,13-6-120 0 0,-119 56 3221 0 0,119-56-3207 0 0,-1 1-1 0 0,0-1 1 0 0,1 0 0 0 0,-1 0 0 0 0,1 0 0 0 0,-1 1-1 0 0,0-1 1 0 0,1 0 0 0 0,-1 1 0 0 0,1-1-1 0 0,-1 0 1 0 0,1 1 0 0 0,-1-1 0 0 0,1 1-1 0 0,-1-1 1 0 0,1 1 0 0 0,-1-1 0 0 0,1 1 0 0 0,-1-1-1 0 0,1 1 1 0 0,0 0 0 0 0,-1-1 0 0 0,1 1-1 0 0,0-1 1 0 0,0 1 0 0 0,0 0 0 0 0,-1-1-1 0 0,1 1 1 0 0,0 0 0 0 0,0 0 0 0 0,1 1-19 0 0,0-1 1 0 0,0 1-1 0 0,0 0 1 0 0,1-1-1 0 0,-1 0 1 0 0,0 1-1 0 0,1-1 1 0 0,-1 0-1 0 0,1 0 1 0 0,0 0-1 0 0,-1 0 1 0 0,1 0-1 0 0,0 0 1 0 0,-1 0-1 0 0,4 1 1 0 0,37 15 6 0 0,-34-14-2 0 0,0 0-1 0 0,0-1 1 0 0,1-1-1 0 0,-1 1 1 0 0,0-1-1 0 0,1-1 1 0 0,-1 1 0 0 0,9-2-1 0 0,0 1-16 0 0,24-2-21 0 0,42-8 1 0 0,-9 1 17 0 0,-56 8 63 0 0,-3-1-289 0 0,31 0 0 0 0,-43 2 115 0 0,1 0 0 0 0,0 1-1 0 0,0 0 1 0 0,0-1 0 0 0,-1 1-1 0 0,1 0 1 0 0,0 0 0 0 0,-1 1 0 0 0,1-1-1 0 0,-1 1 1 0 0,0 0 0 0 0,1 0-1 0 0,3 3 1 0 0,0 4-268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49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12 9722 0 0,'-1'0'42'0'0,"1"0"0"0"0,-1 1 1 0 0,1-1-1 0 0,0 0 0 0 0,-1 0 0 0 0,1 1 1 0 0,0-1-1 0 0,-1 0 0 0 0,1 0 0 0 0,0 1 0 0 0,-1-1 1 0 0,1 0-1 0 0,0 1 0 0 0,0-1 0 0 0,-1 1 0 0 0,1-1 1 0 0,0 0-1 0 0,0 1 0 0 0,0-1 0 0 0,0 1 0 0 0,-1-1 1 0 0,1 0-1 0 0,0 1 0 0 0,0-1 0 0 0,0 1 0 0 0,0 0 1 0 0,11-3 393 0 0,-2 0-481 0 0,22-6 228 0 0,-24 6-197 0 0,2 0 0 0 0,-1 0 0 0 0,0 1 0 0 0,14-1 0 0 0,14 4-1492 0 0,49 8 0 0 0,-68-7 768 0 0,8 0-509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49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 8994 0 0,'-9'3'304'0'0,"-1"1"0"0"0,1 0 1 0 0,-12 7-1 0 0,18-9-257 0 0,0 0 1 0 0,0 0 0 0 0,1 0-1 0 0,-1 0 1 0 0,0 1-1 0 0,1-1 1 0 0,-1 1-1 0 0,1-1 1 0 0,0 1 0 0 0,0 0-1 0 0,0 0 1 0 0,0 0-1 0 0,-1 4 1 0 0,2-2-16 0 0,1-5 64 0 0,5 0-19 0 0,0 1-18 0 0,-1-1-1 0 0,1 0 1 0 0,0-1-1 0 0,0 0 1 0 0,0 1-1 0 0,0-1 1 0 0,8-3-1 0 0,10-5 89 0 0,0 1-1 0 0,35-7 0 0 0,-45 12-340 0 0,-1 2 0 0 0,1-1 0 0 0,0 2 0 0 0,0 0 0 0 0,0 0-1 0 0,17 4 1 0 0,-11-1-1195 0 0,0 1-1 0 0,0 1 0 0 0,0 0 1 0 0,31 15-1 0 0,-39-15 245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50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68 1864 0 0,'-10'-13'358'0'0,"5"7"194"0"0,0-1 0 0 0,-1 1 0 0 0,1-1 0 0 0,-1 2 0 0 0,-12-10 0 0 0,16 13-468 0 0,1 1 1 0 0,-1 0-1 0 0,0 1 0 0 0,0-1 0 0 0,0 0 0 0 0,0 0 0 0 0,0 1 1 0 0,0-1-1 0 0,0 1 0 0 0,0 0 0 0 0,0 0 0 0 0,0 0 0 0 0,0 0 1 0 0,0 0-1 0 0,0 0 0 0 0,0 0 0 0 0,-1 0 0 0 0,1 1 0 0 0,0-1 1 0 0,0 1-1 0 0,1 0 0 0 0,-1 0 0 0 0,0-1 0 0 0,0 1 0 0 0,0 0 1 0 0,0 1-1 0 0,1-1 0 0 0,-3 2 0 0 0,-3 3-28 0 0,1 0-1 0 0,0 0 1 0 0,0 0-1 0 0,0 1 1 0 0,1 0 0 0 0,0 0-1 0 0,1 0 1 0 0,0 1-1 0 0,-4 8 1 0 0,-2 8-56 0 0,-12 43 0 0 0,18-53 6 0 0,1 1 0 0 0,1 0 0 0 0,0 0 0 0 0,1 0 0 0 0,0 0 0 0 0,2 1 1 0 0,0-1-1 0 0,0 0 0 0 0,1 0 0 0 0,1-1 0 0 0,1 1 0 0 0,6 18 0 0 0,8 20 162 0 0,-3 1 0 0 0,-3 0 1 0 0,-1 1-1 0 0,4 82 0 0 0,-6 425 567 0 0,-9-423-700 0 0,-1-56 48 0 0,-3-1-1 0 0,-23 133 1 0 0,7-137 29 0 0,-33 84 0 0 0,53-160-111 0 0,-5 11 17 0 0,2-5-13 0 0,0 1 0 0 0,0-1 0 0 0,1 0-1 0 0,0 1 1 0 0,-1 14 0 0 0,3-22-3 0 0,0 0 1 0 0,0 0-1 0 0,0-1 0 0 0,1 1 1 0 0,-1 0-1 0 0,0 0 0 0 0,1 0 1 0 0,-1-1-1 0 0,1 1 0 0 0,-1 0 0 0 0,1 0 1 0 0,-1-1-1 0 0,1 1 0 0 0,0 0 1 0 0,-1-1-1 0 0,1 1 0 0 0,0-1 1 0 0,-1 1-1 0 0,1-1 0 0 0,0 1 1 0 0,0-1-1 0 0,-1 1 0 0 0,1-1 1 0 0,0 0-1 0 0,0 1 0 0 0,0-1 1 0 0,0 0-1 0 0,1 0 0 0 0,32 5 129 0 0,-23-4-77 0 0,28 7-40 0 0,68 22 0 0 0,-77-20-562 0 0,1-1 1 0 0,0-1 0 0 0,63 6-1 0 0,-56-12 135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51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33 297 10498 0 0,'0'1'4'0'0,"-1"0"0"0"0,1-1-1 0 0,-1 1 1 0 0,1 0-1 0 0,-1-1 1 0 0,0 1 0 0 0,1-1-1 0 0,-1 1 1 0 0,0 0 0 0 0,1-1-1 0 0,-1 0 1 0 0,0 1-1 0 0,0-1 1 0 0,1 1 0 0 0,-1-1-1 0 0,0 0 1 0 0,0 0 0 0 0,0 1-1 0 0,0-1 1 0 0,0 0 0 0 0,1 0-1 0 0,-1 0 1 0 0,0 0-1 0 0,0 0 1 0 0,-1 0 0 0 0,1-1-3 0 0,0 0 0 0 0,0 0 0 0 0,0 0 0 0 0,0 0 0 0 0,0 0 1 0 0,1 0-1 0 0,-1 0 0 0 0,0-1 0 0 0,1 1 0 0 0,-1 0 0 0 0,0 0 0 0 0,0-3 1 0 0,1 0-6 0 0,-1 1 0 0 0,0-1 0 0 0,1 1 0 0 0,0-1 0 0 0,0 1 0 0 0,0-1 0 0 0,1 1 0 0 0,-1-1 0 0 0,1 1 0 0 0,-1-1 0 0 0,1 1 0 0 0,0-1 0 0 0,1 1 0 0 0,-1 0 0 0 0,1 0 0 0 0,1-4 0 0 0,1-2-2 0 0,3-8-12 0 0,1 0 0 0 0,0 1 0 0 0,2 0 1 0 0,-1 1-1 0 0,2 0 0 0 0,0 0 0 0 0,1 1 0 0 0,21-20 0 0 0,-24 27 35 0 0,0 1 1 0 0,1 0 0 0 0,-1 0-1 0 0,14-6 1 0 0,6-3 137 0 0,-27 14-150 0 0,1 0 0 0 0,-1 0-1 0 0,0 0 1 0 0,0 0 0 0 0,1 1 0 0 0,-1-1 0 0 0,0 0 0 0 0,1 1 0 0 0,-1 0 0 0 0,1 0 0 0 0,-1-1 0 0 0,1 2 0 0 0,-1-1 0 0 0,0 0 0 0 0,1 0 0 0 0,-1 1 0 0 0,1-1 0 0 0,-1 1 0 0 0,0 0 0 0 0,0 0 0 0 0,1-1 0 0 0,-1 2 0 0 0,0-1 0 0 0,0 0 0 0 0,0 0 0 0 0,0 1 0 0 0,0-1 0 0 0,0 1 0 0 0,0-1-1 0 0,-1 1 1 0 0,3 2 0 0 0,4 6 48 0 0,0 1-1 0 0,0 0 1 0 0,-1 0-1 0 0,8 17 1 0 0,-13-24-26 0 0,49 109 408 0 0,-38-80-323 0 0,2-1 1 0 0,0 0-1 0 0,2-1 0 0 0,26 35 0 0 0,-39-61-96 0 0,0 0 0 0 0,0-1 0 0 0,1 1 0 0 0,-1-1 0 0 0,1 0 0 0 0,0-1 0 0 0,0 1 0 0 0,11 5 0 0 0,-13-8-12 0 0,0 0 0 0 0,0 0 0 0 0,-1 0 0 0 0,1 0 0 0 0,0-1 0 0 0,0 1 0 0 0,0-1 0 0 0,0 0 0 0 0,0 1 0 0 0,-1-1 0 0 0,1-1 1 0 0,0 1-1 0 0,0 0 0 0 0,0-1 0 0 0,0 0 0 0 0,0 1 0 0 0,-1-1 0 0 0,1 0 0 0 0,0 0 0 0 0,0-1 0 0 0,2-1 0 0 0,2-1-289 0 0,-1 0 0 0 0,1-1-1 0 0,-1 0 1 0 0,0 0-1 0 0,0 0 1 0 0,-1-1 0 0 0,1 0-1 0 0,-1 0 1 0 0,5-9-1 0 0,0-1-271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51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630 1 3969 0 0,'-5'0'243'0'0,"0"1"-1"0"0,-1 0 1 0 0,1 0 0 0 0,0 0-1 0 0,0 0 1 0 0,-8 4-1 0 0,-2 1 716 0 0,13-6-734 0 0,0 0-1 0 0,0 1 0 0 0,1-1 1 0 0,-1 0-1 0 0,0 0 0 0 0,0 0 1 0 0,0 0-1 0 0,0-1 0 0 0,0 1 1 0 0,0 0-1 0 0,0-1 0 0 0,1 0 1 0 0,-1 1-1 0 0,0-1 0 0 0,0 0 1 0 0,-2-1-1 0 0,2 0 38 0 0,-1 1 1 0 0,1 0-1 0 0,-1 0 0 0 0,0 0 0 0 0,0 0 1 0 0,1 1-1 0 0,-1-1 0 0 0,-4 1 0 0 0,1 0-139 0 0,-1 1-1 0 0,0 0 0 0 0,0 0 1 0 0,1 1-1 0 0,-1 0 1 0 0,1 0-1 0 0,-1 1 0 0 0,1-1 1 0 0,0 2-1 0 0,0-1 0 0 0,0 0 1 0 0,-5 6-1 0 0,-11 8-268 0 0,-32 33 1 0 0,39-35 147 0 0,-37 39-1116 0 0,3 2-1 0 0,2 2 1 0 0,3 2-1 0 0,-67 123 1 0 0,85-133 403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53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19 212 6433 0 0,'0'0'2209'0'0,"-1"-5"-851"0"0,1 5-1346 0 0,0 0 0 0 0,0 0 0 0 0,-1 0 0 0 0,1 0 0 0 0,0 1 0 0 0,0-1 0 0 0,0 0 0 0 0,0 0 0 0 0,0 0 0 0 0,0 0 0 0 0,0 0-1 0 0,0 0 1 0 0,0 0 0 0 0,0 0 0 0 0,0 0 0 0 0,0 0 0 0 0,0 0 0 0 0,0 0 0 0 0,0 0 0 0 0,0 0 0 0 0,0 0 0 0 0,0 0 0 0 0,0 0 0 0 0,-1 0 0 0 0,1 0 0 0 0,0 0 0 0 0,0 0 0 0 0,0 0 0 0 0,0 0 0 0 0,0 0 0 0 0,0 0 0 0 0,0 0-1 0 0,0 0 1 0 0,0 0 0 0 0,0 0 0 0 0,0 0 0 0 0,0 0 0 0 0,0 0 0 0 0,0 0 0 0 0,-1 0 0 0 0,1 0 0 0 0,0 0 0 0 0,0 0 0 0 0,0 0 0 0 0,0 0 0 0 0,0 0 0 0 0,0 0 0 0 0,0 0 0 0 0,0 0 0 0 0,0 0 0 0 0,0 0 0 0 0,0 0-1 0 0,0 0 1 0 0,0 0 0 0 0,0 0 0 0 0,0-1 0 0 0,0 1 0 0 0,0 0 0 0 0,0 0 0 0 0,0 0 0 0 0,0 0 0 0 0,0 0 0 0 0,0 0 0 0 0,-1 6-24 0 0,0 0-1 0 0,1 0 1 0 0,0 1 0 0 0,1-1 0 0 0,-1 0-1 0 0,1 0 1 0 0,0 0 0 0 0,1 0-1 0 0,2 7 1 0 0,2 15-28 0 0,-4-17 32 0 0,0 0 2 0 0,0 0 0 0 0,0 0-1 0 0,1 0 1 0 0,0-1 0 0 0,1 1-1 0 0,0-1 1 0 0,10 18 0 0 0,-14-28 7 0 0,1 1 0 0 0,-1 0 0 0 0,1 0 0 0 0,0 0 0 0 0,-1 0 0 0 0,1-1 0 0 0,0 1 0 0 0,0 0 0 0 0,-1-1 0 0 0,1 1 0 0 0,0 0 0 0 0,0-1 0 0 0,0 1 0 0 0,0-1 0 0 0,-1 1 0 0 0,1-1 0 0 0,0 0 0 0 0,0 1 0 0 0,0-1 0 0 0,0 0 0 0 0,0 0 0 0 0,0 0 0 0 0,0 0 0 0 0,0 0 0 0 0,1 0 0 0 0,0 0 2 0 0,0-1-1 0 0,-1 1 1 0 0,1-1 0 0 0,-1 0-1 0 0,1 1 1 0 0,-1-1-1 0 0,0 0 1 0 0,1 0-1 0 0,-1 0 1 0 0,0 0-1 0 0,0 0 1 0 0,1-1-1 0 0,1-1 1 0 0,2-5 8 0 0,0 0 0 0 0,0 0 1 0 0,0 0-1 0 0,3-10 0 0 0,12-37 11 0 0,-1 0-1 0 0,11-66 1 0 0,-7 25 125 0 0,-22 94-126 0 0,0-1 0 0 0,0 0 0 0 0,0 0 0 0 0,0 0 0 0 0,0 1 0 0 0,0-1 0 0 0,1 0 0 0 0,-1 1 0 0 0,1-1 0 0 0,3-3 0 0 0,-4 6-11 0 0,0-1 1 0 0,-1 1-1 0 0,1-1 0 0 0,0 1 0 0 0,0 0 0 0 0,0-1 1 0 0,0 1-1 0 0,0 0 0 0 0,0-1 0 0 0,0 1 1 0 0,0 0-1 0 0,0 0 0 0 0,0 0 0 0 0,0 0 1 0 0,0 0-1 0 0,0 0 0 0 0,0 0 0 0 0,0 0 1 0 0,0 1-1 0 0,0-1 0 0 0,0 0 0 0 0,0 0 1 0 0,-1 1-1 0 0,1-1 0 0 0,0 1 0 0 0,0-1 0 0 0,0 1 1 0 0,0-1-1 0 0,0 1 0 0 0,-1-1 0 0 0,1 1 1 0 0,0 0-1 0 0,1 1 0 0 0,4 4 17 0 0,0 1 0 0 0,0-1 0 0 0,0 1 0 0 0,-1 0 0 0 0,0 1 0 0 0,7 13 0 0 0,20 51-42 0 0,-31-69 16 0 0,13 30 15 0 0,-2 1-1 0 0,-1 0 1 0 0,-2 0 0 0 0,-1 1 0 0 0,3 41 0 0 0,-10-48 59 0 0,0-1 0 0 0,-2 1 1 0 0,-2 0-1 0 0,0-1 1 0 0,-1 1-1 0 0,-9 26 1 0 0,12-50-47 0 0,0 0 1 0 0,0 0-1 0 0,-1 0 1 0 0,1-1 0 0 0,-1 1-1 0 0,0 0 1 0 0,0-1 0 0 0,0 1-1 0 0,0-1 1 0 0,-1 0-1 0 0,0 0 1 0 0,1 0 0 0 0,-1 0-1 0 0,0 0 1 0 0,0-1 0 0 0,-1 1-1 0 0,1-1 1 0 0,0 0-1 0 0,-1 0 1 0 0,1 0 0 0 0,-1 0-1 0 0,0-1 1 0 0,0 1 0 0 0,0-1-1 0 0,1 0 1 0 0,-1 0-1 0 0,-7 0 1 0 0,-24 2-321 0 0,-1-2 1 0 0,0-2-1 0 0,-35-4 0 0 0,-17-1-3612 0 0,63 6 2113 0 0,2 3-289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54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33 12691 0 0,'-51'0'925'0'0,"50"0"-979"0"0,-20 0 155 0 0,20 1-109 0 0,-1-1 0 0 0,1 0 0 0 0,-1 1 0 0 0,0-1 0 0 0,1 1 0 0 0,-1 0 0 0 0,1-1 0 0 0,-1 1 0 0 0,1 0 0 0 0,0 0 1 0 0,-1 0-1 0 0,1 0 0 0 0,0 0 0 0 0,-1 0 0 0 0,1 0 0 0 0,-1 2 0 0 0,-3 8-43 0 0,5-11 50 0 0,0 0-1 0 0,0 0 1 0 0,0 1-1 0 0,0-1 0 0 0,0 0 1 0 0,0 0-1 0 0,0 1 1 0 0,0-1-1 0 0,0 0 0 0 0,0 0 1 0 0,0 1-1 0 0,0-1 1 0 0,0 0-1 0 0,1 0 1 0 0,-1 1-1 0 0,0-1 0 0 0,0 0 1 0 0,0 0-1 0 0,0 0 1 0 0,1 1-1 0 0,-1-1 0 0 0,0 0 1 0 0,0 0-1 0 0,0 0 1 0 0,1 0-1 0 0,-1 0 0 0 0,0 1 1 0 0,0-1-1 0 0,0 0 1 0 0,1 0-1 0 0,-1 0 1 0 0,0 0-1 0 0,0 0 0 0 0,1 0 1 0 0,-1 0-1 0 0,20 4-18 0 0,1-1 0 0 0,-1-2 0 0 0,1 0 1 0 0,-1 0-1 0 0,1-2 0 0 0,-1-1 0 0 0,1 0 0 0 0,-1-2 0 0 0,0 0 0 0 0,0-2 0 0 0,0 0 0 0 0,19-8 0 0 0,-16 4 65 0 0,-5 2 85 0 0,32-10 0 0 0,-47 18-114 0 0,-3 0 78 0 0,1 9-115 0 0,1 49-11 0 0,-1-33-7 0 0,5 44-1 0 0,6-14-9 0 0,2-1 0 0 0,22 52 0 0 0,50 101-6 0 0,-27-69 38 0 0,78 250 40 0 0,-119-320 100 0 0,-4 1-1 0 0,-2 0 0 0 0,3 114 1 0 0,-13 103 118 0 0,-2-274-203 0 0,-1 0-1 0 0,0 1 1 0 0,-1-1 0 0 0,0 0 0 0 0,-1 0-1 0 0,-1 0 1 0 0,-6 16 0 0 0,3-13 89 0 0,-1 1 1 0 0,-1-1 0 0 0,0-1 0 0 0,-20 24-1 0 0,-64 61 455 0 0,75-82-531 0 0,-1-1-1 0 0,-1-1 1 0 0,-32 19-1 0 0,45-31-80 0 0,1 0 0 0 0,-1 0-1 0 0,0-1 1 0 0,-1 1 0 0 0,1-1-1 0 0,0-1 1 0 0,-1 0 0 0 0,1 0-1 0 0,-1 0 1 0 0,1-1-1 0 0,-1 0 1 0 0,-9-1 0 0 0,5-1-341 0 0,0 0 1 0 0,1-1 0 0 0,-1 0-1 0 0,1-1 1 0 0,0 0-1 0 0,-21-12 1 0 0,6 2-800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55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27 250 2008 0 0,'-26'-40'9733'0'0,"26"39"-9699"0"0,0 1-1 0 0,0 0 0 0 0,0-1 1 0 0,0 1-1 0 0,-1-1 1 0 0,1 1-1 0 0,0 0 1 0 0,0-1-1 0 0,0 1 1 0 0,0-1-1 0 0,0 1 0 0 0,0 0 1 0 0,0-1-1 0 0,1 1 1 0 0,-1-1-1 0 0,0 1 1 0 0,0 0-1 0 0,0-1 0 0 0,0 1 1 0 0,0-1-1 0 0,1 1 1 0 0,-1 0-1 0 0,0-1 1 0 0,0 1-1 0 0,1 0 0 0 0,-1 0 1 0 0,0-1-1 0 0,1 1 1 0 0,4-6-17 0 0,1 0 0 0 0,-1 1 0 0 0,1 0 0 0 0,0 0 0 0 0,1 1 0 0 0,-1 0 0 0 0,1 0 0 0 0,0 0 1 0 0,0 1-1 0 0,14-5 0 0 0,21-7 22 0 0,73-22-70 0 0,-103 34-50 0 0,131-35-675 0 0,-50 6-2516 0 0,-54 19-37 0 0,-19 6 1277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29:55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 13371 0 0,'-6'4'25'0'0,"0"1"1"0"0,1 0-1 0 0,0 0 1 0 0,0 0-1 0 0,0 1 1 0 0,0 0-1 0 0,1 0 0 0 0,-5 9 1 0 0,7-12-21 0 0,1 0 1 0 0,-1 0-1 0 0,1 0 1 0 0,0 0-1 0 0,0 0 1 0 0,0 0-1 0 0,0 0 1 0 0,0 0-1 0 0,1 1 1 0 0,0-1-1 0 0,0 0 1 0 0,-1 0-1 0 0,2 1 0 0 0,-1-1 1 0 0,0 0-1 0 0,1 0 1 0 0,-1 1-1 0 0,1-1 1 0 0,0 0-1 0 0,0 0 1 0 0,2 4-1 0 0,-1-5 14 0 0,-1-1 0 0 0,1 1 1 0 0,-1 0-1 0 0,1-1 0 0 0,0 1 0 0 0,0-1 0 0 0,-1 0 0 0 0,1 1 0 0 0,0-1 0 0 0,1 0 0 0 0,-1 0 0 0 0,0 0 0 0 0,0 0 1 0 0,0-1-1 0 0,0 1 0 0 0,1-1 0 0 0,-1 1 0 0 0,0-1 0 0 0,1 0 0 0 0,-1 0 0 0 0,4 0 0 0 0,6 0 23 0 0,0-1-1 0 0,22-5 0 0 0,2-1 86 0 0,166-32-2932 0 0,-157 33 2293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30:20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0 9810 0 0,'-109'41'1410'0'0,"103"-37"-1272"0"0,1-1-36 0 0,10-9 2400 0 0,-5 6-2502 0 0,4-3 19 0 0,-1 0 1 0 0,1 0-1 0 0,0 0 1 0 0,0 0-1 0 0,0 0 1 0 0,0 1-1 0 0,0 0 1 0 0,0 0-1 0 0,1 0 1 0 0,-1 0-1 0 0,1 1 1 0 0,5-2-1 0 0,2 2-29 0 0,-1 1 1 0 0,1-1-1 0 0,-1 2 1 0 0,22 3-1 0 0,44 15 62 0 0,-56-13-234 0 0,-1-1-1 0 0,1 0 1 0 0,0-2-1 0 0,25 2 1 0 0,-44-5 28 0 0,0 0 0 0 0,0 0 0 0 0,0-1 0 0 0,0 1-1 0 0,0 0 1 0 0,0-1 0 0 0,0 1 0 0 0,0-1 0 0 0,0 0 0 0 0,0 0 0 0 0,0 0 0 0 0,0 0 0 0 0,0 0 0 0 0,0 0 0 0 0,-1 0 0 0 0,3-3 0 0 0,2-3-828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30:21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38 12323 0 0,'-3'1'24'0'0,"-5"3"41"0"0,1 0 1 0 0,0 0-1 0 0,-8 7 0 0 0,13-11-64 0 0,1 1 1 0 0,0 0-1 0 0,0 0 1 0 0,0 0-1 0 0,0 0 1 0 0,0 0-1 0 0,0 0 1 0 0,0 0-1 0 0,0 0 1 0 0,1 1-1 0 0,-1-1 1 0 0,0 0-1 0 0,1 0 1 0 0,-1 1-1 0 0,1-1 1 0 0,-1 0-1 0 0,1 1 1 0 0,-1-1-1 0 0,1 1 1 0 0,0-1-1 0 0,0 0 1 0 0,0 1-1 0 0,0-1 1 0 0,0 1-1 0 0,0-1 1 0 0,1 3-1 0 0,-1-4 2 0 0,0 1 0 0 0,0 0 0 0 0,1-1 0 0 0,-1 1 0 0 0,0 0 0 0 0,1-1 0 0 0,-1 1 0 0 0,1-1 0 0 0,-1 1 0 0 0,1-1 0 0 0,-1 1 0 0 0,1-1 0 0 0,-1 1 0 0 0,1-1 0 0 0,0 1 0 0 0,-1-1 0 0 0,1 0 0 0 0,0 1 0 0 0,-1-1 0 0 0,1 0 0 0 0,0 1 0 0 0,-1-1 0 0 0,1 0 0 0 0,0 0 0 0 0,-1 0 0 0 0,1 0 0 0 0,0 0 0 0 0,0 0 0 0 0,-1 0 0 0 0,1 0 0 0 0,0 0 0 0 0,0 0 0 0 0,-1 0 0 0 0,1 0 0 0 0,0-1 0 0 0,-1 1 0 0 0,1 0 0 0 0,1-1 0 0 0,1 0 64 0 0,-1 0 0 0 0,1 0 0 0 0,-1-1 0 0 0,0 1 0 0 0,1-1 0 0 0,-1 1 0 0 0,0-1 0 0 0,4-3 0 0 0,-4 2-22 0 0,0 0-1 0 0,0 0 0 0 0,-1 0 0 0 0,1-1 1 0 0,-1 1-1 0 0,1 0 0 0 0,-1-1 1 0 0,0 1-1 0 0,0-1 0 0 0,-1 1 1 0 0,1-1-1 0 0,0-4 0 0 0,-2 8-57 0 0,0 0-1 0 0,0 0 1 0 0,0 0-1 0 0,0 0 0 0 0,0 0 1 0 0,0 0-1 0 0,0 0 0 0 0,0 1 1 0 0,0-1-1 0 0,0 0 1 0 0,0 1-1 0 0,0-1 0 0 0,1 0 1 0 0,-2 1-1 0 0,0 2 14 0 0,1-3 2 0 0,1 1-1 0 0,0-1 1 0 0,-1 0 0 0 0,1 1-1 0 0,0-1 1 0 0,-1 0-1 0 0,1 1 1 0 0,0-1 0 0 0,-1 0-1 0 0,1 1 1 0 0,-1-1 0 0 0,1 0-1 0 0,-1 0 1 0 0,1 0-1 0 0,-1 0 1 0 0,1 1 0 0 0,-1-1-1 0 0,1 0 1 0 0,-1 0-1 0 0,1 0 1 0 0,-1 0 0 0 0,1 0-1 0 0,-1 0 1 0 0,1-2-40 0 0,0 1 0 0 0,0-1 1 0 0,1 1-1 0 0,-1-1 0 0 0,1 1 0 0 0,-1 0 0 0 0,1-1 0 0 0,-1 1 1 0 0,2-3-1 0 0,-2 4 33 0 0,1-1-5 0 0,0-1-1 0 0,-1 0 1 0 0,1 1 0 0 0,-1-1-1 0 0,0 0 1 0 0,0 1 0 0 0,1-1-1 0 0,-1 0 1 0 0,0 0 0 0 0,0 1-1 0 0,-1-1 1 0 0,1 0 0 0 0,0 1-1 0 0,-1-3 1 0 0,1 3 11 0 0,0 1 0 0 0,0 0 0 0 0,0-1 0 0 0,0 1-1 0 0,0 0 1 0 0,0-1 0 0 0,-1 1 0 0 0,1 0 0 0 0,0-1 0 0 0,0 1 0 0 0,0 0 0 0 0,0-1 0 0 0,0 1 0 0 0,-1 0 0 0 0,1-1 0 0 0,0 1 0 0 0,0 0-1 0 0,-1-1 1 0 0,1 1 0 0 0,0 0 0 0 0,-1 0 0 0 0,1 0 0 0 0,0-1 0 0 0,0 1 0 0 0,-1 0 0 0 0,1 0 0 0 0,0 0 0 0 0,-1 0 0 0 0,1-1 0 0 0,0 1 0 0 0,-1 0-1 0 0,1 0 1 0 0,-1 0 0 0 0,1 0 0 0 0,0 0 0 0 0,-1 0 0 0 0,1 0 0 0 0,0 0 0 0 0,-1 0 0 0 0,1 0 0 0 0,-1 0 0 0 0,1 0 0 0 0,0 0 0 0 0,-1 1-1 0 0,1-1 1 0 0,0 0 0 0 0,-1 0 0 0 0,1 0 0 0 0,0 0 0 0 0,-1 1 0 0 0,1-1 0 0 0,0 0 0 0 0,-1 1 0 0 0,-10 10 97 0 0,1 1 1 0 0,0 0 0 0 0,1 1-1 0 0,-12 20 1 0 0,0 1 359 0 0,21-34-433 0 0,-1 1 0 0 0,0 0 0 0 0,0-1 0 0 0,0 1 0 0 0,0-1 1 0 0,1 1-1 0 0,-1-1 0 0 0,0 1 0 0 0,0-1 0 0 0,0 0 0 0 0,0 1 0 0 0,0-1 1 0 0,0 0-1 0 0,0 0 0 0 0,0 1 0 0 0,0-1 0 0 0,0 0 0 0 0,0 0 0 0 0,0 0 1 0 0,0-1-1 0 0,0 1 0 0 0,-2 0 0 0 0,-6-1 57 0 0,10 23-15 0 0,4 1-84 0 0,9 30 0 0 0,70 289-194 0 0,-74-298 209 0 0,50 336 16 0 0,-27 2 17 0 0,-28-270 12 0 0,-10 122 1 0 0,-34 109 77 0 0,25-272-50 0 0,-4-1 0 0 0,-35 93-1 0 0,31-98-10 0 0,2-4 97 0 0,-34 68 0 0 0,48-118-134 0 0,-32 71 49 0 0,34-70-70 0 0,-1 1 0 0 0,2 0 0 0 0,-1 0 0 0 0,-1 21 0 0 0,5-31-1 0 0,-2 12-5 0 0,1-1 1 0 0,0 1-1 0 0,1 0 1 0 0,1-1-1 0 0,4 25 1 0 0,-3-30 7 0 0,1 0-1 0 0,-1 0 1 0 0,9 16 0 0 0,0 2 28 0 0,-11-26 106 0 0,6-17-215 0 0,-2 10 78 0 0,-3 5-1 0 0,0-1-1 0 0,0 1 1 0 0,0 0-1 0 0,0 0 1 0 0,0-1-1 0 0,1 1 1 0 0,-1 0-1 0 0,0 0 0 0 0,1 0 1 0 0,-1 1-1 0 0,0-1 1 0 0,1 0-1 0 0,-1 0 1 0 0,1 1-1 0 0,-1-1 1 0 0,3 0-1 0 0,3-1 2 0 0,-3 1-2 0 0,0-1 0 0 0,1 1 1 0 0,-1 0-1 0 0,0 0 1 0 0,1 1-1 0 0,-1-1 1 0 0,1 1-1 0 0,-1 0 1 0 0,0 1-1 0 0,6 0 1 0 0,62 6-204 0 0,1-3 0 0 0,142-11 0 0 0,-49-16-3297 0 0,-130 16 3379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30:22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39 12939 0 0,'-45'-21'3163'0'0,"41"18"-2616"0"0,-3-1 96 0 0,7 4-642 0 0,0 0 0 0 0,-1 0 0 0 0,1 0 0 0 0,0 0 0 0 0,0-1 0 0 0,0 1 1 0 0,0 0-1 0 0,-1 0 0 0 0,1 0 0 0 0,0 0 0 0 0,0-1 0 0 0,0 1 0 0 0,0 0 0 0 0,0 0 1 0 0,0 0-1 0 0,-1-1 0 0 0,1 1 0 0 0,0 0 0 0 0,0 0 0 0 0,0 0 0 0 0,0-1 1 0 0,0 1-1 0 0,0 0 0 0 0,0 0 0 0 0,0-1 0 0 0,0 1 0 0 0,0 0 0 0 0,0 0 0 0 0,0-1 1 0 0,0 1-1 0 0,0 0 0 0 0,0 0 0 0 0,0 0 0 0 0,1-1 0 0 0,-1 1 0 0 0,0 0 0 0 0,0 0 1 0 0,0 0-1 0 0,0-1 0 0 0,0 1 0 0 0,0 0 0 0 0,1 0 0 0 0,-1-2-5 0 0,1 2 1 0 0,0 0 0 0 0,0-1 0 0 0,0 1 0 0 0,0 0 0 0 0,0 0 0 0 0,0 0 0 0 0,0 0 0 0 0,0 0 0 0 0,0 0 0 0 0,0 1 0 0 0,0-1 0 0 0,0 0 0 0 0,0 0 0 0 0,0 1 0 0 0,0-1 0 0 0,0 1 0 0 0,-1-1 0 0 0,3 1 0 0 0,21 13-61 0 0,-18-9 38 0 0,20 12-26 0 0,-2 1-1 0 0,0 1 1 0 0,0 1 0 0 0,36 41 0 0 0,70 104-16 0 0,-129-163 68 0 0,55 73-9 0 0,76 99 373 0 0,-94-129 31 0 0,76 70-1 0 0,-97-100-289 0 0,-4-2 46 0 0,1-2 0 0 0,22 16-1 0 0,-31-23 300 0 0,-6 0-366 0 0,-22 1-1267 0 0,-16-1 199 0 0,39-3 919 0 0,0-1 0 0 0,-1 0 1 0 0,1 0-1 0 0,-1 0 0 0 0,1 0 0 0 0,-1 1 1 0 0,1-1-1 0 0,-1 0 0 0 0,1 0 1 0 0,-1 0-1 0 0,1 0 0 0 0,-1 0 0 0 0,1 0 1 0 0,-1 0-1 0 0,1 0 0 0 0,0-1 1 0 0,-1 1-1 0 0,1 0 0 0 0,-1 0 1 0 0,1 0-1 0 0,-1 0 0 0 0,1-1 0 0 0,-1 1 1 0 0,1 0-1 0 0,0 0 0 0 0,-1-1 1 0 0,-23-25-1577 0 0,12 10 1464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30:22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1240 25 15419 0 0,'-8'2'-2'0'0,"0"0"0"0"0,0 0 0 0 0,0 0 0 0 0,0-1 0 0 0,0-1-1 0 0,0 1 1 0 0,-11-2 0 0 0,3-1 24 0 0,1 0 0 0 0,-28-9-1 0 0,26 6-9 0 0,0 1-1 0 0,-1 1 1 0 0,-34-3-1 0 0,44 6-8 0 0,0 0 0 0 0,0 1 0 0 0,0 0 0 0 0,0 0-1 0 0,0 0 1 0 0,1 1 0 0 0,-1 1 0 0 0,0-1 0 0 0,1 1 0 0 0,0 0-1 0 0,-10 6 1 0 0,-4 5 10 0 0,1 1 0 0 0,-36 34-1 0 0,-31 44 59 0 0,29-29-36 0 0,-367 350 395 0 0,420-409-458 0 0,-70 56 253 0 0,67-56-332 0 0,0 0 1 0 0,1 0-1 0 0,-2-1 0 0 0,1 0 1 0 0,0 0-1 0 0,-1-1 0 0 0,0-1 1 0 0,-12 4-1 0 0,19-6-58 0 0,0 0 1 0 0,1 0-1 0 0,-1 1 1 0 0,0-1-1 0 0,0 0 1 0 0,1 0-1 0 0,-1 0 1 0 0,0-1-1 0 0,0 1 0 0 0,1 0 1 0 0,-1-1-1 0 0,0 1 1 0 0,1-1-1 0 0,-1 1 1 0 0,0-1-1 0 0,1 0 1 0 0,-1 0-1 0 0,1 0 1 0 0,-1 0-1 0 0,1 0 0 0 0,0 0 1 0 0,-1 0-1 0 0,1 0 1 0 0,0 0-1 0 0,-1-2 1 0 0,-7-13-2034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30:23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 14123 0 0,'0'0'1007'0'0,"5"1"-1159"0"0,0 1-29 0 0,0-1 0 0 0,-1 1 1 0 0,0 1-1 0 0,8 4 0 0 0,-12-7 159 0 0,1 0-1 0 0,0 1 0 0 0,-1-1 1 0 0,0 0-1 0 0,1 1 1 0 0,-1-1-1 0 0,1 1 1 0 0,-1-1-1 0 0,1 1 0 0 0,-1-1 1 0 0,0 1-1 0 0,1 0 1 0 0,-1-1-1 0 0,0 1 1 0 0,0-1-1 0 0,1 1 0 0 0,-1-1 1 0 0,0 1-1 0 0,0 0 1 0 0,0 0-1 0 0,0 0 26 0 0,0 0 0 0 0,-1 0 0 0 0,1 0 0 0 0,-1-1 0 0 0,1 1 0 0 0,-1 0 0 0 0,1-1 0 0 0,-1 1 0 0 0,1 0 0 0 0,-1-1 0 0 0,0 1 0 0 0,1-1 0 0 0,-1 1 0 0 0,0-1 0 0 0,1 1 0 0 0,-1-1 0 0 0,0 1 0 0 0,0-1 0 0 0,1 0 0 0 0,-1 1 0 0 0,-1-1 0 0 0,-1 1 40 0 0,0 0 1 0 0,0 0-1 0 0,0 0 1 0 0,0-1 0 0 0,-1 0-1 0 0,1 1 1 0 0,0-1 0 0 0,0 0-1 0 0,0-1 1 0 0,0 1 0 0 0,-1 0-1 0 0,1-1 1 0 0,-5-1-1 0 0,7 1 5 0 0,1 2-146 0 0,0-1 16 0 0,0 0-1 0 0,0 0 1 0 0,0 0 0 0 0,-1 0-1 0 0,1 0 1 0 0,0 0 0 0 0,0 0-1 0 0,0 0 1 0 0,0 0 0 0 0,0 0-1 0 0,0 0 1 0 0,-1 0 0 0 0,1 0-1 0 0,0-1 1 0 0,0 1-1 0 0,0 0 1 0 0,0 0 0 0 0,0 0-1 0 0,0 0 1 0 0,-1 0 0 0 0,1 0-1 0 0,0 0 1 0 0,0 0 0 0 0,0 0-248 0 0,0-1 248 0 0,0 1 0 0 0,0 0-1 0 0,0 0 1 0 0,-1 0 0 0 0,1 0-1 0 0,0 0 1 0 0,0 0 0 0 0,0-1-1 0 0,0 1 1 0 0,0 0-1 0 0,0 0 1 0 0,0 0 0 0 0,0 0-1 0 0,0 0 1 0 0,0 0 0 0 0,0-1-1 0 0,0 1 1 0 0,0 0 0 0 0,0 0-1 0 0,0 0 1 0 0,0 0 0 0 0,0 0-1 0 0,0-1 1 0 0,0 0-1068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30:23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1 4689 0 0,'-21'18'1731'0'0,"1"2"0"0"0,1 0 0 0 0,-20 29 0 0 0,33-40-1190 0 0,-1-1 1 0 0,0 1-1 0 0,0-1 0 0 0,0-1 0 0 0,-12 10 1227 0 0,15-18-1015 0 0,2 1-762 0 0,1 0-1 0 0,0 0 1 0 0,-1 0-1 0 0,1 0 1 0 0,0 0 0 0 0,0 1-1 0 0,0-1 1 0 0,-1 0-1 0 0,1 1 1 0 0,0-1-1 0 0,0 1 1 0 0,0-1-1 0 0,0 1 1 0 0,-2 1-1 0 0,2-2 9 0 0,-10 5-39 0 0,0 1 1 0 0,1 0-1 0 0,-1 0 0 0 0,1 1 0 0 0,-13 11 0 0 0,18-13 5 0 0,4-4 36 0 0,1-1 1 0 0,0 0 0 0 0,-1 0 0 0 0,1 0 0 0 0,0 0 0 0 0,-1 1-1 0 0,1-1 1 0 0,0 0 0 0 0,0 0 0 0 0,-1 0 0 0 0,1 1 0 0 0,0-1-1 0 0,0 0 1 0 0,0 0 0 0 0,-1 1 0 0 0,1-1 0 0 0,0 0 0 0 0,0 1-1 0 0,0-1 1 0 0,0 0 0 0 0,0 0 0 0 0,-1 1 0 0 0,1-1 0 0 0,0 0-1 0 0,0 1 1 0 0,0-1 0 0 0,0 0 0 0 0,0 1 0 0 0,0-1 0 0 0,0 1-1 0 0,2 0 20 0 0,1-1 0 0 0,-1 1 0 0 0,1 0 0 0 0,-1-1 0 0 0,0 0 0 0 0,1 1-1 0 0,4-1 1 0 0,48 3 49 0 0,27 10 138 0 0,-10 0 9 0 0,57-2 369 0 0,237-8 0 0 0,-365-3-586 0 0,140-8 86 0 0,-108 4-168 0 0,0-1 0 0 0,41-12 0 0 0,-69 16-148 0 0,1-1 0 0 0,-1 0-1 0 0,1 0 1 0 0,-1 0-1 0 0,0-1 1 0 0,9-5 0 0 0,-13 7 7 0 0,0-1 0 0 0,1 1 0 0 0,-1 0 0 0 0,0-1 0 0 0,1 1 1 0 0,-1-1-1 0 0,0 1 0 0 0,0-1 0 0 0,0 0 0 0 0,-1 0 0 0 0,1 1 0 0 0,0-1 0 0 0,-1 0 0 0 0,1 0 1 0 0,-1 0-1 0 0,1 1 0 0 0,-1-1 0 0 0,0 0 0 0 0,0 0 0 0 0,0 0 0 0 0,0 0 0 0 0,0 0 1 0 0,-1-3-1 0 0,-2-8 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30:24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32 254 9394 0 0,'-3'1'61'0'0,"1"1"0"0"0,-1 0 1 0 0,1-1-1 0 0,0 1 0 0 0,0 0 0 0 0,0 0 0 0 0,0 0 1 0 0,-2 3-1 0 0,-6 6 970 0 0,19-12-640 0 0,0-1 1 0 0,0 0 0 0 0,0 0 0 0 0,0-1 0 0 0,-1 0-1 0 0,0-1 1 0 0,1 0 0 0 0,12-8 0 0 0,22-9-130 0 0,-9 9-222 0 0,1 1-1 0 0,0 1 0 0 0,1 2 1 0 0,60-5-1 0 0,146 7-98 0 0,-180 6 72 0 0,-20 0-81 0 0,-1-3-1 0 0,1-1 1 0 0,-1-2 0 0 0,-1-2-1 0 0,1-2 1 0 0,-1-1 0 0 0,71-31-1 0 0,34-30-2831 0 0,-113 58 2778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30:24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13627 0 0,'0'1'-1'0'0,"-1"0"1"0"0,1 0-1 0 0,0 0 1 0 0,-1 0-1 0 0,1 0 1 0 0,0 0-1 0 0,0 0 1 0 0,0 0-1 0 0,0 0 1 0 0,0 0-1 0 0,0 0 0 0 0,0 0 1 0 0,0 0-1 0 0,0 0 1 0 0,0 0-1 0 0,1 0 1 0 0,-1 0-1 0 0,0 0 1 0 0,1 2-1 0 0,12 20-59 0 0,-8-14 18 0 0,21 46 44 0 0,-16-32 267 0 0,13 22 1 0 0,-18-37-187 0 0,0-1 0 0 0,1 1 0 0 0,-1-1 0 0 0,1-1 0 0 0,1 1 0 0 0,10 8 0 0 0,-4-6-59 0 0,-1-1-1 0 0,1 0 0 0 0,1-1 0 0 0,-1 0 0 0 0,1-1 1 0 0,0-1-1 0 0,1 0 0 0 0,17 3 0 0 0,-15-5-720 0 0,0-1 0 0 0,0 0-1 0 0,34-1 1 0 0,-34-3-349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30:25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0 11586 0 0,'0'0'1427'0'0,"7"7"526"0"0,2-2-2585 0 0,0-1 0 0 0,18 8-1 0 0,-26-12 357 0 0,-4 1-37 0 0,-71 19 254 0 0,50-15-137 0 0,-40 15 1 0 0,56-17-162 0 0,1 0 0 0 0,0 1-1 0 0,0-1 1 0 0,0 2-1 0 0,0-1 1 0 0,1 1 0 0 0,0 0-1 0 0,0 1 1 0 0,-8 8-1 0 0,3 1-989 0 0,0 0 1 0 0,-8 17-1 0 0,6-9 2293 0 0,8-15-157 0 0,4-6-524 0 0,0-1 0 0 0,0 0 0 0 0,0 1 0 0 0,1-1 0 0 0,-1 0 0 0 0,0 1 0 0 0,1-1 0 0 0,-1 1 0 0 0,1-1 0 0 0,0 1 0 0 0,-1-1 0 0 0,1 1 0 0 0,0-1 1 0 0,0 1-1 0 0,0 2 0 0 0,0-4-222 0 0,0 1 1 0 0,0 0-1 0 0,0-1 1 0 0,0 1 0 0 0,0-1-1 0 0,0 1 1 0 0,1 0 0 0 0,-1-1-1 0 0,0 1 1 0 0,0-1-1 0 0,1 1 1 0 0,-1-1 0 0 0,0 1-1 0 0,1-1 1 0 0,-1 1 0 0 0,0-1-1 0 0,1 1 1 0 0,-1-1 0 0 0,1 1-1 0 0,-1-1 1 0 0,1 0-1 0 0,-1 1 1 0 0,1-1 0 0 0,-1 0-1 0 0,1 1 1 0 0,-1-1 0 0 0,1 0-1 0 0,-1 0 1 0 0,1 0-1 0 0,0 1 1 0 0,-1-1 0 0 0,1 0-1 0 0,0 0 1 0 0,0 0-32 0 0,-1 0 0 0 0,1 0 0 0 0,0 0 0 0 0,-1 1 0 0 0,1-1 0 0 0,0 0 0 0 0,-1 0 0 0 0,1 1 0 0 0,-1-1 1 0 0,1 0-1 0 0,-1 1 0 0 0,1-1 0 0 0,-1 1 0 0 0,1-1 0 0 0,-1 1 0 0 0,2 0 0 0 0,0 16 129 0 0,0-5-51 0 0,0-1 0 0 0,-1 1 0 0 0,0-1 0 0 0,-1 1 0 0 0,-1 12 0 0 0,-24 271 2535 0 0,8-181-1888 0 0,13-94-615 0 0,-2-1-1 0 0,0 0 1 0 0,-15 32-1 0 0,16-40-110 0 0,0 0 0 0 0,1 1 0 0 0,1 0-1 0 0,0 0 1 0 0,0 0 0 0 0,0 13 0 0 0,-1 74 816 0 0,4-97-798 0 0,0 3-1254 0 0,-2-20-1493 0 0,-2-29 1279 0 0,4 39 1439 0 0,-5-34-1037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30:26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18 141 11226 0 0,'-13'4'1154'0'0,"13"-2"-1112"0"0,0 0 0 0 0,0 1 0 0 0,0-1 0 0 0,1 0 0 0 0,-1 1 1 0 0,1-1-1 0 0,1 4 0 0 0,-1-5-35 0 0,-1 1 1 0 0,1 0-1 0 0,-1 0 1 0 0,1-1-1 0 0,-1 1 1 0 0,0 0-1 0 0,0 0 1 0 0,0-1-1 0 0,0 1 1 0 0,0 0-1 0 0,0 0 1 0 0,0-1-1 0 0,-1 1 1 0 0,1 2-1 0 0,-4 16 154 0 0,0 31-1 0 0,3-31-103 0 0,2 33 79 0 0,-1-53 283 0 0,-1-9-63 0 0,0-11-306 0 0,1 1 0 0 0,0-1 0 0 0,1 0 0 0 0,2 1 0 0 0,4-21 0 0 0,-3 24-55 0 0,-3 10-1 0 0,0 0-1 0 0,1 0 1 0 0,4-10 0 0 0,-5 14 5 0 0,0 1-1 0 0,1-1 1 0 0,-1 0 0 0 0,0 1 0 0 0,0-1 0 0 0,1 0 0 0 0,-1 1 0 0 0,1 0 0 0 0,-1-1 0 0 0,1 1 0 0 0,0 0 0 0 0,-1 0 0 0 0,1 0 0 0 0,0 0 0 0 0,3-1 0 0 0,63-19-9 0 0,21-8-3 0 0,39-19 31 0 0,-109 42-1 0 0,1 2-1 0 0,0 0 1 0 0,0 1 0 0 0,34-1 0 0 0,-37 5 54 0 0,0 0 1 0 0,0 1 0 0 0,0 1-1 0 0,-1 0 1 0 0,22 8 0 0 0,-10-1 95 0 0,-2 1 0 0 0,33 19 0 0 0,-41-22-70 0 0,-16-7-43 0 0,0 0 1 0 0,1 0-1 0 0,-1 0 1 0 0,0 0 0 0 0,0 0-1 0 0,0 0 1 0 0,0 1 0 0 0,0-1-1 0 0,2 3 1 0 0,-3-3-40 0 0,0 0 0 0 0,-1 0 1 0 0,1 1-1 0 0,-1-1 0 0 0,0 0 0 0 0,1 0 1 0 0,-1 0-1 0 0,0 1 0 0 0,0-1 0 0 0,1 0 1 0 0,-1 0-1 0 0,0 1 0 0 0,0-1 1 0 0,-1 0-1 0 0,1 0 0 0 0,0 1 0 0 0,0-1 1 0 0,-1 0-1 0 0,1 0 0 0 0,0 1 0 0 0,-1-1 1 0 0,1 0-1 0 0,-2 1 0 0 0,-1 6-4 0 0,-1 0 0 0 0,-1 0-1 0 0,0-1 1 0 0,0 0 0 0 0,-6 8 0 0 0,-34 32 0 0 0,39-41-9 0 0,-118 122 38 0 0,-138 181 0 0 0,240-276 23 0 0,1 0 0 0 0,-19 41 0 0 0,40-73 73 0 0,5-2-94 0 0,-3 1-40 0 0,1 0 0 0 0,-1 0 0 0 0,0 0 0 0 0,0 0 1 0 0,0 1-1 0 0,0-1 0 0 0,0 1 0 0 0,3 0 0 0 0,36 9 10 0 0,-24-7 23 0 0,0-2-4 0 0,-5 0-26 0 0,-3 0 7 0 0,0 0 0 0 0,16 5 0 0 0,9 2 63 0 0,9 4 38 0 0,1-2-1 0 0,77 7 0 0 0,-30-17 192 0 0,39 4 18 0 0,-114-2-291 0 0,23 7 1 0 0,-30-6 8 0 0,0-1-1 0 0,1 0 0 0 0,-1 0 1 0 0,1-1-1 0 0,0 0 1 0 0,-1-1-1 0 0,16-1 0 0 0,-23 1-7 0 0,1-1 1 0 0,-1 0-1 0 0,1 0 0 0 0,-1 0 0 0 0,1 0 0 0 0,-1 0 1 0 0,0-1-1 0 0,1 1 0 0 0,-1-1 0 0 0,0 1 0 0 0,0-1 0 0 0,0 0 1 0 0,0 0-1 0 0,0 0 0 0 0,-1 0 0 0 0,1 0 0 0 0,-1 0 0 0 0,1 0 1 0 0,1-5-1 0 0,2-5 59 0 0,0 1 0 0 0,-1 0 0 0 0,2-15-1 0 0,0 5-47 0 0,30-123-45 0 0,-22 46-3320 0 0,-7 44 2036 0 0,-3 24 468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15T11:30:28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6 13019 0 0,'-8'-6'99'0'0,"7"7"-23"0"0,3 2 288 0 0,-1-3-322 0 0,-1 1 0 0 0,0-1 0 0 0,0 0 0 0 0,0 0 1 0 0,1 0-1 0 0,-1 0 0 0 0,0 1 0 0 0,0-1 0 0 0,0 0 1 0 0,1 0-1 0 0,-1 0 0 0 0,0 0 0 0 0,1 0 0 0 0,-1 0 1 0 0,0 0-1 0 0,0 1 0 0 0,1-1 0 0 0,-1 0 0 0 0,0 0 1 0 0,0 0-1 0 0,1 0 0 0 0,-1 0 0 0 0,0 0 0 0 0,1-1 1 0 0,14 3 578 0 0,54 2-564 0 0,-45-1-84 0 0,-1 1-1 0 0,0 1 1 0 0,45 15-1 0 0,19 6-38 0 0,-39-16 66 0 0,-1-2-1 0 0,87 3 1 0 0,-129-11 13 0 0,1-1 0 0 0,-1 1 0 0 0,0-1 0 0 0,10-3 0 0 0,-13 4-8 0 0,0-1 1 0 0,-1 0-1 0 0,1 1 1 0 0,0-1-1 0 0,0 0 1 0 0,0 0-1 0 0,0 0 1 0 0,-1 0-1 0 0,1 0 1 0 0,-1-1 0 0 0,1 1-1 0 0,-1-1 1 0 0,1 1-1 0 0,-1-1 1 0 0,2-1-1 0 0,-3 2 15 0 0,-2 7-40 0 0,-8 14 13 0 0,-16 26 0 0 0,20-36 5 0 0,1 0-1 0 0,0 0 1 0 0,1 1 0 0 0,0-1 0 0 0,1 1 0 0 0,0 0 0 0 0,0 0 0 0 0,2 0 0 0 0,-1 0 0 0 0,1 0 0 0 0,1 1 0 0 0,0-1 0 0 0,0 0-1 0 0,2 0 1 0 0,3 19 0 0 0,10 83-29 0 0,-6-39 24 0 0,109 510 200 0 0,-23-147 306 0 0,-45 6-86 0 0,-39 25 376 0 0,-9-311-484 0 0,1 20 16 0 0,1 402 863 0 0,-5-516-1030 0 0,-3 0 0 0 0,-3 0-1 0 0,-3-1 1 0 0,-17 64 0 0 0,-1-9 119 0 0,18-82-148 0 0,3-12 87 0 0,-10 27-1 0 0,16-48-153 0 0,0-1 1 0 0,0 1-1 0 0,1-1 1 0 0,-1 1-1 0 0,0-1 1 0 0,-1 0-1 0 0,1 1 0 0 0,0-1 1 0 0,0 0-1 0 0,-1 0 1 0 0,1 0-1 0 0,0 0 1 0 0,-1 0-1 0 0,1 0 1 0 0,-1 0-1 0 0,1 0 0 0 0,-1-1 1 0 0,-1 2-1 0 0,-2-1 110 0 0,0 0-1 0 0,1 0 0 0 0,-1-1 0 0 0,-6 1 1 0 0,4-1-387 0 0,-12 2 218 0 0,-1-2-1 0 0,-30-3 0 0 0,13 0-385 0 0,-136 1-2980 0 0,119 2 2143 0 0,-18 0-729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5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A151658E-0B71-4434-DFB4-41BC10ABD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47A9DF-152B-4AEC-BF36-9E524F5D87A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EF1B46B6-127E-BDD5-6080-A0D6ADC9FB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636F34A0-05B3-6623-F909-DB061325E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x = </a:t>
            </a:r>
            <a:r>
              <a:rPr lang="en-US" baseline="0" dirty="0" err="1"/>
              <a:t>zxl</a:t>
            </a:r>
            <a:r>
              <a:rPr lang="en-US" baseline="0" dirty="0"/>
              <a:t>/f</a:t>
            </a:r>
          </a:p>
          <a:p>
            <a:endParaRPr lang="en-US" baseline="0" dirty="0"/>
          </a:p>
          <a:p>
            <a:r>
              <a:rPr lang="en-US" baseline="0" dirty="0" err="1"/>
              <a:t>zxr</a:t>
            </a:r>
            <a:r>
              <a:rPr lang="en-US" baseline="0" dirty="0"/>
              <a:t> = (x-b)f</a:t>
            </a:r>
          </a:p>
          <a:p>
            <a:r>
              <a:rPr lang="en-US" baseline="0" dirty="0" err="1"/>
              <a:t>zxr</a:t>
            </a:r>
            <a:r>
              <a:rPr lang="en-US" baseline="0" dirty="0"/>
              <a:t> = (</a:t>
            </a:r>
            <a:r>
              <a:rPr lang="en-US" baseline="0" dirty="0" err="1"/>
              <a:t>zxl</a:t>
            </a:r>
            <a:r>
              <a:rPr lang="en-US" baseline="0" dirty="0"/>
              <a:t>/f-b)f</a:t>
            </a:r>
          </a:p>
          <a:p>
            <a:r>
              <a:rPr lang="en-US" baseline="0" dirty="0" err="1"/>
              <a:t>zxr</a:t>
            </a:r>
            <a:r>
              <a:rPr lang="en-US" baseline="0" dirty="0"/>
              <a:t> = </a:t>
            </a:r>
            <a:r>
              <a:rPr lang="en-US" baseline="0" dirty="0" err="1"/>
              <a:t>zxl</a:t>
            </a:r>
            <a:r>
              <a:rPr lang="en-US" baseline="0" dirty="0"/>
              <a:t> – fb</a:t>
            </a:r>
          </a:p>
          <a:p>
            <a:r>
              <a:rPr lang="en-US" baseline="0" dirty="0"/>
              <a:t>z(xl-</a:t>
            </a:r>
            <a:r>
              <a:rPr lang="en-US" baseline="0" dirty="0" err="1"/>
              <a:t>xr</a:t>
            </a:r>
            <a:r>
              <a:rPr lang="en-US" baseline="0" dirty="0"/>
              <a:t>) = fb</a:t>
            </a:r>
          </a:p>
          <a:p>
            <a:r>
              <a:rPr lang="en-US" baseline="0" dirty="0"/>
              <a:t>z = fb/(xl-</a:t>
            </a:r>
            <a:r>
              <a:rPr lang="en-US" baseline="0" dirty="0" err="1"/>
              <a:t>xr</a:t>
            </a:r>
            <a:r>
              <a:rPr lang="en-US" baseline="0" dirty="0"/>
              <a:t>)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38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18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F5F75DC-2DAD-45AD-BC6F-C3559FDD87A9}" type="slidenum">
              <a:rPr lang="en-US" sz="2400" smtClean="0">
                <a:solidFill>
                  <a:srgbClr val="000000"/>
                </a:solidFill>
                <a:latin typeface="Arial" pitchFamily="34" charset="0"/>
                <a:ea typeface="ヒラギノ明朝 ProN W3" pitchFamily="-84" charset="-128"/>
                <a:cs typeface="Arial" pitchFamily="34" charset="0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sz="2400">
              <a:solidFill>
                <a:srgbClr val="000000"/>
              </a:solidFill>
              <a:latin typeface="Arial" pitchFamily="34" charset="0"/>
              <a:ea typeface="ヒラギノ明朝 ProN W3" pitchFamily="-84" charset="-128"/>
              <a:cs typeface="Arial" pitchFamily="34" charset="0"/>
              <a:sym typeface="Times New Roman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34" charset="0"/>
                <a:cs typeface="Arial" pitchFamily="34" charset="0"/>
              </a:rPr>
              <a:t>1)Two points are needed </a:t>
            </a:r>
          </a:p>
          <a:p>
            <a:pPr eaLnBrk="1" hangingPunct="1"/>
            <a:r>
              <a:rPr lang="en-US" dirty="0">
                <a:latin typeface="Arial" pitchFamily="34" charset="0"/>
                <a:cs typeface="Arial" pitchFamily="34" charset="0"/>
              </a:rPr>
              <a:t>2) When find the matching, just</a:t>
            </a:r>
            <a:r>
              <a:rPr lang="en-US" baseline="0" dirty="0">
                <a:latin typeface="Arial" pitchFamily="34" charset="0"/>
                <a:cs typeface="Arial" pitchFamily="34" charset="0"/>
              </a:rPr>
              <a:t> search the l’ is enough</a:t>
            </a:r>
          </a:p>
          <a:p>
            <a:pPr eaLnBrk="1" hangingPunct="1"/>
            <a:endParaRPr lang="en-US" baseline="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baseline="0" dirty="0">
                <a:latin typeface="Arial" pitchFamily="34" charset="0"/>
                <a:cs typeface="Arial" pitchFamily="34" charset="0"/>
              </a:rPr>
              <a:t>X scene point</a:t>
            </a:r>
          </a:p>
          <a:p>
            <a:pPr eaLnBrk="1" hangingPunct="1"/>
            <a:endParaRPr lang="en-US" baseline="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baseline="0" dirty="0">
                <a:latin typeface="Arial" pitchFamily="34" charset="0"/>
                <a:cs typeface="Arial" pitchFamily="34" charset="0"/>
              </a:rPr>
              <a:t>Any points along this ray to X projects to this image</a:t>
            </a:r>
          </a:p>
          <a:p>
            <a:pPr eaLnBrk="1" hangingPunct="1"/>
            <a:endParaRPr lang="en-US" baseline="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baseline="0" dirty="0">
                <a:latin typeface="Arial" pitchFamily="34" charset="0"/>
                <a:cs typeface="Arial" pitchFamily="34" charset="0"/>
              </a:rPr>
              <a:t>Central: principle point and optical axis</a:t>
            </a:r>
          </a:p>
          <a:p>
            <a:pPr eaLnBrk="1" hangingPunct="1"/>
            <a:endParaRPr lang="en-US" baseline="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baseline="0" dirty="0">
                <a:latin typeface="Arial" pitchFamily="34" charset="0"/>
                <a:cs typeface="Arial" pitchFamily="34" charset="0"/>
              </a:rPr>
              <a:t>Search all pixels along this line. </a:t>
            </a:r>
          </a:p>
          <a:p>
            <a:pPr eaLnBrk="1" hangingPunct="1"/>
            <a:endParaRPr lang="en-US" baseline="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baseline="0" dirty="0">
                <a:latin typeface="Arial" pitchFamily="34" charset="0"/>
                <a:cs typeface="Arial" pitchFamily="34" charset="0"/>
              </a:rPr>
              <a:t>X: image point</a:t>
            </a:r>
          </a:p>
          <a:p>
            <a:pPr eaLnBrk="1" hangingPunct="1"/>
            <a:r>
              <a:rPr lang="en-US" baseline="0" dirty="0">
                <a:latin typeface="Arial" pitchFamily="34" charset="0"/>
                <a:cs typeface="Arial" pitchFamily="34" charset="0"/>
              </a:rPr>
              <a:t>X: point in the intersection is the scene point </a:t>
            </a:r>
          </a:p>
          <a:p>
            <a:pPr eaLnBrk="1" hangingPunct="1"/>
            <a:endParaRPr lang="en-US" baseline="0" dirty="0">
              <a:latin typeface="Arial" pitchFamily="34" charset="0"/>
              <a:cs typeface="Arial" pitchFamily="34" charset="0"/>
            </a:endParaRPr>
          </a:p>
          <a:p>
            <a:pPr eaLnBrk="1" hangingPunct="1"/>
            <a:endParaRPr lang="en-US" baseline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331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97BD444-5732-439E-BCA3-B73A32001A6B}" type="slidenum">
              <a:rPr lang="en-US" sz="2400" smtClean="0">
                <a:solidFill>
                  <a:srgbClr val="000000"/>
                </a:solidFill>
                <a:latin typeface="Arial" pitchFamily="34" charset="0"/>
                <a:ea typeface="ヒラギノ明朝 ProN W3" pitchFamily="-84" charset="-128"/>
                <a:cs typeface="Arial" pitchFamily="34" charset="0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sz="2400">
              <a:solidFill>
                <a:srgbClr val="000000"/>
              </a:solidFill>
              <a:latin typeface="Arial" pitchFamily="34" charset="0"/>
              <a:ea typeface="ヒラギノ明朝 ProN W3" pitchFamily="-84" charset="-128"/>
              <a:cs typeface="Arial" pitchFamily="34" charset="0"/>
              <a:sym typeface="Times New Roman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1435" y="3479192"/>
            <a:ext cx="6503664" cy="3295118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416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CC6933-934E-4D07-8F9B-9DAEEBC08295}" type="slidenum">
              <a:rPr lang="en-US" sz="2400" smtClean="0">
                <a:solidFill>
                  <a:srgbClr val="000000"/>
                </a:solidFill>
                <a:latin typeface="Arial" pitchFamily="34" charset="0"/>
                <a:ea typeface="ヒラギノ明朝 ProN W3" pitchFamily="-84" charset="-128"/>
                <a:cs typeface="Arial" pitchFamily="34" charset="0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sz="2400">
              <a:solidFill>
                <a:srgbClr val="000000"/>
              </a:solidFill>
              <a:latin typeface="Arial" pitchFamily="34" charset="0"/>
              <a:ea typeface="ヒラギノ明朝 ProN W3" pitchFamily="-84" charset="-128"/>
              <a:cs typeface="Arial" pitchFamily="34" charset="0"/>
              <a:sym typeface="Times New Roman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1435" y="3479192"/>
            <a:ext cx="6503664" cy="3295118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755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CE6C72C-6F38-4F92-973D-E1E43F2D69BA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77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8EEE8D7-724D-49BC-83BB-FB02DCD74782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10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8E09A57-2BEC-442E-8EF7-2AD67DF5D260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74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84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1 3 4 </a:t>
            </a:r>
          </a:p>
          <a:p>
            <a:r>
              <a:rPr lang="en-US" dirty="0"/>
              <a:t>2 7 -5 </a:t>
            </a:r>
          </a:p>
          <a:p>
            <a:endParaRPr lang="en-US" dirty="0"/>
          </a:p>
          <a:p>
            <a:r>
              <a:rPr lang="en-US" dirty="0"/>
              <a:t>[</a:t>
            </a:r>
            <a:r>
              <a:rPr lang="en-US" baseline="0" dirty="0"/>
              <a:t> 0 -4 3 </a:t>
            </a:r>
          </a:p>
          <a:p>
            <a:r>
              <a:rPr lang="en-US" baseline="0" dirty="0"/>
              <a:t>4 0 -1       * [ 2 7 -5] =-43 13 1</a:t>
            </a:r>
          </a:p>
          <a:p>
            <a:r>
              <a:rPr lang="en-US" baseline="0" dirty="0"/>
              <a:t>-3 1 0]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76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66473B0-D645-4F8E-AD7C-18BAD656CFBB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33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656120C-FE6B-4B78-86E7-7DAEDC885979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2314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F68B779-E80A-48EC-BD10-FC50FE2E1B68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dirty="0"/>
              <a:t>	1.</a:t>
            </a:r>
          </a:p>
          <a:p>
            <a:pPr eaLnBrk="1" hangingPunct="1"/>
            <a:r>
              <a:rPr lang="en-US" dirty="0"/>
              <a:t>[</a:t>
            </a:r>
            <a:r>
              <a:rPr lang="en-US" dirty="0" err="1"/>
              <a:t>tx</a:t>
            </a:r>
            <a:r>
              <a:rPr lang="en-US" dirty="0"/>
              <a:t>]:</a:t>
            </a:r>
            <a:r>
              <a:rPr lang="en-US" baseline="0" dirty="0"/>
              <a:t> a 3x3 matrix of</a:t>
            </a:r>
          </a:p>
          <a:p>
            <a:pPr eaLnBrk="1" hangingPunct="1"/>
            <a:endParaRPr lang="en-US" baseline="0" dirty="0"/>
          </a:p>
          <a:p>
            <a:pPr eaLnBrk="1" hangingPunct="1"/>
            <a:r>
              <a:rPr lang="en-US" baseline="0" dirty="0"/>
              <a:t>0    -</a:t>
            </a:r>
            <a:r>
              <a:rPr lang="en-US" baseline="0" dirty="0" err="1"/>
              <a:t>tz</a:t>
            </a:r>
            <a:r>
              <a:rPr lang="en-US" baseline="0" dirty="0"/>
              <a:t>    ty</a:t>
            </a:r>
          </a:p>
          <a:p>
            <a:pPr eaLnBrk="1" hangingPunct="1"/>
            <a:r>
              <a:rPr lang="en-US" dirty="0" err="1"/>
              <a:t>tz</a:t>
            </a:r>
            <a:r>
              <a:rPr lang="en-US" dirty="0"/>
              <a:t>    0     -</a:t>
            </a:r>
            <a:r>
              <a:rPr lang="en-US" dirty="0" err="1"/>
              <a:t>tx</a:t>
            </a:r>
            <a:r>
              <a:rPr lang="en-US" dirty="0"/>
              <a:t> </a:t>
            </a:r>
          </a:p>
          <a:p>
            <a:pPr eaLnBrk="1" hangingPunct="1"/>
            <a:r>
              <a:rPr lang="en-US" dirty="0"/>
              <a:t>-ty</a:t>
            </a:r>
            <a:r>
              <a:rPr lang="en-US" baseline="0" dirty="0"/>
              <a:t>   </a:t>
            </a:r>
            <a:r>
              <a:rPr lang="en-US" baseline="0" dirty="0" err="1"/>
              <a:t>tx</a:t>
            </a:r>
            <a:r>
              <a:rPr lang="en-US" baseline="0" dirty="0"/>
              <a:t>     0</a:t>
            </a:r>
          </a:p>
          <a:p>
            <a:pPr eaLnBrk="1" hangingPunct="1"/>
            <a:endParaRPr lang="en-US" baseline="0" dirty="0"/>
          </a:p>
          <a:p>
            <a:pPr eaLnBrk="1" hangingPunct="1"/>
            <a:r>
              <a:rPr lang="en-US" baseline="0" dirty="0"/>
              <a:t>Note that the matrix is skew-symmetric, which must have two singular values which are equal and another is 0. Multiplication with the rotation matrix does not change this property.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2.</a:t>
            </a:r>
          </a:p>
          <a:p>
            <a:pPr eaLnBrk="1" hangingPunct="1"/>
            <a:r>
              <a:rPr lang="en-US" dirty="0"/>
              <a:t>x’ is on the line l’</a:t>
            </a:r>
            <a:r>
              <a:rPr lang="en-US" baseline="0" dirty="0"/>
              <a:t>. So, </a:t>
            </a:r>
            <a:r>
              <a:rPr lang="en-US" baseline="0" dirty="0" err="1"/>
              <a:t>x’^T</a:t>
            </a:r>
            <a:r>
              <a:rPr lang="en-US" baseline="0" dirty="0"/>
              <a:t> l’ = 0. Given </a:t>
            </a:r>
            <a:r>
              <a:rPr lang="en-US" baseline="0" dirty="0" err="1"/>
              <a:t>x’^T</a:t>
            </a:r>
            <a:r>
              <a:rPr lang="en-US" baseline="0" dirty="0"/>
              <a:t> E x = 0, then l’ = Ex.</a:t>
            </a:r>
          </a:p>
          <a:p>
            <a:pPr eaLnBrk="1" hangingPunct="1"/>
            <a:r>
              <a:rPr lang="en-US" baseline="0" dirty="0"/>
              <a:t>Similarly, </a:t>
            </a:r>
            <a:r>
              <a:rPr lang="en-US" baseline="0" dirty="0" err="1"/>
              <a:t>l^Tx</a:t>
            </a:r>
            <a:r>
              <a:rPr lang="en-US" baseline="0" dirty="0"/>
              <a:t> = 0, implies </a:t>
            </a:r>
            <a:r>
              <a:rPr lang="en-US" baseline="0" dirty="0" err="1"/>
              <a:t>l^T</a:t>
            </a:r>
            <a:r>
              <a:rPr lang="en-US" baseline="0" dirty="0"/>
              <a:t>=</a:t>
            </a:r>
            <a:r>
              <a:rPr lang="en-US" baseline="0" dirty="0" err="1"/>
              <a:t>x’TE</a:t>
            </a:r>
            <a:r>
              <a:rPr lang="en-US" baseline="0" dirty="0"/>
              <a:t>, so l=</a:t>
            </a:r>
            <a:r>
              <a:rPr lang="en-US" baseline="0" dirty="0" err="1"/>
              <a:t>E^Tx</a:t>
            </a:r>
            <a:r>
              <a:rPr lang="en-US" baseline="0" dirty="0"/>
              <a:t>’</a:t>
            </a:r>
          </a:p>
          <a:p>
            <a:pPr eaLnBrk="1" hangingPunct="1"/>
            <a:endParaRPr lang="en-US" baseline="0" dirty="0"/>
          </a:p>
          <a:p>
            <a:pPr eaLnBrk="1" hangingPunct="1"/>
            <a:r>
              <a:rPr lang="en-US" baseline="0" dirty="0"/>
              <a:t>l’^</a:t>
            </a:r>
            <a:r>
              <a:rPr lang="en-US" baseline="0" dirty="0" err="1"/>
              <a:t>Te</a:t>
            </a:r>
            <a:r>
              <a:rPr lang="en-US" baseline="0" dirty="0"/>
              <a:t>’ = 0</a:t>
            </a:r>
          </a:p>
          <a:p>
            <a:pPr eaLnBrk="1" hangingPunct="1"/>
            <a:r>
              <a:rPr lang="en-US" baseline="0" dirty="0"/>
              <a:t>==&gt; (Ex)^T e’= 0</a:t>
            </a:r>
          </a:p>
          <a:p>
            <a:pPr eaLnBrk="1" hangingPunct="1"/>
            <a:r>
              <a:rPr lang="en-US" baseline="0" dirty="0"/>
              <a:t>==&gt; </a:t>
            </a:r>
            <a:r>
              <a:rPr lang="en-US" baseline="0" dirty="0" err="1"/>
              <a:t>x^TE^Te</a:t>
            </a:r>
            <a:r>
              <a:rPr lang="en-US" baseline="0" dirty="0"/>
              <a:t>’ = 0</a:t>
            </a:r>
          </a:p>
          <a:p>
            <a:pPr eaLnBrk="1" hangingPunct="1"/>
            <a:r>
              <a:rPr lang="en-US" baseline="0" dirty="0"/>
              <a:t>x is not 0, so </a:t>
            </a:r>
            <a:r>
              <a:rPr lang="en-US" baseline="0" dirty="0" err="1"/>
              <a:t>E^Te</a:t>
            </a:r>
            <a:r>
              <a:rPr lang="en-US" baseline="0" dirty="0"/>
              <a:t>’ = 0</a:t>
            </a:r>
          </a:p>
          <a:p>
            <a:pPr eaLnBrk="1" hangingPunct="1"/>
            <a:endParaRPr lang="en-US" baseline="0" dirty="0"/>
          </a:p>
          <a:p>
            <a:pPr eaLnBrk="1" hangingPunct="1"/>
            <a:r>
              <a:rPr lang="en-US" baseline="0" dirty="0" err="1"/>
              <a:t>l^Te</a:t>
            </a:r>
            <a:r>
              <a:rPr lang="en-US" baseline="0" dirty="0"/>
              <a:t> = 0</a:t>
            </a:r>
          </a:p>
          <a:p>
            <a:pPr eaLnBrk="1" hangingPunct="1"/>
            <a:r>
              <a:rPr lang="en-US" baseline="0" dirty="0"/>
              <a:t>(</a:t>
            </a:r>
            <a:r>
              <a:rPr lang="en-US" baseline="0" dirty="0" err="1"/>
              <a:t>E^Tx</a:t>
            </a:r>
            <a:r>
              <a:rPr lang="en-US" baseline="0" dirty="0"/>
              <a:t>’)^T e = 0</a:t>
            </a:r>
          </a:p>
          <a:p>
            <a:pPr eaLnBrk="1" hangingPunct="1"/>
            <a:r>
              <a:rPr lang="en-US" baseline="0" dirty="0" err="1"/>
              <a:t>X’TEe</a:t>
            </a:r>
            <a:r>
              <a:rPr lang="en-US" baseline="0" dirty="0"/>
              <a:t> = 0</a:t>
            </a:r>
          </a:p>
          <a:p>
            <a:pPr eaLnBrk="1" hangingPunct="1"/>
            <a:endParaRPr lang="en-US" baseline="0" dirty="0"/>
          </a:p>
          <a:p>
            <a:pPr eaLnBrk="1" hangingPunct="1"/>
            <a:r>
              <a:rPr lang="en-US" baseline="0" dirty="0" err="1"/>
              <a:t>e’^T</a:t>
            </a:r>
            <a:r>
              <a:rPr lang="en-US" baseline="0" dirty="0"/>
              <a:t> l’ = 0. So, </a:t>
            </a:r>
            <a:r>
              <a:rPr lang="en-US" baseline="0" dirty="0" err="1"/>
              <a:t>e’^T</a:t>
            </a:r>
            <a:r>
              <a:rPr lang="en-US" baseline="0" dirty="0"/>
              <a:t> Ex = 0. So, </a:t>
            </a:r>
            <a:r>
              <a:rPr lang="en-US" baseline="0" dirty="0" err="1"/>
              <a:t>e’^TE</a:t>
            </a:r>
            <a:r>
              <a:rPr lang="en-US" baseline="0" dirty="0"/>
              <a:t> = 0.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3.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essential matrix has five or six degrees of freedom, depending on whether or not it is seen as a projective element. The rotation matrix {\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displaystyle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{R} } and the translation vector {\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displaystyle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{t} } have three degrees of freedom each, in total six. If the essential matrix is considered as a projective element, however, one degree of freedom related to scalar multiplication must be subtracted leaving five degrees of freedom in total.</a:t>
            </a:r>
          </a:p>
          <a:p>
            <a:br>
              <a:rPr lang="en-US" dirty="0"/>
            </a:br>
            <a:endParaRPr lang="en-US" dirty="0"/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297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0491519-53F1-4AE3-A5AB-EED6E456B18C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65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0F6917B-FDEB-4DCD-938C-428055F66773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111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CAB627B-5F55-416B-8A75-E1A398E782FB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0303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23AC015-6004-498E-9BCD-BCD08157FCDD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The degree of freedom</a:t>
            </a:r>
            <a:r>
              <a:rPr lang="en-US" baseline="0" dirty="0"/>
              <a:t> for fundamental matrix is 7. Minus 2 </a:t>
            </a:r>
            <a:r>
              <a:rPr lang="en-US" baseline="0" dirty="0" err="1"/>
              <a:t>d.o.f</a:t>
            </a:r>
            <a:r>
              <a:rPr lang="en-US" baseline="0" dirty="0"/>
              <a:t> because of homogeneous coordinate (the matrix is up to a scale factor) and that F is a singular matrix (determinant is 0).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684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BA1220FB-19E7-4F7C-A6A9-997278D7CC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r" defTabSz="9366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99B1DD-5603-4974-9217-47B4641694D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66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37E1C3B-4A7A-406E-A06E-BB88DE3E79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CD32EBE-3396-4F1C-BF94-485C8712E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80CF9E66-F076-4F6D-B451-D430BB13DF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r" defTabSz="9366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97A67C-803C-431D-AA30-0468AEA1FC3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66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CDD680D-7026-4CEC-AA61-7B3AA2FFB3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D00E42A2-A4DE-488C-BD8A-D04D5F9AB9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7F351451-5926-433A-96D0-363F67E7B6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r" defTabSz="9366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4E35B7-1F7A-446C-8312-5267DA29E00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66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E702FAF-C584-4BDD-A00C-B98678ECD1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8E6E333-40E7-4615-99BC-71D3474392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2DB0692D-3210-4EDE-A147-4ED08CC57D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r" defTabSz="9366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FF3196-2E6B-4B1F-9104-79A3E7A0C62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66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F105B48-6D8E-4C99-A91C-A183011CE5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7A8E11C-8451-49E9-8660-8BB11E3B9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2EB2D655-CDE3-4566-95C5-877E100F19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r" defTabSz="9366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F76839-7B25-44DB-977C-9C6CBBF819D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66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979720C-DE35-40A3-AFF6-1AC75113B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AE2940F4-CC3B-4FA4-BD9D-8444BEEEF4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C02EEE8-F5EA-4E60-9070-77C2ADF4FB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36625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r" defTabSz="9366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BEF68E-4C85-49FB-9738-42796A63D24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66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90C4F0E-20CD-4171-82FE-57EAD3E38D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F1B67FE-A002-440D-A8F1-DF1DA7D6A5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865DE2D-B43A-4809-9F43-A0D11507C48D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194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856102-7C12-44E3-9B61-5EDD0A3DEB10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Rectification makes the </a:t>
            </a:r>
            <a:r>
              <a:rPr lang="en-US" dirty="0" err="1"/>
              <a:t>epipolar</a:t>
            </a:r>
            <a:r>
              <a:rPr lang="en-US" baseline="0" dirty="0"/>
              <a:t> line as the horizontal line. Comparisons can be done easily.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5396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A9A57EF-541D-443D-B041-B5555686C3FA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[u v 1] [0</a:t>
            </a:r>
            <a:r>
              <a:rPr lang="en-US" baseline="0" dirty="0"/>
              <a:t> –T </a:t>
            </a:r>
            <a:r>
              <a:rPr lang="en-US" baseline="0" dirty="0" err="1"/>
              <a:t>Tv</a:t>
            </a:r>
            <a:r>
              <a:rPr lang="en-US" baseline="0" dirty="0"/>
              <a:t>’]^T = 0</a:t>
            </a:r>
          </a:p>
          <a:p>
            <a:r>
              <a:rPr lang="en-US" baseline="0" dirty="0"/>
              <a:t>-</a:t>
            </a:r>
            <a:r>
              <a:rPr lang="en-US" baseline="0" dirty="0" err="1"/>
              <a:t>Tv</a:t>
            </a:r>
            <a:r>
              <a:rPr lang="en-US" baseline="0" dirty="0"/>
              <a:t> + </a:t>
            </a:r>
            <a:r>
              <a:rPr lang="en-US" baseline="0" dirty="0" err="1"/>
              <a:t>Tv</a:t>
            </a:r>
            <a:r>
              <a:rPr lang="en-US" baseline="0" dirty="0"/>
              <a:t>’ = 0</a:t>
            </a:r>
          </a:p>
          <a:p>
            <a:r>
              <a:rPr lang="en-US" baseline="0"/>
              <a:t>v = v’</a:t>
            </a:r>
            <a:endParaRPr lang="en-US" dirty="0"/>
          </a:p>
          <a:p>
            <a:r>
              <a:rPr lang="en-US" dirty="0"/>
              <a:t>           </a:t>
            </a:r>
          </a:p>
        </p:txBody>
      </p:sp>
    </p:spTree>
    <p:extLst>
      <p:ext uri="{BB962C8B-B14F-4D97-AF65-F5344CB8AC3E}">
        <p14:creationId xmlns:p14="http://schemas.microsoft.com/office/powerpoint/2010/main" val="1245274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33347DA-7389-4F3D-B887-FF3C647DC3E0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605088" y="549275"/>
            <a:ext cx="3659187" cy="2746375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207" y="3478949"/>
            <a:ext cx="6502123" cy="3295845"/>
          </a:xfrm>
          <a:noFill/>
        </p:spPr>
        <p:txBody>
          <a:bodyPr wrap="square" lIns="104165" tIns="52082" rIns="104165" bIns="52082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779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3CE4A0-8865-40C5-BB63-53519C9CFB24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605088" y="549275"/>
            <a:ext cx="3659187" cy="2746375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207" y="3478949"/>
            <a:ext cx="6502123" cy="3295845"/>
          </a:xfrm>
          <a:noFill/>
        </p:spPr>
        <p:txBody>
          <a:bodyPr wrap="square" lIns="104165" tIns="52082" rIns="104165" bIns="52082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The </a:t>
            </a:r>
            <a:r>
              <a:rPr lang="en-US" dirty="0" err="1"/>
              <a:t>homographies</a:t>
            </a:r>
            <a:r>
              <a:rPr lang="en-US" baseline="0" dirty="0"/>
              <a:t> can be computed through fundamental matrices: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From </a:t>
            </a:r>
            <a:r>
              <a:rPr lang="en-US" baseline="0" dirty="0" err="1"/>
              <a:t>fundmental</a:t>
            </a:r>
            <a:r>
              <a:rPr lang="en-US" baseline="0" dirty="0"/>
              <a:t> matrices and corresponding points, we know </a:t>
            </a:r>
            <a:r>
              <a:rPr lang="en-US" baseline="0" dirty="0" err="1"/>
              <a:t>epipolar</a:t>
            </a:r>
            <a:r>
              <a:rPr lang="en-US" baseline="0" dirty="0"/>
              <a:t> lines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Find </a:t>
            </a:r>
            <a:r>
              <a:rPr lang="en-US" baseline="0" dirty="0" err="1"/>
              <a:t>epipoles</a:t>
            </a:r>
            <a:r>
              <a:rPr lang="en-US" baseline="0" dirty="0"/>
              <a:t> as the intersection of </a:t>
            </a:r>
            <a:r>
              <a:rPr lang="en-US" baseline="0" dirty="0" err="1"/>
              <a:t>epipolar</a:t>
            </a:r>
            <a:r>
              <a:rPr lang="en-US" baseline="0" dirty="0"/>
              <a:t> lines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Find </a:t>
            </a:r>
            <a:r>
              <a:rPr lang="en-US" baseline="0" dirty="0" err="1"/>
              <a:t>homographies</a:t>
            </a:r>
            <a:r>
              <a:rPr lang="en-US" baseline="0" dirty="0"/>
              <a:t> that project </a:t>
            </a:r>
            <a:r>
              <a:rPr lang="en-US" baseline="0" dirty="0" err="1"/>
              <a:t>epipoles</a:t>
            </a:r>
            <a:r>
              <a:rPr lang="en-US" baseline="0" dirty="0"/>
              <a:t> to point at infinity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9972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395A5A5-AC04-41D2-827A-EAADDB20938B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605088" y="549275"/>
            <a:ext cx="3659187" cy="27463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207" y="3478949"/>
            <a:ext cx="6502123" cy="3295845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10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86E719-FAB0-4528-BEF2-099CB32EC1F6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605088" y="549275"/>
            <a:ext cx="3659187" cy="27463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207" y="3478949"/>
            <a:ext cx="6502123" cy="3295845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862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D168AE7-BE0C-47DE-BCE5-3769041515A0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605088" y="549275"/>
            <a:ext cx="3659187" cy="27463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207" y="3478949"/>
            <a:ext cx="6502123" cy="3295845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268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1868715-75F9-4227-8E7E-91CF5E6A8677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smaller window:  more detail, more noise</a:t>
            </a:r>
          </a:p>
          <a:p>
            <a:r>
              <a:rPr lang="en-US" dirty="0"/>
              <a:t>bigger window:  less noise, more detail</a:t>
            </a:r>
          </a:p>
        </p:txBody>
      </p:sp>
    </p:spTree>
    <p:extLst>
      <p:ext uri="{BB962C8B-B14F-4D97-AF65-F5344CB8AC3E}">
        <p14:creationId xmlns:p14="http://schemas.microsoft.com/office/powerpoint/2010/main" val="2290079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31C379D-1FA9-4C5D-A2B4-CE2EC84057A5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54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E05645-044F-4B4A-94E2-55817AD5F8EA}" type="slidenum">
              <a:rPr lang="en-US" sz="2400" smtClean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282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4009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>
                <a:latin typeface="Times New Roman" charset="0"/>
              </a:rPr>
              <a:t>smaller window:  more detail, more noise</a:t>
            </a:r>
          </a:p>
          <a:p>
            <a:r>
              <a:rPr lang="en-US">
                <a:latin typeface="Times New Roman" charset="0"/>
              </a:rPr>
              <a:t>bigger window:  less noise, more detail</a:t>
            </a:r>
          </a:p>
        </p:txBody>
      </p:sp>
    </p:spTree>
    <p:extLst>
      <p:ext uri="{BB962C8B-B14F-4D97-AF65-F5344CB8AC3E}">
        <p14:creationId xmlns:p14="http://schemas.microsoft.com/office/powerpoint/2010/main" val="9390242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9398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31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990443" y="6987203"/>
            <a:ext cx="3837873" cy="36445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67D3E6D-AB0C-431D-A1C1-8D6B83D5E66D}" type="slidenum">
              <a:rPr lang="en-US" sz="2400" smtClean="0">
                <a:solidFill>
                  <a:prstClr val="black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n-US" sz="2400">
              <a:solidFill>
                <a:prstClr val="black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2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A1624A71-0CEC-4478-BA7E-42400FD3CA7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5D56AE-91D0-4F6C-B1A4-B0191610C87A}" type="datetime1">
              <a:rPr lang="en-US" smtClean="0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CA7CF4-79CC-6A48-A466-8C20EA113E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14400"/>
            <a:ext cx="38100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619500"/>
            <a:ext cx="38100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02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8CA22-8AD5-47DA-9A46-27D65F7EC882}" type="datetime1">
              <a:rPr lang="en-US" smtClean="0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2F79C-4F4E-46B8-B10B-944B55A82C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5CE12-75D5-43E5-8A83-B60485215141}" type="datetime1">
              <a:rPr lang="en-US" smtClean="0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F2D1C0-1E7C-9F48-AB85-E04C6D2D5A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62088"/>
            <a:ext cx="4038600" cy="525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62088"/>
            <a:ext cx="4038600" cy="525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4000" y="228600"/>
            <a:ext cx="2082800" cy="6489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28600"/>
            <a:ext cx="6096000" cy="64897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62088"/>
            <a:ext cx="4038600" cy="525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62088"/>
            <a:ext cx="4038600" cy="525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4000" y="228600"/>
            <a:ext cx="2082800" cy="6489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28600"/>
            <a:ext cx="6096000" cy="64897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62088"/>
            <a:ext cx="4038600" cy="525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62088"/>
            <a:ext cx="4038600" cy="525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4000" y="228600"/>
            <a:ext cx="2082800" cy="6489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28600"/>
            <a:ext cx="6096000" cy="64897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433456-C4C1-565F-F191-280C8538C33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B017622-5D87-B3A7-AB62-C0BAA48AC7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DBC3600B-D1F0-2D1F-E68C-6300C8D75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311AA45A-9763-6A52-AA76-CF9D096B4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EC0283C-F593-BDD0-4B7F-D0E8799DD0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8DAA44-8A7A-1720-AED1-E524F1F20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4FA3B63-FBFF-1C36-6F13-BD533307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A596DC4B-D776-DF22-4BFF-0E6230BD1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8CD06715-64E0-F349-1D3F-696A49E8B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BAF6723A-DC40-B39A-ADD5-86B775FE17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</p:grpSp>
      <p:sp>
        <p:nvSpPr>
          <p:cNvPr id="573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1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3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3256826A-240B-8005-0856-09033016575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397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B38B3953-530B-59F5-75DD-2053D4A13F9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397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CFF00A4-B822-43F1-9818-BDCC393F3E83}" type="datetime1">
              <a:rPr lang="en-US" smtClean="0"/>
              <a:t>11/9/2025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319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90167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99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995"/>
            </a:lvl1pPr>
            <a:lvl2pPr marL="456057" indent="0">
              <a:buNone/>
              <a:defRPr sz="1795"/>
            </a:lvl2pPr>
            <a:lvl3pPr marL="912114" indent="0">
              <a:buNone/>
              <a:defRPr sz="1596"/>
            </a:lvl3pPr>
            <a:lvl4pPr marL="1368171" indent="0">
              <a:buNone/>
              <a:defRPr sz="1397"/>
            </a:lvl4pPr>
            <a:lvl5pPr marL="1824228" indent="0">
              <a:buNone/>
              <a:defRPr sz="1397"/>
            </a:lvl5pPr>
            <a:lvl6pPr marL="2280285" indent="0">
              <a:buNone/>
              <a:defRPr sz="1397"/>
            </a:lvl6pPr>
            <a:lvl7pPr marL="2736342" indent="0">
              <a:buNone/>
              <a:defRPr sz="1397"/>
            </a:lvl7pPr>
            <a:lvl8pPr marL="3192399" indent="0">
              <a:buNone/>
              <a:defRPr sz="1397"/>
            </a:lvl8pPr>
            <a:lvl9pPr marL="3648456" indent="0">
              <a:buNone/>
              <a:defRPr sz="13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43958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81201"/>
            <a:ext cx="3886200" cy="4535488"/>
          </a:xfrm>
        </p:spPr>
        <p:txBody>
          <a:bodyPr/>
          <a:lstStyle>
            <a:lvl1pPr>
              <a:defRPr sz="2793"/>
            </a:lvl1pPr>
            <a:lvl2pPr>
              <a:defRPr sz="2394"/>
            </a:lvl2pPr>
            <a:lvl3pPr>
              <a:defRPr sz="1995"/>
            </a:lvl3pPr>
            <a:lvl4pPr>
              <a:defRPr sz="1795"/>
            </a:lvl4pPr>
            <a:lvl5pPr>
              <a:defRPr sz="1795"/>
            </a:lvl5pPr>
            <a:lvl6pPr>
              <a:defRPr sz="1795"/>
            </a:lvl6pPr>
            <a:lvl7pPr>
              <a:defRPr sz="1795"/>
            </a:lvl7pPr>
            <a:lvl8pPr>
              <a:defRPr sz="1795"/>
            </a:lvl8pPr>
            <a:lvl9pPr>
              <a:defRPr sz="17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981201"/>
            <a:ext cx="3886200" cy="4535488"/>
          </a:xfrm>
        </p:spPr>
        <p:txBody>
          <a:bodyPr/>
          <a:lstStyle>
            <a:lvl1pPr>
              <a:defRPr sz="2793"/>
            </a:lvl1pPr>
            <a:lvl2pPr>
              <a:defRPr sz="2394"/>
            </a:lvl2pPr>
            <a:lvl3pPr>
              <a:defRPr sz="1995"/>
            </a:lvl3pPr>
            <a:lvl4pPr>
              <a:defRPr sz="1795"/>
            </a:lvl4pPr>
            <a:lvl5pPr>
              <a:defRPr sz="1795"/>
            </a:lvl5pPr>
            <a:lvl6pPr>
              <a:defRPr sz="1795"/>
            </a:lvl6pPr>
            <a:lvl7pPr>
              <a:defRPr sz="1795"/>
            </a:lvl7pPr>
            <a:lvl8pPr>
              <a:defRPr sz="1795"/>
            </a:lvl8pPr>
            <a:lvl9pPr>
              <a:defRPr sz="17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58432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394"/>
            </a:lvl1pPr>
            <a:lvl2pPr>
              <a:defRPr sz="1995"/>
            </a:lvl2pPr>
            <a:lvl3pPr>
              <a:defRPr sz="179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394"/>
            </a:lvl1pPr>
            <a:lvl2pPr>
              <a:defRPr sz="1995"/>
            </a:lvl2pPr>
            <a:lvl3pPr>
              <a:defRPr sz="179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32636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35143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3178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199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397"/>
            </a:lvl1pPr>
            <a:lvl2pPr marL="456057" indent="0">
              <a:buNone/>
              <a:defRPr sz="1197"/>
            </a:lvl2pPr>
            <a:lvl3pPr marL="912114" indent="0">
              <a:buNone/>
              <a:defRPr sz="998"/>
            </a:lvl3pPr>
            <a:lvl4pPr marL="1368171" indent="0">
              <a:buNone/>
              <a:defRPr sz="898"/>
            </a:lvl4pPr>
            <a:lvl5pPr marL="1824228" indent="0">
              <a:buNone/>
              <a:defRPr sz="898"/>
            </a:lvl5pPr>
            <a:lvl6pPr marL="2280285" indent="0">
              <a:buNone/>
              <a:defRPr sz="898"/>
            </a:lvl6pPr>
            <a:lvl7pPr marL="2736342" indent="0">
              <a:buNone/>
              <a:defRPr sz="898"/>
            </a:lvl7pPr>
            <a:lvl8pPr marL="3192399" indent="0">
              <a:buNone/>
              <a:defRPr sz="898"/>
            </a:lvl8pPr>
            <a:lvl9pPr marL="364845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06856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99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97"/>
            </a:lvl1pPr>
            <a:lvl2pPr marL="456057" indent="0">
              <a:buNone/>
              <a:defRPr sz="1197"/>
            </a:lvl2pPr>
            <a:lvl3pPr marL="912114" indent="0">
              <a:buNone/>
              <a:defRPr sz="998"/>
            </a:lvl3pPr>
            <a:lvl4pPr marL="1368171" indent="0">
              <a:buNone/>
              <a:defRPr sz="898"/>
            </a:lvl4pPr>
            <a:lvl5pPr marL="1824228" indent="0">
              <a:buNone/>
              <a:defRPr sz="898"/>
            </a:lvl5pPr>
            <a:lvl6pPr marL="2280285" indent="0">
              <a:buNone/>
              <a:defRPr sz="898"/>
            </a:lvl6pPr>
            <a:lvl7pPr marL="2736342" indent="0">
              <a:buNone/>
              <a:defRPr sz="898"/>
            </a:lvl7pPr>
            <a:lvl8pPr marL="3192399" indent="0">
              <a:buNone/>
              <a:defRPr sz="898"/>
            </a:lvl8pPr>
            <a:lvl9pPr marL="364845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57957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24101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1981200" cy="6211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4800"/>
            <a:ext cx="5791200" cy="6211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85712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9">
            <a:extLst>
              <a:ext uri="{FF2B5EF4-FFF2-40B4-BE49-F238E27FC236}">
                <a16:creationId xmlns:a16="http://schemas.microsoft.com/office/drawing/2014/main" id="{7A741AA1-4DB2-4AD1-B812-0A20C3E0544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76263" y="657225"/>
            <a:ext cx="81534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BC7BDC89-B2A1-465E-A5B3-32412BD2C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62817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2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400">
                <a:latin typeface="Tahoma" pitchFamily="34" charset="0"/>
              </a:rPr>
              <a:t>Invitation to 3D vision</a:t>
            </a:r>
          </a:p>
        </p:txBody>
      </p:sp>
      <p:pic>
        <p:nvPicPr>
          <p:cNvPr id="4" name="Picture 22" descr="axo2">
            <a:extLst>
              <a:ext uri="{FF2B5EF4-FFF2-40B4-BE49-F238E27FC236}">
                <a16:creationId xmlns:a16="http://schemas.microsoft.com/office/drawing/2014/main" id="{04E8C818-06BA-4772-8D0C-835032866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23">
            <a:extLst>
              <a:ext uri="{FF2B5EF4-FFF2-40B4-BE49-F238E27FC236}">
                <a16:creationId xmlns:a16="http://schemas.microsoft.com/office/drawing/2014/main" id="{F36CBE3C-B33B-4F7C-9685-6C7DE9BBF65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6311900"/>
            <a:ext cx="81534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9BA89BA3-97CF-438C-9A05-9CF5FB395E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7ACC2414-A3F8-45C7-9BA3-654195C935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92F89C13-E113-4ED3-AD63-86F06ED87C7B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xfrm>
            <a:off x="304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</p:spTree>
    <p:extLst>
      <p:ext uri="{BB962C8B-B14F-4D97-AF65-F5344CB8AC3E}">
        <p14:creationId xmlns:p14="http://schemas.microsoft.com/office/powerpoint/2010/main" val="30013050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4F303A5D-91C6-4556-8A2B-6D766B7D3F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79E06C29-8BE3-4292-B1C7-222AFE8CEA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19562220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D2A2BC19-AE9D-4B53-A8C4-CDBE35BF26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C97CE5BB-B7DC-4FCC-BD18-2FFB0499B0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4826087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19C3FC69-0A1A-4365-AD76-D4B7C46825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86417BEE-AFD2-489D-894E-3BF9601EFA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161872552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21BD5DE2-AA89-4B08-A90E-04EA4226F4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3CA5F7EE-4601-42C7-A9D7-44599EAD98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30755927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17DE65ED-7716-4584-B0A7-7CA700A02A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0AFF4E98-9424-4A96-A21E-4C0EFE7FF4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38339435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963CEA36-C86B-4B04-989D-80CF1681FD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99BA13F9-4318-461F-93AD-CD325B7F2D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24902371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0C626468-27C3-47F8-BF43-3CB6DD5E88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709FC613-2D21-40C6-B9DA-395C3FC468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37606760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8D9BEC8E-F1BF-4018-9D22-3BA6A47799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D46116CF-FE10-48F9-9534-0D9AF352C6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184241718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52E06C0A-128F-4F15-8660-C14DEF376B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80C4BDFD-3C92-4C5A-9F7A-FB2FB09F7B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39898751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6ACD5B0A-D3F9-4C0A-B751-62C35D6ED9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FA43FCF8-5C00-4BD8-B78D-6C6B0B3BA6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149394052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E8E02EF1-8982-422F-8620-A05B078819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B44ADDB5-5CEC-4970-B761-2CBBEE87C9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14454157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2E7CC10F-3EBF-432A-93C3-B27DE4B8ED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77DD9FF5-4C82-48DE-AB65-C191394AE2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39283784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16555DB6-F205-4F04-8A73-E6E463A3AE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4C415C78-18B7-4C63-B133-A4FD006F4A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363752526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9">
            <a:extLst>
              <a:ext uri="{FF2B5EF4-FFF2-40B4-BE49-F238E27FC236}">
                <a16:creationId xmlns:a16="http://schemas.microsoft.com/office/drawing/2014/main" id="{6E7EF9CE-F1BC-4152-A0CA-A7B67A49E88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76263" y="657225"/>
            <a:ext cx="81534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B416ADC4-7BF3-4DD2-9056-B313DD449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62817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2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400">
                <a:latin typeface="Tahoma" pitchFamily="34" charset="0"/>
              </a:rPr>
              <a:t>Invitation to 3D vision</a:t>
            </a:r>
          </a:p>
        </p:txBody>
      </p:sp>
      <p:pic>
        <p:nvPicPr>
          <p:cNvPr id="4" name="Picture 22" descr="axo2">
            <a:extLst>
              <a:ext uri="{FF2B5EF4-FFF2-40B4-BE49-F238E27FC236}">
                <a16:creationId xmlns:a16="http://schemas.microsoft.com/office/drawing/2014/main" id="{E6353EB4-5BF2-4921-AAC2-DA0C0A71D2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23">
            <a:extLst>
              <a:ext uri="{FF2B5EF4-FFF2-40B4-BE49-F238E27FC236}">
                <a16:creationId xmlns:a16="http://schemas.microsoft.com/office/drawing/2014/main" id="{80B2C2B8-28C1-4E9D-B8A0-D2D0A480F21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6311900"/>
            <a:ext cx="81534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DBB4BA7-2509-4C8E-8852-61E6DD64CD5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67C1C8C-931B-48EA-ABBA-5D4FFA07AC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BBA03649-AF6D-4792-A844-2CEFC3A19DED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xfrm>
            <a:off x="304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</p:spTree>
    <p:extLst>
      <p:ext uri="{BB962C8B-B14F-4D97-AF65-F5344CB8AC3E}">
        <p14:creationId xmlns:p14="http://schemas.microsoft.com/office/powerpoint/2010/main" val="122538506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2DD6C32A-6C66-4BEF-A111-6B22B6616D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6713E1B2-C079-44CF-9B64-F204A45B8B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8117389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F71132B7-E9FF-4794-A168-358A71A117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1EDAFABB-556B-42D6-A323-653D733110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87766529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3F4E8844-DB4E-4CAF-AD85-5C7A1F005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E0C1E968-1BDD-4862-BC24-365D2031EF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7137389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D3740578-67BE-41C9-AC93-FA9A108EE7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845D6C77-5527-4BD3-A41C-C6D9FE41E1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380754077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FDE1A9C7-06FF-454F-A1B6-50FFE7133F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B4ACACD4-7457-4DB8-8F9E-B812A1E272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293669223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862BDD6E-C0C0-4D3C-B4B9-3FE2D7AE21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40319BDA-0D5E-456A-8DFB-0057D7C693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352221893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39BD00D5-A0D2-4F57-8888-BB5B3DA6CE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7AB01C1E-15EA-446A-8E49-C6C591597A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315535898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A8C71732-2C46-4CAC-A7DA-BB6261B6EA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1C631BEB-A93B-455B-B9E3-8357706B44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17545381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167F4047-9FFD-4834-831C-28E2649A5D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433F10C3-8D1E-4AAD-904A-EE342D74E9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380838710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DC2BC65D-445D-48BB-99FC-042DC0BC17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71EF413F-179B-49E8-A810-54F6382B3B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36242313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D071AF5C-17EB-4B7C-99B2-12212B0990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2EE6469D-1368-4A53-B8C1-4FEC3C12FF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1979981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98669536-02E4-42CF-9EB5-736197E8C8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4DC2DA28-9202-4150-9522-4D021A5A7A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29048275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4E4F43A9-9361-4272-AE99-AB71584C9C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C6BBD0D3-5C6E-4715-BFAF-871C1F0E3B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</p:spTree>
    <p:extLst>
      <p:ext uri="{BB962C8B-B14F-4D97-AF65-F5344CB8AC3E}">
        <p14:creationId xmlns:p14="http://schemas.microsoft.com/office/powerpoint/2010/main" val="95648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  <a:sym typeface="Times New Roman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D06B4D1-9208-48B1-90E4-242956F58C7B}" type="slidenum">
              <a:rPr lang="en-US" altLang="en-US">
                <a:ea typeface="ヒラギノ明朝 ProN W3" pitchFamily="-84" charset="-128"/>
                <a:sym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ea typeface="ヒラギノ明朝 ProN W3" pitchFamily="-84" charset="-128"/>
              <a:sym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28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3" r:id="rId2"/>
    <p:sldLayoutId id="2147483694" r:id="rId3"/>
    <p:sldLayoutId id="2147483695" r:id="rId4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1" descr="Picture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" t="-10527" r="948"/>
          <a:stretch>
            <a:fillRect/>
          </a:stretch>
        </p:blipFill>
        <p:spPr bwMode="auto">
          <a:xfrm>
            <a:off x="301625" y="427038"/>
            <a:ext cx="86137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7391400" y="60198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6208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36D69B99-1BC9-9A42-9E86-6442524AF15E}" type="slidenum">
              <a:rPr lang="en-US" altLang="x-none">
                <a:solidFill>
                  <a:srgbClr val="000000"/>
                </a:solidFill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115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  <p:pic>
        <p:nvPicPr>
          <p:cNvPr id="1033" name="Picture 73" descr="Picture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228600"/>
            <a:ext cx="12700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8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153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0073AE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0073A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1" descr="Picture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" t="-10527" r="948"/>
          <a:stretch>
            <a:fillRect/>
          </a:stretch>
        </p:blipFill>
        <p:spPr bwMode="auto">
          <a:xfrm>
            <a:off x="301625" y="427038"/>
            <a:ext cx="86137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7391400" y="60198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6208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36D69B99-1BC9-9A42-9E86-6442524AF15E}" type="slidenum">
              <a:rPr lang="en-US" altLang="x-none">
                <a:solidFill>
                  <a:srgbClr val="000000"/>
                </a:solidFill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115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  <p:pic>
        <p:nvPicPr>
          <p:cNvPr id="1033" name="Picture 73" descr="Picture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228600"/>
            <a:ext cx="12700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8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7871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0073AE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0073A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1" descr="Picture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" t="-10527" r="948"/>
          <a:stretch>
            <a:fillRect/>
          </a:stretch>
        </p:blipFill>
        <p:spPr bwMode="auto">
          <a:xfrm>
            <a:off x="301625" y="427038"/>
            <a:ext cx="86137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7391400" y="60198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6208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36D69B99-1BC9-9A42-9E86-6442524AF15E}" type="slidenum">
              <a:rPr lang="en-US" altLang="x-none">
                <a:solidFill>
                  <a:srgbClr val="000000"/>
                </a:solidFill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115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x-none" altLang="x-none">
              <a:solidFill>
                <a:srgbClr val="000000"/>
              </a:solidFill>
            </a:endParaRPr>
          </a:p>
        </p:txBody>
      </p:sp>
      <p:pic>
        <p:nvPicPr>
          <p:cNvPr id="1033" name="Picture 73" descr="Picture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228600"/>
            <a:ext cx="12700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8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139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0073AE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0073A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2E4C1FD-48CA-EF6B-CDC9-79B6A5032D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9144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7B5B71D-D90C-CB27-EA02-35B75F7E80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9929771-D650-55A6-41BD-05224FFA195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5925" y="1219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B1490FA-33CA-562E-CE45-99FDFFA58A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0" y="12192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F48C85F-B560-AC77-9481-252F834947B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213" y="1066800"/>
            <a:ext cx="56038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CA5A6A1-84E4-A5C7-8116-A1AC5A9EF9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5334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0B77DABB-736B-1C1D-31CF-96903EA2D6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57200" y="13716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C0C4E697-C1E3-FD3A-39AE-3692587AF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E91A416F-C803-6604-3933-DF6BC0E6F7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81200"/>
            <a:ext cx="7924800" cy="453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B9ED297A-FB42-374F-C1CF-0FEC9865A6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05800" y="6553200"/>
            <a:ext cx="4000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2004E158-F89E-444D-A8CD-4439976CD804}" type="slidenum">
              <a:rPr lang="en-GB" altLang="en-US" sz="1397" smtClean="0">
                <a:solidFill>
                  <a:srgbClr val="0000FF"/>
                </a:solidFill>
              </a:rPr>
              <a:pPr>
                <a:defRPr/>
              </a:pPr>
              <a:t>‹#›</a:t>
            </a:fld>
            <a:endParaRPr lang="en-US" altLang="en-US" sz="1397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540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5pPr>
      <a:lvl6pPr marL="456057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6pPr>
      <a:lvl7pPr marL="912114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7pPr>
      <a:lvl8pPr marL="1368171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8pPr>
      <a:lvl9pPr marL="1824228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41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2pPr>
      <a:lvl3pPr marL="1139825" indent="-2270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3pPr>
      <a:lvl4pPr marL="1595438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4pPr>
      <a:lvl5pPr marL="205105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5pPr>
      <a:lvl6pPr marL="2508314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6pPr>
      <a:lvl7pPr marL="2964371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7pPr>
      <a:lvl8pPr marL="3420428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8pPr>
      <a:lvl9pPr marL="3876485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9">
            <a:extLst>
              <a:ext uri="{FF2B5EF4-FFF2-40B4-BE49-F238E27FC236}">
                <a16:creationId xmlns:a16="http://schemas.microsoft.com/office/drawing/2014/main" id="{D15E8BC5-536E-46D3-BF57-4A2168BA380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76263" y="657225"/>
            <a:ext cx="81534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592916" name="Rectangle 20">
            <a:extLst>
              <a:ext uri="{FF2B5EF4-FFF2-40B4-BE49-F238E27FC236}">
                <a16:creationId xmlns:a16="http://schemas.microsoft.com/office/drawing/2014/main" id="{2FC36111-C850-4FFD-8680-D591421F6F4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1849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592917" name="Rectangle 21">
            <a:extLst>
              <a:ext uri="{FF2B5EF4-FFF2-40B4-BE49-F238E27FC236}">
                <a16:creationId xmlns:a16="http://schemas.microsoft.com/office/drawing/2014/main" id="{49DE22BA-4817-45F3-AACE-361AC85C15B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43138" y="6197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  <p:pic>
        <p:nvPicPr>
          <p:cNvPr id="1029" name="Picture 22" descr="axo2">
            <a:extLst>
              <a:ext uri="{FF2B5EF4-FFF2-40B4-BE49-F238E27FC236}">
                <a16:creationId xmlns:a16="http://schemas.microsoft.com/office/drawing/2014/main" id="{F832F542-77B3-4BAC-9536-FACF0DC62E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Line 23">
            <a:extLst>
              <a:ext uri="{FF2B5EF4-FFF2-40B4-BE49-F238E27FC236}">
                <a16:creationId xmlns:a16="http://schemas.microsoft.com/office/drawing/2014/main" id="{54808121-15D1-4713-9CF4-CDA960049B2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6311900"/>
            <a:ext cx="81534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7421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17547"/>
        </a:buClr>
        <a:buSzPct val="7000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9">
            <a:extLst>
              <a:ext uri="{FF2B5EF4-FFF2-40B4-BE49-F238E27FC236}">
                <a16:creationId xmlns:a16="http://schemas.microsoft.com/office/drawing/2014/main" id="{2808978A-E44F-45D0-9DB6-7367C7261AD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76263" y="657225"/>
            <a:ext cx="81534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592916" name="Rectangle 20">
            <a:extLst>
              <a:ext uri="{FF2B5EF4-FFF2-40B4-BE49-F238E27FC236}">
                <a16:creationId xmlns:a16="http://schemas.microsoft.com/office/drawing/2014/main" id="{8E2E330A-8004-4A04-9298-92BB2F2B6AC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1849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MASKS © 2004</a:t>
            </a:r>
          </a:p>
        </p:txBody>
      </p:sp>
      <p:sp>
        <p:nvSpPr>
          <p:cNvPr id="592917" name="Rectangle 21">
            <a:extLst>
              <a:ext uri="{FF2B5EF4-FFF2-40B4-BE49-F238E27FC236}">
                <a16:creationId xmlns:a16="http://schemas.microsoft.com/office/drawing/2014/main" id="{E9582911-696E-44F8-9BEE-7DFD6F84285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43138" y="6197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Invitation to 3D vision</a:t>
            </a:r>
          </a:p>
        </p:txBody>
      </p:sp>
      <p:pic>
        <p:nvPicPr>
          <p:cNvPr id="1029" name="Picture 22" descr="axo2">
            <a:extLst>
              <a:ext uri="{FF2B5EF4-FFF2-40B4-BE49-F238E27FC236}">
                <a16:creationId xmlns:a16="http://schemas.microsoft.com/office/drawing/2014/main" id="{36EA605F-198D-4FB3-94CB-80719E9788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Line 23">
            <a:extLst>
              <a:ext uri="{FF2B5EF4-FFF2-40B4-BE49-F238E27FC236}">
                <a16:creationId xmlns:a16="http://schemas.microsoft.com/office/drawing/2014/main" id="{2243DD1F-285D-4D24-B879-30A13580AD3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6311900"/>
            <a:ext cx="81534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6505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17547"/>
        </a:buClr>
        <a:buSzPct val="7000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3.png"/><Relationship Id="rId21" Type="http://schemas.openxmlformats.org/officeDocument/2006/relationships/image" Target="../media/image14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7.png"/><Relationship Id="rId7" Type="http://schemas.openxmlformats.org/officeDocument/2006/relationships/image" Target="../media/image7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8.png"/><Relationship Id="rId11" Type="http://schemas.openxmlformats.org/officeDocument/2006/relationships/image" Target="../media/image9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2.png"/><Relationship Id="rId40" Type="http://schemas.openxmlformats.org/officeDocument/2006/relationships/customXml" Target="../ink/ink20.xml"/><Relationship Id="rId45" Type="http://schemas.openxmlformats.org/officeDocument/2006/relationships/image" Target="../media/image26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8.png"/><Relationship Id="rId10" Type="http://schemas.openxmlformats.org/officeDocument/2006/relationships/customXml" Target="../ink/ink5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4" Type="http://schemas.openxmlformats.org/officeDocument/2006/relationships/customXml" Target="../ink/ink22.xml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7.png"/><Relationship Id="rId30" Type="http://schemas.openxmlformats.org/officeDocument/2006/relationships/customXml" Target="../ink/ink15.xml"/><Relationship Id="rId35" Type="http://schemas.openxmlformats.org/officeDocument/2006/relationships/image" Target="../media/image21.png"/><Relationship Id="rId43" Type="http://schemas.openxmlformats.org/officeDocument/2006/relationships/image" Target="../media/image25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3" Type="http://schemas.openxmlformats.org/officeDocument/2006/relationships/image" Target="../media/image5.png"/><Relationship Id="rId12" Type="http://schemas.openxmlformats.org/officeDocument/2006/relationships/customXml" Target="../ink/ink6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32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Relationship Id="rId9" Type="http://schemas.openxmlformats.org/officeDocument/2006/relationships/image" Target="../media/image2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12" Type="http://schemas.openxmlformats.org/officeDocument/2006/relationships/image" Target="../media/image2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61.png"/><Relationship Id="rId5" Type="http://schemas.openxmlformats.org/officeDocument/2006/relationships/image" Target="../media/image36.wmf"/><Relationship Id="rId10" Type="http://schemas.openxmlformats.org/officeDocument/2006/relationships/image" Target="../media/image22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2.png"/><Relationship Id="rId7" Type="http://schemas.openxmlformats.org/officeDocument/2006/relationships/image" Target="../media/image38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3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0.png"/><Relationship Id="rId7" Type="http://schemas.openxmlformats.org/officeDocument/2006/relationships/image" Target="../media/image39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36.png"/><Relationship Id="rId4" Type="http://schemas.openxmlformats.org/officeDocument/2006/relationships/image" Target="../media/image4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tags" Target="../tags/tag2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notesSlide" Target="../notesSlides/notesSlide19.xml"/><Relationship Id="rId5" Type="http://schemas.openxmlformats.org/officeDocument/2006/relationships/tags" Target="../tags/tag5.xml"/><Relationship Id="rId15" Type="http://schemas.openxmlformats.org/officeDocument/2006/relationships/image" Target="../media/image49.png"/><Relationship Id="rId10" Type="http://schemas.openxmlformats.org/officeDocument/2006/relationships/slideLayout" Target="../slideLayouts/slideLayout50.xml"/><Relationship Id="rId19" Type="http://schemas.openxmlformats.org/officeDocument/2006/relationships/image" Target="../media/image5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slideLayout" Target="../slideLayouts/slideLayout50.xml"/><Relationship Id="rId18" Type="http://schemas.openxmlformats.org/officeDocument/2006/relationships/image" Target="../media/image58.png"/><Relationship Id="rId26" Type="http://schemas.openxmlformats.org/officeDocument/2006/relationships/image" Target="../media/image66.png"/><Relationship Id="rId3" Type="http://schemas.openxmlformats.org/officeDocument/2006/relationships/tags" Target="../tags/tag12.xml"/><Relationship Id="rId21" Type="http://schemas.openxmlformats.org/officeDocument/2006/relationships/image" Target="../media/image61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image" Target="../media/image57.png"/><Relationship Id="rId25" Type="http://schemas.openxmlformats.org/officeDocument/2006/relationships/image" Target="../media/image65.png"/><Relationship Id="rId2" Type="http://schemas.openxmlformats.org/officeDocument/2006/relationships/tags" Target="../tags/tag11.xml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image" Target="../media/image64.png"/><Relationship Id="rId5" Type="http://schemas.openxmlformats.org/officeDocument/2006/relationships/tags" Target="../tags/tag14.xml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10" Type="http://schemas.openxmlformats.org/officeDocument/2006/relationships/tags" Target="../tags/tag19.xml"/><Relationship Id="rId19" Type="http://schemas.openxmlformats.org/officeDocument/2006/relationships/image" Target="../media/image59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notesSlide" Target="../notesSlides/notesSlide20.xml"/><Relationship Id="rId22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tags" Target="../tags/tag24.xml"/><Relationship Id="rId7" Type="http://schemas.openxmlformats.org/officeDocument/2006/relationships/image" Target="../media/image71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70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6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wmf"/><Relationship Id="rId11" Type="http://schemas.openxmlformats.org/officeDocument/2006/relationships/image" Target="../media/image410.png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400.png"/><Relationship Id="rId4" Type="http://schemas.openxmlformats.org/officeDocument/2006/relationships/image" Target="../media/image75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research.microsoft.com/~zhang/Papers/TR99-21.pdf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2.wmf"/><Relationship Id="rId4" Type="http://schemas.openxmlformats.org/officeDocument/2006/relationships/image" Target="../media/image8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wmf"/><Relationship Id="rId4" Type="http://schemas.openxmlformats.org/officeDocument/2006/relationships/image" Target="../media/image8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8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oleObject" Target="../embeddings/oleObject14.bin"/><Relationship Id="rId4" Type="http://schemas.openxmlformats.org/officeDocument/2006/relationships/image" Target="../media/image8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74.jpe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notesSlide" Target="../notesSlides/notesSlide36.xml"/><Relationship Id="rId5" Type="http://schemas.openxmlformats.org/officeDocument/2006/relationships/tags" Target="../tags/tag29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9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.xml"/><Relationship Id="rId6" Type="http://schemas.openxmlformats.org/officeDocument/2006/relationships/image" Target="../media/image91.png"/><Relationship Id="rId11" Type="http://schemas.openxmlformats.org/officeDocument/2006/relationships/hyperlink" Target="http://siddhantahuja.wordpress.com/category/stereo-vision/" TargetMode="External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iccv2007.rutgers.edu/" TargetMode="External"/><Relationship Id="rId5" Type="http://schemas.openxmlformats.org/officeDocument/2006/relationships/hyperlink" Target="http://grail.cs.washington.edu/projects/mvscpc/download/Goesele-2007-MVS.pdf" TargetMode="External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755B4B3F-1C3D-927E-1ED2-99274895B4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23925" y="3808413"/>
            <a:ext cx="7524750" cy="22812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Dr. Dapeng Oliver Wu</a:t>
            </a:r>
          </a:p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City University of Hong Kong</a:t>
            </a:r>
          </a:p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Department of Computer Science</a:t>
            </a:r>
            <a:endParaRPr lang="en-US" altLang="en-US" sz="2394" dirty="0"/>
          </a:p>
          <a:p>
            <a:pPr eaLnBrk="1" hangingPunct="1">
              <a:defRPr/>
            </a:pPr>
            <a:endParaRPr lang="en-US" altLang="en-US" sz="2394" dirty="0"/>
          </a:p>
          <a:p>
            <a:pPr eaLnBrk="1" hangingPunct="1"/>
            <a:r>
              <a:rPr lang="en-US" altLang="zh-CN" sz="2800" dirty="0">
                <a:solidFill>
                  <a:srgbClr val="CC0000"/>
                </a:solidFill>
              </a:rPr>
              <a:t>Semester A, 2025/26</a:t>
            </a:r>
            <a:endParaRPr lang="en-US" sz="2800" dirty="0">
              <a:solidFill>
                <a:srgbClr val="CC0000"/>
              </a:solidFill>
            </a:endParaRP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5BE92627-13FA-5965-1CCF-590FF9EDF7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23925" y="388938"/>
            <a:ext cx="7751763" cy="25844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192" dirty="0">
                <a:solidFill>
                  <a:srgbClr val="333399"/>
                </a:solidFill>
              </a:rPr>
              <a:t> CS 5187: Vision and Image</a:t>
            </a:r>
            <a:br>
              <a:rPr lang="en-US" altLang="en-US" sz="3192" dirty="0">
                <a:solidFill>
                  <a:srgbClr val="333399"/>
                </a:solidFill>
              </a:rPr>
            </a:br>
            <a:r>
              <a:rPr lang="en-US" altLang="en-US" sz="3192" dirty="0">
                <a:solidFill>
                  <a:srgbClr val="000000"/>
                </a:solidFill>
              </a:rPr>
              <a:t>Lecture 9</a:t>
            </a:r>
            <a:br>
              <a:rPr lang="en-US" altLang="en-US" sz="3192" dirty="0">
                <a:solidFill>
                  <a:srgbClr val="333399"/>
                </a:solidFill>
              </a:rPr>
            </a:br>
            <a:r>
              <a:rPr lang="en-US" altLang="en-US" sz="3192" i="1" dirty="0">
                <a:solidFill>
                  <a:srgbClr val="009900"/>
                </a:solidFill>
              </a:rPr>
              <a:t>Stereo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053" r="35135" b="13116"/>
          <a:stretch/>
        </p:blipFill>
        <p:spPr>
          <a:xfrm>
            <a:off x="304800" y="2590800"/>
            <a:ext cx="8508772" cy="381000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 bwMode="auto">
          <a:xfrm flipH="1">
            <a:off x="6248400" y="4419600"/>
            <a:ext cx="3048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Straight Arrow Connector 5"/>
          <p:cNvCxnSpPr/>
          <p:nvPr/>
        </p:nvCxnSpPr>
        <p:spPr bwMode="auto">
          <a:xfrm flipH="1">
            <a:off x="5791200" y="5715000"/>
            <a:ext cx="6096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Arrow Connector 7"/>
          <p:cNvCxnSpPr/>
          <p:nvPr/>
        </p:nvCxnSpPr>
        <p:spPr bwMode="auto">
          <a:xfrm flipH="1">
            <a:off x="7391400" y="3505200"/>
            <a:ext cx="216408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7CF4-79CC-6A48-A466-8C20EA113E48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 descr="A black camera with a lens&#10;&#10;Description automatically generated with low confidence">
            <a:extLst>
              <a:ext uri="{FF2B5EF4-FFF2-40B4-BE49-F238E27FC236}">
                <a16:creationId xmlns:a16="http://schemas.microsoft.com/office/drawing/2014/main" id="{3CAC03D3-5863-3AC9-3FBE-0C820BBD8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706" y="152400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1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Amount of horizontal movement is 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13116"/>
          <a:stretch/>
        </p:blipFill>
        <p:spPr>
          <a:xfrm>
            <a:off x="228600" y="2590800"/>
            <a:ext cx="8458200" cy="23410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00200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…inversely proportional to the distance from the camera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7CF4-79CC-6A48-A466-8C20EA113E4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from Stereo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Goal: recover depth by finding image coordinate x’ that corresponds to x</a:t>
            </a:r>
          </a:p>
        </p:txBody>
      </p:sp>
      <p:grpSp>
        <p:nvGrpSpPr>
          <p:cNvPr id="24" name="Group 47"/>
          <p:cNvGrpSpPr>
            <a:grpSpLocks noChangeAspect="1"/>
          </p:cNvGrpSpPr>
          <p:nvPr/>
        </p:nvGrpSpPr>
        <p:grpSpPr bwMode="auto">
          <a:xfrm>
            <a:off x="4648200" y="2684426"/>
            <a:ext cx="3823231" cy="3487774"/>
            <a:chOff x="432" y="1264"/>
            <a:chExt cx="2296" cy="2065"/>
          </a:xfrm>
        </p:grpSpPr>
        <p:sp>
          <p:nvSpPr>
            <p:cNvPr id="25" name="Oval 5"/>
            <p:cNvSpPr>
              <a:spLocks noChangeArrowheads="1"/>
            </p:cNvSpPr>
            <p:nvPr/>
          </p:nvSpPr>
          <p:spPr bwMode="auto">
            <a:xfrm>
              <a:off x="720" y="2880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26" name="Oval 6"/>
            <p:cNvSpPr>
              <a:spLocks noChangeArrowheads="1"/>
            </p:cNvSpPr>
            <p:nvPr/>
          </p:nvSpPr>
          <p:spPr bwMode="auto">
            <a:xfrm>
              <a:off x="2016" y="2880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432" y="254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auto">
            <a:xfrm>
              <a:off x="1728" y="254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29" name="Oval 9"/>
            <p:cNvSpPr>
              <a:spLocks noChangeArrowheads="1"/>
            </p:cNvSpPr>
            <p:nvPr/>
          </p:nvSpPr>
          <p:spPr bwMode="auto">
            <a:xfrm>
              <a:off x="1324" y="1515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 flipV="1">
              <a:off x="768" y="1536"/>
              <a:ext cx="576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31" name="Line 11"/>
            <p:cNvSpPr>
              <a:spLocks noChangeShapeType="1"/>
            </p:cNvSpPr>
            <p:nvPr/>
          </p:nvSpPr>
          <p:spPr bwMode="auto">
            <a:xfrm flipH="1" flipV="1">
              <a:off x="1344" y="1536"/>
              <a:ext cx="720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 flipV="1">
              <a:off x="748" y="254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33" name="Text Box 13"/>
            <p:cNvSpPr txBox="1">
              <a:spLocks noChangeArrowheads="1"/>
            </p:cNvSpPr>
            <p:nvPr/>
          </p:nvSpPr>
          <p:spPr bwMode="auto">
            <a:xfrm>
              <a:off x="609" y="2607"/>
              <a:ext cx="153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f</a:t>
              </a:r>
            </a:p>
          </p:txBody>
        </p:sp>
        <p:sp>
          <p:nvSpPr>
            <p:cNvPr id="34" name="Oval 14"/>
            <p:cNvSpPr>
              <a:spLocks noChangeArrowheads="1"/>
            </p:cNvSpPr>
            <p:nvPr/>
          </p:nvSpPr>
          <p:spPr bwMode="auto">
            <a:xfrm>
              <a:off x="892" y="2517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35" name="Oval 15"/>
            <p:cNvSpPr>
              <a:spLocks noChangeArrowheads="1"/>
            </p:cNvSpPr>
            <p:nvPr/>
          </p:nvSpPr>
          <p:spPr bwMode="auto">
            <a:xfrm>
              <a:off x="1845" y="2517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36" name="Line 16"/>
            <p:cNvSpPr>
              <a:spLocks noChangeShapeType="1"/>
            </p:cNvSpPr>
            <p:nvPr/>
          </p:nvSpPr>
          <p:spPr bwMode="auto">
            <a:xfrm flipV="1">
              <a:off x="2043" y="254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37" name="Line 17"/>
            <p:cNvSpPr>
              <a:spLocks noChangeShapeType="1"/>
            </p:cNvSpPr>
            <p:nvPr/>
          </p:nvSpPr>
          <p:spPr bwMode="auto">
            <a:xfrm>
              <a:off x="720" y="249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sm"/>
              <a:tailEnd type="arrow" w="med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38" name="Text Box 18"/>
            <p:cNvSpPr txBox="1">
              <a:spLocks noChangeArrowheads="1"/>
            </p:cNvSpPr>
            <p:nvPr/>
          </p:nvSpPr>
          <p:spPr bwMode="auto">
            <a:xfrm>
              <a:off x="736" y="2272"/>
              <a:ext cx="188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x</a:t>
              </a:r>
            </a:p>
          </p:txBody>
        </p:sp>
        <p:sp>
          <p:nvSpPr>
            <p:cNvPr id="39" name="Line 19"/>
            <p:cNvSpPr>
              <a:spLocks noChangeShapeType="1"/>
            </p:cNvSpPr>
            <p:nvPr/>
          </p:nvSpPr>
          <p:spPr bwMode="auto">
            <a:xfrm>
              <a:off x="1872" y="2496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sm"/>
              <a:tailEnd type="none" w="med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0" name="Text Box 20"/>
            <p:cNvSpPr txBox="1">
              <a:spLocks noChangeArrowheads="1"/>
            </p:cNvSpPr>
            <p:nvPr/>
          </p:nvSpPr>
          <p:spPr bwMode="auto">
            <a:xfrm>
              <a:off x="1851" y="2272"/>
              <a:ext cx="223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x’</a:t>
              </a:r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1036" y="2910"/>
              <a:ext cx="703" cy="41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Baseline</a:t>
              </a:r>
              <a:br>
                <a:rPr lang="en-US" sz="20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</a:br>
              <a:r>
                <a:rPr lang="en-US" sz="20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B</a:t>
              </a:r>
            </a:p>
          </p:txBody>
        </p:sp>
        <p:sp>
          <p:nvSpPr>
            <p:cNvPr id="42" name="Line 22"/>
            <p:cNvSpPr>
              <a:spLocks noChangeShapeType="1"/>
            </p:cNvSpPr>
            <p:nvPr/>
          </p:nvSpPr>
          <p:spPr bwMode="auto">
            <a:xfrm flipV="1">
              <a:off x="2496" y="1536"/>
              <a:ext cx="0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3" name="Text Box 23"/>
            <p:cNvSpPr txBox="1">
              <a:spLocks noChangeArrowheads="1"/>
            </p:cNvSpPr>
            <p:nvPr/>
          </p:nvSpPr>
          <p:spPr bwMode="auto">
            <a:xfrm>
              <a:off x="2540" y="2031"/>
              <a:ext cx="188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z</a:t>
              </a:r>
            </a:p>
          </p:txBody>
        </p: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508" y="2915"/>
              <a:ext cx="486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C</a:t>
              </a:r>
              <a:endParaRPr lang="en-US" sz="2000" baseline="-25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5" name="Text Box 25"/>
            <p:cNvSpPr txBox="1">
              <a:spLocks noChangeArrowheads="1"/>
            </p:cNvSpPr>
            <p:nvPr/>
          </p:nvSpPr>
          <p:spPr bwMode="auto">
            <a:xfrm>
              <a:off x="1824" y="2915"/>
              <a:ext cx="486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C’</a:t>
              </a:r>
              <a:endParaRPr lang="en-US" sz="2000" baseline="-25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6" name="Text Box 26"/>
            <p:cNvSpPr txBox="1">
              <a:spLocks noChangeArrowheads="1"/>
            </p:cNvSpPr>
            <p:nvPr/>
          </p:nvSpPr>
          <p:spPr bwMode="auto">
            <a:xfrm>
              <a:off x="1104" y="1264"/>
              <a:ext cx="486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X</a:t>
              </a:r>
              <a:endParaRPr lang="en-US" sz="2000" baseline="-25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7" name="Line 27"/>
            <p:cNvSpPr>
              <a:spLocks noChangeShapeType="1"/>
            </p:cNvSpPr>
            <p:nvPr/>
          </p:nvSpPr>
          <p:spPr bwMode="auto">
            <a:xfrm>
              <a:off x="796" y="2901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8" name="Text Box 28"/>
            <p:cNvSpPr txBox="1">
              <a:spLocks noChangeArrowheads="1"/>
            </p:cNvSpPr>
            <p:nvPr/>
          </p:nvSpPr>
          <p:spPr bwMode="auto">
            <a:xfrm>
              <a:off x="2022" y="2608"/>
              <a:ext cx="153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f</a:t>
              </a:r>
            </a:p>
          </p:txBody>
        </p:sp>
      </p:grpSp>
      <p:grpSp>
        <p:nvGrpSpPr>
          <p:cNvPr id="54" name="Group 53"/>
          <p:cNvGrpSpPr>
            <a:grpSpLocks noChangeAspect="1"/>
          </p:cNvGrpSpPr>
          <p:nvPr/>
        </p:nvGrpSpPr>
        <p:grpSpPr>
          <a:xfrm>
            <a:off x="1105828" y="2362200"/>
            <a:ext cx="2856572" cy="3795508"/>
            <a:chOff x="609600" y="753824"/>
            <a:chExt cx="3905925" cy="5189776"/>
          </a:xfrm>
        </p:grpSpPr>
        <p:grpSp>
          <p:nvGrpSpPr>
            <p:cNvPr id="49" name="Group 48"/>
            <p:cNvGrpSpPr>
              <a:grpSpLocks noChangeAspect="1"/>
            </p:cNvGrpSpPr>
            <p:nvPr/>
          </p:nvGrpSpPr>
          <p:grpSpPr>
            <a:xfrm>
              <a:off x="609600" y="1143000"/>
              <a:ext cx="3905925" cy="4800600"/>
              <a:chOff x="533400" y="957263"/>
              <a:chExt cx="4491038" cy="5519737"/>
            </a:xfrm>
          </p:grpSpPr>
          <p:sp>
            <p:nvSpPr>
              <p:cNvPr id="4" name="Freeform 4"/>
              <p:cNvSpPr>
                <a:spLocks/>
              </p:cNvSpPr>
              <p:nvPr/>
            </p:nvSpPr>
            <p:spPr bwMode="auto">
              <a:xfrm>
                <a:off x="3481388" y="957263"/>
                <a:ext cx="1220787" cy="839787"/>
              </a:xfrm>
              <a:custGeom>
                <a:avLst/>
                <a:gdLst>
                  <a:gd name="T0" fmla="*/ 2147483647 w 865"/>
                  <a:gd name="T1" fmla="*/ 0 h 529"/>
                  <a:gd name="T2" fmla="*/ 2147483647 w 865"/>
                  <a:gd name="T3" fmla="*/ 2147483647 h 529"/>
                  <a:gd name="T4" fmla="*/ 2147483647 w 865"/>
                  <a:gd name="T5" fmla="*/ 2147483647 h 529"/>
                  <a:gd name="T6" fmla="*/ 2147483647 w 865"/>
                  <a:gd name="T7" fmla="*/ 2147483647 h 529"/>
                  <a:gd name="T8" fmla="*/ 2147483647 w 865"/>
                  <a:gd name="T9" fmla="*/ 2147483647 h 529"/>
                  <a:gd name="T10" fmla="*/ 2147483647 w 865"/>
                  <a:gd name="T11" fmla="*/ 2147483647 h 529"/>
                  <a:gd name="T12" fmla="*/ 2147483647 w 865"/>
                  <a:gd name="T13" fmla="*/ 2147483647 h 529"/>
                  <a:gd name="T14" fmla="*/ 2147483647 w 865"/>
                  <a:gd name="T15" fmla="*/ 2147483647 h 529"/>
                  <a:gd name="T16" fmla="*/ 2147483647 w 865"/>
                  <a:gd name="T17" fmla="*/ 2147483647 h 529"/>
                  <a:gd name="T18" fmla="*/ 0 w 865"/>
                  <a:gd name="T19" fmla="*/ 2147483647 h 529"/>
                  <a:gd name="T20" fmla="*/ 0 w 865"/>
                  <a:gd name="T21" fmla="*/ 2147483647 h 529"/>
                  <a:gd name="T22" fmla="*/ 0 w 865"/>
                  <a:gd name="T23" fmla="*/ 2147483647 h 529"/>
                  <a:gd name="T24" fmla="*/ 2147483647 w 865"/>
                  <a:gd name="T25" fmla="*/ 2147483647 h 529"/>
                  <a:gd name="T26" fmla="*/ 2147483647 w 865"/>
                  <a:gd name="T27" fmla="*/ 2147483647 h 529"/>
                  <a:gd name="T28" fmla="*/ 2147483647 w 865"/>
                  <a:gd name="T29" fmla="*/ 2147483647 h 529"/>
                  <a:gd name="T30" fmla="*/ 2147483647 w 865"/>
                  <a:gd name="T31" fmla="*/ 2147483647 h 529"/>
                  <a:gd name="T32" fmla="*/ 2147483647 w 865"/>
                  <a:gd name="T33" fmla="*/ 2147483647 h 529"/>
                  <a:gd name="T34" fmla="*/ 2147483647 w 865"/>
                  <a:gd name="T35" fmla="*/ 2147483647 h 529"/>
                  <a:gd name="T36" fmla="*/ 2147483647 w 865"/>
                  <a:gd name="T37" fmla="*/ 2147483647 h 529"/>
                  <a:gd name="T38" fmla="*/ 2147483647 w 865"/>
                  <a:gd name="T39" fmla="*/ 2147483647 h 529"/>
                  <a:gd name="T40" fmla="*/ 2147483647 w 865"/>
                  <a:gd name="T41" fmla="*/ 2147483647 h 529"/>
                  <a:gd name="T42" fmla="*/ 2147483647 w 865"/>
                  <a:gd name="T43" fmla="*/ 2147483647 h 529"/>
                  <a:gd name="T44" fmla="*/ 2147483647 w 865"/>
                  <a:gd name="T45" fmla="*/ 2147483647 h 529"/>
                  <a:gd name="T46" fmla="*/ 2147483647 w 865"/>
                  <a:gd name="T47" fmla="*/ 2147483647 h 529"/>
                  <a:gd name="T48" fmla="*/ 2147483647 w 865"/>
                  <a:gd name="T49" fmla="*/ 2147483647 h 529"/>
                  <a:gd name="T50" fmla="*/ 2147483647 w 865"/>
                  <a:gd name="T51" fmla="*/ 2147483647 h 529"/>
                  <a:gd name="T52" fmla="*/ 2147483647 w 865"/>
                  <a:gd name="T53" fmla="*/ 2147483647 h 529"/>
                  <a:gd name="T54" fmla="*/ 2147483647 w 865"/>
                  <a:gd name="T55" fmla="*/ 2147483647 h 529"/>
                  <a:gd name="T56" fmla="*/ 2147483647 w 865"/>
                  <a:gd name="T57" fmla="*/ 2147483647 h 529"/>
                  <a:gd name="T58" fmla="*/ 2147483647 w 865"/>
                  <a:gd name="T59" fmla="*/ 2147483647 h 529"/>
                  <a:gd name="T60" fmla="*/ 2147483647 w 865"/>
                  <a:gd name="T61" fmla="*/ 2147483647 h 529"/>
                  <a:gd name="T62" fmla="*/ 2147483647 w 865"/>
                  <a:gd name="T63" fmla="*/ 2147483647 h 529"/>
                  <a:gd name="T64" fmla="*/ 2147483647 w 865"/>
                  <a:gd name="T65" fmla="*/ 2147483647 h 529"/>
                  <a:gd name="T66" fmla="*/ 2147483647 w 865"/>
                  <a:gd name="T67" fmla="*/ 2147483647 h 529"/>
                  <a:gd name="T68" fmla="*/ 2147483647 w 865"/>
                  <a:gd name="T69" fmla="*/ 2147483647 h 529"/>
                  <a:gd name="T70" fmla="*/ 2147483647 w 865"/>
                  <a:gd name="T71" fmla="*/ 2147483647 h 529"/>
                  <a:gd name="T72" fmla="*/ 2147483647 w 865"/>
                  <a:gd name="T73" fmla="*/ 2147483647 h 529"/>
                  <a:gd name="T74" fmla="*/ 2147483647 w 865"/>
                  <a:gd name="T75" fmla="*/ 2147483647 h 529"/>
                  <a:gd name="T76" fmla="*/ 2147483647 w 865"/>
                  <a:gd name="T77" fmla="*/ 2147483647 h 529"/>
                  <a:gd name="T78" fmla="*/ 2147483647 w 865"/>
                  <a:gd name="T79" fmla="*/ 0 h 52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65"/>
                  <a:gd name="T121" fmla="*/ 0 h 529"/>
                  <a:gd name="T122" fmla="*/ 865 w 865"/>
                  <a:gd name="T123" fmla="*/ 529 h 52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65" h="529">
                    <a:moveTo>
                      <a:pt x="84" y="0"/>
                    </a:moveTo>
                    <a:lnTo>
                      <a:pt x="72" y="24"/>
                    </a:lnTo>
                    <a:lnTo>
                      <a:pt x="72" y="48"/>
                    </a:lnTo>
                    <a:lnTo>
                      <a:pt x="48" y="72"/>
                    </a:lnTo>
                    <a:lnTo>
                      <a:pt x="36" y="96"/>
                    </a:lnTo>
                    <a:lnTo>
                      <a:pt x="36" y="120"/>
                    </a:lnTo>
                    <a:lnTo>
                      <a:pt x="36" y="144"/>
                    </a:lnTo>
                    <a:lnTo>
                      <a:pt x="24" y="168"/>
                    </a:lnTo>
                    <a:lnTo>
                      <a:pt x="12" y="192"/>
                    </a:lnTo>
                    <a:lnTo>
                      <a:pt x="0" y="216"/>
                    </a:lnTo>
                    <a:lnTo>
                      <a:pt x="0" y="240"/>
                    </a:lnTo>
                    <a:lnTo>
                      <a:pt x="0" y="264"/>
                    </a:lnTo>
                    <a:lnTo>
                      <a:pt x="12" y="288"/>
                    </a:lnTo>
                    <a:lnTo>
                      <a:pt x="12" y="312"/>
                    </a:lnTo>
                    <a:lnTo>
                      <a:pt x="24" y="336"/>
                    </a:lnTo>
                    <a:lnTo>
                      <a:pt x="24" y="360"/>
                    </a:lnTo>
                    <a:lnTo>
                      <a:pt x="36" y="384"/>
                    </a:lnTo>
                    <a:lnTo>
                      <a:pt x="36" y="408"/>
                    </a:lnTo>
                    <a:lnTo>
                      <a:pt x="48" y="432"/>
                    </a:lnTo>
                    <a:lnTo>
                      <a:pt x="60" y="456"/>
                    </a:lnTo>
                    <a:lnTo>
                      <a:pt x="852" y="528"/>
                    </a:lnTo>
                    <a:lnTo>
                      <a:pt x="804" y="480"/>
                    </a:lnTo>
                    <a:lnTo>
                      <a:pt x="792" y="456"/>
                    </a:lnTo>
                    <a:lnTo>
                      <a:pt x="780" y="420"/>
                    </a:lnTo>
                    <a:lnTo>
                      <a:pt x="768" y="396"/>
                    </a:lnTo>
                    <a:lnTo>
                      <a:pt x="756" y="372"/>
                    </a:lnTo>
                    <a:lnTo>
                      <a:pt x="744" y="348"/>
                    </a:lnTo>
                    <a:lnTo>
                      <a:pt x="744" y="324"/>
                    </a:lnTo>
                    <a:lnTo>
                      <a:pt x="744" y="288"/>
                    </a:lnTo>
                    <a:lnTo>
                      <a:pt x="744" y="264"/>
                    </a:lnTo>
                    <a:lnTo>
                      <a:pt x="744" y="240"/>
                    </a:lnTo>
                    <a:lnTo>
                      <a:pt x="768" y="216"/>
                    </a:lnTo>
                    <a:lnTo>
                      <a:pt x="768" y="192"/>
                    </a:lnTo>
                    <a:lnTo>
                      <a:pt x="780" y="168"/>
                    </a:lnTo>
                    <a:lnTo>
                      <a:pt x="804" y="156"/>
                    </a:lnTo>
                    <a:lnTo>
                      <a:pt x="804" y="132"/>
                    </a:lnTo>
                    <a:lnTo>
                      <a:pt x="828" y="108"/>
                    </a:lnTo>
                    <a:lnTo>
                      <a:pt x="852" y="96"/>
                    </a:lnTo>
                    <a:lnTo>
                      <a:pt x="864" y="72"/>
                    </a:lnTo>
                    <a:lnTo>
                      <a:pt x="84" y="0"/>
                    </a:lnTo>
                  </a:path>
                </a:pathLst>
              </a:custGeom>
              <a:gradFill rotWithShape="0">
                <a:gsLst>
                  <a:gs pos="0">
                    <a:srgbClr val="012501"/>
                  </a:gs>
                  <a:gs pos="100000">
                    <a:srgbClr val="037C03"/>
                  </a:gs>
                </a:gsLst>
                <a:lin ang="18900000" scaled="1"/>
              </a:gradFill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5" name="Line 5"/>
              <p:cNvSpPr>
                <a:spLocks noChangeShapeType="1"/>
              </p:cNvSpPr>
              <p:nvPr/>
            </p:nvSpPr>
            <p:spPr bwMode="auto">
              <a:xfrm>
                <a:off x="890588" y="4310063"/>
                <a:ext cx="3251200" cy="1828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6" name="Freeform 9"/>
              <p:cNvSpPr>
                <a:spLocks/>
              </p:cNvSpPr>
              <p:nvPr/>
            </p:nvSpPr>
            <p:spPr bwMode="auto">
              <a:xfrm>
                <a:off x="1533525" y="1219200"/>
                <a:ext cx="2471738" cy="2462213"/>
              </a:xfrm>
              <a:custGeom>
                <a:avLst/>
                <a:gdLst>
                  <a:gd name="T0" fmla="*/ 0 w 1557"/>
                  <a:gd name="T1" fmla="*/ 2147483647 h 1551"/>
                  <a:gd name="T2" fmla="*/ 2147483647 w 1557"/>
                  <a:gd name="T3" fmla="*/ 0 h 1551"/>
                  <a:gd name="T4" fmla="*/ 0 60000 65536"/>
                  <a:gd name="T5" fmla="*/ 0 60000 65536"/>
                  <a:gd name="T6" fmla="*/ 0 w 1557"/>
                  <a:gd name="T7" fmla="*/ 0 h 1551"/>
                  <a:gd name="T8" fmla="*/ 1557 w 1557"/>
                  <a:gd name="T9" fmla="*/ 1551 h 155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57" h="1551">
                    <a:moveTo>
                      <a:pt x="0" y="1551"/>
                    </a:moveTo>
                    <a:lnTo>
                      <a:pt x="1557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7" name="Freeform 10"/>
              <p:cNvSpPr>
                <a:spLocks/>
              </p:cNvSpPr>
              <p:nvPr/>
            </p:nvSpPr>
            <p:spPr bwMode="auto">
              <a:xfrm>
                <a:off x="687388" y="2490788"/>
                <a:ext cx="1220787" cy="2001837"/>
              </a:xfrm>
              <a:custGeom>
                <a:avLst/>
                <a:gdLst>
                  <a:gd name="T0" fmla="*/ 0 w 865"/>
                  <a:gd name="T1" fmla="*/ 2147483647 h 1261"/>
                  <a:gd name="T2" fmla="*/ 2147483647 w 865"/>
                  <a:gd name="T3" fmla="*/ 2147483647 h 1261"/>
                  <a:gd name="T4" fmla="*/ 2147483647 w 865"/>
                  <a:gd name="T5" fmla="*/ 2147483647 h 1261"/>
                  <a:gd name="T6" fmla="*/ 0 w 865"/>
                  <a:gd name="T7" fmla="*/ 0 h 1261"/>
                  <a:gd name="T8" fmla="*/ 0 w 865"/>
                  <a:gd name="T9" fmla="*/ 2147483647 h 12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5"/>
                  <a:gd name="T16" fmla="*/ 0 h 1261"/>
                  <a:gd name="T17" fmla="*/ 865 w 865"/>
                  <a:gd name="T18" fmla="*/ 1261 h 12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5" h="1261">
                    <a:moveTo>
                      <a:pt x="0" y="828"/>
                    </a:moveTo>
                    <a:lnTo>
                      <a:pt x="864" y="1260"/>
                    </a:lnTo>
                    <a:lnTo>
                      <a:pt x="864" y="414"/>
                    </a:lnTo>
                    <a:lnTo>
                      <a:pt x="0" y="0"/>
                    </a:lnTo>
                    <a:lnTo>
                      <a:pt x="0" y="828"/>
                    </a:lnTo>
                  </a:path>
                </a:pathLst>
              </a:custGeom>
              <a:solidFill>
                <a:srgbClr val="FEBF02"/>
              </a:solidFill>
              <a:ln w="12700" cap="rnd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8" name="Freeform 12"/>
              <p:cNvSpPr>
                <a:spLocks/>
              </p:cNvSpPr>
              <p:nvPr/>
            </p:nvSpPr>
            <p:spPr bwMode="auto">
              <a:xfrm>
                <a:off x="3990975" y="1219200"/>
                <a:ext cx="117475" cy="3910013"/>
              </a:xfrm>
              <a:custGeom>
                <a:avLst/>
                <a:gdLst>
                  <a:gd name="T0" fmla="*/ 2147483647 w 74"/>
                  <a:gd name="T1" fmla="*/ 2147483647 h 2463"/>
                  <a:gd name="T2" fmla="*/ 0 w 74"/>
                  <a:gd name="T3" fmla="*/ 0 h 2463"/>
                  <a:gd name="T4" fmla="*/ 0 60000 65536"/>
                  <a:gd name="T5" fmla="*/ 0 60000 65536"/>
                  <a:gd name="T6" fmla="*/ 0 w 74"/>
                  <a:gd name="T7" fmla="*/ 0 h 2463"/>
                  <a:gd name="T8" fmla="*/ 74 w 74"/>
                  <a:gd name="T9" fmla="*/ 2463 h 246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4" h="2463">
                    <a:moveTo>
                      <a:pt x="74" y="246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9" name="Freeform 13"/>
              <p:cNvSpPr>
                <a:spLocks/>
              </p:cNvSpPr>
              <p:nvPr/>
            </p:nvSpPr>
            <p:spPr bwMode="auto">
              <a:xfrm>
                <a:off x="3803650" y="4208463"/>
                <a:ext cx="1220788" cy="2001837"/>
              </a:xfrm>
              <a:custGeom>
                <a:avLst/>
                <a:gdLst>
                  <a:gd name="T0" fmla="*/ 0 w 865"/>
                  <a:gd name="T1" fmla="*/ 2147483647 h 1261"/>
                  <a:gd name="T2" fmla="*/ 2147483647 w 865"/>
                  <a:gd name="T3" fmla="*/ 2147483647 h 1261"/>
                  <a:gd name="T4" fmla="*/ 2147483647 w 865"/>
                  <a:gd name="T5" fmla="*/ 2147483647 h 1261"/>
                  <a:gd name="T6" fmla="*/ 0 w 865"/>
                  <a:gd name="T7" fmla="*/ 0 h 1261"/>
                  <a:gd name="T8" fmla="*/ 0 w 865"/>
                  <a:gd name="T9" fmla="*/ 2147483647 h 12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5"/>
                  <a:gd name="T16" fmla="*/ 0 h 1261"/>
                  <a:gd name="T17" fmla="*/ 865 w 865"/>
                  <a:gd name="T18" fmla="*/ 1261 h 12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5" h="1261">
                    <a:moveTo>
                      <a:pt x="0" y="828"/>
                    </a:moveTo>
                    <a:lnTo>
                      <a:pt x="864" y="1260"/>
                    </a:lnTo>
                    <a:lnTo>
                      <a:pt x="864" y="414"/>
                    </a:lnTo>
                    <a:lnTo>
                      <a:pt x="0" y="0"/>
                    </a:lnTo>
                    <a:lnTo>
                      <a:pt x="0" y="828"/>
                    </a:lnTo>
                  </a:path>
                </a:pathLst>
              </a:custGeom>
              <a:solidFill>
                <a:srgbClr val="FEBF02"/>
              </a:solidFill>
              <a:ln w="12700" cap="rnd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10" name="Line 14"/>
              <p:cNvSpPr>
                <a:spLocks noChangeShapeType="1"/>
              </p:cNvSpPr>
              <p:nvPr/>
            </p:nvSpPr>
            <p:spPr bwMode="auto">
              <a:xfrm flipV="1">
                <a:off x="890588" y="3681413"/>
                <a:ext cx="642937" cy="6286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11" name="Line 15"/>
              <p:cNvSpPr>
                <a:spLocks noChangeShapeType="1"/>
              </p:cNvSpPr>
              <p:nvPr/>
            </p:nvSpPr>
            <p:spPr bwMode="auto">
              <a:xfrm flipH="1" flipV="1">
                <a:off x="4108450" y="5129213"/>
                <a:ext cx="33338" cy="10096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12" name="Freeform 18"/>
              <p:cNvSpPr>
                <a:spLocks/>
              </p:cNvSpPr>
              <p:nvPr/>
            </p:nvSpPr>
            <p:spPr bwMode="auto">
              <a:xfrm>
                <a:off x="533400" y="4260850"/>
                <a:ext cx="393700" cy="387350"/>
              </a:xfrm>
              <a:custGeom>
                <a:avLst/>
                <a:gdLst>
                  <a:gd name="T0" fmla="*/ 0 w 279"/>
                  <a:gd name="T1" fmla="*/ 2147483647 h 244"/>
                  <a:gd name="T2" fmla="*/ 2147483647 w 279"/>
                  <a:gd name="T3" fmla="*/ 2147483647 h 244"/>
                  <a:gd name="T4" fmla="*/ 2147483647 w 279"/>
                  <a:gd name="T5" fmla="*/ 0 h 244"/>
                  <a:gd name="T6" fmla="*/ 2147483647 w 279"/>
                  <a:gd name="T7" fmla="*/ 2147483647 h 244"/>
                  <a:gd name="T8" fmla="*/ 2147483647 w 279"/>
                  <a:gd name="T9" fmla="*/ 2147483647 h 244"/>
                  <a:gd name="T10" fmla="*/ 2147483647 w 279"/>
                  <a:gd name="T11" fmla="*/ 2147483647 h 244"/>
                  <a:gd name="T12" fmla="*/ 2147483647 w 279"/>
                  <a:gd name="T13" fmla="*/ 2147483647 h 244"/>
                  <a:gd name="T14" fmla="*/ 2147483647 w 279"/>
                  <a:gd name="T15" fmla="*/ 2147483647 h 244"/>
                  <a:gd name="T16" fmla="*/ 2147483647 w 279"/>
                  <a:gd name="T17" fmla="*/ 2147483647 h 244"/>
                  <a:gd name="T18" fmla="*/ 2147483647 w 279"/>
                  <a:gd name="T19" fmla="*/ 2147483647 h 244"/>
                  <a:gd name="T20" fmla="*/ 2147483647 w 279"/>
                  <a:gd name="T21" fmla="*/ 2147483647 h 244"/>
                  <a:gd name="T22" fmla="*/ 2147483647 w 279"/>
                  <a:gd name="T23" fmla="*/ 2147483647 h 244"/>
                  <a:gd name="T24" fmla="*/ 2147483647 w 279"/>
                  <a:gd name="T25" fmla="*/ 2147483647 h 244"/>
                  <a:gd name="T26" fmla="*/ 2147483647 w 279"/>
                  <a:gd name="T27" fmla="*/ 2147483647 h 244"/>
                  <a:gd name="T28" fmla="*/ 2147483647 w 279"/>
                  <a:gd name="T29" fmla="*/ 2147483647 h 244"/>
                  <a:gd name="T30" fmla="*/ 2147483647 w 279"/>
                  <a:gd name="T31" fmla="*/ 2147483647 h 244"/>
                  <a:gd name="T32" fmla="*/ 2147483647 w 279"/>
                  <a:gd name="T33" fmla="*/ 2147483647 h 244"/>
                  <a:gd name="T34" fmla="*/ 2147483647 w 279"/>
                  <a:gd name="T35" fmla="*/ 2147483647 h 244"/>
                  <a:gd name="T36" fmla="*/ 2147483647 w 279"/>
                  <a:gd name="T37" fmla="*/ 2147483647 h 244"/>
                  <a:gd name="T38" fmla="*/ 2147483647 w 279"/>
                  <a:gd name="T39" fmla="*/ 2147483647 h 244"/>
                  <a:gd name="T40" fmla="*/ 2147483647 w 279"/>
                  <a:gd name="T41" fmla="*/ 2147483647 h 244"/>
                  <a:gd name="T42" fmla="*/ 2147483647 w 279"/>
                  <a:gd name="T43" fmla="*/ 2147483647 h 244"/>
                  <a:gd name="T44" fmla="*/ 2147483647 w 279"/>
                  <a:gd name="T45" fmla="*/ 2147483647 h 244"/>
                  <a:gd name="T46" fmla="*/ 2147483647 w 279"/>
                  <a:gd name="T47" fmla="*/ 2147483647 h 244"/>
                  <a:gd name="T48" fmla="*/ 2147483647 w 279"/>
                  <a:gd name="T49" fmla="*/ 2147483647 h 244"/>
                  <a:gd name="T50" fmla="*/ 2147483647 w 279"/>
                  <a:gd name="T51" fmla="*/ 2147483647 h 244"/>
                  <a:gd name="T52" fmla="*/ 2147483647 w 279"/>
                  <a:gd name="T53" fmla="*/ 2147483647 h 244"/>
                  <a:gd name="T54" fmla="*/ 2147483647 w 279"/>
                  <a:gd name="T55" fmla="*/ 2147483647 h 244"/>
                  <a:gd name="T56" fmla="*/ 2147483647 w 279"/>
                  <a:gd name="T57" fmla="*/ 2147483647 h 244"/>
                  <a:gd name="T58" fmla="*/ 2147483647 w 279"/>
                  <a:gd name="T59" fmla="*/ 2147483647 h 244"/>
                  <a:gd name="T60" fmla="*/ 2147483647 w 279"/>
                  <a:gd name="T61" fmla="*/ 2147483647 h 244"/>
                  <a:gd name="T62" fmla="*/ 2147483647 w 279"/>
                  <a:gd name="T63" fmla="*/ 2147483647 h 244"/>
                  <a:gd name="T64" fmla="*/ 2147483647 w 279"/>
                  <a:gd name="T65" fmla="*/ 2147483647 h 244"/>
                  <a:gd name="T66" fmla="*/ 2147483647 w 279"/>
                  <a:gd name="T67" fmla="*/ 2147483647 h 244"/>
                  <a:gd name="T68" fmla="*/ 2147483647 w 279"/>
                  <a:gd name="T69" fmla="*/ 2147483647 h 244"/>
                  <a:gd name="T70" fmla="*/ 2147483647 w 279"/>
                  <a:gd name="T71" fmla="*/ 2147483647 h 244"/>
                  <a:gd name="T72" fmla="*/ 2147483647 w 279"/>
                  <a:gd name="T73" fmla="*/ 2147483647 h 244"/>
                  <a:gd name="T74" fmla="*/ 2147483647 w 279"/>
                  <a:gd name="T75" fmla="*/ 2147483647 h 244"/>
                  <a:gd name="T76" fmla="*/ 2147483647 w 279"/>
                  <a:gd name="T77" fmla="*/ 2147483647 h 244"/>
                  <a:gd name="T78" fmla="*/ 2147483647 w 279"/>
                  <a:gd name="T79" fmla="*/ 2147483647 h 244"/>
                  <a:gd name="T80" fmla="*/ 2147483647 w 279"/>
                  <a:gd name="T81" fmla="*/ 2147483647 h 244"/>
                  <a:gd name="T82" fmla="*/ 2147483647 w 279"/>
                  <a:gd name="T83" fmla="*/ 2147483647 h 244"/>
                  <a:gd name="T84" fmla="*/ 2147483647 w 279"/>
                  <a:gd name="T85" fmla="*/ 2147483647 h 244"/>
                  <a:gd name="T86" fmla="*/ 2147483647 w 279"/>
                  <a:gd name="T87" fmla="*/ 2147483647 h 244"/>
                  <a:gd name="T88" fmla="*/ 2147483647 w 279"/>
                  <a:gd name="T89" fmla="*/ 2147483647 h 244"/>
                  <a:gd name="T90" fmla="*/ 2147483647 w 279"/>
                  <a:gd name="T91" fmla="*/ 2147483647 h 244"/>
                  <a:gd name="T92" fmla="*/ 2147483647 w 279"/>
                  <a:gd name="T93" fmla="*/ 2147483647 h 244"/>
                  <a:gd name="T94" fmla="*/ 2147483647 w 279"/>
                  <a:gd name="T95" fmla="*/ 2147483647 h 244"/>
                  <a:gd name="T96" fmla="*/ 2147483647 w 279"/>
                  <a:gd name="T97" fmla="*/ 2147483647 h 244"/>
                  <a:gd name="T98" fmla="*/ 0 w 279"/>
                  <a:gd name="T99" fmla="*/ 2147483647 h 24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79"/>
                  <a:gd name="T151" fmla="*/ 0 h 244"/>
                  <a:gd name="T152" fmla="*/ 279 w 279"/>
                  <a:gd name="T153" fmla="*/ 244 h 24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79" h="244">
                    <a:moveTo>
                      <a:pt x="0" y="243"/>
                    </a:moveTo>
                    <a:lnTo>
                      <a:pt x="148" y="1"/>
                    </a:lnTo>
                    <a:lnTo>
                      <a:pt x="160" y="0"/>
                    </a:lnTo>
                    <a:lnTo>
                      <a:pt x="167" y="3"/>
                    </a:lnTo>
                    <a:lnTo>
                      <a:pt x="168" y="6"/>
                    </a:lnTo>
                    <a:lnTo>
                      <a:pt x="173" y="5"/>
                    </a:lnTo>
                    <a:lnTo>
                      <a:pt x="177" y="9"/>
                    </a:lnTo>
                    <a:lnTo>
                      <a:pt x="182" y="7"/>
                    </a:lnTo>
                    <a:lnTo>
                      <a:pt x="184" y="12"/>
                    </a:lnTo>
                    <a:lnTo>
                      <a:pt x="190" y="13"/>
                    </a:lnTo>
                    <a:lnTo>
                      <a:pt x="196" y="14"/>
                    </a:lnTo>
                    <a:lnTo>
                      <a:pt x="201" y="15"/>
                    </a:lnTo>
                    <a:lnTo>
                      <a:pt x="205" y="19"/>
                    </a:lnTo>
                    <a:lnTo>
                      <a:pt x="210" y="20"/>
                    </a:lnTo>
                    <a:lnTo>
                      <a:pt x="215" y="23"/>
                    </a:lnTo>
                    <a:lnTo>
                      <a:pt x="222" y="25"/>
                    </a:lnTo>
                    <a:lnTo>
                      <a:pt x="226" y="29"/>
                    </a:lnTo>
                    <a:lnTo>
                      <a:pt x="229" y="32"/>
                    </a:lnTo>
                    <a:lnTo>
                      <a:pt x="231" y="36"/>
                    </a:lnTo>
                    <a:lnTo>
                      <a:pt x="235" y="39"/>
                    </a:lnTo>
                    <a:lnTo>
                      <a:pt x="238" y="45"/>
                    </a:lnTo>
                    <a:lnTo>
                      <a:pt x="242" y="46"/>
                    </a:lnTo>
                    <a:lnTo>
                      <a:pt x="248" y="55"/>
                    </a:lnTo>
                    <a:lnTo>
                      <a:pt x="249" y="58"/>
                    </a:lnTo>
                    <a:lnTo>
                      <a:pt x="255" y="63"/>
                    </a:lnTo>
                    <a:lnTo>
                      <a:pt x="256" y="67"/>
                    </a:lnTo>
                    <a:lnTo>
                      <a:pt x="261" y="71"/>
                    </a:lnTo>
                    <a:lnTo>
                      <a:pt x="261" y="75"/>
                    </a:lnTo>
                    <a:lnTo>
                      <a:pt x="264" y="81"/>
                    </a:lnTo>
                    <a:lnTo>
                      <a:pt x="264" y="86"/>
                    </a:lnTo>
                    <a:lnTo>
                      <a:pt x="266" y="90"/>
                    </a:lnTo>
                    <a:lnTo>
                      <a:pt x="266" y="95"/>
                    </a:lnTo>
                    <a:lnTo>
                      <a:pt x="268" y="99"/>
                    </a:lnTo>
                    <a:lnTo>
                      <a:pt x="267" y="103"/>
                    </a:lnTo>
                    <a:lnTo>
                      <a:pt x="268" y="109"/>
                    </a:lnTo>
                    <a:lnTo>
                      <a:pt x="269" y="113"/>
                    </a:lnTo>
                    <a:lnTo>
                      <a:pt x="273" y="119"/>
                    </a:lnTo>
                    <a:lnTo>
                      <a:pt x="274" y="124"/>
                    </a:lnTo>
                    <a:lnTo>
                      <a:pt x="275" y="128"/>
                    </a:lnTo>
                    <a:lnTo>
                      <a:pt x="276" y="134"/>
                    </a:lnTo>
                    <a:lnTo>
                      <a:pt x="277" y="138"/>
                    </a:lnTo>
                    <a:lnTo>
                      <a:pt x="277" y="143"/>
                    </a:lnTo>
                    <a:lnTo>
                      <a:pt x="277" y="147"/>
                    </a:lnTo>
                    <a:lnTo>
                      <a:pt x="274" y="153"/>
                    </a:lnTo>
                    <a:lnTo>
                      <a:pt x="276" y="156"/>
                    </a:lnTo>
                    <a:lnTo>
                      <a:pt x="277" y="162"/>
                    </a:lnTo>
                    <a:lnTo>
                      <a:pt x="278" y="167"/>
                    </a:lnTo>
                    <a:lnTo>
                      <a:pt x="275" y="172"/>
                    </a:lnTo>
                    <a:lnTo>
                      <a:pt x="271" y="181"/>
                    </a:lnTo>
                    <a:lnTo>
                      <a:pt x="0" y="243"/>
                    </a:lnTo>
                  </a:path>
                </a:pathLst>
              </a:custGeom>
              <a:noFill/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13" name="Arc 19"/>
              <p:cNvSpPr>
                <a:spLocks/>
              </p:cNvSpPr>
              <p:nvPr/>
            </p:nvSpPr>
            <p:spPr bwMode="auto">
              <a:xfrm rot="720000">
                <a:off x="733425" y="4276725"/>
                <a:ext cx="211138" cy="236538"/>
              </a:xfrm>
              <a:custGeom>
                <a:avLst/>
                <a:gdLst>
                  <a:gd name="T0" fmla="*/ 0 w 21745"/>
                  <a:gd name="T1" fmla="*/ 0 h 21600"/>
                  <a:gd name="T2" fmla="*/ 2147483647 w 21745"/>
                  <a:gd name="T3" fmla="*/ 2147483647 h 21600"/>
                  <a:gd name="T4" fmla="*/ 1179876122 w 21745"/>
                  <a:gd name="T5" fmla="*/ 2147483647 h 21600"/>
                  <a:gd name="T6" fmla="*/ 0 60000 65536"/>
                  <a:gd name="T7" fmla="*/ 0 60000 65536"/>
                  <a:gd name="T8" fmla="*/ 0 60000 65536"/>
                  <a:gd name="T9" fmla="*/ 0 w 21745"/>
                  <a:gd name="T10" fmla="*/ 0 h 21600"/>
                  <a:gd name="T11" fmla="*/ 21745 w 2174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45" h="21600" fill="none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</a:path>
                  <a:path w="21745" h="21600" stroke="0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  <a:lnTo>
                      <a:pt x="145" y="2160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14" name="Line 20"/>
              <p:cNvSpPr>
                <a:spLocks noChangeShapeType="1"/>
              </p:cNvSpPr>
              <p:nvPr/>
            </p:nvSpPr>
            <p:spPr bwMode="auto">
              <a:xfrm flipH="1">
                <a:off x="533400" y="4095750"/>
                <a:ext cx="303213" cy="5508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15" name="Oval 21"/>
              <p:cNvSpPr>
                <a:spLocks noChangeArrowheads="1"/>
              </p:cNvSpPr>
              <p:nvPr/>
            </p:nvSpPr>
            <p:spPr bwMode="auto">
              <a:xfrm rot="19740000">
                <a:off x="811213" y="4281488"/>
                <a:ext cx="100012" cy="19843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16" name="Line 22"/>
              <p:cNvSpPr>
                <a:spLocks noChangeShapeType="1"/>
              </p:cNvSpPr>
              <p:nvPr/>
            </p:nvSpPr>
            <p:spPr bwMode="auto">
              <a:xfrm flipV="1">
                <a:off x="533400" y="4502150"/>
                <a:ext cx="555625" cy="1444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17" name="Freeform 23"/>
              <p:cNvSpPr>
                <a:spLocks/>
              </p:cNvSpPr>
              <p:nvPr/>
            </p:nvSpPr>
            <p:spPr bwMode="auto">
              <a:xfrm>
                <a:off x="3784600" y="6089650"/>
                <a:ext cx="393700" cy="387350"/>
              </a:xfrm>
              <a:custGeom>
                <a:avLst/>
                <a:gdLst>
                  <a:gd name="T0" fmla="*/ 0 w 279"/>
                  <a:gd name="T1" fmla="*/ 2147483647 h 244"/>
                  <a:gd name="T2" fmla="*/ 2147483647 w 279"/>
                  <a:gd name="T3" fmla="*/ 2147483647 h 244"/>
                  <a:gd name="T4" fmla="*/ 2147483647 w 279"/>
                  <a:gd name="T5" fmla="*/ 0 h 244"/>
                  <a:gd name="T6" fmla="*/ 2147483647 w 279"/>
                  <a:gd name="T7" fmla="*/ 2147483647 h 244"/>
                  <a:gd name="T8" fmla="*/ 2147483647 w 279"/>
                  <a:gd name="T9" fmla="*/ 2147483647 h 244"/>
                  <a:gd name="T10" fmla="*/ 2147483647 w 279"/>
                  <a:gd name="T11" fmla="*/ 2147483647 h 244"/>
                  <a:gd name="T12" fmla="*/ 2147483647 w 279"/>
                  <a:gd name="T13" fmla="*/ 2147483647 h 244"/>
                  <a:gd name="T14" fmla="*/ 2147483647 w 279"/>
                  <a:gd name="T15" fmla="*/ 2147483647 h 244"/>
                  <a:gd name="T16" fmla="*/ 2147483647 w 279"/>
                  <a:gd name="T17" fmla="*/ 2147483647 h 244"/>
                  <a:gd name="T18" fmla="*/ 2147483647 w 279"/>
                  <a:gd name="T19" fmla="*/ 2147483647 h 244"/>
                  <a:gd name="T20" fmla="*/ 2147483647 w 279"/>
                  <a:gd name="T21" fmla="*/ 2147483647 h 244"/>
                  <a:gd name="T22" fmla="*/ 2147483647 w 279"/>
                  <a:gd name="T23" fmla="*/ 2147483647 h 244"/>
                  <a:gd name="T24" fmla="*/ 2147483647 w 279"/>
                  <a:gd name="T25" fmla="*/ 2147483647 h 244"/>
                  <a:gd name="T26" fmla="*/ 2147483647 w 279"/>
                  <a:gd name="T27" fmla="*/ 2147483647 h 244"/>
                  <a:gd name="T28" fmla="*/ 2147483647 w 279"/>
                  <a:gd name="T29" fmla="*/ 2147483647 h 244"/>
                  <a:gd name="T30" fmla="*/ 2147483647 w 279"/>
                  <a:gd name="T31" fmla="*/ 2147483647 h 244"/>
                  <a:gd name="T32" fmla="*/ 2147483647 w 279"/>
                  <a:gd name="T33" fmla="*/ 2147483647 h 244"/>
                  <a:gd name="T34" fmla="*/ 2147483647 w 279"/>
                  <a:gd name="T35" fmla="*/ 2147483647 h 244"/>
                  <a:gd name="T36" fmla="*/ 2147483647 w 279"/>
                  <a:gd name="T37" fmla="*/ 2147483647 h 244"/>
                  <a:gd name="T38" fmla="*/ 2147483647 w 279"/>
                  <a:gd name="T39" fmla="*/ 2147483647 h 244"/>
                  <a:gd name="T40" fmla="*/ 2147483647 w 279"/>
                  <a:gd name="T41" fmla="*/ 2147483647 h 244"/>
                  <a:gd name="T42" fmla="*/ 2147483647 w 279"/>
                  <a:gd name="T43" fmla="*/ 2147483647 h 244"/>
                  <a:gd name="T44" fmla="*/ 2147483647 w 279"/>
                  <a:gd name="T45" fmla="*/ 2147483647 h 244"/>
                  <a:gd name="T46" fmla="*/ 2147483647 w 279"/>
                  <a:gd name="T47" fmla="*/ 2147483647 h 244"/>
                  <a:gd name="T48" fmla="*/ 2147483647 w 279"/>
                  <a:gd name="T49" fmla="*/ 2147483647 h 244"/>
                  <a:gd name="T50" fmla="*/ 2147483647 w 279"/>
                  <a:gd name="T51" fmla="*/ 2147483647 h 244"/>
                  <a:gd name="T52" fmla="*/ 2147483647 w 279"/>
                  <a:gd name="T53" fmla="*/ 2147483647 h 244"/>
                  <a:gd name="T54" fmla="*/ 2147483647 w 279"/>
                  <a:gd name="T55" fmla="*/ 2147483647 h 244"/>
                  <a:gd name="T56" fmla="*/ 2147483647 w 279"/>
                  <a:gd name="T57" fmla="*/ 2147483647 h 244"/>
                  <a:gd name="T58" fmla="*/ 2147483647 w 279"/>
                  <a:gd name="T59" fmla="*/ 2147483647 h 244"/>
                  <a:gd name="T60" fmla="*/ 2147483647 w 279"/>
                  <a:gd name="T61" fmla="*/ 2147483647 h 244"/>
                  <a:gd name="T62" fmla="*/ 2147483647 w 279"/>
                  <a:gd name="T63" fmla="*/ 2147483647 h 244"/>
                  <a:gd name="T64" fmla="*/ 2147483647 w 279"/>
                  <a:gd name="T65" fmla="*/ 2147483647 h 244"/>
                  <a:gd name="T66" fmla="*/ 2147483647 w 279"/>
                  <a:gd name="T67" fmla="*/ 2147483647 h 244"/>
                  <a:gd name="T68" fmla="*/ 2147483647 w 279"/>
                  <a:gd name="T69" fmla="*/ 2147483647 h 244"/>
                  <a:gd name="T70" fmla="*/ 2147483647 w 279"/>
                  <a:gd name="T71" fmla="*/ 2147483647 h 244"/>
                  <a:gd name="T72" fmla="*/ 2147483647 w 279"/>
                  <a:gd name="T73" fmla="*/ 2147483647 h 244"/>
                  <a:gd name="T74" fmla="*/ 2147483647 w 279"/>
                  <a:gd name="T75" fmla="*/ 2147483647 h 244"/>
                  <a:gd name="T76" fmla="*/ 2147483647 w 279"/>
                  <a:gd name="T77" fmla="*/ 2147483647 h 244"/>
                  <a:gd name="T78" fmla="*/ 2147483647 w 279"/>
                  <a:gd name="T79" fmla="*/ 2147483647 h 244"/>
                  <a:gd name="T80" fmla="*/ 2147483647 w 279"/>
                  <a:gd name="T81" fmla="*/ 2147483647 h 244"/>
                  <a:gd name="T82" fmla="*/ 2147483647 w 279"/>
                  <a:gd name="T83" fmla="*/ 2147483647 h 244"/>
                  <a:gd name="T84" fmla="*/ 2147483647 w 279"/>
                  <a:gd name="T85" fmla="*/ 2147483647 h 244"/>
                  <a:gd name="T86" fmla="*/ 2147483647 w 279"/>
                  <a:gd name="T87" fmla="*/ 2147483647 h 244"/>
                  <a:gd name="T88" fmla="*/ 2147483647 w 279"/>
                  <a:gd name="T89" fmla="*/ 2147483647 h 244"/>
                  <a:gd name="T90" fmla="*/ 2147483647 w 279"/>
                  <a:gd name="T91" fmla="*/ 2147483647 h 244"/>
                  <a:gd name="T92" fmla="*/ 2147483647 w 279"/>
                  <a:gd name="T93" fmla="*/ 2147483647 h 244"/>
                  <a:gd name="T94" fmla="*/ 2147483647 w 279"/>
                  <a:gd name="T95" fmla="*/ 2147483647 h 244"/>
                  <a:gd name="T96" fmla="*/ 2147483647 w 279"/>
                  <a:gd name="T97" fmla="*/ 2147483647 h 244"/>
                  <a:gd name="T98" fmla="*/ 0 w 279"/>
                  <a:gd name="T99" fmla="*/ 2147483647 h 24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79"/>
                  <a:gd name="T151" fmla="*/ 0 h 244"/>
                  <a:gd name="T152" fmla="*/ 279 w 279"/>
                  <a:gd name="T153" fmla="*/ 244 h 24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79" h="244">
                    <a:moveTo>
                      <a:pt x="0" y="243"/>
                    </a:moveTo>
                    <a:lnTo>
                      <a:pt x="148" y="1"/>
                    </a:lnTo>
                    <a:lnTo>
                      <a:pt x="160" y="0"/>
                    </a:lnTo>
                    <a:lnTo>
                      <a:pt x="167" y="3"/>
                    </a:lnTo>
                    <a:lnTo>
                      <a:pt x="168" y="6"/>
                    </a:lnTo>
                    <a:lnTo>
                      <a:pt x="173" y="5"/>
                    </a:lnTo>
                    <a:lnTo>
                      <a:pt x="177" y="9"/>
                    </a:lnTo>
                    <a:lnTo>
                      <a:pt x="182" y="7"/>
                    </a:lnTo>
                    <a:lnTo>
                      <a:pt x="184" y="12"/>
                    </a:lnTo>
                    <a:lnTo>
                      <a:pt x="190" y="13"/>
                    </a:lnTo>
                    <a:lnTo>
                      <a:pt x="196" y="14"/>
                    </a:lnTo>
                    <a:lnTo>
                      <a:pt x="201" y="15"/>
                    </a:lnTo>
                    <a:lnTo>
                      <a:pt x="205" y="19"/>
                    </a:lnTo>
                    <a:lnTo>
                      <a:pt x="210" y="20"/>
                    </a:lnTo>
                    <a:lnTo>
                      <a:pt x="215" y="23"/>
                    </a:lnTo>
                    <a:lnTo>
                      <a:pt x="222" y="25"/>
                    </a:lnTo>
                    <a:lnTo>
                      <a:pt x="226" y="29"/>
                    </a:lnTo>
                    <a:lnTo>
                      <a:pt x="229" y="32"/>
                    </a:lnTo>
                    <a:lnTo>
                      <a:pt x="231" y="36"/>
                    </a:lnTo>
                    <a:lnTo>
                      <a:pt x="235" y="39"/>
                    </a:lnTo>
                    <a:lnTo>
                      <a:pt x="238" y="45"/>
                    </a:lnTo>
                    <a:lnTo>
                      <a:pt x="242" y="46"/>
                    </a:lnTo>
                    <a:lnTo>
                      <a:pt x="248" y="55"/>
                    </a:lnTo>
                    <a:lnTo>
                      <a:pt x="249" y="58"/>
                    </a:lnTo>
                    <a:lnTo>
                      <a:pt x="255" y="63"/>
                    </a:lnTo>
                    <a:lnTo>
                      <a:pt x="256" y="67"/>
                    </a:lnTo>
                    <a:lnTo>
                      <a:pt x="261" y="71"/>
                    </a:lnTo>
                    <a:lnTo>
                      <a:pt x="261" y="75"/>
                    </a:lnTo>
                    <a:lnTo>
                      <a:pt x="264" y="81"/>
                    </a:lnTo>
                    <a:lnTo>
                      <a:pt x="264" y="86"/>
                    </a:lnTo>
                    <a:lnTo>
                      <a:pt x="266" y="90"/>
                    </a:lnTo>
                    <a:lnTo>
                      <a:pt x="266" y="95"/>
                    </a:lnTo>
                    <a:lnTo>
                      <a:pt x="268" y="99"/>
                    </a:lnTo>
                    <a:lnTo>
                      <a:pt x="267" y="103"/>
                    </a:lnTo>
                    <a:lnTo>
                      <a:pt x="268" y="109"/>
                    </a:lnTo>
                    <a:lnTo>
                      <a:pt x="269" y="113"/>
                    </a:lnTo>
                    <a:lnTo>
                      <a:pt x="273" y="119"/>
                    </a:lnTo>
                    <a:lnTo>
                      <a:pt x="274" y="124"/>
                    </a:lnTo>
                    <a:lnTo>
                      <a:pt x="275" y="128"/>
                    </a:lnTo>
                    <a:lnTo>
                      <a:pt x="276" y="134"/>
                    </a:lnTo>
                    <a:lnTo>
                      <a:pt x="277" y="138"/>
                    </a:lnTo>
                    <a:lnTo>
                      <a:pt x="277" y="143"/>
                    </a:lnTo>
                    <a:lnTo>
                      <a:pt x="277" y="147"/>
                    </a:lnTo>
                    <a:lnTo>
                      <a:pt x="274" y="153"/>
                    </a:lnTo>
                    <a:lnTo>
                      <a:pt x="276" y="156"/>
                    </a:lnTo>
                    <a:lnTo>
                      <a:pt x="277" y="162"/>
                    </a:lnTo>
                    <a:lnTo>
                      <a:pt x="278" y="167"/>
                    </a:lnTo>
                    <a:lnTo>
                      <a:pt x="275" y="172"/>
                    </a:lnTo>
                    <a:lnTo>
                      <a:pt x="271" y="181"/>
                    </a:lnTo>
                    <a:lnTo>
                      <a:pt x="0" y="243"/>
                    </a:lnTo>
                  </a:path>
                </a:pathLst>
              </a:custGeom>
              <a:noFill/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18" name="Arc 24"/>
              <p:cNvSpPr>
                <a:spLocks/>
              </p:cNvSpPr>
              <p:nvPr/>
            </p:nvSpPr>
            <p:spPr bwMode="auto">
              <a:xfrm rot="720000">
                <a:off x="3984625" y="6105525"/>
                <a:ext cx="211138" cy="236538"/>
              </a:xfrm>
              <a:custGeom>
                <a:avLst/>
                <a:gdLst>
                  <a:gd name="T0" fmla="*/ 0 w 21745"/>
                  <a:gd name="T1" fmla="*/ 0 h 21600"/>
                  <a:gd name="T2" fmla="*/ 2147483647 w 21745"/>
                  <a:gd name="T3" fmla="*/ 2147483647 h 21600"/>
                  <a:gd name="T4" fmla="*/ 1179876122 w 21745"/>
                  <a:gd name="T5" fmla="*/ 2147483647 h 21600"/>
                  <a:gd name="T6" fmla="*/ 0 60000 65536"/>
                  <a:gd name="T7" fmla="*/ 0 60000 65536"/>
                  <a:gd name="T8" fmla="*/ 0 60000 65536"/>
                  <a:gd name="T9" fmla="*/ 0 w 21745"/>
                  <a:gd name="T10" fmla="*/ 0 h 21600"/>
                  <a:gd name="T11" fmla="*/ 21745 w 2174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45" h="21600" fill="none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</a:path>
                  <a:path w="21745" h="21600" stroke="0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  <a:lnTo>
                      <a:pt x="145" y="2160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19" name="Line 25"/>
              <p:cNvSpPr>
                <a:spLocks noChangeShapeType="1"/>
              </p:cNvSpPr>
              <p:nvPr/>
            </p:nvSpPr>
            <p:spPr bwMode="auto">
              <a:xfrm flipH="1">
                <a:off x="3784600" y="5924550"/>
                <a:ext cx="303213" cy="5508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20" name="Oval 26"/>
              <p:cNvSpPr>
                <a:spLocks noChangeArrowheads="1"/>
              </p:cNvSpPr>
              <p:nvPr/>
            </p:nvSpPr>
            <p:spPr bwMode="auto">
              <a:xfrm rot="19740000">
                <a:off x="4062413" y="6110288"/>
                <a:ext cx="100012" cy="19843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21" name="Line 27"/>
              <p:cNvSpPr>
                <a:spLocks noChangeShapeType="1"/>
              </p:cNvSpPr>
              <p:nvPr/>
            </p:nvSpPr>
            <p:spPr bwMode="auto">
              <a:xfrm flipV="1">
                <a:off x="3784600" y="6330950"/>
                <a:ext cx="555625" cy="1444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22" name="Oval 33"/>
              <p:cNvSpPr>
                <a:spLocks noChangeArrowheads="1"/>
              </p:cNvSpPr>
              <p:nvPr/>
            </p:nvSpPr>
            <p:spPr bwMode="auto">
              <a:xfrm>
                <a:off x="4079875" y="5081588"/>
                <a:ext cx="57150" cy="63500"/>
              </a:xfrm>
              <a:prstGeom prst="ellipse">
                <a:avLst/>
              </a:prstGeom>
              <a:solidFill>
                <a:srgbClr val="037C03"/>
              </a:solidFill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23" name="Oval 34"/>
              <p:cNvSpPr>
                <a:spLocks noChangeArrowheads="1"/>
              </p:cNvSpPr>
              <p:nvPr/>
            </p:nvSpPr>
            <p:spPr bwMode="auto">
              <a:xfrm>
                <a:off x="1504950" y="3649663"/>
                <a:ext cx="57150" cy="63500"/>
              </a:xfrm>
              <a:prstGeom prst="ellipse">
                <a:avLst/>
              </a:prstGeom>
              <a:solidFill>
                <a:srgbClr val="037C03"/>
              </a:solidFill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</p:grpSp>
        <p:sp>
          <p:nvSpPr>
            <p:cNvPr id="50" name="Text Box 26"/>
            <p:cNvSpPr txBox="1">
              <a:spLocks noChangeArrowheads="1"/>
            </p:cNvSpPr>
            <p:nvPr/>
          </p:nvSpPr>
          <p:spPr bwMode="auto">
            <a:xfrm>
              <a:off x="3657600" y="753824"/>
              <a:ext cx="809272" cy="5470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X</a:t>
              </a:r>
              <a:endParaRPr lang="en-US" sz="2000" baseline="-25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51" name="Text Box 26"/>
            <p:cNvSpPr txBox="1">
              <a:spLocks noChangeArrowheads="1"/>
            </p:cNvSpPr>
            <p:nvPr/>
          </p:nvSpPr>
          <p:spPr bwMode="auto">
            <a:xfrm>
              <a:off x="867127" y="3092412"/>
              <a:ext cx="809272" cy="5470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x</a:t>
              </a:r>
              <a:endParaRPr lang="en-US" sz="2000" baseline="-25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52" name="Text Box 26"/>
            <p:cNvSpPr txBox="1">
              <a:spLocks noChangeArrowheads="1"/>
            </p:cNvSpPr>
            <p:nvPr/>
          </p:nvSpPr>
          <p:spPr bwMode="auto">
            <a:xfrm>
              <a:off x="3520189" y="4479002"/>
              <a:ext cx="809272" cy="5470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x'</a:t>
              </a:r>
              <a:endParaRPr lang="en-US" sz="2000" baseline="-25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DCBBFD8-6128-8833-557F-1A548C4BBF37}"/>
                  </a:ext>
                </a:extLst>
              </p14:cNvPr>
              <p14:cNvContentPartPr/>
              <p14:nvPr/>
            </p14:nvContentPartPr>
            <p14:xfrm>
              <a:off x="6023574" y="2480509"/>
              <a:ext cx="342000" cy="2052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DCBBFD8-6128-8833-557F-1A548C4BBF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14574" y="2471509"/>
                <a:ext cx="3596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1CA362C-3846-DE0E-ADE2-DE8F35DAF218}"/>
                  </a:ext>
                </a:extLst>
              </p14:cNvPr>
              <p14:cNvContentPartPr/>
              <p14:nvPr/>
            </p14:nvContentPartPr>
            <p14:xfrm>
              <a:off x="5133294" y="4356109"/>
              <a:ext cx="234000" cy="874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1CA362C-3846-DE0E-ADE2-DE8F35DAF2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24654" y="4347109"/>
                <a:ext cx="25164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4635290-47F2-7A63-5911-A52CFD06D716}"/>
                  </a:ext>
                </a:extLst>
              </p14:cNvPr>
              <p14:cNvContentPartPr/>
              <p14:nvPr/>
            </p14:nvContentPartPr>
            <p14:xfrm>
              <a:off x="7016454" y="4374109"/>
              <a:ext cx="239040" cy="1422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4635290-47F2-7A63-5911-A52CFD06D7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07454" y="4365109"/>
                <a:ext cx="25668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F68BFCB1-68F5-3C38-5CA6-4C2C8ADD4370}"/>
              </a:ext>
            </a:extLst>
          </p:cNvPr>
          <p:cNvGrpSpPr/>
          <p:nvPr/>
        </p:nvGrpSpPr>
        <p:grpSpPr>
          <a:xfrm>
            <a:off x="5440734" y="4137589"/>
            <a:ext cx="1012680" cy="810000"/>
            <a:chOff x="5440734" y="4137589"/>
            <a:chExt cx="1012680" cy="81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D009406-E6F5-0A41-FC18-09BA800F98E3}"/>
                    </a:ext>
                  </a:extLst>
                </p14:cNvPr>
                <p14:cNvContentPartPr/>
                <p14:nvPr/>
              </p14:nvContentPartPr>
              <p14:xfrm>
                <a:off x="5440734" y="4518829"/>
                <a:ext cx="182520" cy="61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D009406-E6F5-0A41-FC18-09BA800F98E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31734" y="4509829"/>
                  <a:ext cx="200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B64DDA4-761D-E5F8-A6A7-15A42148B77C}"/>
                    </a:ext>
                  </a:extLst>
                </p14:cNvPr>
                <p14:cNvContentPartPr/>
                <p14:nvPr/>
              </p14:nvContentPartPr>
              <p14:xfrm>
                <a:off x="5493294" y="4668589"/>
                <a:ext cx="96840" cy="7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B64DDA4-761D-E5F8-A6A7-15A42148B77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84294" y="4659949"/>
                  <a:ext cx="1144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38F28DF-0D92-EA42-9B80-E35C065434C7}"/>
                    </a:ext>
                  </a:extLst>
                </p14:cNvPr>
                <p14:cNvContentPartPr/>
                <p14:nvPr/>
              </p14:nvContentPartPr>
              <p14:xfrm>
                <a:off x="5623614" y="4155229"/>
                <a:ext cx="144360" cy="25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38F28DF-0D92-EA42-9B80-E35C065434C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14614" y="4146589"/>
                  <a:ext cx="162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D21B45A-F8AD-0515-5491-95F2ECEAC91A}"/>
                    </a:ext>
                  </a:extLst>
                </p14:cNvPr>
                <p14:cNvContentPartPr/>
                <p14:nvPr/>
              </p14:nvContentPartPr>
              <p14:xfrm>
                <a:off x="5675454" y="4137589"/>
                <a:ext cx="156240" cy="810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D21B45A-F8AD-0515-5491-95F2ECEAC9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66814" y="4128949"/>
                  <a:ext cx="17388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0EA8292-338A-345F-CED5-D81ABB0966A9}"/>
                    </a:ext>
                  </a:extLst>
                </p14:cNvPr>
                <p14:cNvContentPartPr/>
                <p14:nvPr/>
              </p14:nvContentPartPr>
              <p14:xfrm>
                <a:off x="5887134" y="4285909"/>
                <a:ext cx="244800" cy="163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0EA8292-338A-345F-CED5-D81ABB0966A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78134" y="4276909"/>
                  <a:ext cx="262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C82C371-521F-79E7-C3DF-067DBDAE2DBD}"/>
                    </a:ext>
                  </a:extLst>
                </p14:cNvPr>
                <p14:cNvContentPartPr/>
                <p14:nvPr/>
              </p14:nvContentPartPr>
              <p14:xfrm>
                <a:off x="5941494" y="4245949"/>
                <a:ext cx="227160" cy="208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C82C371-521F-79E7-C3DF-067DBDAE2D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32854" y="4237309"/>
                  <a:ext cx="244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61212B1-AF70-8423-CF17-FBD3706D4798}"/>
                    </a:ext>
                  </a:extLst>
                </p14:cNvPr>
                <p14:cNvContentPartPr/>
                <p14:nvPr/>
              </p14:nvContentPartPr>
              <p14:xfrm>
                <a:off x="5982174" y="4612069"/>
                <a:ext cx="152280" cy="248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61212B1-AF70-8423-CF17-FBD3706D47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73534" y="4603429"/>
                  <a:ext cx="1699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63B875F-DABE-833C-E2B3-BC89D1EE615E}"/>
                    </a:ext>
                  </a:extLst>
                </p14:cNvPr>
                <p14:cNvContentPartPr/>
                <p14:nvPr/>
              </p14:nvContentPartPr>
              <p14:xfrm>
                <a:off x="6165774" y="4145509"/>
                <a:ext cx="287640" cy="790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63B875F-DABE-833C-E2B3-BC89D1EE615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57134" y="4136509"/>
                  <a:ext cx="305280" cy="80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EC6AB10-9678-A0F4-01B0-E03B83CF37C3}"/>
              </a:ext>
            </a:extLst>
          </p:cNvPr>
          <p:cNvGrpSpPr/>
          <p:nvPr/>
        </p:nvGrpSpPr>
        <p:grpSpPr>
          <a:xfrm>
            <a:off x="6284214" y="2133829"/>
            <a:ext cx="1236960" cy="1483200"/>
            <a:chOff x="6284214" y="2133829"/>
            <a:chExt cx="1236960" cy="148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176BA04-C587-8C5D-E8D8-493614703CCA}"/>
                    </a:ext>
                  </a:extLst>
                </p14:cNvPr>
                <p14:cNvContentPartPr/>
                <p14:nvPr/>
              </p14:nvContentPartPr>
              <p14:xfrm>
                <a:off x="6300054" y="2728549"/>
                <a:ext cx="198720" cy="9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176BA04-C587-8C5D-E8D8-493614703CC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91054" y="2719549"/>
                  <a:ext cx="216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B4F83FE-D0B6-3BD7-7B6E-C4EC583D172B}"/>
                    </a:ext>
                  </a:extLst>
                </p14:cNvPr>
                <p14:cNvContentPartPr/>
                <p14:nvPr/>
              </p14:nvContentPartPr>
              <p14:xfrm>
                <a:off x="6284214" y="2897749"/>
                <a:ext cx="143280" cy="55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B4F83FE-D0B6-3BD7-7B6E-C4EC583D172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75214" y="2889109"/>
                  <a:ext cx="160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A3C6324-B8CC-1168-FE8A-1107822C29BE}"/>
                    </a:ext>
                  </a:extLst>
                </p14:cNvPr>
                <p14:cNvContentPartPr/>
                <p14:nvPr/>
              </p14:nvContentPartPr>
              <p14:xfrm>
                <a:off x="6525414" y="2328589"/>
                <a:ext cx="140760" cy="20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A3C6324-B8CC-1168-FE8A-1107822C29B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16414" y="2319589"/>
                  <a:ext cx="158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5EF230A-0D97-5AFF-593E-3BD06B2D070D}"/>
                    </a:ext>
                  </a:extLst>
                </p14:cNvPr>
                <p14:cNvContentPartPr/>
                <p14:nvPr/>
              </p14:nvContentPartPr>
              <p14:xfrm>
                <a:off x="6435774" y="2369629"/>
                <a:ext cx="249120" cy="1076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5EF230A-0D97-5AFF-593E-3BD06B2D070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26774" y="2360629"/>
                  <a:ext cx="266760" cy="10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94C6815-25BF-C828-7521-7C435DD3A7E1}"/>
                    </a:ext>
                  </a:extLst>
                </p14:cNvPr>
                <p14:cNvContentPartPr/>
                <p14:nvPr/>
              </p14:nvContentPartPr>
              <p14:xfrm>
                <a:off x="6795414" y="2261269"/>
                <a:ext cx="276120" cy="295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94C6815-25BF-C828-7521-7C435DD3A7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86414" y="2252269"/>
                  <a:ext cx="293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2CEAF4C-E8AD-2D51-123A-F88D624C4FF2}"/>
                    </a:ext>
                  </a:extLst>
                </p14:cNvPr>
                <p14:cNvContentPartPr/>
                <p14:nvPr/>
              </p14:nvContentPartPr>
              <p14:xfrm>
                <a:off x="6668334" y="2217709"/>
                <a:ext cx="446400" cy="281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2CEAF4C-E8AD-2D51-123A-F88D624C4FF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59334" y="2209069"/>
                  <a:ext cx="464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ACA5BA5-F065-E46D-57CF-CC44A025C383}"/>
                    </a:ext>
                  </a:extLst>
                </p14:cNvPr>
                <p14:cNvContentPartPr/>
                <p14:nvPr/>
              </p14:nvContentPartPr>
              <p14:xfrm>
                <a:off x="6839694" y="2384389"/>
                <a:ext cx="24840" cy="1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ACA5BA5-F065-E46D-57CF-CC44A025C38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30694" y="2375749"/>
                  <a:ext cx="42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69ED721-A082-A5AF-048F-74ECF68B2292}"/>
                    </a:ext>
                  </a:extLst>
                </p14:cNvPr>
                <p14:cNvContentPartPr/>
                <p14:nvPr/>
              </p14:nvContentPartPr>
              <p14:xfrm>
                <a:off x="6714054" y="2384389"/>
                <a:ext cx="386280" cy="101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69ED721-A082-A5AF-048F-74ECF68B229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05054" y="2375749"/>
                  <a:ext cx="403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B3A0665-0022-9F38-4329-55B5F9476270}"/>
                    </a:ext>
                  </a:extLst>
                </p14:cNvPr>
                <p14:cNvContentPartPr/>
                <p14:nvPr/>
              </p14:nvContentPartPr>
              <p14:xfrm>
                <a:off x="6687774" y="2133829"/>
                <a:ext cx="449640" cy="102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B3A0665-0022-9F38-4329-55B5F94762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78774" y="2124829"/>
                  <a:ext cx="467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30D999E-D46F-A5CF-5563-ECE5CCDA317A}"/>
                    </a:ext>
                  </a:extLst>
                </p14:cNvPr>
                <p14:cNvContentPartPr/>
                <p14:nvPr/>
              </p14:nvContentPartPr>
              <p14:xfrm>
                <a:off x="6773454" y="2710549"/>
                <a:ext cx="140400" cy="110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30D999E-D46F-A5CF-5563-ECE5CCDA31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64814" y="2701549"/>
                  <a:ext cx="1580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88A5722-77D4-C179-C4D4-02BFB3630788}"/>
                    </a:ext>
                  </a:extLst>
                </p14:cNvPr>
                <p14:cNvContentPartPr/>
                <p14:nvPr/>
              </p14:nvContentPartPr>
              <p14:xfrm>
                <a:off x="6882534" y="2733229"/>
                <a:ext cx="142920" cy="389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88A5722-77D4-C179-C4D4-02BFB363078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73534" y="2724229"/>
                  <a:ext cx="1605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55A4DF6-BF02-68CA-260F-F2E21C2E7C82}"/>
                    </a:ext>
                  </a:extLst>
                </p14:cNvPr>
                <p14:cNvContentPartPr/>
                <p14:nvPr/>
              </p14:nvContentPartPr>
              <p14:xfrm>
                <a:off x="6792174" y="3256669"/>
                <a:ext cx="392400" cy="326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55A4DF6-BF02-68CA-260F-F2E21C2E7C8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83534" y="3247669"/>
                  <a:ext cx="4100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3A296CC-D0E0-E451-A794-5DF03A5C55E1}"/>
                    </a:ext>
                  </a:extLst>
                </p14:cNvPr>
                <p14:cNvContentPartPr/>
                <p14:nvPr/>
              </p14:nvContentPartPr>
              <p14:xfrm>
                <a:off x="7214814" y="2177029"/>
                <a:ext cx="306360" cy="1440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3A296CC-D0E0-E451-A794-5DF03A5C55E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06174" y="2168029"/>
                  <a:ext cx="324000" cy="145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2905330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7686" y="728094"/>
            <a:ext cx="7618939" cy="407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>
              <a:tabLst>
                <a:tab pos="2298182" algn="l"/>
              </a:tabLst>
            </a:pPr>
            <a:r>
              <a:rPr sz="2600" spc="-5" dirty="0">
                <a:solidFill>
                  <a:prstClr val="black"/>
                </a:solidFill>
                <a:latin typeface="Arial"/>
                <a:cs typeface="Arial"/>
              </a:rPr>
              <a:t>Optic axes of 2 cameras are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prstClr val="black"/>
                </a:solidFill>
                <a:latin typeface="Arial"/>
                <a:cs typeface="Arial"/>
              </a:rPr>
              <a:t>parallel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51459" y="2339255"/>
            <a:ext cx="5048303" cy="76483"/>
          </a:xfrm>
          <a:custGeom>
            <a:avLst/>
            <a:gdLst/>
            <a:ahLst/>
            <a:cxnLst/>
            <a:rect l="l" t="t" r="r" b="b"/>
            <a:pathLst>
              <a:path w="5034280" h="76200">
                <a:moveTo>
                  <a:pt x="4975098" y="38099"/>
                </a:moveTo>
                <a:lnTo>
                  <a:pt x="4973574" y="35051"/>
                </a:lnTo>
                <a:lnTo>
                  <a:pt x="4970526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4970526" y="42671"/>
                </a:lnTo>
                <a:lnTo>
                  <a:pt x="4973574" y="41147"/>
                </a:lnTo>
                <a:lnTo>
                  <a:pt x="4975098" y="38099"/>
                </a:lnTo>
                <a:close/>
              </a:path>
              <a:path w="5034280" h="76200">
                <a:moveTo>
                  <a:pt x="5033772" y="38099"/>
                </a:moveTo>
                <a:lnTo>
                  <a:pt x="4957572" y="0"/>
                </a:lnTo>
                <a:lnTo>
                  <a:pt x="4957572" y="33527"/>
                </a:lnTo>
                <a:lnTo>
                  <a:pt x="4970526" y="33527"/>
                </a:lnTo>
                <a:lnTo>
                  <a:pt x="4973574" y="35051"/>
                </a:lnTo>
                <a:lnTo>
                  <a:pt x="4975098" y="38099"/>
                </a:lnTo>
                <a:lnTo>
                  <a:pt x="4975098" y="67436"/>
                </a:lnTo>
                <a:lnTo>
                  <a:pt x="5033772" y="38099"/>
                </a:lnTo>
                <a:close/>
              </a:path>
              <a:path w="5034280" h="76200">
                <a:moveTo>
                  <a:pt x="4975098" y="67436"/>
                </a:moveTo>
                <a:lnTo>
                  <a:pt x="4975098" y="38099"/>
                </a:lnTo>
                <a:lnTo>
                  <a:pt x="4973574" y="41147"/>
                </a:lnTo>
                <a:lnTo>
                  <a:pt x="4970526" y="42671"/>
                </a:lnTo>
                <a:lnTo>
                  <a:pt x="4957572" y="42671"/>
                </a:lnTo>
                <a:lnTo>
                  <a:pt x="4957572" y="76199"/>
                </a:lnTo>
                <a:lnTo>
                  <a:pt x="4975098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51459" y="3562987"/>
            <a:ext cx="5430364" cy="76483"/>
          </a:xfrm>
          <a:custGeom>
            <a:avLst/>
            <a:gdLst/>
            <a:ahLst/>
            <a:cxnLst/>
            <a:rect l="l" t="t" r="r" b="b"/>
            <a:pathLst>
              <a:path w="5415280" h="76200">
                <a:moveTo>
                  <a:pt x="5356098" y="38100"/>
                </a:moveTo>
                <a:lnTo>
                  <a:pt x="5354574" y="35051"/>
                </a:lnTo>
                <a:lnTo>
                  <a:pt x="5351526" y="33527"/>
                </a:lnTo>
                <a:lnTo>
                  <a:pt x="4572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5351526" y="42672"/>
                </a:lnTo>
                <a:lnTo>
                  <a:pt x="5354574" y="41148"/>
                </a:lnTo>
                <a:lnTo>
                  <a:pt x="5356098" y="38100"/>
                </a:lnTo>
                <a:close/>
              </a:path>
              <a:path w="5415280" h="76200">
                <a:moveTo>
                  <a:pt x="5414772" y="38100"/>
                </a:moveTo>
                <a:lnTo>
                  <a:pt x="5338572" y="0"/>
                </a:lnTo>
                <a:lnTo>
                  <a:pt x="5338572" y="33527"/>
                </a:lnTo>
                <a:lnTo>
                  <a:pt x="5351526" y="33527"/>
                </a:lnTo>
                <a:lnTo>
                  <a:pt x="5354574" y="35051"/>
                </a:lnTo>
                <a:lnTo>
                  <a:pt x="5356098" y="38100"/>
                </a:lnTo>
                <a:lnTo>
                  <a:pt x="5356098" y="67437"/>
                </a:lnTo>
                <a:lnTo>
                  <a:pt x="5414772" y="38100"/>
                </a:lnTo>
                <a:close/>
              </a:path>
              <a:path w="5415280" h="76200">
                <a:moveTo>
                  <a:pt x="5356098" y="67437"/>
                </a:moveTo>
                <a:lnTo>
                  <a:pt x="5356098" y="38100"/>
                </a:lnTo>
                <a:lnTo>
                  <a:pt x="5354574" y="41148"/>
                </a:lnTo>
                <a:lnTo>
                  <a:pt x="5351526" y="42672"/>
                </a:lnTo>
                <a:lnTo>
                  <a:pt x="5338572" y="42672"/>
                </a:lnTo>
                <a:lnTo>
                  <a:pt x="5338572" y="76200"/>
                </a:lnTo>
                <a:lnTo>
                  <a:pt x="5356098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13063" y="2443357"/>
            <a:ext cx="119394" cy="2497858"/>
          </a:xfrm>
          <a:custGeom>
            <a:avLst/>
            <a:gdLst/>
            <a:ahLst/>
            <a:cxnLst/>
            <a:rect l="l" t="t" r="r" b="b"/>
            <a:pathLst>
              <a:path w="85725" h="2743200">
                <a:moveTo>
                  <a:pt x="85344" y="2657094"/>
                </a:moveTo>
                <a:lnTo>
                  <a:pt x="0" y="2657094"/>
                </a:lnTo>
                <a:lnTo>
                  <a:pt x="28194" y="2713985"/>
                </a:lnTo>
                <a:lnTo>
                  <a:pt x="28194" y="2671572"/>
                </a:lnTo>
                <a:lnTo>
                  <a:pt x="57150" y="2671572"/>
                </a:lnTo>
                <a:lnTo>
                  <a:pt x="57150" y="2713985"/>
                </a:lnTo>
                <a:lnTo>
                  <a:pt x="85344" y="2657094"/>
                </a:lnTo>
                <a:close/>
              </a:path>
              <a:path w="85725" h="2743200">
                <a:moveTo>
                  <a:pt x="57150" y="2657094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2657094"/>
                </a:lnTo>
                <a:lnTo>
                  <a:pt x="57150" y="2657094"/>
                </a:lnTo>
                <a:close/>
              </a:path>
              <a:path w="85725" h="2743200">
                <a:moveTo>
                  <a:pt x="57150" y="2713985"/>
                </a:moveTo>
                <a:lnTo>
                  <a:pt x="57150" y="2671572"/>
                </a:lnTo>
                <a:lnTo>
                  <a:pt x="28194" y="2671572"/>
                </a:lnTo>
                <a:lnTo>
                  <a:pt x="28194" y="2713985"/>
                </a:lnTo>
                <a:lnTo>
                  <a:pt x="42672" y="2743200"/>
                </a:lnTo>
                <a:lnTo>
                  <a:pt x="57150" y="27139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93604" y="4289578"/>
            <a:ext cx="152825" cy="152967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lnTo>
                  <a:pt x="146387" y="46612"/>
                </a:lnTo>
                <a:lnTo>
                  <a:pt x="130016" y="22383"/>
                </a:lnTo>
                <a:lnTo>
                  <a:pt x="105787" y="6012"/>
                </a:lnTo>
                <a:lnTo>
                  <a:pt x="76200" y="0"/>
                </a:lnTo>
                <a:lnTo>
                  <a:pt x="46612" y="6012"/>
                </a:lnTo>
                <a:lnTo>
                  <a:pt x="22383" y="22383"/>
                </a:lnTo>
                <a:lnTo>
                  <a:pt x="6012" y="46612"/>
                </a:lnTo>
                <a:lnTo>
                  <a:pt x="0" y="76200"/>
                </a:lnTo>
                <a:lnTo>
                  <a:pt x="6012" y="105787"/>
                </a:lnTo>
                <a:lnTo>
                  <a:pt x="22383" y="130016"/>
                </a:lnTo>
                <a:lnTo>
                  <a:pt x="46612" y="146387"/>
                </a:lnTo>
                <a:lnTo>
                  <a:pt x="76200" y="152400"/>
                </a:lnTo>
                <a:lnTo>
                  <a:pt x="105787" y="146387"/>
                </a:lnTo>
                <a:lnTo>
                  <a:pt x="130016" y="130016"/>
                </a:lnTo>
                <a:lnTo>
                  <a:pt x="146387" y="105787"/>
                </a:lnTo>
                <a:lnTo>
                  <a:pt x="152400" y="7620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93604" y="4289578"/>
            <a:ext cx="152825" cy="152967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612" y="6012"/>
                </a:lnTo>
                <a:lnTo>
                  <a:pt x="22383" y="22383"/>
                </a:lnTo>
                <a:lnTo>
                  <a:pt x="6012" y="46612"/>
                </a:lnTo>
                <a:lnTo>
                  <a:pt x="0" y="76200"/>
                </a:lnTo>
                <a:lnTo>
                  <a:pt x="6012" y="105787"/>
                </a:lnTo>
                <a:lnTo>
                  <a:pt x="22383" y="130016"/>
                </a:lnTo>
                <a:lnTo>
                  <a:pt x="46612" y="146387"/>
                </a:lnTo>
                <a:lnTo>
                  <a:pt x="76200" y="152400"/>
                </a:lnTo>
                <a:lnTo>
                  <a:pt x="105787" y="146387"/>
                </a:lnTo>
                <a:lnTo>
                  <a:pt x="130016" y="130016"/>
                </a:lnTo>
                <a:lnTo>
                  <a:pt x="146387" y="105787"/>
                </a:lnTo>
                <a:lnTo>
                  <a:pt x="152400" y="76200"/>
                </a:lnTo>
                <a:lnTo>
                  <a:pt x="146387" y="46612"/>
                </a:lnTo>
                <a:lnTo>
                  <a:pt x="130016" y="22383"/>
                </a:lnTo>
                <a:lnTo>
                  <a:pt x="105787" y="6012"/>
                </a:lnTo>
                <a:lnTo>
                  <a:pt x="76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6045" y="2377497"/>
            <a:ext cx="4813972" cy="1988565"/>
          </a:xfrm>
          <a:custGeom>
            <a:avLst/>
            <a:gdLst/>
            <a:ahLst/>
            <a:cxnLst/>
            <a:rect l="l" t="t" r="r" b="b"/>
            <a:pathLst>
              <a:path w="4800600" h="1981200">
                <a:moveTo>
                  <a:pt x="0" y="0"/>
                </a:moveTo>
                <a:lnTo>
                  <a:pt x="4800600" y="1981199"/>
                </a:lnTo>
              </a:path>
            </a:pathLst>
          </a:custGeom>
          <a:ln w="952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56045" y="3601229"/>
            <a:ext cx="4813972" cy="764833"/>
          </a:xfrm>
          <a:custGeom>
            <a:avLst/>
            <a:gdLst/>
            <a:ahLst/>
            <a:cxnLst/>
            <a:rect l="l" t="t" r="r" b="b"/>
            <a:pathLst>
              <a:path w="4800600" h="762000">
                <a:moveTo>
                  <a:pt x="0" y="0"/>
                </a:moveTo>
                <a:lnTo>
                  <a:pt x="4800600" y="761999"/>
                </a:lnTo>
              </a:path>
            </a:pathLst>
          </a:custGeom>
          <a:ln w="952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79633" y="2033322"/>
            <a:ext cx="4890384" cy="76483"/>
          </a:xfrm>
          <a:custGeom>
            <a:avLst/>
            <a:gdLst/>
            <a:ahLst/>
            <a:cxnLst/>
            <a:rect l="l" t="t" r="r" b="b"/>
            <a:pathLst>
              <a:path w="4876800" h="76200">
                <a:moveTo>
                  <a:pt x="76200" y="33527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60198" y="35051"/>
                </a:lnTo>
                <a:lnTo>
                  <a:pt x="63245" y="33527"/>
                </a:lnTo>
                <a:lnTo>
                  <a:pt x="76200" y="33527"/>
                </a:lnTo>
                <a:close/>
              </a:path>
              <a:path w="4876800" h="76200">
                <a:moveTo>
                  <a:pt x="4818126" y="38099"/>
                </a:moveTo>
                <a:lnTo>
                  <a:pt x="4816602" y="35051"/>
                </a:lnTo>
                <a:lnTo>
                  <a:pt x="4813554" y="33527"/>
                </a:lnTo>
                <a:lnTo>
                  <a:pt x="63245" y="33527"/>
                </a:lnTo>
                <a:lnTo>
                  <a:pt x="60198" y="35051"/>
                </a:lnTo>
                <a:lnTo>
                  <a:pt x="58674" y="38100"/>
                </a:lnTo>
                <a:lnTo>
                  <a:pt x="60198" y="41148"/>
                </a:lnTo>
                <a:lnTo>
                  <a:pt x="63245" y="42672"/>
                </a:lnTo>
                <a:lnTo>
                  <a:pt x="4813554" y="42671"/>
                </a:lnTo>
                <a:lnTo>
                  <a:pt x="4816602" y="41147"/>
                </a:lnTo>
                <a:lnTo>
                  <a:pt x="4818126" y="38099"/>
                </a:lnTo>
                <a:close/>
              </a:path>
              <a:path w="4876800" h="76200">
                <a:moveTo>
                  <a:pt x="76200" y="76200"/>
                </a:moveTo>
                <a:lnTo>
                  <a:pt x="76200" y="42672"/>
                </a:lnTo>
                <a:lnTo>
                  <a:pt x="63245" y="42672"/>
                </a:lnTo>
                <a:lnTo>
                  <a:pt x="60198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  <a:path w="4876800" h="76200">
                <a:moveTo>
                  <a:pt x="4876800" y="38099"/>
                </a:moveTo>
                <a:lnTo>
                  <a:pt x="4800600" y="0"/>
                </a:lnTo>
                <a:lnTo>
                  <a:pt x="4800600" y="33527"/>
                </a:lnTo>
                <a:lnTo>
                  <a:pt x="4813554" y="33527"/>
                </a:lnTo>
                <a:lnTo>
                  <a:pt x="4816602" y="35051"/>
                </a:lnTo>
                <a:lnTo>
                  <a:pt x="4818126" y="38099"/>
                </a:lnTo>
                <a:lnTo>
                  <a:pt x="4818126" y="67436"/>
                </a:lnTo>
                <a:lnTo>
                  <a:pt x="4876800" y="38099"/>
                </a:lnTo>
                <a:close/>
              </a:path>
              <a:path w="4876800" h="76200">
                <a:moveTo>
                  <a:pt x="4818126" y="67436"/>
                </a:moveTo>
                <a:lnTo>
                  <a:pt x="4818126" y="38099"/>
                </a:lnTo>
                <a:lnTo>
                  <a:pt x="4816602" y="41147"/>
                </a:lnTo>
                <a:lnTo>
                  <a:pt x="4813554" y="42671"/>
                </a:lnTo>
                <a:lnTo>
                  <a:pt x="4800600" y="42671"/>
                </a:lnTo>
                <a:lnTo>
                  <a:pt x="4800600" y="76199"/>
                </a:lnTo>
                <a:lnTo>
                  <a:pt x="4818126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5371" y="2046070"/>
            <a:ext cx="110797" cy="31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000" spc="-5" dirty="0">
                <a:solidFill>
                  <a:prstClr val="black"/>
                </a:solidFill>
                <a:latin typeface="Times New Roman"/>
                <a:cs typeface="Times New Roman"/>
              </a:rPr>
              <a:t>f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25371" y="3193190"/>
            <a:ext cx="110797" cy="31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000" spc="-5" dirty="0">
                <a:solidFill>
                  <a:prstClr val="black"/>
                </a:solidFill>
                <a:latin typeface="Times New Roman"/>
                <a:cs typeface="Times New Roman"/>
              </a:rPr>
              <a:t>f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79632" y="2301013"/>
            <a:ext cx="152825" cy="152967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612" y="6012"/>
                </a:lnTo>
                <a:lnTo>
                  <a:pt x="22383" y="22383"/>
                </a:lnTo>
                <a:lnTo>
                  <a:pt x="6012" y="46612"/>
                </a:lnTo>
                <a:lnTo>
                  <a:pt x="0" y="76200"/>
                </a:lnTo>
                <a:lnTo>
                  <a:pt x="6012" y="105787"/>
                </a:lnTo>
                <a:lnTo>
                  <a:pt x="22383" y="130016"/>
                </a:lnTo>
                <a:lnTo>
                  <a:pt x="46612" y="146387"/>
                </a:lnTo>
                <a:lnTo>
                  <a:pt x="76200" y="152400"/>
                </a:lnTo>
                <a:lnTo>
                  <a:pt x="105787" y="146387"/>
                </a:lnTo>
                <a:lnTo>
                  <a:pt x="130016" y="130016"/>
                </a:lnTo>
                <a:lnTo>
                  <a:pt x="146387" y="105787"/>
                </a:lnTo>
                <a:lnTo>
                  <a:pt x="152400" y="76200"/>
                </a:lnTo>
                <a:lnTo>
                  <a:pt x="146387" y="46612"/>
                </a:lnTo>
                <a:lnTo>
                  <a:pt x="130016" y="22383"/>
                </a:lnTo>
                <a:lnTo>
                  <a:pt x="105787" y="6012"/>
                </a:lnTo>
                <a:lnTo>
                  <a:pt x="76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79632" y="3524745"/>
            <a:ext cx="152825" cy="152967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612" y="6012"/>
                </a:lnTo>
                <a:lnTo>
                  <a:pt x="22383" y="22383"/>
                </a:lnTo>
                <a:lnTo>
                  <a:pt x="6012" y="46612"/>
                </a:lnTo>
                <a:lnTo>
                  <a:pt x="0" y="76200"/>
                </a:lnTo>
                <a:lnTo>
                  <a:pt x="6012" y="105787"/>
                </a:lnTo>
                <a:lnTo>
                  <a:pt x="22383" y="130016"/>
                </a:lnTo>
                <a:lnTo>
                  <a:pt x="46612" y="146387"/>
                </a:lnTo>
                <a:lnTo>
                  <a:pt x="76200" y="152400"/>
                </a:lnTo>
                <a:lnTo>
                  <a:pt x="105787" y="146387"/>
                </a:lnTo>
                <a:lnTo>
                  <a:pt x="130016" y="130016"/>
                </a:lnTo>
                <a:lnTo>
                  <a:pt x="146387" y="105787"/>
                </a:lnTo>
                <a:lnTo>
                  <a:pt x="152400" y="76200"/>
                </a:lnTo>
                <a:lnTo>
                  <a:pt x="146387" y="46612"/>
                </a:lnTo>
                <a:lnTo>
                  <a:pt x="130016" y="22383"/>
                </a:lnTo>
                <a:lnTo>
                  <a:pt x="105787" y="6012"/>
                </a:lnTo>
                <a:lnTo>
                  <a:pt x="76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5696" y="2106746"/>
            <a:ext cx="1337851" cy="378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>
              <a:tabLst>
                <a:tab pos="1138263" algn="l"/>
              </a:tabLst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camer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a	L</a:t>
            </a:r>
          </a:p>
        </p:txBody>
      </p:sp>
      <p:sp>
        <p:nvSpPr>
          <p:cNvPr id="17" name="object 17"/>
          <p:cNvSpPr/>
          <p:nvPr/>
        </p:nvSpPr>
        <p:spPr>
          <a:xfrm>
            <a:off x="2356045" y="2377497"/>
            <a:ext cx="0" cy="1223732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ln w="127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44746" y="2946532"/>
            <a:ext cx="534886" cy="86044"/>
          </a:xfrm>
          <a:custGeom>
            <a:avLst/>
            <a:gdLst/>
            <a:ahLst/>
            <a:cxnLst/>
            <a:rect l="l" t="t" r="r" b="b"/>
            <a:pathLst>
              <a:path w="533400" h="85725">
                <a:moveTo>
                  <a:pt x="461772" y="57150"/>
                </a:moveTo>
                <a:lnTo>
                  <a:pt x="461772" y="28194"/>
                </a:lnTo>
                <a:lnTo>
                  <a:pt x="0" y="28194"/>
                </a:lnTo>
                <a:lnTo>
                  <a:pt x="0" y="57150"/>
                </a:lnTo>
                <a:lnTo>
                  <a:pt x="461772" y="57150"/>
                </a:lnTo>
                <a:close/>
              </a:path>
              <a:path w="533400" h="85725">
                <a:moveTo>
                  <a:pt x="533400" y="42672"/>
                </a:moveTo>
                <a:lnTo>
                  <a:pt x="447294" y="0"/>
                </a:lnTo>
                <a:lnTo>
                  <a:pt x="447294" y="28194"/>
                </a:lnTo>
                <a:lnTo>
                  <a:pt x="461772" y="28194"/>
                </a:lnTo>
                <a:lnTo>
                  <a:pt x="461772" y="78169"/>
                </a:lnTo>
                <a:lnTo>
                  <a:pt x="533400" y="42672"/>
                </a:lnTo>
                <a:close/>
              </a:path>
              <a:path w="533400" h="85725">
                <a:moveTo>
                  <a:pt x="461772" y="78169"/>
                </a:moveTo>
                <a:lnTo>
                  <a:pt x="461772" y="57150"/>
                </a:lnTo>
                <a:lnTo>
                  <a:pt x="447294" y="57150"/>
                </a:lnTo>
                <a:lnTo>
                  <a:pt x="447294" y="85344"/>
                </a:lnTo>
                <a:lnTo>
                  <a:pt x="461772" y="7816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7355" y="2795095"/>
            <a:ext cx="1619303" cy="913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baseline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32498">
              <a:spcBef>
                <a:spcPts val="1324"/>
              </a:spcBef>
              <a:tabLst>
                <a:tab pos="1402605" algn="l"/>
              </a:tabLst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camer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a	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19722" y="2759913"/>
            <a:ext cx="178295" cy="378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400" dirty="0">
                <a:solidFill>
                  <a:srgbClr val="00009A"/>
                </a:solidFill>
                <a:latin typeface="Times New Roman"/>
                <a:cs typeface="Times New Roman"/>
              </a:rPr>
              <a:t>b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70017" y="2377497"/>
            <a:ext cx="0" cy="1988565"/>
          </a:xfrm>
          <a:custGeom>
            <a:avLst/>
            <a:gdLst/>
            <a:ahLst/>
            <a:cxnLst/>
            <a:rect l="l" t="t" r="r" b="b"/>
            <a:pathLst>
              <a:path h="1981200">
                <a:moveTo>
                  <a:pt x="0" y="1981199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78977" y="2183229"/>
            <a:ext cx="212681" cy="378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74802" y="4578533"/>
            <a:ext cx="246430" cy="378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36669" y="2428486"/>
            <a:ext cx="222869" cy="31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000" spc="-10" dirty="0">
                <a:solidFill>
                  <a:prstClr val="black"/>
                </a:solidFill>
                <a:latin typeface="Times New Roman"/>
                <a:cs typeface="Times New Roman"/>
              </a:rPr>
              <a:t>xl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29038" y="3484681"/>
            <a:ext cx="238788" cy="31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000" spc="-5" dirty="0">
                <a:solidFill>
                  <a:prstClr val="black"/>
                </a:solidFill>
                <a:latin typeface="Times New Roman"/>
                <a:cs typeface="Times New Roman"/>
              </a:rPr>
              <a:t>xr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58298" y="1663653"/>
            <a:ext cx="138816" cy="31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000" spc="-5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23478" y="1494880"/>
            <a:ext cx="1626944" cy="378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image</a:t>
            </a:r>
            <a:r>
              <a:rPr sz="2400" spc="-1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planes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64576" y="5305899"/>
            <a:ext cx="1374147" cy="835580"/>
          </a:xfrm>
          <a:custGeom>
            <a:avLst/>
            <a:gdLst/>
            <a:ahLst/>
            <a:cxnLst/>
            <a:rect l="l" t="t" r="r" b="b"/>
            <a:pathLst>
              <a:path w="1370330" h="832485">
                <a:moveTo>
                  <a:pt x="0" y="0"/>
                </a:moveTo>
                <a:lnTo>
                  <a:pt x="0" y="832103"/>
                </a:lnTo>
                <a:lnTo>
                  <a:pt x="1370076" y="832103"/>
                </a:lnTo>
                <a:lnTo>
                  <a:pt x="137007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0624" y="5345670"/>
            <a:ext cx="305649" cy="732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895" indent="-81532"/>
            <a:r>
              <a:rPr sz="2400" u="sng"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prstClr val="black"/>
                </a:solidFill>
                <a:latin typeface="Times New Roman"/>
                <a:cs typeface="Times New Roman"/>
              </a:rPr>
              <a:t>z 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f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73983" y="5345670"/>
            <a:ext cx="305649" cy="732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300" indent="-29938"/>
            <a:r>
              <a:rPr sz="2400" u="sng" spc="-10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prstClr val="black"/>
                </a:solidFill>
                <a:latin typeface="Times New Roman"/>
                <a:cs typeface="Times New Roman"/>
              </a:rPr>
              <a:t>x 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lang="en-US"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l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15510" y="5494048"/>
            <a:ext cx="172564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79"/>
              </a:lnSpc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814518" y="5264599"/>
            <a:ext cx="1577913" cy="835580"/>
          </a:xfrm>
          <a:custGeom>
            <a:avLst/>
            <a:gdLst/>
            <a:ahLst/>
            <a:cxnLst/>
            <a:rect l="l" t="t" r="r" b="b"/>
            <a:pathLst>
              <a:path w="1573529" h="832485">
                <a:moveTo>
                  <a:pt x="0" y="0"/>
                </a:moveTo>
                <a:lnTo>
                  <a:pt x="0" y="832103"/>
                </a:lnTo>
                <a:lnTo>
                  <a:pt x="1573530" y="832103"/>
                </a:lnTo>
                <a:lnTo>
                  <a:pt x="157352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11560" y="5304369"/>
            <a:ext cx="136269" cy="732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z  f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890930" y="5723498"/>
            <a:ext cx="229237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884289" y="5723498"/>
            <a:ext cx="458474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25817" y="5494048"/>
            <a:ext cx="172564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79"/>
              </a:lnSpc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272992" y="2377497"/>
            <a:ext cx="0" cy="382416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571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272992" y="3601229"/>
            <a:ext cx="0" cy="152967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571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170017" y="3601229"/>
            <a:ext cx="0" cy="764833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196579" y="3677712"/>
            <a:ext cx="152825" cy="152967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lnTo>
                  <a:pt x="146387" y="46612"/>
                </a:lnTo>
                <a:lnTo>
                  <a:pt x="130016" y="22383"/>
                </a:lnTo>
                <a:lnTo>
                  <a:pt x="105787" y="6012"/>
                </a:lnTo>
                <a:lnTo>
                  <a:pt x="76200" y="0"/>
                </a:lnTo>
                <a:lnTo>
                  <a:pt x="46612" y="6012"/>
                </a:lnTo>
                <a:lnTo>
                  <a:pt x="22383" y="22383"/>
                </a:lnTo>
                <a:lnTo>
                  <a:pt x="6012" y="46612"/>
                </a:lnTo>
                <a:lnTo>
                  <a:pt x="0" y="76200"/>
                </a:lnTo>
                <a:lnTo>
                  <a:pt x="6012" y="105787"/>
                </a:lnTo>
                <a:lnTo>
                  <a:pt x="22383" y="130016"/>
                </a:lnTo>
                <a:lnTo>
                  <a:pt x="46612" y="146387"/>
                </a:lnTo>
                <a:lnTo>
                  <a:pt x="76200" y="152400"/>
                </a:lnTo>
                <a:lnTo>
                  <a:pt x="105787" y="146387"/>
                </a:lnTo>
                <a:lnTo>
                  <a:pt x="130016" y="130016"/>
                </a:lnTo>
                <a:lnTo>
                  <a:pt x="146387" y="105787"/>
                </a:lnTo>
                <a:lnTo>
                  <a:pt x="152400" y="7620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196579" y="3677712"/>
            <a:ext cx="152825" cy="152967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612" y="6012"/>
                </a:lnTo>
                <a:lnTo>
                  <a:pt x="22383" y="22383"/>
                </a:lnTo>
                <a:lnTo>
                  <a:pt x="6012" y="46612"/>
                </a:lnTo>
                <a:lnTo>
                  <a:pt x="0" y="76200"/>
                </a:lnTo>
                <a:lnTo>
                  <a:pt x="6012" y="105787"/>
                </a:lnTo>
                <a:lnTo>
                  <a:pt x="22383" y="130016"/>
                </a:lnTo>
                <a:lnTo>
                  <a:pt x="46612" y="146387"/>
                </a:lnTo>
                <a:lnTo>
                  <a:pt x="76200" y="152400"/>
                </a:lnTo>
                <a:lnTo>
                  <a:pt x="105787" y="146387"/>
                </a:lnTo>
                <a:lnTo>
                  <a:pt x="130016" y="130016"/>
                </a:lnTo>
                <a:lnTo>
                  <a:pt x="146387" y="105787"/>
                </a:lnTo>
                <a:lnTo>
                  <a:pt x="152400" y="76200"/>
                </a:lnTo>
                <a:lnTo>
                  <a:pt x="146387" y="46612"/>
                </a:lnTo>
                <a:lnTo>
                  <a:pt x="130016" y="22383"/>
                </a:lnTo>
                <a:lnTo>
                  <a:pt x="105787" y="6012"/>
                </a:lnTo>
                <a:lnTo>
                  <a:pt x="76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785189" y="5264599"/>
            <a:ext cx="2392977" cy="835580"/>
          </a:xfrm>
          <a:custGeom>
            <a:avLst/>
            <a:gdLst/>
            <a:ahLst/>
            <a:cxnLst/>
            <a:rect l="l" t="t" r="r" b="b"/>
            <a:pathLst>
              <a:path w="2386329" h="832485">
                <a:moveTo>
                  <a:pt x="0" y="0"/>
                </a:moveTo>
                <a:lnTo>
                  <a:pt x="0" y="832104"/>
                </a:lnTo>
                <a:lnTo>
                  <a:pt x="2385822" y="832104"/>
                </a:lnTo>
                <a:lnTo>
                  <a:pt x="2385822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87132" y="5304369"/>
            <a:ext cx="1220049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84"/>
              </a:lnSpc>
              <a:tabLst>
                <a:tab pos="914050" algn="l"/>
              </a:tabLst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x-b	</a:t>
            </a:r>
            <a:r>
              <a:rPr sz="2400" u="sng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400" u="sng" spc="9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2677">
              <a:lnSpc>
                <a:spcPts val="2874"/>
              </a:lnSpc>
              <a:tabLst>
                <a:tab pos="994944" algn="l"/>
              </a:tabLst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xr	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f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18184" y="5304369"/>
            <a:ext cx="382061" cy="732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37" indent="-106374"/>
            <a:r>
              <a:rPr sz="2400" u="sng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sng" spc="-10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prstClr val="black"/>
                </a:solidFill>
                <a:latin typeface="Times New Roman"/>
                <a:cs typeface="Times New Roman"/>
              </a:rPr>
              <a:t>y 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yl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87955" y="5304369"/>
            <a:ext cx="305649" cy="732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944" indent="-37581"/>
            <a:r>
              <a:rPr sz="2400" u="sng" spc="-10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prstClr val="black"/>
                </a:solidFill>
                <a:latin typeface="Times New Roman"/>
                <a:cs typeface="Times New Roman"/>
              </a:rPr>
              <a:t>y 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yr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36123" y="5452747"/>
            <a:ext cx="172564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79"/>
              </a:lnSpc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29483" y="5452747"/>
            <a:ext cx="172564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79"/>
              </a:lnSpc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310106" y="3805184"/>
            <a:ext cx="1592559" cy="19860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000" spc="-5" dirty="0">
                <a:solidFill>
                  <a:prstClr val="black"/>
                </a:solidFill>
                <a:latin typeface="Times New Roman"/>
                <a:cs typeface="Times New Roman"/>
              </a:rPr>
              <a:t>x-b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9176">
              <a:spcBef>
                <a:spcPts val="1404"/>
              </a:spcBef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P=(x,z)</a:t>
            </a:r>
          </a:p>
          <a:p>
            <a:pPr marL="181536" marR="5096" indent="-637" algn="ctr">
              <a:spcBef>
                <a:spcPts val="1610"/>
              </a:spcBef>
            </a:pPr>
            <a:r>
              <a:rPr sz="2000" spc="-10" dirty="0">
                <a:solidFill>
                  <a:prstClr val="black"/>
                </a:solidFill>
                <a:latin typeface="Times New Roman"/>
                <a:cs typeface="Times New Roman"/>
              </a:rPr>
              <a:t>Y-axis is  perpendicular  </a:t>
            </a:r>
            <a:r>
              <a:rPr sz="2000" spc="-5" dirty="0">
                <a:solidFill>
                  <a:prstClr val="black"/>
                </a:solidFill>
                <a:latin typeface="Times New Roman"/>
                <a:cs typeface="Times New Roman"/>
              </a:rPr>
              <a:t>to the</a:t>
            </a:r>
            <a:r>
              <a:rPr sz="2000" spc="-6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imes New Roman"/>
                <a:cs typeface="Times New Roman"/>
              </a:rPr>
              <a:t>page.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196579" y="2683429"/>
            <a:ext cx="152825" cy="152967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lnTo>
                  <a:pt x="146387" y="46612"/>
                </a:lnTo>
                <a:lnTo>
                  <a:pt x="130016" y="22383"/>
                </a:lnTo>
                <a:lnTo>
                  <a:pt x="105787" y="6012"/>
                </a:lnTo>
                <a:lnTo>
                  <a:pt x="76200" y="0"/>
                </a:lnTo>
                <a:lnTo>
                  <a:pt x="46612" y="6012"/>
                </a:lnTo>
                <a:lnTo>
                  <a:pt x="22383" y="22383"/>
                </a:lnTo>
                <a:lnTo>
                  <a:pt x="6012" y="46612"/>
                </a:lnTo>
                <a:lnTo>
                  <a:pt x="0" y="76200"/>
                </a:lnTo>
                <a:lnTo>
                  <a:pt x="6012" y="105787"/>
                </a:lnTo>
                <a:lnTo>
                  <a:pt x="22383" y="130016"/>
                </a:lnTo>
                <a:lnTo>
                  <a:pt x="46612" y="146387"/>
                </a:lnTo>
                <a:lnTo>
                  <a:pt x="76200" y="152400"/>
                </a:lnTo>
                <a:lnTo>
                  <a:pt x="105787" y="146387"/>
                </a:lnTo>
                <a:lnTo>
                  <a:pt x="130016" y="130016"/>
                </a:lnTo>
                <a:lnTo>
                  <a:pt x="146387" y="105787"/>
                </a:lnTo>
                <a:lnTo>
                  <a:pt x="152400" y="7620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196579" y="2683429"/>
            <a:ext cx="152825" cy="152967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612" y="6012"/>
                </a:lnTo>
                <a:lnTo>
                  <a:pt x="22383" y="22383"/>
                </a:lnTo>
                <a:lnTo>
                  <a:pt x="6012" y="46612"/>
                </a:lnTo>
                <a:lnTo>
                  <a:pt x="0" y="76200"/>
                </a:lnTo>
                <a:lnTo>
                  <a:pt x="6012" y="105787"/>
                </a:lnTo>
                <a:lnTo>
                  <a:pt x="22383" y="130016"/>
                </a:lnTo>
                <a:lnTo>
                  <a:pt x="46612" y="146387"/>
                </a:lnTo>
                <a:lnTo>
                  <a:pt x="76200" y="152400"/>
                </a:lnTo>
                <a:lnTo>
                  <a:pt x="105787" y="146387"/>
                </a:lnTo>
                <a:lnTo>
                  <a:pt x="130016" y="130016"/>
                </a:lnTo>
                <a:lnTo>
                  <a:pt x="146387" y="105787"/>
                </a:lnTo>
                <a:lnTo>
                  <a:pt x="152400" y="76200"/>
                </a:lnTo>
                <a:lnTo>
                  <a:pt x="146387" y="46612"/>
                </a:lnTo>
                <a:lnTo>
                  <a:pt x="130016" y="22383"/>
                </a:lnTo>
                <a:lnTo>
                  <a:pt x="105787" y="6012"/>
                </a:lnTo>
                <a:lnTo>
                  <a:pt x="76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077393" y="6217580"/>
            <a:ext cx="2875648" cy="378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(from similar</a:t>
            </a:r>
            <a:r>
              <a:rPr sz="2400" spc="-9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triangles)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53" name="object 14"/>
          <p:cNvSpPr txBox="1"/>
          <p:nvPr/>
        </p:nvSpPr>
        <p:spPr>
          <a:xfrm>
            <a:off x="2105029" y="2327415"/>
            <a:ext cx="246430" cy="378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735232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840" y="391180"/>
            <a:ext cx="8229600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176"/>
            <a:r>
              <a:rPr sz="3400" spc="-5" dirty="0"/>
              <a:t>3D from Stereo Images</a:t>
            </a:r>
            <a:endParaRPr sz="34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8229600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5096" indent="0">
              <a:buNone/>
            </a:pPr>
            <a:r>
              <a:rPr spc="-5" dirty="0"/>
              <a:t>For stereo cameras with parallel optical axes, focal length f,  baseline b, corresponding </a:t>
            </a:r>
            <a:r>
              <a:rPr dirty="0"/>
              <a:t>image </a:t>
            </a:r>
            <a:r>
              <a:rPr spc="-5" dirty="0"/>
              <a:t>points (xl,yl) and (xr,yr), </a:t>
            </a:r>
            <a:r>
              <a:rPr dirty="0"/>
              <a:t>the  </a:t>
            </a:r>
            <a:r>
              <a:rPr spc="-5" dirty="0"/>
              <a:t>location of the 3D point can be derived from previous </a:t>
            </a:r>
            <a:r>
              <a:rPr spc="-10" dirty="0"/>
              <a:t>slide’s  equations:</a:t>
            </a:r>
          </a:p>
        </p:txBody>
      </p:sp>
      <p:sp>
        <p:nvSpPr>
          <p:cNvPr id="4" name="object 4"/>
          <p:cNvSpPr/>
          <p:nvPr/>
        </p:nvSpPr>
        <p:spPr>
          <a:xfrm>
            <a:off x="571606" y="3809719"/>
            <a:ext cx="4212226" cy="1934389"/>
          </a:xfrm>
          <a:custGeom>
            <a:avLst/>
            <a:gdLst/>
            <a:ahLst/>
            <a:cxnLst/>
            <a:rect l="l" t="t" r="r" b="b"/>
            <a:pathLst>
              <a:path w="4200525" h="1927225">
                <a:moveTo>
                  <a:pt x="0" y="0"/>
                </a:moveTo>
                <a:lnTo>
                  <a:pt x="0" y="1927098"/>
                </a:lnTo>
                <a:lnTo>
                  <a:pt x="4200144" y="1927098"/>
                </a:lnTo>
                <a:lnTo>
                  <a:pt x="420014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771" y="3828233"/>
            <a:ext cx="43426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79"/>
              </a:lnSpc>
              <a:tabLst>
                <a:tab pos="917235" algn="l"/>
                <a:tab pos="1454199" algn="l"/>
              </a:tabLst>
            </a:pPr>
            <a:r>
              <a:rPr sz="2400" b="1" spc="-5" dirty="0">
                <a:solidFill>
                  <a:prstClr val="black"/>
                </a:solidFill>
                <a:latin typeface="Times New Roman"/>
                <a:cs typeface="Times New Roman"/>
              </a:rPr>
              <a:t>Depth	</a:t>
            </a:r>
            <a:r>
              <a:rPr sz="2400" b="1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400" b="1" spc="-5" dirty="0">
                <a:solidFill>
                  <a:prstClr val="black"/>
                </a:solidFill>
                <a:latin typeface="Times New Roman"/>
                <a:cs typeface="Times New Roman"/>
              </a:rPr>
              <a:t> =	f*b </a:t>
            </a:r>
            <a:r>
              <a:rPr sz="2400" b="1" dirty="0">
                <a:solidFill>
                  <a:prstClr val="black"/>
                </a:solidFill>
                <a:latin typeface="Times New Roman"/>
                <a:cs typeface="Times New Roman"/>
              </a:rPr>
              <a:t>/ </a:t>
            </a:r>
            <a:r>
              <a:rPr sz="2400" b="1" spc="-5" dirty="0">
                <a:solidFill>
                  <a:prstClr val="black"/>
                </a:solidFill>
                <a:latin typeface="Times New Roman"/>
                <a:cs typeface="Times New Roman"/>
              </a:rPr>
              <a:t>(xl </a:t>
            </a:r>
            <a:r>
              <a:rPr sz="2400" b="1" dirty="0">
                <a:solidFill>
                  <a:prstClr val="black"/>
                </a:solidFill>
                <a:latin typeface="Times New Roman"/>
                <a:cs typeface="Times New Roman"/>
              </a:rPr>
              <a:t>- </a:t>
            </a:r>
            <a:r>
              <a:rPr sz="2400" b="1" spc="-5" dirty="0">
                <a:solidFill>
                  <a:prstClr val="black"/>
                </a:solidFill>
                <a:latin typeface="Times New Roman"/>
                <a:cs typeface="Times New Roman"/>
              </a:rPr>
              <a:t>xr) =</a:t>
            </a:r>
            <a:r>
              <a:rPr sz="2400" b="1" spc="-1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Times New Roman"/>
                <a:cs typeface="Times New Roman"/>
              </a:rPr>
              <a:t>f*b/d</a:t>
            </a:r>
            <a:endParaRPr sz="2400" b="1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3560" y="4443942"/>
            <a:ext cx="3034203" cy="1138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1419166" algn="l"/>
                <a:tab pos="1826189" algn="l"/>
              </a:tabLst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 xl*z/f	or	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b +</a:t>
            </a:r>
            <a:r>
              <a:rPr sz="2400" spc="-1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xr*z/f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</a:pPr>
            <a:endParaRPr sz="25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lnSpc>
                <a:spcPts val="2879"/>
              </a:lnSpc>
              <a:tabLst>
                <a:tab pos="1495602" algn="l"/>
                <a:tab pos="2056134" algn="l"/>
              </a:tabLst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y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 yl*z/f	or	yr*z/f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617" y="5961021"/>
            <a:ext cx="7958336" cy="439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9"/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Note that </a:t>
            </a:r>
            <a:r>
              <a:rPr sz="28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depth is inversely proportional to</a:t>
            </a:r>
            <a:r>
              <a:rPr sz="28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disparity</a:t>
            </a:r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292770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3771"/>
            <a:ext cx="8229600" cy="1143000"/>
          </a:xfrm>
        </p:spPr>
        <p:txBody>
          <a:bodyPr/>
          <a:lstStyle/>
          <a:p>
            <a:r>
              <a:rPr lang="en-US" dirty="0"/>
              <a:t>Q</a:t>
            </a:r>
            <a:r>
              <a:rPr lang="en-US" altLang="zh-CN" dirty="0"/>
              <a:t>uiz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6800" y="1371600"/>
            <a:ext cx="7620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altLang="zh-CN" dirty="0"/>
              <a:t>ssume: 1) the optical axes of 2 cameras are parallel; </a:t>
            </a:r>
          </a:p>
          <a:p>
            <a:r>
              <a:rPr lang="en-US" altLang="zh-CN" dirty="0"/>
              <a:t>2) the intrinsic parameters of both cameras are unknown.</a:t>
            </a:r>
          </a:p>
          <a:p>
            <a:r>
              <a:rPr lang="en-US" dirty="0"/>
              <a:t>If the corresponding positions of scene points in two images are known,</a:t>
            </a:r>
          </a:p>
          <a:p>
            <a:r>
              <a:rPr lang="en-US" dirty="0"/>
              <a:t>which of the following are true?</a:t>
            </a:r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Enough to estimate the distance of the scene points to the camera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FontTx/>
              <a:buAutoNum type="arabicParenR"/>
            </a:pPr>
            <a:r>
              <a:rPr lang="en-US" dirty="0"/>
              <a:t>Enough to estimate the relative distance (disparity) between scene points in two images </a:t>
            </a:r>
          </a:p>
          <a:p>
            <a:pPr marL="342900" indent="-342900">
              <a:buFontTx/>
              <a:buAutoNum type="arabicParenR"/>
            </a:pPr>
            <a:endParaRPr lang="en-US" dirty="0"/>
          </a:p>
          <a:p>
            <a:pPr marL="342900" indent="-342900">
              <a:buFontTx/>
              <a:buAutoNum type="arabicParenR"/>
            </a:pPr>
            <a:r>
              <a:rPr lang="en-US" dirty="0"/>
              <a:t>Enough to estimate the baseline of two cameras</a:t>
            </a:r>
          </a:p>
          <a:p>
            <a:pPr marL="342900" indent="-342900">
              <a:buFontTx/>
              <a:buAutoNum type="arabicParenR"/>
            </a:pPr>
            <a:endParaRPr lang="en-US" dirty="0"/>
          </a:p>
          <a:p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16696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3771"/>
            <a:ext cx="8229600" cy="1143000"/>
          </a:xfrm>
        </p:spPr>
        <p:txBody>
          <a:bodyPr/>
          <a:lstStyle/>
          <a:p>
            <a:r>
              <a:rPr lang="en-US" dirty="0"/>
              <a:t>Depth from Stereo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2667000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Goal: recover depth by finding image coordinate x’ that corresponds to x</a:t>
            </a:r>
          </a:p>
          <a:p>
            <a:r>
              <a:rPr lang="en-US" sz="2800" dirty="0"/>
              <a:t>Sub-Problems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Calibration: How do we recover the relation of the cameras (if not already known)?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Correspondence: How do we search for the matching point x’?</a:t>
            </a:r>
          </a:p>
        </p:txBody>
      </p:sp>
      <p:grpSp>
        <p:nvGrpSpPr>
          <p:cNvPr id="54" name="Group 53"/>
          <p:cNvGrpSpPr>
            <a:grpSpLocks noChangeAspect="1"/>
          </p:cNvGrpSpPr>
          <p:nvPr/>
        </p:nvGrpSpPr>
        <p:grpSpPr>
          <a:xfrm>
            <a:off x="3361601" y="3754448"/>
            <a:ext cx="2240346" cy="2976732"/>
            <a:chOff x="609600" y="753824"/>
            <a:chExt cx="3905925" cy="5189776"/>
          </a:xfrm>
        </p:grpSpPr>
        <p:grpSp>
          <p:nvGrpSpPr>
            <p:cNvPr id="55" name="Group 54"/>
            <p:cNvGrpSpPr>
              <a:grpSpLocks noChangeAspect="1"/>
            </p:cNvGrpSpPr>
            <p:nvPr/>
          </p:nvGrpSpPr>
          <p:grpSpPr>
            <a:xfrm>
              <a:off x="609600" y="1143000"/>
              <a:ext cx="3905925" cy="4800600"/>
              <a:chOff x="533400" y="957263"/>
              <a:chExt cx="4491038" cy="5519737"/>
            </a:xfrm>
          </p:grpSpPr>
          <p:sp>
            <p:nvSpPr>
              <p:cNvPr id="59" name="Freeform 4"/>
              <p:cNvSpPr>
                <a:spLocks/>
              </p:cNvSpPr>
              <p:nvPr/>
            </p:nvSpPr>
            <p:spPr bwMode="auto">
              <a:xfrm>
                <a:off x="3481388" y="957263"/>
                <a:ext cx="1220787" cy="839787"/>
              </a:xfrm>
              <a:custGeom>
                <a:avLst/>
                <a:gdLst>
                  <a:gd name="T0" fmla="*/ 2147483647 w 865"/>
                  <a:gd name="T1" fmla="*/ 0 h 529"/>
                  <a:gd name="T2" fmla="*/ 2147483647 w 865"/>
                  <a:gd name="T3" fmla="*/ 2147483647 h 529"/>
                  <a:gd name="T4" fmla="*/ 2147483647 w 865"/>
                  <a:gd name="T5" fmla="*/ 2147483647 h 529"/>
                  <a:gd name="T6" fmla="*/ 2147483647 w 865"/>
                  <a:gd name="T7" fmla="*/ 2147483647 h 529"/>
                  <a:gd name="T8" fmla="*/ 2147483647 w 865"/>
                  <a:gd name="T9" fmla="*/ 2147483647 h 529"/>
                  <a:gd name="T10" fmla="*/ 2147483647 w 865"/>
                  <a:gd name="T11" fmla="*/ 2147483647 h 529"/>
                  <a:gd name="T12" fmla="*/ 2147483647 w 865"/>
                  <a:gd name="T13" fmla="*/ 2147483647 h 529"/>
                  <a:gd name="T14" fmla="*/ 2147483647 w 865"/>
                  <a:gd name="T15" fmla="*/ 2147483647 h 529"/>
                  <a:gd name="T16" fmla="*/ 2147483647 w 865"/>
                  <a:gd name="T17" fmla="*/ 2147483647 h 529"/>
                  <a:gd name="T18" fmla="*/ 0 w 865"/>
                  <a:gd name="T19" fmla="*/ 2147483647 h 529"/>
                  <a:gd name="T20" fmla="*/ 0 w 865"/>
                  <a:gd name="T21" fmla="*/ 2147483647 h 529"/>
                  <a:gd name="T22" fmla="*/ 0 w 865"/>
                  <a:gd name="T23" fmla="*/ 2147483647 h 529"/>
                  <a:gd name="T24" fmla="*/ 2147483647 w 865"/>
                  <a:gd name="T25" fmla="*/ 2147483647 h 529"/>
                  <a:gd name="T26" fmla="*/ 2147483647 w 865"/>
                  <a:gd name="T27" fmla="*/ 2147483647 h 529"/>
                  <a:gd name="T28" fmla="*/ 2147483647 w 865"/>
                  <a:gd name="T29" fmla="*/ 2147483647 h 529"/>
                  <a:gd name="T30" fmla="*/ 2147483647 w 865"/>
                  <a:gd name="T31" fmla="*/ 2147483647 h 529"/>
                  <a:gd name="T32" fmla="*/ 2147483647 w 865"/>
                  <a:gd name="T33" fmla="*/ 2147483647 h 529"/>
                  <a:gd name="T34" fmla="*/ 2147483647 w 865"/>
                  <a:gd name="T35" fmla="*/ 2147483647 h 529"/>
                  <a:gd name="T36" fmla="*/ 2147483647 w 865"/>
                  <a:gd name="T37" fmla="*/ 2147483647 h 529"/>
                  <a:gd name="T38" fmla="*/ 2147483647 w 865"/>
                  <a:gd name="T39" fmla="*/ 2147483647 h 529"/>
                  <a:gd name="T40" fmla="*/ 2147483647 w 865"/>
                  <a:gd name="T41" fmla="*/ 2147483647 h 529"/>
                  <a:gd name="T42" fmla="*/ 2147483647 w 865"/>
                  <a:gd name="T43" fmla="*/ 2147483647 h 529"/>
                  <a:gd name="T44" fmla="*/ 2147483647 w 865"/>
                  <a:gd name="T45" fmla="*/ 2147483647 h 529"/>
                  <a:gd name="T46" fmla="*/ 2147483647 w 865"/>
                  <a:gd name="T47" fmla="*/ 2147483647 h 529"/>
                  <a:gd name="T48" fmla="*/ 2147483647 w 865"/>
                  <a:gd name="T49" fmla="*/ 2147483647 h 529"/>
                  <a:gd name="T50" fmla="*/ 2147483647 w 865"/>
                  <a:gd name="T51" fmla="*/ 2147483647 h 529"/>
                  <a:gd name="T52" fmla="*/ 2147483647 w 865"/>
                  <a:gd name="T53" fmla="*/ 2147483647 h 529"/>
                  <a:gd name="T54" fmla="*/ 2147483647 w 865"/>
                  <a:gd name="T55" fmla="*/ 2147483647 h 529"/>
                  <a:gd name="T56" fmla="*/ 2147483647 w 865"/>
                  <a:gd name="T57" fmla="*/ 2147483647 h 529"/>
                  <a:gd name="T58" fmla="*/ 2147483647 w 865"/>
                  <a:gd name="T59" fmla="*/ 2147483647 h 529"/>
                  <a:gd name="T60" fmla="*/ 2147483647 w 865"/>
                  <a:gd name="T61" fmla="*/ 2147483647 h 529"/>
                  <a:gd name="T62" fmla="*/ 2147483647 w 865"/>
                  <a:gd name="T63" fmla="*/ 2147483647 h 529"/>
                  <a:gd name="T64" fmla="*/ 2147483647 w 865"/>
                  <a:gd name="T65" fmla="*/ 2147483647 h 529"/>
                  <a:gd name="T66" fmla="*/ 2147483647 w 865"/>
                  <a:gd name="T67" fmla="*/ 2147483647 h 529"/>
                  <a:gd name="T68" fmla="*/ 2147483647 w 865"/>
                  <a:gd name="T69" fmla="*/ 2147483647 h 529"/>
                  <a:gd name="T70" fmla="*/ 2147483647 w 865"/>
                  <a:gd name="T71" fmla="*/ 2147483647 h 529"/>
                  <a:gd name="T72" fmla="*/ 2147483647 w 865"/>
                  <a:gd name="T73" fmla="*/ 2147483647 h 529"/>
                  <a:gd name="T74" fmla="*/ 2147483647 w 865"/>
                  <a:gd name="T75" fmla="*/ 2147483647 h 529"/>
                  <a:gd name="T76" fmla="*/ 2147483647 w 865"/>
                  <a:gd name="T77" fmla="*/ 2147483647 h 529"/>
                  <a:gd name="T78" fmla="*/ 2147483647 w 865"/>
                  <a:gd name="T79" fmla="*/ 0 h 52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65"/>
                  <a:gd name="T121" fmla="*/ 0 h 529"/>
                  <a:gd name="T122" fmla="*/ 865 w 865"/>
                  <a:gd name="T123" fmla="*/ 529 h 52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65" h="529">
                    <a:moveTo>
                      <a:pt x="84" y="0"/>
                    </a:moveTo>
                    <a:lnTo>
                      <a:pt x="72" y="24"/>
                    </a:lnTo>
                    <a:lnTo>
                      <a:pt x="72" y="48"/>
                    </a:lnTo>
                    <a:lnTo>
                      <a:pt x="48" y="72"/>
                    </a:lnTo>
                    <a:lnTo>
                      <a:pt x="36" y="96"/>
                    </a:lnTo>
                    <a:lnTo>
                      <a:pt x="36" y="120"/>
                    </a:lnTo>
                    <a:lnTo>
                      <a:pt x="36" y="144"/>
                    </a:lnTo>
                    <a:lnTo>
                      <a:pt x="24" y="168"/>
                    </a:lnTo>
                    <a:lnTo>
                      <a:pt x="12" y="192"/>
                    </a:lnTo>
                    <a:lnTo>
                      <a:pt x="0" y="216"/>
                    </a:lnTo>
                    <a:lnTo>
                      <a:pt x="0" y="240"/>
                    </a:lnTo>
                    <a:lnTo>
                      <a:pt x="0" y="264"/>
                    </a:lnTo>
                    <a:lnTo>
                      <a:pt x="12" y="288"/>
                    </a:lnTo>
                    <a:lnTo>
                      <a:pt x="12" y="312"/>
                    </a:lnTo>
                    <a:lnTo>
                      <a:pt x="24" y="336"/>
                    </a:lnTo>
                    <a:lnTo>
                      <a:pt x="24" y="360"/>
                    </a:lnTo>
                    <a:lnTo>
                      <a:pt x="36" y="384"/>
                    </a:lnTo>
                    <a:lnTo>
                      <a:pt x="36" y="408"/>
                    </a:lnTo>
                    <a:lnTo>
                      <a:pt x="48" y="432"/>
                    </a:lnTo>
                    <a:lnTo>
                      <a:pt x="60" y="456"/>
                    </a:lnTo>
                    <a:lnTo>
                      <a:pt x="852" y="528"/>
                    </a:lnTo>
                    <a:lnTo>
                      <a:pt x="804" y="480"/>
                    </a:lnTo>
                    <a:lnTo>
                      <a:pt x="792" y="456"/>
                    </a:lnTo>
                    <a:lnTo>
                      <a:pt x="780" y="420"/>
                    </a:lnTo>
                    <a:lnTo>
                      <a:pt x="768" y="396"/>
                    </a:lnTo>
                    <a:lnTo>
                      <a:pt x="756" y="372"/>
                    </a:lnTo>
                    <a:lnTo>
                      <a:pt x="744" y="348"/>
                    </a:lnTo>
                    <a:lnTo>
                      <a:pt x="744" y="324"/>
                    </a:lnTo>
                    <a:lnTo>
                      <a:pt x="744" y="288"/>
                    </a:lnTo>
                    <a:lnTo>
                      <a:pt x="744" y="264"/>
                    </a:lnTo>
                    <a:lnTo>
                      <a:pt x="744" y="240"/>
                    </a:lnTo>
                    <a:lnTo>
                      <a:pt x="768" y="216"/>
                    </a:lnTo>
                    <a:lnTo>
                      <a:pt x="768" y="192"/>
                    </a:lnTo>
                    <a:lnTo>
                      <a:pt x="780" y="168"/>
                    </a:lnTo>
                    <a:lnTo>
                      <a:pt x="804" y="156"/>
                    </a:lnTo>
                    <a:lnTo>
                      <a:pt x="804" y="132"/>
                    </a:lnTo>
                    <a:lnTo>
                      <a:pt x="828" y="108"/>
                    </a:lnTo>
                    <a:lnTo>
                      <a:pt x="852" y="96"/>
                    </a:lnTo>
                    <a:lnTo>
                      <a:pt x="864" y="72"/>
                    </a:lnTo>
                    <a:lnTo>
                      <a:pt x="84" y="0"/>
                    </a:lnTo>
                  </a:path>
                </a:pathLst>
              </a:custGeom>
              <a:gradFill rotWithShape="0">
                <a:gsLst>
                  <a:gs pos="0">
                    <a:srgbClr val="012501"/>
                  </a:gs>
                  <a:gs pos="100000">
                    <a:srgbClr val="037C03"/>
                  </a:gs>
                </a:gsLst>
                <a:lin ang="18900000" scaled="1"/>
              </a:gradFill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60" name="Line 5"/>
              <p:cNvSpPr>
                <a:spLocks noChangeShapeType="1"/>
              </p:cNvSpPr>
              <p:nvPr/>
            </p:nvSpPr>
            <p:spPr bwMode="auto">
              <a:xfrm>
                <a:off x="890588" y="4310063"/>
                <a:ext cx="3251200" cy="1828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61" name="Freeform 9"/>
              <p:cNvSpPr>
                <a:spLocks/>
              </p:cNvSpPr>
              <p:nvPr/>
            </p:nvSpPr>
            <p:spPr bwMode="auto">
              <a:xfrm>
                <a:off x="1533525" y="1219200"/>
                <a:ext cx="2471738" cy="2462213"/>
              </a:xfrm>
              <a:custGeom>
                <a:avLst/>
                <a:gdLst>
                  <a:gd name="T0" fmla="*/ 0 w 1557"/>
                  <a:gd name="T1" fmla="*/ 2147483647 h 1551"/>
                  <a:gd name="T2" fmla="*/ 2147483647 w 1557"/>
                  <a:gd name="T3" fmla="*/ 0 h 1551"/>
                  <a:gd name="T4" fmla="*/ 0 60000 65536"/>
                  <a:gd name="T5" fmla="*/ 0 60000 65536"/>
                  <a:gd name="T6" fmla="*/ 0 w 1557"/>
                  <a:gd name="T7" fmla="*/ 0 h 1551"/>
                  <a:gd name="T8" fmla="*/ 1557 w 1557"/>
                  <a:gd name="T9" fmla="*/ 1551 h 155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57" h="1551">
                    <a:moveTo>
                      <a:pt x="0" y="1551"/>
                    </a:moveTo>
                    <a:lnTo>
                      <a:pt x="1557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62" name="Freeform 10"/>
              <p:cNvSpPr>
                <a:spLocks/>
              </p:cNvSpPr>
              <p:nvPr/>
            </p:nvSpPr>
            <p:spPr bwMode="auto">
              <a:xfrm>
                <a:off x="687388" y="2490788"/>
                <a:ext cx="1220787" cy="2001837"/>
              </a:xfrm>
              <a:custGeom>
                <a:avLst/>
                <a:gdLst>
                  <a:gd name="T0" fmla="*/ 0 w 865"/>
                  <a:gd name="T1" fmla="*/ 2147483647 h 1261"/>
                  <a:gd name="T2" fmla="*/ 2147483647 w 865"/>
                  <a:gd name="T3" fmla="*/ 2147483647 h 1261"/>
                  <a:gd name="T4" fmla="*/ 2147483647 w 865"/>
                  <a:gd name="T5" fmla="*/ 2147483647 h 1261"/>
                  <a:gd name="T6" fmla="*/ 0 w 865"/>
                  <a:gd name="T7" fmla="*/ 0 h 1261"/>
                  <a:gd name="T8" fmla="*/ 0 w 865"/>
                  <a:gd name="T9" fmla="*/ 2147483647 h 12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5"/>
                  <a:gd name="T16" fmla="*/ 0 h 1261"/>
                  <a:gd name="T17" fmla="*/ 865 w 865"/>
                  <a:gd name="T18" fmla="*/ 1261 h 12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5" h="1261">
                    <a:moveTo>
                      <a:pt x="0" y="828"/>
                    </a:moveTo>
                    <a:lnTo>
                      <a:pt x="864" y="1260"/>
                    </a:lnTo>
                    <a:lnTo>
                      <a:pt x="864" y="414"/>
                    </a:lnTo>
                    <a:lnTo>
                      <a:pt x="0" y="0"/>
                    </a:lnTo>
                    <a:lnTo>
                      <a:pt x="0" y="828"/>
                    </a:lnTo>
                  </a:path>
                </a:pathLst>
              </a:custGeom>
              <a:solidFill>
                <a:srgbClr val="FEBF02"/>
              </a:solidFill>
              <a:ln w="12700" cap="rnd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63" name="Freeform 12"/>
              <p:cNvSpPr>
                <a:spLocks/>
              </p:cNvSpPr>
              <p:nvPr/>
            </p:nvSpPr>
            <p:spPr bwMode="auto">
              <a:xfrm>
                <a:off x="3990975" y="1219200"/>
                <a:ext cx="117475" cy="3910013"/>
              </a:xfrm>
              <a:custGeom>
                <a:avLst/>
                <a:gdLst>
                  <a:gd name="T0" fmla="*/ 2147483647 w 74"/>
                  <a:gd name="T1" fmla="*/ 2147483647 h 2463"/>
                  <a:gd name="T2" fmla="*/ 0 w 74"/>
                  <a:gd name="T3" fmla="*/ 0 h 2463"/>
                  <a:gd name="T4" fmla="*/ 0 60000 65536"/>
                  <a:gd name="T5" fmla="*/ 0 60000 65536"/>
                  <a:gd name="T6" fmla="*/ 0 w 74"/>
                  <a:gd name="T7" fmla="*/ 0 h 2463"/>
                  <a:gd name="T8" fmla="*/ 74 w 74"/>
                  <a:gd name="T9" fmla="*/ 2463 h 246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4" h="2463">
                    <a:moveTo>
                      <a:pt x="74" y="246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64" name="Freeform 13"/>
              <p:cNvSpPr>
                <a:spLocks/>
              </p:cNvSpPr>
              <p:nvPr/>
            </p:nvSpPr>
            <p:spPr bwMode="auto">
              <a:xfrm>
                <a:off x="3803650" y="4208463"/>
                <a:ext cx="1220788" cy="2001837"/>
              </a:xfrm>
              <a:custGeom>
                <a:avLst/>
                <a:gdLst>
                  <a:gd name="T0" fmla="*/ 0 w 865"/>
                  <a:gd name="T1" fmla="*/ 2147483647 h 1261"/>
                  <a:gd name="T2" fmla="*/ 2147483647 w 865"/>
                  <a:gd name="T3" fmla="*/ 2147483647 h 1261"/>
                  <a:gd name="T4" fmla="*/ 2147483647 w 865"/>
                  <a:gd name="T5" fmla="*/ 2147483647 h 1261"/>
                  <a:gd name="T6" fmla="*/ 0 w 865"/>
                  <a:gd name="T7" fmla="*/ 0 h 1261"/>
                  <a:gd name="T8" fmla="*/ 0 w 865"/>
                  <a:gd name="T9" fmla="*/ 2147483647 h 12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5"/>
                  <a:gd name="T16" fmla="*/ 0 h 1261"/>
                  <a:gd name="T17" fmla="*/ 865 w 865"/>
                  <a:gd name="T18" fmla="*/ 1261 h 12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5" h="1261">
                    <a:moveTo>
                      <a:pt x="0" y="828"/>
                    </a:moveTo>
                    <a:lnTo>
                      <a:pt x="864" y="1260"/>
                    </a:lnTo>
                    <a:lnTo>
                      <a:pt x="864" y="414"/>
                    </a:lnTo>
                    <a:lnTo>
                      <a:pt x="0" y="0"/>
                    </a:lnTo>
                    <a:lnTo>
                      <a:pt x="0" y="828"/>
                    </a:lnTo>
                  </a:path>
                </a:pathLst>
              </a:custGeom>
              <a:solidFill>
                <a:srgbClr val="FEBF02"/>
              </a:solidFill>
              <a:ln w="12700" cap="rnd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65" name="Line 14"/>
              <p:cNvSpPr>
                <a:spLocks noChangeShapeType="1"/>
              </p:cNvSpPr>
              <p:nvPr/>
            </p:nvSpPr>
            <p:spPr bwMode="auto">
              <a:xfrm flipV="1">
                <a:off x="890588" y="3681413"/>
                <a:ext cx="642937" cy="6286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66" name="Line 15"/>
              <p:cNvSpPr>
                <a:spLocks noChangeShapeType="1"/>
              </p:cNvSpPr>
              <p:nvPr/>
            </p:nvSpPr>
            <p:spPr bwMode="auto">
              <a:xfrm flipH="1" flipV="1">
                <a:off x="4108450" y="5129213"/>
                <a:ext cx="33338" cy="10096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67" name="Freeform 18"/>
              <p:cNvSpPr>
                <a:spLocks/>
              </p:cNvSpPr>
              <p:nvPr/>
            </p:nvSpPr>
            <p:spPr bwMode="auto">
              <a:xfrm>
                <a:off x="533400" y="4260850"/>
                <a:ext cx="393700" cy="387350"/>
              </a:xfrm>
              <a:custGeom>
                <a:avLst/>
                <a:gdLst>
                  <a:gd name="T0" fmla="*/ 0 w 279"/>
                  <a:gd name="T1" fmla="*/ 2147483647 h 244"/>
                  <a:gd name="T2" fmla="*/ 2147483647 w 279"/>
                  <a:gd name="T3" fmla="*/ 2147483647 h 244"/>
                  <a:gd name="T4" fmla="*/ 2147483647 w 279"/>
                  <a:gd name="T5" fmla="*/ 0 h 244"/>
                  <a:gd name="T6" fmla="*/ 2147483647 w 279"/>
                  <a:gd name="T7" fmla="*/ 2147483647 h 244"/>
                  <a:gd name="T8" fmla="*/ 2147483647 w 279"/>
                  <a:gd name="T9" fmla="*/ 2147483647 h 244"/>
                  <a:gd name="T10" fmla="*/ 2147483647 w 279"/>
                  <a:gd name="T11" fmla="*/ 2147483647 h 244"/>
                  <a:gd name="T12" fmla="*/ 2147483647 w 279"/>
                  <a:gd name="T13" fmla="*/ 2147483647 h 244"/>
                  <a:gd name="T14" fmla="*/ 2147483647 w 279"/>
                  <a:gd name="T15" fmla="*/ 2147483647 h 244"/>
                  <a:gd name="T16" fmla="*/ 2147483647 w 279"/>
                  <a:gd name="T17" fmla="*/ 2147483647 h 244"/>
                  <a:gd name="T18" fmla="*/ 2147483647 w 279"/>
                  <a:gd name="T19" fmla="*/ 2147483647 h 244"/>
                  <a:gd name="T20" fmla="*/ 2147483647 w 279"/>
                  <a:gd name="T21" fmla="*/ 2147483647 h 244"/>
                  <a:gd name="T22" fmla="*/ 2147483647 w 279"/>
                  <a:gd name="T23" fmla="*/ 2147483647 h 244"/>
                  <a:gd name="T24" fmla="*/ 2147483647 w 279"/>
                  <a:gd name="T25" fmla="*/ 2147483647 h 244"/>
                  <a:gd name="T26" fmla="*/ 2147483647 w 279"/>
                  <a:gd name="T27" fmla="*/ 2147483647 h 244"/>
                  <a:gd name="T28" fmla="*/ 2147483647 w 279"/>
                  <a:gd name="T29" fmla="*/ 2147483647 h 244"/>
                  <a:gd name="T30" fmla="*/ 2147483647 w 279"/>
                  <a:gd name="T31" fmla="*/ 2147483647 h 244"/>
                  <a:gd name="T32" fmla="*/ 2147483647 w 279"/>
                  <a:gd name="T33" fmla="*/ 2147483647 h 244"/>
                  <a:gd name="T34" fmla="*/ 2147483647 w 279"/>
                  <a:gd name="T35" fmla="*/ 2147483647 h 244"/>
                  <a:gd name="T36" fmla="*/ 2147483647 w 279"/>
                  <a:gd name="T37" fmla="*/ 2147483647 h 244"/>
                  <a:gd name="T38" fmla="*/ 2147483647 w 279"/>
                  <a:gd name="T39" fmla="*/ 2147483647 h 244"/>
                  <a:gd name="T40" fmla="*/ 2147483647 w 279"/>
                  <a:gd name="T41" fmla="*/ 2147483647 h 244"/>
                  <a:gd name="T42" fmla="*/ 2147483647 w 279"/>
                  <a:gd name="T43" fmla="*/ 2147483647 h 244"/>
                  <a:gd name="T44" fmla="*/ 2147483647 w 279"/>
                  <a:gd name="T45" fmla="*/ 2147483647 h 244"/>
                  <a:gd name="T46" fmla="*/ 2147483647 w 279"/>
                  <a:gd name="T47" fmla="*/ 2147483647 h 244"/>
                  <a:gd name="T48" fmla="*/ 2147483647 w 279"/>
                  <a:gd name="T49" fmla="*/ 2147483647 h 244"/>
                  <a:gd name="T50" fmla="*/ 2147483647 w 279"/>
                  <a:gd name="T51" fmla="*/ 2147483647 h 244"/>
                  <a:gd name="T52" fmla="*/ 2147483647 w 279"/>
                  <a:gd name="T53" fmla="*/ 2147483647 h 244"/>
                  <a:gd name="T54" fmla="*/ 2147483647 w 279"/>
                  <a:gd name="T55" fmla="*/ 2147483647 h 244"/>
                  <a:gd name="T56" fmla="*/ 2147483647 w 279"/>
                  <a:gd name="T57" fmla="*/ 2147483647 h 244"/>
                  <a:gd name="T58" fmla="*/ 2147483647 w 279"/>
                  <a:gd name="T59" fmla="*/ 2147483647 h 244"/>
                  <a:gd name="T60" fmla="*/ 2147483647 w 279"/>
                  <a:gd name="T61" fmla="*/ 2147483647 h 244"/>
                  <a:gd name="T62" fmla="*/ 2147483647 w 279"/>
                  <a:gd name="T63" fmla="*/ 2147483647 h 244"/>
                  <a:gd name="T64" fmla="*/ 2147483647 w 279"/>
                  <a:gd name="T65" fmla="*/ 2147483647 h 244"/>
                  <a:gd name="T66" fmla="*/ 2147483647 w 279"/>
                  <a:gd name="T67" fmla="*/ 2147483647 h 244"/>
                  <a:gd name="T68" fmla="*/ 2147483647 w 279"/>
                  <a:gd name="T69" fmla="*/ 2147483647 h 244"/>
                  <a:gd name="T70" fmla="*/ 2147483647 w 279"/>
                  <a:gd name="T71" fmla="*/ 2147483647 h 244"/>
                  <a:gd name="T72" fmla="*/ 2147483647 w 279"/>
                  <a:gd name="T73" fmla="*/ 2147483647 h 244"/>
                  <a:gd name="T74" fmla="*/ 2147483647 w 279"/>
                  <a:gd name="T75" fmla="*/ 2147483647 h 244"/>
                  <a:gd name="T76" fmla="*/ 2147483647 w 279"/>
                  <a:gd name="T77" fmla="*/ 2147483647 h 244"/>
                  <a:gd name="T78" fmla="*/ 2147483647 w 279"/>
                  <a:gd name="T79" fmla="*/ 2147483647 h 244"/>
                  <a:gd name="T80" fmla="*/ 2147483647 w 279"/>
                  <a:gd name="T81" fmla="*/ 2147483647 h 244"/>
                  <a:gd name="T82" fmla="*/ 2147483647 w 279"/>
                  <a:gd name="T83" fmla="*/ 2147483647 h 244"/>
                  <a:gd name="T84" fmla="*/ 2147483647 w 279"/>
                  <a:gd name="T85" fmla="*/ 2147483647 h 244"/>
                  <a:gd name="T86" fmla="*/ 2147483647 w 279"/>
                  <a:gd name="T87" fmla="*/ 2147483647 h 244"/>
                  <a:gd name="T88" fmla="*/ 2147483647 w 279"/>
                  <a:gd name="T89" fmla="*/ 2147483647 h 244"/>
                  <a:gd name="T90" fmla="*/ 2147483647 w 279"/>
                  <a:gd name="T91" fmla="*/ 2147483647 h 244"/>
                  <a:gd name="T92" fmla="*/ 2147483647 w 279"/>
                  <a:gd name="T93" fmla="*/ 2147483647 h 244"/>
                  <a:gd name="T94" fmla="*/ 2147483647 w 279"/>
                  <a:gd name="T95" fmla="*/ 2147483647 h 244"/>
                  <a:gd name="T96" fmla="*/ 2147483647 w 279"/>
                  <a:gd name="T97" fmla="*/ 2147483647 h 244"/>
                  <a:gd name="T98" fmla="*/ 0 w 279"/>
                  <a:gd name="T99" fmla="*/ 2147483647 h 24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79"/>
                  <a:gd name="T151" fmla="*/ 0 h 244"/>
                  <a:gd name="T152" fmla="*/ 279 w 279"/>
                  <a:gd name="T153" fmla="*/ 244 h 24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79" h="244">
                    <a:moveTo>
                      <a:pt x="0" y="243"/>
                    </a:moveTo>
                    <a:lnTo>
                      <a:pt x="148" y="1"/>
                    </a:lnTo>
                    <a:lnTo>
                      <a:pt x="160" y="0"/>
                    </a:lnTo>
                    <a:lnTo>
                      <a:pt x="167" y="3"/>
                    </a:lnTo>
                    <a:lnTo>
                      <a:pt x="168" y="6"/>
                    </a:lnTo>
                    <a:lnTo>
                      <a:pt x="173" y="5"/>
                    </a:lnTo>
                    <a:lnTo>
                      <a:pt x="177" y="9"/>
                    </a:lnTo>
                    <a:lnTo>
                      <a:pt x="182" y="7"/>
                    </a:lnTo>
                    <a:lnTo>
                      <a:pt x="184" y="12"/>
                    </a:lnTo>
                    <a:lnTo>
                      <a:pt x="190" y="13"/>
                    </a:lnTo>
                    <a:lnTo>
                      <a:pt x="196" y="14"/>
                    </a:lnTo>
                    <a:lnTo>
                      <a:pt x="201" y="15"/>
                    </a:lnTo>
                    <a:lnTo>
                      <a:pt x="205" y="19"/>
                    </a:lnTo>
                    <a:lnTo>
                      <a:pt x="210" y="20"/>
                    </a:lnTo>
                    <a:lnTo>
                      <a:pt x="215" y="23"/>
                    </a:lnTo>
                    <a:lnTo>
                      <a:pt x="222" y="25"/>
                    </a:lnTo>
                    <a:lnTo>
                      <a:pt x="226" y="29"/>
                    </a:lnTo>
                    <a:lnTo>
                      <a:pt x="229" y="32"/>
                    </a:lnTo>
                    <a:lnTo>
                      <a:pt x="231" y="36"/>
                    </a:lnTo>
                    <a:lnTo>
                      <a:pt x="235" y="39"/>
                    </a:lnTo>
                    <a:lnTo>
                      <a:pt x="238" y="45"/>
                    </a:lnTo>
                    <a:lnTo>
                      <a:pt x="242" y="46"/>
                    </a:lnTo>
                    <a:lnTo>
                      <a:pt x="248" y="55"/>
                    </a:lnTo>
                    <a:lnTo>
                      <a:pt x="249" y="58"/>
                    </a:lnTo>
                    <a:lnTo>
                      <a:pt x="255" y="63"/>
                    </a:lnTo>
                    <a:lnTo>
                      <a:pt x="256" y="67"/>
                    </a:lnTo>
                    <a:lnTo>
                      <a:pt x="261" y="71"/>
                    </a:lnTo>
                    <a:lnTo>
                      <a:pt x="261" y="75"/>
                    </a:lnTo>
                    <a:lnTo>
                      <a:pt x="264" y="81"/>
                    </a:lnTo>
                    <a:lnTo>
                      <a:pt x="264" y="86"/>
                    </a:lnTo>
                    <a:lnTo>
                      <a:pt x="266" y="90"/>
                    </a:lnTo>
                    <a:lnTo>
                      <a:pt x="266" y="95"/>
                    </a:lnTo>
                    <a:lnTo>
                      <a:pt x="268" y="99"/>
                    </a:lnTo>
                    <a:lnTo>
                      <a:pt x="267" y="103"/>
                    </a:lnTo>
                    <a:lnTo>
                      <a:pt x="268" y="109"/>
                    </a:lnTo>
                    <a:lnTo>
                      <a:pt x="269" y="113"/>
                    </a:lnTo>
                    <a:lnTo>
                      <a:pt x="273" y="119"/>
                    </a:lnTo>
                    <a:lnTo>
                      <a:pt x="274" y="124"/>
                    </a:lnTo>
                    <a:lnTo>
                      <a:pt x="275" y="128"/>
                    </a:lnTo>
                    <a:lnTo>
                      <a:pt x="276" y="134"/>
                    </a:lnTo>
                    <a:lnTo>
                      <a:pt x="277" y="138"/>
                    </a:lnTo>
                    <a:lnTo>
                      <a:pt x="277" y="143"/>
                    </a:lnTo>
                    <a:lnTo>
                      <a:pt x="277" y="147"/>
                    </a:lnTo>
                    <a:lnTo>
                      <a:pt x="274" y="153"/>
                    </a:lnTo>
                    <a:lnTo>
                      <a:pt x="276" y="156"/>
                    </a:lnTo>
                    <a:lnTo>
                      <a:pt x="277" y="162"/>
                    </a:lnTo>
                    <a:lnTo>
                      <a:pt x="278" y="167"/>
                    </a:lnTo>
                    <a:lnTo>
                      <a:pt x="275" y="172"/>
                    </a:lnTo>
                    <a:lnTo>
                      <a:pt x="271" y="181"/>
                    </a:lnTo>
                    <a:lnTo>
                      <a:pt x="0" y="243"/>
                    </a:lnTo>
                  </a:path>
                </a:pathLst>
              </a:custGeom>
              <a:noFill/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68" name="Arc 19"/>
              <p:cNvSpPr>
                <a:spLocks/>
              </p:cNvSpPr>
              <p:nvPr/>
            </p:nvSpPr>
            <p:spPr bwMode="auto">
              <a:xfrm rot="720000">
                <a:off x="733425" y="4276725"/>
                <a:ext cx="211138" cy="236538"/>
              </a:xfrm>
              <a:custGeom>
                <a:avLst/>
                <a:gdLst>
                  <a:gd name="T0" fmla="*/ 0 w 21745"/>
                  <a:gd name="T1" fmla="*/ 0 h 21600"/>
                  <a:gd name="T2" fmla="*/ 2147483647 w 21745"/>
                  <a:gd name="T3" fmla="*/ 2147483647 h 21600"/>
                  <a:gd name="T4" fmla="*/ 1179876122 w 21745"/>
                  <a:gd name="T5" fmla="*/ 2147483647 h 21600"/>
                  <a:gd name="T6" fmla="*/ 0 60000 65536"/>
                  <a:gd name="T7" fmla="*/ 0 60000 65536"/>
                  <a:gd name="T8" fmla="*/ 0 60000 65536"/>
                  <a:gd name="T9" fmla="*/ 0 w 21745"/>
                  <a:gd name="T10" fmla="*/ 0 h 21600"/>
                  <a:gd name="T11" fmla="*/ 21745 w 2174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45" h="21600" fill="none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</a:path>
                  <a:path w="21745" h="21600" stroke="0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  <a:lnTo>
                      <a:pt x="145" y="2160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69" name="Line 20"/>
              <p:cNvSpPr>
                <a:spLocks noChangeShapeType="1"/>
              </p:cNvSpPr>
              <p:nvPr/>
            </p:nvSpPr>
            <p:spPr bwMode="auto">
              <a:xfrm flipH="1">
                <a:off x="533400" y="4095750"/>
                <a:ext cx="303213" cy="5508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70" name="Oval 21"/>
              <p:cNvSpPr>
                <a:spLocks noChangeArrowheads="1"/>
              </p:cNvSpPr>
              <p:nvPr/>
            </p:nvSpPr>
            <p:spPr bwMode="auto">
              <a:xfrm rot="19740000">
                <a:off x="811213" y="4281488"/>
                <a:ext cx="100012" cy="19843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71" name="Line 22"/>
              <p:cNvSpPr>
                <a:spLocks noChangeShapeType="1"/>
              </p:cNvSpPr>
              <p:nvPr/>
            </p:nvSpPr>
            <p:spPr bwMode="auto">
              <a:xfrm flipV="1">
                <a:off x="533400" y="4502150"/>
                <a:ext cx="555625" cy="1444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72" name="Freeform 23"/>
              <p:cNvSpPr>
                <a:spLocks/>
              </p:cNvSpPr>
              <p:nvPr/>
            </p:nvSpPr>
            <p:spPr bwMode="auto">
              <a:xfrm>
                <a:off x="3784600" y="6089650"/>
                <a:ext cx="393700" cy="387350"/>
              </a:xfrm>
              <a:custGeom>
                <a:avLst/>
                <a:gdLst>
                  <a:gd name="T0" fmla="*/ 0 w 279"/>
                  <a:gd name="T1" fmla="*/ 2147483647 h 244"/>
                  <a:gd name="T2" fmla="*/ 2147483647 w 279"/>
                  <a:gd name="T3" fmla="*/ 2147483647 h 244"/>
                  <a:gd name="T4" fmla="*/ 2147483647 w 279"/>
                  <a:gd name="T5" fmla="*/ 0 h 244"/>
                  <a:gd name="T6" fmla="*/ 2147483647 w 279"/>
                  <a:gd name="T7" fmla="*/ 2147483647 h 244"/>
                  <a:gd name="T8" fmla="*/ 2147483647 w 279"/>
                  <a:gd name="T9" fmla="*/ 2147483647 h 244"/>
                  <a:gd name="T10" fmla="*/ 2147483647 w 279"/>
                  <a:gd name="T11" fmla="*/ 2147483647 h 244"/>
                  <a:gd name="T12" fmla="*/ 2147483647 w 279"/>
                  <a:gd name="T13" fmla="*/ 2147483647 h 244"/>
                  <a:gd name="T14" fmla="*/ 2147483647 w 279"/>
                  <a:gd name="T15" fmla="*/ 2147483647 h 244"/>
                  <a:gd name="T16" fmla="*/ 2147483647 w 279"/>
                  <a:gd name="T17" fmla="*/ 2147483647 h 244"/>
                  <a:gd name="T18" fmla="*/ 2147483647 w 279"/>
                  <a:gd name="T19" fmla="*/ 2147483647 h 244"/>
                  <a:gd name="T20" fmla="*/ 2147483647 w 279"/>
                  <a:gd name="T21" fmla="*/ 2147483647 h 244"/>
                  <a:gd name="T22" fmla="*/ 2147483647 w 279"/>
                  <a:gd name="T23" fmla="*/ 2147483647 h 244"/>
                  <a:gd name="T24" fmla="*/ 2147483647 w 279"/>
                  <a:gd name="T25" fmla="*/ 2147483647 h 244"/>
                  <a:gd name="T26" fmla="*/ 2147483647 w 279"/>
                  <a:gd name="T27" fmla="*/ 2147483647 h 244"/>
                  <a:gd name="T28" fmla="*/ 2147483647 w 279"/>
                  <a:gd name="T29" fmla="*/ 2147483647 h 244"/>
                  <a:gd name="T30" fmla="*/ 2147483647 w 279"/>
                  <a:gd name="T31" fmla="*/ 2147483647 h 244"/>
                  <a:gd name="T32" fmla="*/ 2147483647 w 279"/>
                  <a:gd name="T33" fmla="*/ 2147483647 h 244"/>
                  <a:gd name="T34" fmla="*/ 2147483647 w 279"/>
                  <a:gd name="T35" fmla="*/ 2147483647 h 244"/>
                  <a:gd name="T36" fmla="*/ 2147483647 w 279"/>
                  <a:gd name="T37" fmla="*/ 2147483647 h 244"/>
                  <a:gd name="T38" fmla="*/ 2147483647 w 279"/>
                  <a:gd name="T39" fmla="*/ 2147483647 h 244"/>
                  <a:gd name="T40" fmla="*/ 2147483647 w 279"/>
                  <a:gd name="T41" fmla="*/ 2147483647 h 244"/>
                  <a:gd name="T42" fmla="*/ 2147483647 w 279"/>
                  <a:gd name="T43" fmla="*/ 2147483647 h 244"/>
                  <a:gd name="T44" fmla="*/ 2147483647 w 279"/>
                  <a:gd name="T45" fmla="*/ 2147483647 h 244"/>
                  <a:gd name="T46" fmla="*/ 2147483647 w 279"/>
                  <a:gd name="T47" fmla="*/ 2147483647 h 244"/>
                  <a:gd name="T48" fmla="*/ 2147483647 w 279"/>
                  <a:gd name="T49" fmla="*/ 2147483647 h 244"/>
                  <a:gd name="T50" fmla="*/ 2147483647 w 279"/>
                  <a:gd name="T51" fmla="*/ 2147483647 h 244"/>
                  <a:gd name="T52" fmla="*/ 2147483647 w 279"/>
                  <a:gd name="T53" fmla="*/ 2147483647 h 244"/>
                  <a:gd name="T54" fmla="*/ 2147483647 w 279"/>
                  <a:gd name="T55" fmla="*/ 2147483647 h 244"/>
                  <a:gd name="T56" fmla="*/ 2147483647 w 279"/>
                  <a:gd name="T57" fmla="*/ 2147483647 h 244"/>
                  <a:gd name="T58" fmla="*/ 2147483647 w 279"/>
                  <a:gd name="T59" fmla="*/ 2147483647 h 244"/>
                  <a:gd name="T60" fmla="*/ 2147483647 w 279"/>
                  <a:gd name="T61" fmla="*/ 2147483647 h 244"/>
                  <a:gd name="T62" fmla="*/ 2147483647 w 279"/>
                  <a:gd name="T63" fmla="*/ 2147483647 h 244"/>
                  <a:gd name="T64" fmla="*/ 2147483647 w 279"/>
                  <a:gd name="T65" fmla="*/ 2147483647 h 244"/>
                  <a:gd name="T66" fmla="*/ 2147483647 w 279"/>
                  <a:gd name="T67" fmla="*/ 2147483647 h 244"/>
                  <a:gd name="T68" fmla="*/ 2147483647 w 279"/>
                  <a:gd name="T69" fmla="*/ 2147483647 h 244"/>
                  <a:gd name="T70" fmla="*/ 2147483647 w 279"/>
                  <a:gd name="T71" fmla="*/ 2147483647 h 244"/>
                  <a:gd name="T72" fmla="*/ 2147483647 w 279"/>
                  <a:gd name="T73" fmla="*/ 2147483647 h 244"/>
                  <a:gd name="T74" fmla="*/ 2147483647 w 279"/>
                  <a:gd name="T75" fmla="*/ 2147483647 h 244"/>
                  <a:gd name="T76" fmla="*/ 2147483647 w 279"/>
                  <a:gd name="T77" fmla="*/ 2147483647 h 244"/>
                  <a:gd name="T78" fmla="*/ 2147483647 w 279"/>
                  <a:gd name="T79" fmla="*/ 2147483647 h 244"/>
                  <a:gd name="T80" fmla="*/ 2147483647 w 279"/>
                  <a:gd name="T81" fmla="*/ 2147483647 h 244"/>
                  <a:gd name="T82" fmla="*/ 2147483647 w 279"/>
                  <a:gd name="T83" fmla="*/ 2147483647 h 244"/>
                  <a:gd name="T84" fmla="*/ 2147483647 w 279"/>
                  <a:gd name="T85" fmla="*/ 2147483647 h 244"/>
                  <a:gd name="T86" fmla="*/ 2147483647 w 279"/>
                  <a:gd name="T87" fmla="*/ 2147483647 h 244"/>
                  <a:gd name="T88" fmla="*/ 2147483647 w 279"/>
                  <a:gd name="T89" fmla="*/ 2147483647 h 244"/>
                  <a:gd name="T90" fmla="*/ 2147483647 w 279"/>
                  <a:gd name="T91" fmla="*/ 2147483647 h 244"/>
                  <a:gd name="T92" fmla="*/ 2147483647 w 279"/>
                  <a:gd name="T93" fmla="*/ 2147483647 h 244"/>
                  <a:gd name="T94" fmla="*/ 2147483647 w 279"/>
                  <a:gd name="T95" fmla="*/ 2147483647 h 244"/>
                  <a:gd name="T96" fmla="*/ 2147483647 w 279"/>
                  <a:gd name="T97" fmla="*/ 2147483647 h 244"/>
                  <a:gd name="T98" fmla="*/ 0 w 279"/>
                  <a:gd name="T99" fmla="*/ 2147483647 h 24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79"/>
                  <a:gd name="T151" fmla="*/ 0 h 244"/>
                  <a:gd name="T152" fmla="*/ 279 w 279"/>
                  <a:gd name="T153" fmla="*/ 244 h 24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79" h="244">
                    <a:moveTo>
                      <a:pt x="0" y="243"/>
                    </a:moveTo>
                    <a:lnTo>
                      <a:pt x="148" y="1"/>
                    </a:lnTo>
                    <a:lnTo>
                      <a:pt x="160" y="0"/>
                    </a:lnTo>
                    <a:lnTo>
                      <a:pt x="167" y="3"/>
                    </a:lnTo>
                    <a:lnTo>
                      <a:pt x="168" y="6"/>
                    </a:lnTo>
                    <a:lnTo>
                      <a:pt x="173" y="5"/>
                    </a:lnTo>
                    <a:lnTo>
                      <a:pt x="177" y="9"/>
                    </a:lnTo>
                    <a:lnTo>
                      <a:pt x="182" y="7"/>
                    </a:lnTo>
                    <a:lnTo>
                      <a:pt x="184" y="12"/>
                    </a:lnTo>
                    <a:lnTo>
                      <a:pt x="190" y="13"/>
                    </a:lnTo>
                    <a:lnTo>
                      <a:pt x="196" y="14"/>
                    </a:lnTo>
                    <a:lnTo>
                      <a:pt x="201" y="15"/>
                    </a:lnTo>
                    <a:lnTo>
                      <a:pt x="205" y="19"/>
                    </a:lnTo>
                    <a:lnTo>
                      <a:pt x="210" y="20"/>
                    </a:lnTo>
                    <a:lnTo>
                      <a:pt x="215" y="23"/>
                    </a:lnTo>
                    <a:lnTo>
                      <a:pt x="222" y="25"/>
                    </a:lnTo>
                    <a:lnTo>
                      <a:pt x="226" y="29"/>
                    </a:lnTo>
                    <a:lnTo>
                      <a:pt x="229" y="32"/>
                    </a:lnTo>
                    <a:lnTo>
                      <a:pt x="231" y="36"/>
                    </a:lnTo>
                    <a:lnTo>
                      <a:pt x="235" y="39"/>
                    </a:lnTo>
                    <a:lnTo>
                      <a:pt x="238" y="45"/>
                    </a:lnTo>
                    <a:lnTo>
                      <a:pt x="242" y="46"/>
                    </a:lnTo>
                    <a:lnTo>
                      <a:pt x="248" y="55"/>
                    </a:lnTo>
                    <a:lnTo>
                      <a:pt x="249" y="58"/>
                    </a:lnTo>
                    <a:lnTo>
                      <a:pt x="255" y="63"/>
                    </a:lnTo>
                    <a:lnTo>
                      <a:pt x="256" y="67"/>
                    </a:lnTo>
                    <a:lnTo>
                      <a:pt x="261" y="71"/>
                    </a:lnTo>
                    <a:lnTo>
                      <a:pt x="261" y="75"/>
                    </a:lnTo>
                    <a:lnTo>
                      <a:pt x="264" y="81"/>
                    </a:lnTo>
                    <a:lnTo>
                      <a:pt x="264" y="86"/>
                    </a:lnTo>
                    <a:lnTo>
                      <a:pt x="266" y="90"/>
                    </a:lnTo>
                    <a:lnTo>
                      <a:pt x="266" y="95"/>
                    </a:lnTo>
                    <a:lnTo>
                      <a:pt x="268" y="99"/>
                    </a:lnTo>
                    <a:lnTo>
                      <a:pt x="267" y="103"/>
                    </a:lnTo>
                    <a:lnTo>
                      <a:pt x="268" y="109"/>
                    </a:lnTo>
                    <a:lnTo>
                      <a:pt x="269" y="113"/>
                    </a:lnTo>
                    <a:lnTo>
                      <a:pt x="273" y="119"/>
                    </a:lnTo>
                    <a:lnTo>
                      <a:pt x="274" y="124"/>
                    </a:lnTo>
                    <a:lnTo>
                      <a:pt x="275" y="128"/>
                    </a:lnTo>
                    <a:lnTo>
                      <a:pt x="276" y="134"/>
                    </a:lnTo>
                    <a:lnTo>
                      <a:pt x="277" y="138"/>
                    </a:lnTo>
                    <a:lnTo>
                      <a:pt x="277" y="143"/>
                    </a:lnTo>
                    <a:lnTo>
                      <a:pt x="277" y="147"/>
                    </a:lnTo>
                    <a:lnTo>
                      <a:pt x="274" y="153"/>
                    </a:lnTo>
                    <a:lnTo>
                      <a:pt x="276" y="156"/>
                    </a:lnTo>
                    <a:lnTo>
                      <a:pt x="277" y="162"/>
                    </a:lnTo>
                    <a:lnTo>
                      <a:pt x="278" y="167"/>
                    </a:lnTo>
                    <a:lnTo>
                      <a:pt x="275" y="172"/>
                    </a:lnTo>
                    <a:lnTo>
                      <a:pt x="271" y="181"/>
                    </a:lnTo>
                    <a:lnTo>
                      <a:pt x="0" y="243"/>
                    </a:lnTo>
                  </a:path>
                </a:pathLst>
              </a:custGeom>
              <a:noFill/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73" name="Arc 24"/>
              <p:cNvSpPr>
                <a:spLocks/>
              </p:cNvSpPr>
              <p:nvPr/>
            </p:nvSpPr>
            <p:spPr bwMode="auto">
              <a:xfrm rot="720000">
                <a:off x="3984625" y="6105525"/>
                <a:ext cx="211138" cy="236538"/>
              </a:xfrm>
              <a:custGeom>
                <a:avLst/>
                <a:gdLst>
                  <a:gd name="T0" fmla="*/ 0 w 21745"/>
                  <a:gd name="T1" fmla="*/ 0 h 21600"/>
                  <a:gd name="T2" fmla="*/ 2147483647 w 21745"/>
                  <a:gd name="T3" fmla="*/ 2147483647 h 21600"/>
                  <a:gd name="T4" fmla="*/ 1179876122 w 21745"/>
                  <a:gd name="T5" fmla="*/ 2147483647 h 21600"/>
                  <a:gd name="T6" fmla="*/ 0 60000 65536"/>
                  <a:gd name="T7" fmla="*/ 0 60000 65536"/>
                  <a:gd name="T8" fmla="*/ 0 60000 65536"/>
                  <a:gd name="T9" fmla="*/ 0 w 21745"/>
                  <a:gd name="T10" fmla="*/ 0 h 21600"/>
                  <a:gd name="T11" fmla="*/ 21745 w 2174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45" h="21600" fill="none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</a:path>
                  <a:path w="21745" h="21600" stroke="0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  <a:lnTo>
                      <a:pt x="145" y="2160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74" name="Line 25"/>
              <p:cNvSpPr>
                <a:spLocks noChangeShapeType="1"/>
              </p:cNvSpPr>
              <p:nvPr/>
            </p:nvSpPr>
            <p:spPr bwMode="auto">
              <a:xfrm flipH="1">
                <a:off x="3784600" y="5924550"/>
                <a:ext cx="303213" cy="5508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75" name="Oval 26"/>
              <p:cNvSpPr>
                <a:spLocks noChangeArrowheads="1"/>
              </p:cNvSpPr>
              <p:nvPr/>
            </p:nvSpPr>
            <p:spPr bwMode="auto">
              <a:xfrm rot="19740000">
                <a:off x="4062413" y="6110288"/>
                <a:ext cx="100012" cy="19843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76" name="Line 27"/>
              <p:cNvSpPr>
                <a:spLocks noChangeShapeType="1"/>
              </p:cNvSpPr>
              <p:nvPr/>
            </p:nvSpPr>
            <p:spPr bwMode="auto">
              <a:xfrm flipV="1">
                <a:off x="3784600" y="6330950"/>
                <a:ext cx="555625" cy="1444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77" name="Oval 33"/>
              <p:cNvSpPr>
                <a:spLocks noChangeArrowheads="1"/>
              </p:cNvSpPr>
              <p:nvPr/>
            </p:nvSpPr>
            <p:spPr bwMode="auto">
              <a:xfrm>
                <a:off x="4079875" y="5081588"/>
                <a:ext cx="57150" cy="63500"/>
              </a:xfrm>
              <a:prstGeom prst="ellipse">
                <a:avLst/>
              </a:prstGeom>
              <a:solidFill>
                <a:srgbClr val="037C03"/>
              </a:solidFill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  <p:sp>
            <p:nvSpPr>
              <p:cNvPr id="78" name="Oval 34"/>
              <p:cNvSpPr>
                <a:spLocks noChangeArrowheads="1"/>
              </p:cNvSpPr>
              <p:nvPr/>
            </p:nvSpPr>
            <p:spPr bwMode="auto">
              <a:xfrm>
                <a:off x="1504950" y="3649663"/>
                <a:ext cx="57150" cy="63500"/>
              </a:xfrm>
              <a:prstGeom prst="ellipse">
                <a:avLst/>
              </a:prstGeom>
              <a:solidFill>
                <a:srgbClr val="037C03"/>
              </a:solidFill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</p:grp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3657600" y="753824"/>
              <a:ext cx="809272" cy="5470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X</a:t>
              </a:r>
              <a:endParaRPr lang="en-US" sz="2000" baseline="-25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57" name="Text Box 26"/>
            <p:cNvSpPr txBox="1">
              <a:spLocks noChangeArrowheads="1"/>
            </p:cNvSpPr>
            <p:nvPr/>
          </p:nvSpPr>
          <p:spPr bwMode="auto">
            <a:xfrm>
              <a:off x="867127" y="3092412"/>
              <a:ext cx="809272" cy="5470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x</a:t>
              </a:r>
              <a:endParaRPr lang="en-US" sz="2000" baseline="-25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58" name="Text Box 26"/>
            <p:cNvSpPr txBox="1">
              <a:spLocks noChangeArrowheads="1"/>
            </p:cNvSpPr>
            <p:nvPr/>
          </p:nvSpPr>
          <p:spPr bwMode="auto">
            <a:xfrm>
              <a:off x="3520189" y="4479002"/>
              <a:ext cx="809272" cy="5470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x'</a:t>
              </a:r>
              <a:endParaRPr lang="en-US" sz="2000" baseline="-25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3120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Correspondence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81400"/>
            <a:ext cx="8229600" cy="254476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We have two images taken from cameras with different intrinsic and extrinsic parameters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How do we match a point in the first image to a point in the second?  How can we constrain our search?</a:t>
            </a:r>
          </a:p>
        </p:txBody>
      </p:sp>
      <p:pic>
        <p:nvPicPr>
          <p:cNvPr id="4" name="Picture 13" descr="rect_006_007_lef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066800"/>
            <a:ext cx="3321069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4" descr="rect_006_007_righ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1005590"/>
            <a:ext cx="3429000" cy="2510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653352" y="212863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7403" y="213277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3513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5338" y="901700"/>
            <a:ext cx="7662862" cy="321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1683" name="Text Box 3"/>
          <p:cNvSpPr txBox="1">
            <a:spLocks noChangeArrowheads="1"/>
          </p:cNvSpPr>
          <p:nvPr/>
        </p:nvSpPr>
        <p:spPr bwMode="auto">
          <a:xfrm>
            <a:off x="1457325" y="4579938"/>
            <a:ext cx="72346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Potential matches for </a:t>
            </a:r>
            <a:r>
              <a:rPr lang="en-US" sz="2000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have to lie on the corresponding line </a:t>
            </a:r>
            <a:r>
              <a:rPr lang="en-US" sz="2000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l’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.</a:t>
            </a:r>
          </a:p>
        </p:txBody>
      </p:sp>
      <p:sp>
        <p:nvSpPr>
          <p:cNvPr id="711684" name="Text Box 4"/>
          <p:cNvSpPr txBox="1">
            <a:spLocks noChangeArrowheads="1"/>
          </p:cNvSpPr>
          <p:nvPr/>
        </p:nvSpPr>
        <p:spPr bwMode="auto">
          <a:xfrm>
            <a:off x="1447800" y="5646738"/>
            <a:ext cx="72346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Potential matches for </a:t>
            </a:r>
            <a:r>
              <a:rPr lang="en-US" sz="2000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have to lie on the corresponding line </a:t>
            </a:r>
            <a:r>
              <a:rPr lang="en-US" sz="2000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.</a:t>
            </a:r>
          </a:p>
        </p:txBody>
      </p:sp>
      <p:sp>
        <p:nvSpPr>
          <p:cNvPr id="711685" name="Oval 5"/>
          <p:cNvSpPr>
            <a:spLocks noChangeArrowheads="1"/>
          </p:cNvSpPr>
          <p:nvPr/>
        </p:nvSpPr>
        <p:spPr bwMode="auto">
          <a:xfrm>
            <a:off x="2884488" y="24066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86" name="Line 6"/>
          <p:cNvSpPr>
            <a:spLocks noChangeShapeType="1"/>
          </p:cNvSpPr>
          <p:nvPr/>
        </p:nvSpPr>
        <p:spPr bwMode="auto">
          <a:xfrm flipH="1">
            <a:off x="6084888" y="2330450"/>
            <a:ext cx="254000" cy="158115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87" name="Oval 7"/>
          <p:cNvSpPr>
            <a:spLocks noChangeArrowheads="1"/>
          </p:cNvSpPr>
          <p:nvPr/>
        </p:nvSpPr>
        <p:spPr bwMode="auto">
          <a:xfrm>
            <a:off x="6275388" y="2406650"/>
            <a:ext cx="76200" cy="76200"/>
          </a:xfrm>
          <a:prstGeom prst="ellipse">
            <a:avLst/>
          </a:prstGeom>
          <a:solidFill>
            <a:srgbClr val="CC3300"/>
          </a:solidFill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Verdana" pitchFamily="34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88" name="Line 8"/>
          <p:cNvSpPr>
            <a:spLocks noChangeShapeType="1"/>
          </p:cNvSpPr>
          <p:nvPr/>
        </p:nvSpPr>
        <p:spPr bwMode="auto">
          <a:xfrm flipH="1" flipV="1">
            <a:off x="2909888" y="2311400"/>
            <a:ext cx="241300" cy="15621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89" name="Oval 9"/>
          <p:cNvSpPr>
            <a:spLocks noChangeArrowheads="1"/>
          </p:cNvSpPr>
          <p:nvPr/>
        </p:nvSpPr>
        <p:spPr bwMode="auto">
          <a:xfrm>
            <a:off x="3316288" y="21018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90" name="Oval 10"/>
          <p:cNvSpPr>
            <a:spLocks noChangeArrowheads="1"/>
          </p:cNvSpPr>
          <p:nvPr/>
        </p:nvSpPr>
        <p:spPr bwMode="auto">
          <a:xfrm>
            <a:off x="3970338" y="16573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91" name="Oval 11"/>
          <p:cNvSpPr>
            <a:spLocks noChangeArrowheads="1"/>
          </p:cNvSpPr>
          <p:nvPr/>
        </p:nvSpPr>
        <p:spPr bwMode="auto">
          <a:xfrm>
            <a:off x="6275388" y="24003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92" name="Oval 12"/>
          <p:cNvSpPr>
            <a:spLocks noChangeArrowheads="1"/>
          </p:cNvSpPr>
          <p:nvPr/>
        </p:nvSpPr>
        <p:spPr bwMode="auto">
          <a:xfrm>
            <a:off x="6224588" y="27559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93" name="Oval 13"/>
          <p:cNvSpPr>
            <a:spLocks noChangeArrowheads="1"/>
          </p:cNvSpPr>
          <p:nvPr/>
        </p:nvSpPr>
        <p:spPr bwMode="auto">
          <a:xfrm>
            <a:off x="6167438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494" name="Rectangle 14"/>
          <p:cNvSpPr>
            <a:spLocks noGrp="1" noChangeArrowheads="1"/>
          </p:cNvSpPr>
          <p:nvPr>
            <p:ph type="title"/>
          </p:nvPr>
        </p:nvSpPr>
        <p:spPr>
          <a:xfrm>
            <a:off x="477838" y="-112005"/>
            <a:ext cx="8229600" cy="1143000"/>
          </a:xfrm>
        </p:spPr>
        <p:txBody>
          <a:bodyPr/>
          <a:lstStyle/>
          <a:p>
            <a:r>
              <a:rPr lang="en-US" dirty="0"/>
              <a:t>Key idea: </a:t>
            </a:r>
            <a:r>
              <a:rPr lang="en-US" dirty="0" err="1"/>
              <a:t>Epipolar</a:t>
            </a:r>
            <a:r>
              <a:rPr lang="en-US" dirty="0"/>
              <a:t> constraint</a:t>
            </a:r>
          </a:p>
        </p:txBody>
      </p:sp>
      <p:sp>
        <p:nvSpPr>
          <p:cNvPr id="20495" name="Freeform 15"/>
          <p:cNvSpPr>
            <a:spLocks/>
          </p:cNvSpPr>
          <p:nvPr/>
        </p:nvSpPr>
        <p:spPr bwMode="auto">
          <a:xfrm>
            <a:off x="2667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12" y="80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2667000" y="2209800"/>
            <a:ext cx="209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20497" name="Freeform 17"/>
          <p:cNvSpPr>
            <a:spLocks/>
          </p:cNvSpPr>
          <p:nvPr/>
        </p:nvSpPr>
        <p:spPr bwMode="auto">
          <a:xfrm>
            <a:off x="6019800" y="2336800"/>
            <a:ext cx="273050" cy="254000"/>
          </a:xfrm>
          <a:custGeom>
            <a:avLst/>
            <a:gdLst>
              <a:gd name="T0" fmla="*/ 2147483647 w 172"/>
              <a:gd name="T1" fmla="*/ 2147483647 h 160"/>
              <a:gd name="T2" fmla="*/ 0 w 172"/>
              <a:gd name="T3" fmla="*/ 2147483647 h 160"/>
              <a:gd name="T4" fmla="*/ 2147483647 w 172"/>
              <a:gd name="T5" fmla="*/ 2147483647 h 160"/>
              <a:gd name="T6" fmla="*/ 2147483647 w 172"/>
              <a:gd name="T7" fmla="*/ 2147483647 h 160"/>
              <a:gd name="T8" fmla="*/ 2147483647 w 172"/>
              <a:gd name="T9" fmla="*/ 0 h 160"/>
              <a:gd name="T10" fmla="*/ 2147483647 w 172"/>
              <a:gd name="T11" fmla="*/ 2147483647 h 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2"/>
              <a:gd name="T19" fmla="*/ 0 h 160"/>
              <a:gd name="T20" fmla="*/ 172 w 172"/>
              <a:gd name="T21" fmla="*/ 160 h 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2" h="160">
                <a:moveTo>
                  <a:pt x="48" y="16"/>
                </a:moveTo>
                <a:lnTo>
                  <a:pt x="0" y="112"/>
                </a:lnTo>
                <a:lnTo>
                  <a:pt x="48" y="160"/>
                </a:lnTo>
                <a:lnTo>
                  <a:pt x="144" y="112"/>
                </a:lnTo>
                <a:lnTo>
                  <a:pt x="172" y="0"/>
                </a:lnTo>
                <a:lnTo>
                  <a:pt x="48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98" name="Text Box 18"/>
          <p:cNvSpPr txBox="1">
            <a:spLocks noChangeArrowheads="1"/>
          </p:cNvSpPr>
          <p:nvPr/>
        </p:nvSpPr>
        <p:spPr bwMode="auto">
          <a:xfrm>
            <a:off x="60198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20499" name="Freeform 19"/>
          <p:cNvSpPr>
            <a:spLocks/>
          </p:cNvSpPr>
          <p:nvPr/>
        </p:nvSpPr>
        <p:spPr bwMode="auto">
          <a:xfrm>
            <a:off x="8001000" y="1524000"/>
            <a:ext cx="381000" cy="304800"/>
          </a:xfrm>
          <a:custGeom>
            <a:avLst/>
            <a:gdLst>
              <a:gd name="T0" fmla="*/ 2147483647 w 240"/>
              <a:gd name="T1" fmla="*/ 2147483647 h 192"/>
              <a:gd name="T2" fmla="*/ 2147483647 w 240"/>
              <a:gd name="T3" fmla="*/ 0 h 192"/>
              <a:gd name="T4" fmla="*/ 2147483647 w 240"/>
              <a:gd name="T5" fmla="*/ 2147483647 h 192"/>
              <a:gd name="T6" fmla="*/ 0 w 240"/>
              <a:gd name="T7" fmla="*/ 2147483647 h 192"/>
              <a:gd name="T8" fmla="*/ 2147483647 w 240"/>
              <a:gd name="T9" fmla="*/ 2147483647 h 192"/>
              <a:gd name="T10" fmla="*/ 2147483647 w 240"/>
              <a:gd name="T11" fmla="*/ 2147483647 h 1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0"/>
              <a:gd name="T19" fmla="*/ 0 h 192"/>
              <a:gd name="T20" fmla="*/ 240 w 240"/>
              <a:gd name="T21" fmla="*/ 192 h 1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0" h="192">
                <a:moveTo>
                  <a:pt x="240" y="192"/>
                </a:moveTo>
                <a:lnTo>
                  <a:pt x="240" y="0"/>
                </a:lnTo>
                <a:lnTo>
                  <a:pt x="88" y="24"/>
                </a:lnTo>
                <a:lnTo>
                  <a:pt x="0" y="96"/>
                </a:lnTo>
                <a:lnTo>
                  <a:pt x="96" y="192"/>
                </a:lnTo>
                <a:lnTo>
                  <a:pt x="240" y="19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500" name="Freeform 20"/>
          <p:cNvSpPr>
            <a:spLocks/>
          </p:cNvSpPr>
          <p:nvPr/>
        </p:nvSpPr>
        <p:spPr bwMode="auto">
          <a:xfrm>
            <a:off x="838200" y="1536700"/>
            <a:ext cx="260350" cy="292100"/>
          </a:xfrm>
          <a:custGeom>
            <a:avLst/>
            <a:gdLst>
              <a:gd name="T0" fmla="*/ 2147483647 w 164"/>
              <a:gd name="T1" fmla="*/ 0 h 184"/>
              <a:gd name="T2" fmla="*/ 0 w 164"/>
              <a:gd name="T3" fmla="*/ 2147483647 h 184"/>
              <a:gd name="T4" fmla="*/ 2147483647 w 164"/>
              <a:gd name="T5" fmla="*/ 2147483647 h 184"/>
              <a:gd name="T6" fmla="*/ 2147483647 w 164"/>
              <a:gd name="T7" fmla="*/ 2147483647 h 184"/>
              <a:gd name="T8" fmla="*/ 2147483647 w 164"/>
              <a:gd name="T9" fmla="*/ 2147483647 h 184"/>
              <a:gd name="T10" fmla="*/ 2147483647 w 164"/>
              <a:gd name="T11" fmla="*/ 0 h 1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4"/>
              <a:gd name="T19" fmla="*/ 0 h 184"/>
              <a:gd name="T20" fmla="*/ 164 w 164"/>
              <a:gd name="T21" fmla="*/ 184 h 1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4" h="184">
                <a:moveTo>
                  <a:pt x="32" y="0"/>
                </a:moveTo>
                <a:lnTo>
                  <a:pt x="0" y="136"/>
                </a:lnTo>
                <a:lnTo>
                  <a:pt x="48" y="184"/>
                </a:lnTo>
                <a:lnTo>
                  <a:pt x="148" y="176"/>
                </a:lnTo>
                <a:lnTo>
                  <a:pt x="164" y="36"/>
                </a:lnTo>
                <a:lnTo>
                  <a:pt x="32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501" name="Freeform 21"/>
          <p:cNvSpPr>
            <a:spLocks/>
          </p:cNvSpPr>
          <p:nvPr/>
        </p:nvSpPr>
        <p:spPr bwMode="auto">
          <a:xfrm>
            <a:off x="5905500" y="2667000"/>
            <a:ext cx="336550" cy="698500"/>
          </a:xfrm>
          <a:custGeom>
            <a:avLst/>
            <a:gdLst>
              <a:gd name="T0" fmla="*/ 2147483647 w 212"/>
              <a:gd name="T1" fmla="*/ 2147483647 h 440"/>
              <a:gd name="T2" fmla="*/ 2147483647 w 212"/>
              <a:gd name="T3" fmla="*/ 2147483647 h 440"/>
              <a:gd name="T4" fmla="*/ 0 w 212"/>
              <a:gd name="T5" fmla="*/ 2147483647 h 440"/>
              <a:gd name="T6" fmla="*/ 2147483647 w 212"/>
              <a:gd name="T7" fmla="*/ 2147483647 h 440"/>
              <a:gd name="T8" fmla="*/ 2147483647 w 212"/>
              <a:gd name="T9" fmla="*/ 0 h 440"/>
              <a:gd name="T10" fmla="*/ 2147483647 w 212"/>
              <a:gd name="T11" fmla="*/ 2147483647 h 4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2"/>
              <a:gd name="T19" fmla="*/ 0 h 440"/>
              <a:gd name="T20" fmla="*/ 212 w 212"/>
              <a:gd name="T21" fmla="*/ 440 h 4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2" h="440">
                <a:moveTo>
                  <a:pt x="72" y="16"/>
                </a:moveTo>
                <a:lnTo>
                  <a:pt x="24" y="112"/>
                </a:lnTo>
                <a:lnTo>
                  <a:pt x="0" y="400"/>
                </a:lnTo>
                <a:lnTo>
                  <a:pt x="132" y="440"/>
                </a:lnTo>
                <a:lnTo>
                  <a:pt x="212" y="0"/>
                </a:lnTo>
                <a:lnTo>
                  <a:pt x="72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502" name="Freeform 22"/>
          <p:cNvSpPr>
            <a:spLocks/>
          </p:cNvSpPr>
          <p:nvPr/>
        </p:nvSpPr>
        <p:spPr bwMode="auto">
          <a:xfrm>
            <a:off x="3854450" y="1371600"/>
            <a:ext cx="368300" cy="298450"/>
          </a:xfrm>
          <a:custGeom>
            <a:avLst/>
            <a:gdLst>
              <a:gd name="T0" fmla="*/ 2147483647 w 232"/>
              <a:gd name="T1" fmla="*/ 2147483647 h 188"/>
              <a:gd name="T2" fmla="*/ 2147483647 w 232"/>
              <a:gd name="T3" fmla="*/ 2147483647 h 188"/>
              <a:gd name="T4" fmla="*/ 0 w 232"/>
              <a:gd name="T5" fmla="*/ 2147483647 h 188"/>
              <a:gd name="T6" fmla="*/ 2147483647 w 232"/>
              <a:gd name="T7" fmla="*/ 2147483647 h 188"/>
              <a:gd name="T8" fmla="*/ 2147483647 w 232"/>
              <a:gd name="T9" fmla="*/ 2147483647 h 188"/>
              <a:gd name="T10" fmla="*/ 2147483647 w 232"/>
              <a:gd name="T11" fmla="*/ 2147483647 h 188"/>
              <a:gd name="T12" fmla="*/ 2147483647 w 232"/>
              <a:gd name="T13" fmla="*/ 0 h 188"/>
              <a:gd name="T14" fmla="*/ 2147483647 w 232"/>
              <a:gd name="T15" fmla="*/ 2147483647 h 1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32"/>
              <a:gd name="T25" fmla="*/ 0 h 188"/>
              <a:gd name="T26" fmla="*/ 232 w 232"/>
              <a:gd name="T27" fmla="*/ 188 h 1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32" h="188">
                <a:moveTo>
                  <a:pt x="68" y="16"/>
                </a:moveTo>
                <a:lnTo>
                  <a:pt x="20" y="112"/>
                </a:lnTo>
                <a:lnTo>
                  <a:pt x="0" y="164"/>
                </a:lnTo>
                <a:lnTo>
                  <a:pt x="56" y="188"/>
                </a:lnTo>
                <a:lnTo>
                  <a:pt x="136" y="148"/>
                </a:lnTo>
                <a:lnTo>
                  <a:pt x="232" y="80"/>
                </a:lnTo>
                <a:lnTo>
                  <a:pt x="192" y="0"/>
                </a:lnTo>
                <a:lnTo>
                  <a:pt x="68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503" name="Freeform 23"/>
          <p:cNvSpPr>
            <a:spLocks/>
          </p:cNvSpPr>
          <p:nvPr/>
        </p:nvSpPr>
        <p:spPr bwMode="auto">
          <a:xfrm>
            <a:off x="3200400" y="1828800"/>
            <a:ext cx="381000" cy="260350"/>
          </a:xfrm>
          <a:custGeom>
            <a:avLst/>
            <a:gdLst>
              <a:gd name="T0" fmla="*/ 2147483647 w 240"/>
              <a:gd name="T1" fmla="*/ 2147483647 h 164"/>
              <a:gd name="T2" fmla="*/ 2147483647 w 240"/>
              <a:gd name="T3" fmla="*/ 2147483647 h 164"/>
              <a:gd name="T4" fmla="*/ 0 w 240"/>
              <a:gd name="T5" fmla="*/ 2147483647 h 164"/>
              <a:gd name="T6" fmla="*/ 2147483647 w 240"/>
              <a:gd name="T7" fmla="*/ 2147483647 h 164"/>
              <a:gd name="T8" fmla="*/ 2147483647 w 240"/>
              <a:gd name="T9" fmla="*/ 2147483647 h 164"/>
              <a:gd name="T10" fmla="*/ 2147483647 w 240"/>
              <a:gd name="T11" fmla="*/ 0 h 164"/>
              <a:gd name="T12" fmla="*/ 2147483647 w 240"/>
              <a:gd name="T13" fmla="*/ 2147483647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164"/>
              <a:gd name="T23" fmla="*/ 240 w 240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164">
                <a:moveTo>
                  <a:pt x="76" y="16"/>
                </a:moveTo>
                <a:lnTo>
                  <a:pt x="28" y="112"/>
                </a:lnTo>
                <a:lnTo>
                  <a:pt x="0" y="156"/>
                </a:lnTo>
                <a:lnTo>
                  <a:pt x="104" y="164"/>
                </a:lnTo>
                <a:lnTo>
                  <a:pt x="240" y="80"/>
                </a:lnTo>
                <a:lnTo>
                  <a:pt x="200" y="0"/>
                </a:lnTo>
                <a:lnTo>
                  <a:pt x="76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704" name="Text Box 24"/>
          <p:cNvSpPr txBox="1">
            <a:spLocks noChangeArrowheads="1"/>
          </p:cNvSpPr>
          <p:nvPr/>
        </p:nvSpPr>
        <p:spPr bwMode="auto">
          <a:xfrm>
            <a:off x="3733800" y="1349375"/>
            <a:ext cx="30321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711705" name="Text Box 25"/>
          <p:cNvSpPr txBox="1">
            <a:spLocks noChangeArrowheads="1"/>
          </p:cNvSpPr>
          <p:nvPr/>
        </p:nvSpPr>
        <p:spPr bwMode="auto">
          <a:xfrm>
            <a:off x="59436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711706" name="Text Box 26"/>
          <p:cNvSpPr txBox="1">
            <a:spLocks noChangeArrowheads="1"/>
          </p:cNvSpPr>
          <p:nvPr/>
        </p:nvSpPr>
        <p:spPr bwMode="auto">
          <a:xfrm>
            <a:off x="3124200" y="1752600"/>
            <a:ext cx="30321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711707" name="Text Box 27"/>
          <p:cNvSpPr txBox="1">
            <a:spLocks noChangeArrowheads="1"/>
          </p:cNvSpPr>
          <p:nvPr/>
        </p:nvSpPr>
        <p:spPr bwMode="auto">
          <a:xfrm>
            <a:off x="58674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711708" name="Oval 28"/>
          <p:cNvSpPr>
            <a:spLocks noChangeArrowheads="1"/>
          </p:cNvSpPr>
          <p:nvPr/>
        </p:nvSpPr>
        <p:spPr bwMode="auto">
          <a:xfrm>
            <a:off x="4592638" y="12255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4419600" y="914400"/>
            <a:ext cx="304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710" name="Text Box 30"/>
          <p:cNvSpPr txBox="1">
            <a:spLocks noChangeArrowheads="1"/>
          </p:cNvSpPr>
          <p:nvPr/>
        </p:nvSpPr>
        <p:spPr bwMode="auto">
          <a:xfrm>
            <a:off x="4343400" y="914400"/>
            <a:ext cx="4572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7CF4-79CC-6A48-A466-8C20EA113E4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8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83" grpId="0" autoUpdateAnimBg="0"/>
      <p:bldP spid="711684" grpId="0" autoUpdateAnimBg="0"/>
      <p:bldP spid="711685" grpId="0" animBg="1"/>
      <p:bldP spid="711686" grpId="0" animBg="1"/>
      <p:bldP spid="711687" grpId="0" animBg="1" autoUpdateAnimBg="0"/>
      <p:bldP spid="711688" grpId="0" animBg="1"/>
      <p:bldP spid="711689" grpId="0" animBg="1"/>
      <p:bldP spid="711690" grpId="0" animBg="1"/>
      <p:bldP spid="711691" grpId="0" animBg="1"/>
      <p:bldP spid="711692" grpId="0" animBg="1"/>
      <p:bldP spid="711693" grpId="0" animBg="1"/>
      <p:bldP spid="711698" grpId="0"/>
      <p:bldP spid="711704" grpId="0" animBg="1"/>
      <p:bldP spid="711705" grpId="0"/>
      <p:bldP spid="711706" grpId="0" animBg="1"/>
      <p:bldP spid="711707" grpId="0"/>
      <p:bldP spid="711708" grpId="0" animBg="1"/>
      <p:bldP spid="7117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877888"/>
            <a:ext cx="7696200" cy="323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1876" name="Line 4"/>
          <p:cNvSpPr>
            <a:spLocks noChangeShapeType="1"/>
          </p:cNvSpPr>
          <p:nvPr/>
        </p:nvSpPr>
        <p:spPr bwMode="auto">
          <a:xfrm flipV="1">
            <a:off x="1073150" y="3741738"/>
            <a:ext cx="2098675" cy="127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91877" name="Line 5"/>
          <p:cNvSpPr>
            <a:spLocks noChangeShapeType="1"/>
          </p:cNvSpPr>
          <p:nvPr/>
        </p:nvSpPr>
        <p:spPr bwMode="auto">
          <a:xfrm>
            <a:off x="3524250" y="3748088"/>
            <a:ext cx="23114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91878" name="Line 6"/>
          <p:cNvSpPr>
            <a:spLocks noChangeShapeType="1"/>
          </p:cNvSpPr>
          <p:nvPr/>
        </p:nvSpPr>
        <p:spPr bwMode="auto">
          <a:xfrm>
            <a:off x="6210300" y="3748088"/>
            <a:ext cx="20955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91879" name="Line 7"/>
          <p:cNvSpPr>
            <a:spLocks noChangeShapeType="1"/>
          </p:cNvSpPr>
          <p:nvPr/>
        </p:nvSpPr>
        <p:spPr bwMode="auto">
          <a:xfrm>
            <a:off x="6419850" y="2452688"/>
            <a:ext cx="1885950" cy="12890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91880" name="Line 8"/>
          <p:cNvSpPr>
            <a:spLocks noChangeShapeType="1"/>
          </p:cNvSpPr>
          <p:nvPr/>
        </p:nvSpPr>
        <p:spPr bwMode="auto">
          <a:xfrm>
            <a:off x="4724400" y="1284288"/>
            <a:ext cx="1466850" cy="10033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91881" name="Line 9"/>
          <p:cNvSpPr>
            <a:spLocks noChangeShapeType="1"/>
          </p:cNvSpPr>
          <p:nvPr/>
        </p:nvSpPr>
        <p:spPr bwMode="auto">
          <a:xfrm flipV="1">
            <a:off x="3187700" y="1271588"/>
            <a:ext cx="1473200" cy="10096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91882" name="Line 10"/>
          <p:cNvSpPr>
            <a:spLocks noChangeShapeType="1"/>
          </p:cNvSpPr>
          <p:nvPr/>
        </p:nvSpPr>
        <p:spPr bwMode="auto">
          <a:xfrm flipV="1">
            <a:off x="1060450" y="2446338"/>
            <a:ext cx="1892300" cy="12827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91883" name="Text Box 11"/>
          <p:cNvSpPr txBox="1">
            <a:spLocks noChangeArrowheads="1"/>
          </p:cNvSpPr>
          <p:nvPr/>
        </p:nvSpPr>
        <p:spPr bwMode="auto">
          <a:xfrm>
            <a:off x="925776" y="5470525"/>
            <a:ext cx="655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80008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</a:t>
            </a:r>
            <a:r>
              <a:rPr lang="en-US" sz="2000" b="1" dirty="0" err="1">
                <a:solidFill>
                  <a:srgbClr val="80008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Epipolar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Plane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– plane containing baseline (1D family)</a:t>
            </a:r>
          </a:p>
        </p:txBody>
      </p:sp>
      <p:sp>
        <p:nvSpPr>
          <p:cNvPr id="591884" name="Oval 12"/>
          <p:cNvSpPr>
            <a:spLocks noChangeArrowheads="1"/>
          </p:cNvSpPr>
          <p:nvPr/>
        </p:nvSpPr>
        <p:spPr bwMode="auto">
          <a:xfrm>
            <a:off x="3105150" y="3659188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91885" name="Oval 13"/>
          <p:cNvSpPr>
            <a:spLocks noChangeArrowheads="1"/>
          </p:cNvSpPr>
          <p:nvPr/>
        </p:nvSpPr>
        <p:spPr bwMode="auto">
          <a:xfrm>
            <a:off x="6102350" y="3690938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91886" name="Text Box 14"/>
          <p:cNvSpPr txBox="1">
            <a:spLocks noChangeArrowheads="1"/>
          </p:cNvSpPr>
          <p:nvPr/>
        </p:nvSpPr>
        <p:spPr bwMode="auto">
          <a:xfrm>
            <a:off x="920088" y="4419600"/>
            <a:ext cx="53498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339966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</a:t>
            </a:r>
            <a:r>
              <a:rPr lang="en-US" sz="2000" b="1" dirty="0" err="1">
                <a:solidFill>
                  <a:srgbClr val="339966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Epipoles</a:t>
            </a:r>
            <a:r>
              <a:rPr lang="en-US" sz="2000" b="1" dirty="0">
                <a:solidFill>
                  <a:srgbClr val="339966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339966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= intersections of baseline with image planes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339966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= projections of the other camera center</a:t>
            </a:r>
          </a:p>
        </p:txBody>
      </p:sp>
      <p:sp>
        <p:nvSpPr>
          <p:cNvPr id="591890" name="Text Box 18"/>
          <p:cNvSpPr txBox="1">
            <a:spLocks noChangeArrowheads="1"/>
          </p:cNvSpPr>
          <p:nvPr/>
        </p:nvSpPr>
        <p:spPr bwMode="auto">
          <a:xfrm>
            <a:off x="914400" y="4010025"/>
            <a:ext cx="6069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FF3399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</a:t>
            </a:r>
            <a:r>
              <a:rPr lang="en-US" sz="2000" b="1" dirty="0">
                <a:solidFill>
                  <a:srgbClr val="FF3399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Baseline</a:t>
            </a:r>
            <a:r>
              <a:rPr lang="en-US" sz="2000" dirty="0">
                <a:solidFill>
                  <a:srgbClr val="FF3399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– line connecting the two camera centers</a:t>
            </a:r>
          </a:p>
        </p:txBody>
      </p:sp>
      <p:sp>
        <p:nvSpPr>
          <p:cNvPr id="591891" name="Line 19"/>
          <p:cNvSpPr>
            <a:spLocks noChangeShapeType="1"/>
          </p:cNvSpPr>
          <p:nvPr/>
        </p:nvSpPr>
        <p:spPr bwMode="auto">
          <a:xfrm>
            <a:off x="1066800" y="3773488"/>
            <a:ext cx="20574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91892" name="Line 20"/>
          <p:cNvSpPr>
            <a:spLocks noChangeShapeType="1"/>
          </p:cNvSpPr>
          <p:nvPr/>
        </p:nvSpPr>
        <p:spPr bwMode="auto">
          <a:xfrm>
            <a:off x="3505200" y="3773488"/>
            <a:ext cx="23622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91893" name="Line 21"/>
          <p:cNvSpPr>
            <a:spLocks noChangeShapeType="1"/>
          </p:cNvSpPr>
          <p:nvPr/>
        </p:nvSpPr>
        <p:spPr bwMode="auto">
          <a:xfrm>
            <a:off x="6248400" y="3773488"/>
            <a:ext cx="20574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3332" name="Rectangle 22"/>
          <p:cNvSpPr>
            <a:spLocks noGrp="1" noChangeArrowheads="1"/>
          </p:cNvSpPr>
          <p:nvPr>
            <p:ph type="title"/>
          </p:nvPr>
        </p:nvSpPr>
        <p:spPr>
          <a:xfrm>
            <a:off x="546100" y="94619"/>
            <a:ext cx="8229600" cy="1143000"/>
          </a:xfrm>
        </p:spPr>
        <p:txBody>
          <a:bodyPr/>
          <a:lstStyle/>
          <a:p>
            <a:r>
              <a:rPr lang="en-US" dirty="0" err="1"/>
              <a:t>Epipolar</a:t>
            </a:r>
            <a:r>
              <a:rPr lang="en-US" dirty="0"/>
              <a:t> geometry: terminology</a:t>
            </a:r>
          </a:p>
        </p:txBody>
      </p:sp>
      <p:sp>
        <p:nvSpPr>
          <p:cNvPr id="13333" name="Rectangle 24"/>
          <p:cNvSpPr>
            <a:spLocks noChangeArrowheads="1"/>
          </p:cNvSpPr>
          <p:nvPr/>
        </p:nvSpPr>
        <p:spPr bwMode="auto">
          <a:xfrm>
            <a:off x="914400" y="1552575"/>
            <a:ext cx="228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3334" name="Rectangle 25"/>
          <p:cNvSpPr>
            <a:spLocks noChangeArrowheads="1"/>
          </p:cNvSpPr>
          <p:nvPr/>
        </p:nvSpPr>
        <p:spPr bwMode="auto">
          <a:xfrm>
            <a:off x="8170863" y="1562100"/>
            <a:ext cx="322262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3335" name="Text Box 26"/>
          <p:cNvSpPr txBox="1">
            <a:spLocks noChangeArrowheads="1"/>
          </p:cNvSpPr>
          <p:nvPr/>
        </p:nvSpPr>
        <p:spPr bwMode="auto">
          <a:xfrm>
            <a:off x="4572000" y="892175"/>
            <a:ext cx="30321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13336" name="Freeform 29"/>
          <p:cNvSpPr>
            <a:spLocks/>
          </p:cNvSpPr>
          <p:nvPr/>
        </p:nvSpPr>
        <p:spPr bwMode="auto">
          <a:xfrm>
            <a:off x="2667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3337" name="Text Box 27"/>
          <p:cNvSpPr txBox="1">
            <a:spLocks noChangeArrowheads="1"/>
          </p:cNvSpPr>
          <p:nvPr/>
        </p:nvSpPr>
        <p:spPr bwMode="auto">
          <a:xfrm>
            <a:off x="2667000" y="2209800"/>
            <a:ext cx="209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13338" name="Freeform 30"/>
          <p:cNvSpPr>
            <a:spLocks/>
          </p:cNvSpPr>
          <p:nvPr/>
        </p:nvSpPr>
        <p:spPr bwMode="auto">
          <a:xfrm>
            <a:off x="6477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3339" name="Text Box 31"/>
          <p:cNvSpPr txBox="1">
            <a:spLocks noChangeArrowheads="1"/>
          </p:cNvSpPr>
          <p:nvPr/>
        </p:nvSpPr>
        <p:spPr bwMode="auto">
          <a:xfrm>
            <a:off x="64008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883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876" grpId="0" animBg="1"/>
      <p:bldP spid="591877" grpId="0" animBg="1"/>
      <p:bldP spid="591878" grpId="0" animBg="1"/>
      <p:bldP spid="591879" grpId="0" animBg="1"/>
      <p:bldP spid="591880" grpId="0" animBg="1"/>
      <p:bldP spid="591881" grpId="0" animBg="1"/>
      <p:bldP spid="591882" grpId="0" animBg="1"/>
      <p:bldP spid="591883" grpId="0" autoUpdateAnimBg="0"/>
      <p:bldP spid="591884" grpId="0" animBg="1"/>
      <p:bldP spid="591885" grpId="0" animBg="1"/>
      <p:bldP spid="591886" grpId="0" autoUpdateAnimBg="0"/>
      <p:bldP spid="591890" grpId="0" autoUpdateAnimBg="0"/>
      <p:bldP spid="591891" grpId="0" animBg="1"/>
      <p:bldP spid="591892" grpId="0" animBg="1"/>
      <p:bldP spid="59189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877888"/>
            <a:ext cx="7696200" cy="323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Line 4"/>
          <p:cNvSpPr>
            <a:spLocks noChangeShapeType="1"/>
          </p:cNvSpPr>
          <p:nvPr/>
        </p:nvSpPr>
        <p:spPr bwMode="auto">
          <a:xfrm flipV="1">
            <a:off x="1073150" y="3741738"/>
            <a:ext cx="2098675" cy="127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64" name="Line 5"/>
          <p:cNvSpPr>
            <a:spLocks noChangeShapeType="1"/>
          </p:cNvSpPr>
          <p:nvPr/>
        </p:nvSpPr>
        <p:spPr bwMode="auto">
          <a:xfrm>
            <a:off x="3524250" y="3748088"/>
            <a:ext cx="23114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65" name="Line 6"/>
          <p:cNvSpPr>
            <a:spLocks noChangeShapeType="1"/>
          </p:cNvSpPr>
          <p:nvPr/>
        </p:nvSpPr>
        <p:spPr bwMode="auto">
          <a:xfrm>
            <a:off x="6210300" y="3748088"/>
            <a:ext cx="20955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66" name="Line 7"/>
          <p:cNvSpPr>
            <a:spLocks noChangeShapeType="1"/>
          </p:cNvSpPr>
          <p:nvPr/>
        </p:nvSpPr>
        <p:spPr bwMode="auto">
          <a:xfrm>
            <a:off x="6419850" y="2452688"/>
            <a:ext cx="1885950" cy="12890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67" name="Line 8"/>
          <p:cNvSpPr>
            <a:spLocks noChangeShapeType="1"/>
          </p:cNvSpPr>
          <p:nvPr/>
        </p:nvSpPr>
        <p:spPr bwMode="auto">
          <a:xfrm>
            <a:off x="4724400" y="1284288"/>
            <a:ext cx="1466850" cy="10033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68" name="Line 9"/>
          <p:cNvSpPr>
            <a:spLocks noChangeShapeType="1"/>
          </p:cNvSpPr>
          <p:nvPr/>
        </p:nvSpPr>
        <p:spPr bwMode="auto">
          <a:xfrm flipV="1">
            <a:off x="3187700" y="1271588"/>
            <a:ext cx="1473200" cy="10096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69" name="Line 10"/>
          <p:cNvSpPr>
            <a:spLocks noChangeShapeType="1"/>
          </p:cNvSpPr>
          <p:nvPr/>
        </p:nvSpPr>
        <p:spPr bwMode="auto">
          <a:xfrm flipV="1">
            <a:off x="1060450" y="2446338"/>
            <a:ext cx="1892300" cy="12827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71" name="Oval 12"/>
          <p:cNvSpPr>
            <a:spLocks noChangeArrowheads="1"/>
          </p:cNvSpPr>
          <p:nvPr/>
        </p:nvSpPr>
        <p:spPr bwMode="auto">
          <a:xfrm>
            <a:off x="3105150" y="3659188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72" name="Oval 13"/>
          <p:cNvSpPr>
            <a:spLocks noChangeArrowheads="1"/>
          </p:cNvSpPr>
          <p:nvPr/>
        </p:nvSpPr>
        <p:spPr bwMode="auto">
          <a:xfrm>
            <a:off x="6102350" y="3690938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952750" y="2300288"/>
            <a:ext cx="3460750" cy="1600200"/>
            <a:chOff x="2952750" y="2300288"/>
            <a:chExt cx="3460750" cy="1600200"/>
          </a:xfrm>
        </p:grpSpPr>
        <p:sp>
          <p:nvSpPr>
            <p:cNvPr id="591887" name="Line 15"/>
            <p:cNvSpPr>
              <a:spLocks noChangeShapeType="1"/>
            </p:cNvSpPr>
            <p:nvPr/>
          </p:nvSpPr>
          <p:spPr bwMode="auto">
            <a:xfrm flipH="1" flipV="1">
              <a:off x="2952750" y="2300288"/>
              <a:ext cx="260350" cy="158115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591888" name="Line 16"/>
            <p:cNvSpPr>
              <a:spLocks noChangeShapeType="1"/>
            </p:cNvSpPr>
            <p:nvPr/>
          </p:nvSpPr>
          <p:spPr bwMode="auto">
            <a:xfrm flipV="1">
              <a:off x="6159500" y="2312988"/>
              <a:ext cx="254000" cy="158750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</p:grpSp>
      <p:sp>
        <p:nvSpPr>
          <p:cNvPr id="591889" name="Text Box 17"/>
          <p:cNvSpPr txBox="1">
            <a:spLocks noChangeArrowheads="1"/>
          </p:cNvSpPr>
          <p:nvPr/>
        </p:nvSpPr>
        <p:spPr bwMode="auto">
          <a:xfrm>
            <a:off x="914400" y="5804848"/>
            <a:ext cx="74676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A50021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</a:t>
            </a:r>
            <a:r>
              <a:rPr lang="en-US" sz="2000" b="1" dirty="0" err="1">
                <a:solidFill>
                  <a:srgbClr val="A50021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Epipolar</a:t>
            </a:r>
            <a:r>
              <a:rPr lang="en-US" sz="2000" b="1" dirty="0">
                <a:solidFill>
                  <a:srgbClr val="A50021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Lines</a:t>
            </a:r>
            <a:r>
              <a:rPr lang="en-US" sz="2000" dirty="0">
                <a:solidFill>
                  <a:srgbClr val="A50021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- intersections of </a:t>
            </a:r>
            <a:r>
              <a:rPr lang="en-US" sz="2000" dirty="0" err="1">
                <a:solidFill>
                  <a:srgbClr val="A50021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epipolar</a:t>
            </a:r>
            <a:r>
              <a:rPr lang="en-US" sz="2000" dirty="0">
                <a:solidFill>
                  <a:srgbClr val="A50021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plane with image</a:t>
            </a:r>
            <a:br>
              <a:rPr lang="en-US" sz="2000" dirty="0">
                <a:solidFill>
                  <a:srgbClr val="A50021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</a:br>
            <a:r>
              <a:rPr lang="en-US" sz="2000" dirty="0">
                <a:solidFill>
                  <a:srgbClr val="A50021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 planes (always come in corresponding pairs)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>
              <a:solidFill>
                <a:srgbClr val="A50021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78" name="Line 19"/>
          <p:cNvSpPr>
            <a:spLocks noChangeShapeType="1"/>
          </p:cNvSpPr>
          <p:nvPr/>
        </p:nvSpPr>
        <p:spPr bwMode="auto">
          <a:xfrm>
            <a:off x="1066800" y="3773488"/>
            <a:ext cx="20574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79" name="Line 20"/>
          <p:cNvSpPr>
            <a:spLocks noChangeShapeType="1"/>
          </p:cNvSpPr>
          <p:nvPr/>
        </p:nvSpPr>
        <p:spPr bwMode="auto">
          <a:xfrm>
            <a:off x="3505200" y="3773488"/>
            <a:ext cx="23622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80" name="Line 21"/>
          <p:cNvSpPr>
            <a:spLocks noChangeShapeType="1"/>
          </p:cNvSpPr>
          <p:nvPr/>
        </p:nvSpPr>
        <p:spPr bwMode="auto">
          <a:xfrm>
            <a:off x="6248400" y="3773488"/>
            <a:ext cx="20574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81" name="Rectangle 22"/>
          <p:cNvSpPr>
            <a:spLocks noGrp="1" noChangeArrowheads="1"/>
          </p:cNvSpPr>
          <p:nvPr>
            <p:ph type="title"/>
          </p:nvPr>
        </p:nvSpPr>
        <p:spPr>
          <a:xfrm>
            <a:off x="457200" y="128588"/>
            <a:ext cx="8229600" cy="1143000"/>
          </a:xfrm>
        </p:spPr>
        <p:txBody>
          <a:bodyPr/>
          <a:lstStyle/>
          <a:p>
            <a:r>
              <a:rPr lang="en-US" dirty="0" err="1"/>
              <a:t>Epipolar</a:t>
            </a:r>
            <a:r>
              <a:rPr lang="en-US" dirty="0"/>
              <a:t> geometry: notation</a:t>
            </a:r>
          </a:p>
        </p:txBody>
      </p:sp>
      <p:sp>
        <p:nvSpPr>
          <p:cNvPr id="15382" name="Rectangle 24"/>
          <p:cNvSpPr>
            <a:spLocks noChangeArrowheads="1"/>
          </p:cNvSpPr>
          <p:nvPr/>
        </p:nvSpPr>
        <p:spPr bwMode="auto">
          <a:xfrm>
            <a:off x="914400" y="1552575"/>
            <a:ext cx="228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83" name="Rectangle 25"/>
          <p:cNvSpPr>
            <a:spLocks noChangeArrowheads="1"/>
          </p:cNvSpPr>
          <p:nvPr/>
        </p:nvSpPr>
        <p:spPr bwMode="auto">
          <a:xfrm>
            <a:off x="8170863" y="1562100"/>
            <a:ext cx="322262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84" name="Text Box 26"/>
          <p:cNvSpPr txBox="1">
            <a:spLocks noChangeArrowheads="1"/>
          </p:cNvSpPr>
          <p:nvPr/>
        </p:nvSpPr>
        <p:spPr bwMode="auto">
          <a:xfrm>
            <a:off x="4572000" y="892175"/>
            <a:ext cx="30321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15385" name="Freeform 29"/>
          <p:cNvSpPr>
            <a:spLocks/>
          </p:cNvSpPr>
          <p:nvPr/>
        </p:nvSpPr>
        <p:spPr bwMode="auto">
          <a:xfrm>
            <a:off x="2667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86" name="Text Box 27"/>
          <p:cNvSpPr txBox="1">
            <a:spLocks noChangeArrowheads="1"/>
          </p:cNvSpPr>
          <p:nvPr/>
        </p:nvSpPr>
        <p:spPr bwMode="auto">
          <a:xfrm>
            <a:off x="2667000" y="2209800"/>
            <a:ext cx="209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15387" name="Freeform 30"/>
          <p:cNvSpPr>
            <a:spLocks/>
          </p:cNvSpPr>
          <p:nvPr/>
        </p:nvSpPr>
        <p:spPr bwMode="auto">
          <a:xfrm>
            <a:off x="6477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5388" name="Text Box 31"/>
          <p:cNvSpPr txBox="1">
            <a:spLocks noChangeArrowheads="1"/>
          </p:cNvSpPr>
          <p:nvPr/>
        </p:nvSpPr>
        <p:spPr bwMode="auto">
          <a:xfrm>
            <a:off x="64008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925776" y="5470525"/>
            <a:ext cx="655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80008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</a:t>
            </a:r>
            <a:r>
              <a:rPr lang="en-US" sz="2000" b="1" dirty="0" err="1">
                <a:solidFill>
                  <a:srgbClr val="80008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Epipolar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Plane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– plane containing baseline (1D family)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920088" y="4419600"/>
            <a:ext cx="53498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339966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</a:t>
            </a:r>
            <a:r>
              <a:rPr lang="en-US" sz="2000" b="1" dirty="0" err="1">
                <a:solidFill>
                  <a:srgbClr val="339966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Epipoles</a:t>
            </a:r>
            <a:r>
              <a:rPr lang="en-US" sz="2000" b="1" dirty="0">
                <a:solidFill>
                  <a:srgbClr val="339966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339966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= intersections of baseline with image planes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339966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= projections of the other camera center</a:t>
            </a:r>
          </a:p>
        </p:txBody>
      </p:sp>
      <p:sp>
        <p:nvSpPr>
          <p:cNvPr id="33" name="Text Box 18"/>
          <p:cNvSpPr txBox="1">
            <a:spLocks noChangeArrowheads="1"/>
          </p:cNvSpPr>
          <p:nvPr/>
        </p:nvSpPr>
        <p:spPr bwMode="auto">
          <a:xfrm>
            <a:off x="914400" y="4010025"/>
            <a:ext cx="6069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FF3399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</a:t>
            </a:r>
            <a:r>
              <a:rPr lang="en-US" sz="2000" b="1" dirty="0">
                <a:solidFill>
                  <a:srgbClr val="FF3399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Baseline</a:t>
            </a:r>
            <a:r>
              <a:rPr lang="en-US" sz="2000" dirty="0">
                <a:solidFill>
                  <a:srgbClr val="FF3399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– line connecting the two camera centers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2771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5338" y="901700"/>
            <a:ext cx="7662862" cy="321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16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err="1"/>
              <a:t>Epipolar</a:t>
            </a:r>
            <a:r>
              <a:rPr lang="en-US" dirty="0"/>
              <a:t> constraint</a:t>
            </a:r>
          </a:p>
        </p:txBody>
      </p:sp>
      <p:sp>
        <p:nvSpPr>
          <p:cNvPr id="19460" name="Rectangle 55"/>
          <p:cNvSpPr>
            <a:spLocks noGrp="1" noChangeArrowheads="1"/>
          </p:cNvSpPr>
          <p:nvPr>
            <p:ph type="body" idx="1"/>
          </p:nvPr>
        </p:nvSpPr>
        <p:spPr>
          <a:xfrm>
            <a:off x="685800" y="4267200"/>
            <a:ext cx="7772400" cy="19050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dirty="0"/>
              <a:t>If we observe a point </a:t>
            </a:r>
            <a:r>
              <a:rPr lang="en-US" b="1" i="1" dirty="0"/>
              <a:t>x</a:t>
            </a:r>
            <a:r>
              <a:rPr lang="en-US" dirty="0"/>
              <a:t> in one image, where can the corresponding point </a:t>
            </a:r>
            <a:r>
              <a:rPr lang="en-US" b="1" i="1" dirty="0"/>
              <a:t>x’</a:t>
            </a:r>
            <a:r>
              <a:rPr lang="en-US" dirty="0"/>
              <a:t> be in the other image?</a:t>
            </a:r>
          </a:p>
        </p:txBody>
      </p:sp>
      <p:sp>
        <p:nvSpPr>
          <p:cNvPr id="19461" name="Freeform 41"/>
          <p:cNvSpPr>
            <a:spLocks/>
          </p:cNvSpPr>
          <p:nvPr/>
        </p:nvSpPr>
        <p:spPr bwMode="auto">
          <a:xfrm>
            <a:off x="2667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12" y="80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9462" name="Text Box 42"/>
          <p:cNvSpPr txBox="1">
            <a:spLocks noChangeArrowheads="1"/>
          </p:cNvSpPr>
          <p:nvPr/>
        </p:nvSpPr>
        <p:spPr bwMode="auto">
          <a:xfrm>
            <a:off x="2667000" y="2209800"/>
            <a:ext cx="209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19463" name="Freeform 43"/>
          <p:cNvSpPr>
            <a:spLocks/>
          </p:cNvSpPr>
          <p:nvPr/>
        </p:nvSpPr>
        <p:spPr bwMode="auto">
          <a:xfrm>
            <a:off x="6019800" y="2336800"/>
            <a:ext cx="273050" cy="254000"/>
          </a:xfrm>
          <a:custGeom>
            <a:avLst/>
            <a:gdLst>
              <a:gd name="T0" fmla="*/ 2147483647 w 172"/>
              <a:gd name="T1" fmla="*/ 2147483647 h 160"/>
              <a:gd name="T2" fmla="*/ 0 w 172"/>
              <a:gd name="T3" fmla="*/ 2147483647 h 160"/>
              <a:gd name="T4" fmla="*/ 2147483647 w 172"/>
              <a:gd name="T5" fmla="*/ 2147483647 h 160"/>
              <a:gd name="T6" fmla="*/ 2147483647 w 172"/>
              <a:gd name="T7" fmla="*/ 2147483647 h 160"/>
              <a:gd name="T8" fmla="*/ 2147483647 w 172"/>
              <a:gd name="T9" fmla="*/ 0 h 160"/>
              <a:gd name="T10" fmla="*/ 2147483647 w 172"/>
              <a:gd name="T11" fmla="*/ 2147483647 h 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2"/>
              <a:gd name="T19" fmla="*/ 0 h 160"/>
              <a:gd name="T20" fmla="*/ 172 w 172"/>
              <a:gd name="T21" fmla="*/ 160 h 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2" h="160">
                <a:moveTo>
                  <a:pt x="48" y="16"/>
                </a:moveTo>
                <a:lnTo>
                  <a:pt x="0" y="112"/>
                </a:lnTo>
                <a:lnTo>
                  <a:pt x="48" y="160"/>
                </a:lnTo>
                <a:lnTo>
                  <a:pt x="144" y="112"/>
                </a:lnTo>
                <a:lnTo>
                  <a:pt x="172" y="0"/>
                </a:lnTo>
                <a:lnTo>
                  <a:pt x="48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9464" name="Text Box 44"/>
          <p:cNvSpPr txBox="1">
            <a:spLocks noChangeArrowheads="1"/>
          </p:cNvSpPr>
          <p:nvPr/>
        </p:nvSpPr>
        <p:spPr bwMode="auto">
          <a:xfrm>
            <a:off x="60198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19465" name="Freeform 45"/>
          <p:cNvSpPr>
            <a:spLocks/>
          </p:cNvSpPr>
          <p:nvPr/>
        </p:nvSpPr>
        <p:spPr bwMode="auto">
          <a:xfrm>
            <a:off x="8001000" y="1524000"/>
            <a:ext cx="381000" cy="304800"/>
          </a:xfrm>
          <a:custGeom>
            <a:avLst/>
            <a:gdLst>
              <a:gd name="T0" fmla="*/ 2147483647 w 240"/>
              <a:gd name="T1" fmla="*/ 2147483647 h 192"/>
              <a:gd name="T2" fmla="*/ 2147483647 w 240"/>
              <a:gd name="T3" fmla="*/ 0 h 192"/>
              <a:gd name="T4" fmla="*/ 2147483647 w 240"/>
              <a:gd name="T5" fmla="*/ 2147483647 h 192"/>
              <a:gd name="T6" fmla="*/ 0 w 240"/>
              <a:gd name="T7" fmla="*/ 2147483647 h 192"/>
              <a:gd name="T8" fmla="*/ 2147483647 w 240"/>
              <a:gd name="T9" fmla="*/ 2147483647 h 192"/>
              <a:gd name="T10" fmla="*/ 2147483647 w 240"/>
              <a:gd name="T11" fmla="*/ 2147483647 h 1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0"/>
              <a:gd name="T19" fmla="*/ 0 h 192"/>
              <a:gd name="T20" fmla="*/ 240 w 240"/>
              <a:gd name="T21" fmla="*/ 192 h 1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0" h="192">
                <a:moveTo>
                  <a:pt x="240" y="192"/>
                </a:moveTo>
                <a:lnTo>
                  <a:pt x="240" y="0"/>
                </a:lnTo>
                <a:lnTo>
                  <a:pt x="88" y="24"/>
                </a:lnTo>
                <a:lnTo>
                  <a:pt x="0" y="96"/>
                </a:lnTo>
                <a:lnTo>
                  <a:pt x="96" y="192"/>
                </a:lnTo>
                <a:lnTo>
                  <a:pt x="240" y="19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9466" name="Freeform 46"/>
          <p:cNvSpPr>
            <a:spLocks/>
          </p:cNvSpPr>
          <p:nvPr/>
        </p:nvSpPr>
        <p:spPr bwMode="auto">
          <a:xfrm>
            <a:off x="838200" y="1536700"/>
            <a:ext cx="260350" cy="292100"/>
          </a:xfrm>
          <a:custGeom>
            <a:avLst/>
            <a:gdLst>
              <a:gd name="T0" fmla="*/ 2147483647 w 164"/>
              <a:gd name="T1" fmla="*/ 0 h 184"/>
              <a:gd name="T2" fmla="*/ 0 w 164"/>
              <a:gd name="T3" fmla="*/ 2147483647 h 184"/>
              <a:gd name="T4" fmla="*/ 2147483647 w 164"/>
              <a:gd name="T5" fmla="*/ 2147483647 h 184"/>
              <a:gd name="T6" fmla="*/ 2147483647 w 164"/>
              <a:gd name="T7" fmla="*/ 2147483647 h 184"/>
              <a:gd name="T8" fmla="*/ 2147483647 w 164"/>
              <a:gd name="T9" fmla="*/ 2147483647 h 184"/>
              <a:gd name="T10" fmla="*/ 2147483647 w 164"/>
              <a:gd name="T11" fmla="*/ 0 h 1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4"/>
              <a:gd name="T19" fmla="*/ 0 h 184"/>
              <a:gd name="T20" fmla="*/ 164 w 164"/>
              <a:gd name="T21" fmla="*/ 184 h 1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4" h="184">
                <a:moveTo>
                  <a:pt x="32" y="0"/>
                </a:moveTo>
                <a:lnTo>
                  <a:pt x="0" y="136"/>
                </a:lnTo>
                <a:lnTo>
                  <a:pt x="48" y="184"/>
                </a:lnTo>
                <a:lnTo>
                  <a:pt x="148" y="176"/>
                </a:lnTo>
                <a:lnTo>
                  <a:pt x="164" y="36"/>
                </a:lnTo>
                <a:lnTo>
                  <a:pt x="32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9467" name="Freeform 47"/>
          <p:cNvSpPr>
            <a:spLocks/>
          </p:cNvSpPr>
          <p:nvPr/>
        </p:nvSpPr>
        <p:spPr bwMode="auto">
          <a:xfrm>
            <a:off x="5905500" y="2667000"/>
            <a:ext cx="336550" cy="698500"/>
          </a:xfrm>
          <a:custGeom>
            <a:avLst/>
            <a:gdLst>
              <a:gd name="T0" fmla="*/ 2147483647 w 212"/>
              <a:gd name="T1" fmla="*/ 2147483647 h 440"/>
              <a:gd name="T2" fmla="*/ 2147483647 w 212"/>
              <a:gd name="T3" fmla="*/ 2147483647 h 440"/>
              <a:gd name="T4" fmla="*/ 0 w 212"/>
              <a:gd name="T5" fmla="*/ 2147483647 h 440"/>
              <a:gd name="T6" fmla="*/ 2147483647 w 212"/>
              <a:gd name="T7" fmla="*/ 2147483647 h 440"/>
              <a:gd name="T8" fmla="*/ 2147483647 w 212"/>
              <a:gd name="T9" fmla="*/ 0 h 440"/>
              <a:gd name="T10" fmla="*/ 2147483647 w 212"/>
              <a:gd name="T11" fmla="*/ 2147483647 h 4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2"/>
              <a:gd name="T19" fmla="*/ 0 h 440"/>
              <a:gd name="T20" fmla="*/ 212 w 212"/>
              <a:gd name="T21" fmla="*/ 440 h 4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2" h="440">
                <a:moveTo>
                  <a:pt x="72" y="16"/>
                </a:moveTo>
                <a:lnTo>
                  <a:pt x="24" y="112"/>
                </a:lnTo>
                <a:lnTo>
                  <a:pt x="0" y="400"/>
                </a:lnTo>
                <a:lnTo>
                  <a:pt x="132" y="440"/>
                </a:lnTo>
                <a:lnTo>
                  <a:pt x="212" y="0"/>
                </a:lnTo>
                <a:lnTo>
                  <a:pt x="72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9468" name="Freeform 48"/>
          <p:cNvSpPr>
            <a:spLocks/>
          </p:cNvSpPr>
          <p:nvPr/>
        </p:nvSpPr>
        <p:spPr bwMode="auto">
          <a:xfrm>
            <a:off x="3854450" y="1371600"/>
            <a:ext cx="368300" cy="298450"/>
          </a:xfrm>
          <a:custGeom>
            <a:avLst/>
            <a:gdLst>
              <a:gd name="T0" fmla="*/ 2147483647 w 232"/>
              <a:gd name="T1" fmla="*/ 2147483647 h 188"/>
              <a:gd name="T2" fmla="*/ 2147483647 w 232"/>
              <a:gd name="T3" fmla="*/ 2147483647 h 188"/>
              <a:gd name="T4" fmla="*/ 0 w 232"/>
              <a:gd name="T5" fmla="*/ 2147483647 h 188"/>
              <a:gd name="T6" fmla="*/ 2147483647 w 232"/>
              <a:gd name="T7" fmla="*/ 2147483647 h 188"/>
              <a:gd name="T8" fmla="*/ 2147483647 w 232"/>
              <a:gd name="T9" fmla="*/ 2147483647 h 188"/>
              <a:gd name="T10" fmla="*/ 2147483647 w 232"/>
              <a:gd name="T11" fmla="*/ 2147483647 h 188"/>
              <a:gd name="T12" fmla="*/ 2147483647 w 232"/>
              <a:gd name="T13" fmla="*/ 0 h 188"/>
              <a:gd name="T14" fmla="*/ 2147483647 w 232"/>
              <a:gd name="T15" fmla="*/ 2147483647 h 1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32"/>
              <a:gd name="T25" fmla="*/ 0 h 188"/>
              <a:gd name="T26" fmla="*/ 232 w 232"/>
              <a:gd name="T27" fmla="*/ 188 h 1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32" h="188">
                <a:moveTo>
                  <a:pt x="68" y="16"/>
                </a:moveTo>
                <a:lnTo>
                  <a:pt x="20" y="112"/>
                </a:lnTo>
                <a:lnTo>
                  <a:pt x="0" y="164"/>
                </a:lnTo>
                <a:lnTo>
                  <a:pt x="56" y="188"/>
                </a:lnTo>
                <a:lnTo>
                  <a:pt x="136" y="148"/>
                </a:lnTo>
                <a:lnTo>
                  <a:pt x="232" y="80"/>
                </a:lnTo>
                <a:lnTo>
                  <a:pt x="192" y="0"/>
                </a:lnTo>
                <a:lnTo>
                  <a:pt x="68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9469" name="Freeform 49"/>
          <p:cNvSpPr>
            <a:spLocks/>
          </p:cNvSpPr>
          <p:nvPr/>
        </p:nvSpPr>
        <p:spPr bwMode="auto">
          <a:xfrm>
            <a:off x="3200400" y="1828800"/>
            <a:ext cx="381000" cy="260350"/>
          </a:xfrm>
          <a:custGeom>
            <a:avLst/>
            <a:gdLst>
              <a:gd name="T0" fmla="*/ 2147483647 w 240"/>
              <a:gd name="T1" fmla="*/ 2147483647 h 164"/>
              <a:gd name="T2" fmla="*/ 2147483647 w 240"/>
              <a:gd name="T3" fmla="*/ 2147483647 h 164"/>
              <a:gd name="T4" fmla="*/ 0 w 240"/>
              <a:gd name="T5" fmla="*/ 2147483647 h 164"/>
              <a:gd name="T6" fmla="*/ 2147483647 w 240"/>
              <a:gd name="T7" fmla="*/ 2147483647 h 164"/>
              <a:gd name="T8" fmla="*/ 2147483647 w 240"/>
              <a:gd name="T9" fmla="*/ 2147483647 h 164"/>
              <a:gd name="T10" fmla="*/ 2147483647 w 240"/>
              <a:gd name="T11" fmla="*/ 0 h 164"/>
              <a:gd name="T12" fmla="*/ 2147483647 w 240"/>
              <a:gd name="T13" fmla="*/ 2147483647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164"/>
              <a:gd name="T23" fmla="*/ 240 w 240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164">
                <a:moveTo>
                  <a:pt x="76" y="16"/>
                </a:moveTo>
                <a:lnTo>
                  <a:pt x="28" y="112"/>
                </a:lnTo>
                <a:lnTo>
                  <a:pt x="0" y="156"/>
                </a:lnTo>
                <a:lnTo>
                  <a:pt x="104" y="164"/>
                </a:lnTo>
                <a:lnTo>
                  <a:pt x="240" y="80"/>
                </a:lnTo>
                <a:lnTo>
                  <a:pt x="200" y="0"/>
                </a:lnTo>
                <a:lnTo>
                  <a:pt x="76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9470" name="Rectangle 54"/>
          <p:cNvSpPr>
            <a:spLocks noChangeArrowheads="1"/>
          </p:cNvSpPr>
          <p:nvPr/>
        </p:nvSpPr>
        <p:spPr bwMode="auto">
          <a:xfrm>
            <a:off x="4419600" y="914400"/>
            <a:ext cx="304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9471" name="Text Box 40"/>
          <p:cNvSpPr txBox="1">
            <a:spLocks noChangeArrowheads="1"/>
          </p:cNvSpPr>
          <p:nvPr/>
        </p:nvSpPr>
        <p:spPr bwMode="auto">
          <a:xfrm>
            <a:off x="4343400" y="914400"/>
            <a:ext cx="4572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20797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5338" y="901700"/>
            <a:ext cx="7662862" cy="321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1683" name="Text Box 3"/>
          <p:cNvSpPr txBox="1">
            <a:spLocks noChangeArrowheads="1"/>
          </p:cNvSpPr>
          <p:nvPr/>
        </p:nvSpPr>
        <p:spPr bwMode="auto">
          <a:xfrm>
            <a:off x="1457325" y="4579938"/>
            <a:ext cx="686918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Potential matches for </a:t>
            </a:r>
            <a:r>
              <a:rPr lang="en-US" sz="2000" b="1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have to lie on the corresponding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epipolar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line </a:t>
            </a:r>
            <a:r>
              <a:rPr lang="en-US" sz="2000" b="1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l</a:t>
            </a:r>
            <a:r>
              <a:rPr lang="en-US" sz="2000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’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.</a:t>
            </a:r>
          </a:p>
        </p:txBody>
      </p:sp>
      <p:sp>
        <p:nvSpPr>
          <p:cNvPr id="711684" name="Text Box 4"/>
          <p:cNvSpPr txBox="1">
            <a:spLocks noChangeArrowheads="1"/>
          </p:cNvSpPr>
          <p:nvPr/>
        </p:nvSpPr>
        <p:spPr bwMode="auto">
          <a:xfrm>
            <a:off x="1447800" y="5646738"/>
            <a:ext cx="693972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Potential matches for </a:t>
            </a:r>
            <a:r>
              <a:rPr lang="en-US" sz="2000" b="1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  <a:r>
              <a:rPr lang="en-US" sz="2000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’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have to lie on the corresponding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epipolar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line </a:t>
            </a:r>
            <a:r>
              <a:rPr lang="en-US" sz="2000" b="1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.</a:t>
            </a:r>
          </a:p>
        </p:txBody>
      </p:sp>
      <p:sp>
        <p:nvSpPr>
          <p:cNvPr id="711685" name="Oval 5"/>
          <p:cNvSpPr>
            <a:spLocks noChangeArrowheads="1"/>
          </p:cNvSpPr>
          <p:nvPr/>
        </p:nvSpPr>
        <p:spPr bwMode="auto">
          <a:xfrm>
            <a:off x="2884488" y="24066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86" name="Line 6"/>
          <p:cNvSpPr>
            <a:spLocks noChangeShapeType="1"/>
          </p:cNvSpPr>
          <p:nvPr/>
        </p:nvSpPr>
        <p:spPr bwMode="auto">
          <a:xfrm flipH="1">
            <a:off x="6084888" y="2330450"/>
            <a:ext cx="254000" cy="158115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87" name="Oval 7"/>
          <p:cNvSpPr>
            <a:spLocks noChangeArrowheads="1"/>
          </p:cNvSpPr>
          <p:nvPr/>
        </p:nvSpPr>
        <p:spPr bwMode="auto">
          <a:xfrm>
            <a:off x="6275388" y="2406650"/>
            <a:ext cx="76200" cy="76200"/>
          </a:xfrm>
          <a:prstGeom prst="ellipse">
            <a:avLst/>
          </a:prstGeom>
          <a:solidFill>
            <a:srgbClr val="CC3300"/>
          </a:solidFill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Verdana" pitchFamily="34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88" name="Line 8"/>
          <p:cNvSpPr>
            <a:spLocks noChangeShapeType="1"/>
          </p:cNvSpPr>
          <p:nvPr/>
        </p:nvSpPr>
        <p:spPr bwMode="auto">
          <a:xfrm flipH="1" flipV="1">
            <a:off x="2909888" y="2311400"/>
            <a:ext cx="241300" cy="15621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89" name="Oval 9"/>
          <p:cNvSpPr>
            <a:spLocks noChangeArrowheads="1"/>
          </p:cNvSpPr>
          <p:nvPr/>
        </p:nvSpPr>
        <p:spPr bwMode="auto">
          <a:xfrm>
            <a:off x="3316288" y="21018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90" name="Oval 10"/>
          <p:cNvSpPr>
            <a:spLocks noChangeArrowheads="1"/>
          </p:cNvSpPr>
          <p:nvPr/>
        </p:nvSpPr>
        <p:spPr bwMode="auto">
          <a:xfrm>
            <a:off x="3970338" y="16573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91" name="Oval 11"/>
          <p:cNvSpPr>
            <a:spLocks noChangeArrowheads="1"/>
          </p:cNvSpPr>
          <p:nvPr/>
        </p:nvSpPr>
        <p:spPr bwMode="auto">
          <a:xfrm>
            <a:off x="6275388" y="24003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92" name="Oval 12"/>
          <p:cNvSpPr>
            <a:spLocks noChangeArrowheads="1"/>
          </p:cNvSpPr>
          <p:nvPr/>
        </p:nvSpPr>
        <p:spPr bwMode="auto">
          <a:xfrm>
            <a:off x="6224588" y="27559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93" name="Oval 13"/>
          <p:cNvSpPr>
            <a:spLocks noChangeArrowheads="1"/>
          </p:cNvSpPr>
          <p:nvPr/>
        </p:nvSpPr>
        <p:spPr bwMode="auto">
          <a:xfrm>
            <a:off x="6167438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494" name="Rectangle 14"/>
          <p:cNvSpPr>
            <a:spLocks noGrp="1" noChangeArrowheads="1"/>
          </p:cNvSpPr>
          <p:nvPr>
            <p:ph type="title"/>
          </p:nvPr>
        </p:nvSpPr>
        <p:spPr>
          <a:xfrm>
            <a:off x="477838" y="82550"/>
            <a:ext cx="8229600" cy="1143000"/>
          </a:xfrm>
        </p:spPr>
        <p:txBody>
          <a:bodyPr/>
          <a:lstStyle/>
          <a:p>
            <a:r>
              <a:rPr lang="en-US" dirty="0" err="1"/>
              <a:t>Epipolar</a:t>
            </a:r>
            <a:r>
              <a:rPr lang="en-US" dirty="0"/>
              <a:t> constraint</a:t>
            </a:r>
          </a:p>
        </p:txBody>
      </p:sp>
      <p:sp>
        <p:nvSpPr>
          <p:cNvPr id="20495" name="Freeform 15"/>
          <p:cNvSpPr>
            <a:spLocks/>
          </p:cNvSpPr>
          <p:nvPr/>
        </p:nvSpPr>
        <p:spPr bwMode="auto">
          <a:xfrm>
            <a:off x="2667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12" y="80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2667000" y="2209800"/>
            <a:ext cx="209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20497" name="Freeform 17"/>
          <p:cNvSpPr>
            <a:spLocks/>
          </p:cNvSpPr>
          <p:nvPr/>
        </p:nvSpPr>
        <p:spPr bwMode="auto">
          <a:xfrm>
            <a:off x="6019800" y="2336800"/>
            <a:ext cx="273050" cy="254000"/>
          </a:xfrm>
          <a:custGeom>
            <a:avLst/>
            <a:gdLst>
              <a:gd name="T0" fmla="*/ 2147483647 w 172"/>
              <a:gd name="T1" fmla="*/ 2147483647 h 160"/>
              <a:gd name="T2" fmla="*/ 0 w 172"/>
              <a:gd name="T3" fmla="*/ 2147483647 h 160"/>
              <a:gd name="T4" fmla="*/ 2147483647 w 172"/>
              <a:gd name="T5" fmla="*/ 2147483647 h 160"/>
              <a:gd name="T6" fmla="*/ 2147483647 w 172"/>
              <a:gd name="T7" fmla="*/ 2147483647 h 160"/>
              <a:gd name="T8" fmla="*/ 2147483647 w 172"/>
              <a:gd name="T9" fmla="*/ 0 h 160"/>
              <a:gd name="T10" fmla="*/ 2147483647 w 172"/>
              <a:gd name="T11" fmla="*/ 2147483647 h 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2"/>
              <a:gd name="T19" fmla="*/ 0 h 160"/>
              <a:gd name="T20" fmla="*/ 172 w 172"/>
              <a:gd name="T21" fmla="*/ 160 h 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2" h="160">
                <a:moveTo>
                  <a:pt x="48" y="16"/>
                </a:moveTo>
                <a:lnTo>
                  <a:pt x="0" y="112"/>
                </a:lnTo>
                <a:lnTo>
                  <a:pt x="48" y="160"/>
                </a:lnTo>
                <a:lnTo>
                  <a:pt x="144" y="112"/>
                </a:lnTo>
                <a:lnTo>
                  <a:pt x="172" y="0"/>
                </a:lnTo>
                <a:lnTo>
                  <a:pt x="48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698" name="Text Box 18"/>
          <p:cNvSpPr txBox="1">
            <a:spLocks noChangeArrowheads="1"/>
          </p:cNvSpPr>
          <p:nvPr/>
        </p:nvSpPr>
        <p:spPr bwMode="auto">
          <a:xfrm>
            <a:off x="60198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20499" name="Freeform 19"/>
          <p:cNvSpPr>
            <a:spLocks/>
          </p:cNvSpPr>
          <p:nvPr/>
        </p:nvSpPr>
        <p:spPr bwMode="auto">
          <a:xfrm>
            <a:off x="8001000" y="1524000"/>
            <a:ext cx="381000" cy="304800"/>
          </a:xfrm>
          <a:custGeom>
            <a:avLst/>
            <a:gdLst>
              <a:gd name="T0" fmla="*/ 2147483647 w 240"/>
              <a:gd name="T1" fmla="*/ 2147483647 h 192"/>
              <a:gd name="T2" fmla="*/ 2147483647 w 240"/>
              <a:gd name="T3" fmla="*/ 0 h 192"/>
              <a:gd name="T4" fmla="*/ 2147483647 w 240"/>
              <a:gd name="T5" fmla="*/ 2147483647 h 192"/>
              <a:gd name="T6" fmla="*/ 0 w 240"/>
              <a:gd name="T7" fmla="*/ 2147483647 h 192"/>
              <a:gd name="T8" fmla="*/ 2147483647 w 240"/>
              <a:gd name="T9" fmla="*/ 2147483647 h 192"/>
              <a:gd name="T10" fmla="*/ 2147483647 w 240"/>
              <a:gd name="T11" fmla="*/ 2147483647 h 1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0"/>
              <a:gd name="T19" fmla="*/ 0 h 192"/>
              <a:gd name="T20" fmla="*/ 240 w 240"/>
              <a:gd name="T21" fmla="*/ 192 h 1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0" h="192">
                <a:moveTo>
                  <a:pt x="240" y="192"/>
                </a:moveTo>
                <a:lnTo>
                  <a:pt x="240" y="0"/>
                </a:lnTo>
                <a:lnTo>
                  <a:pt x="88" y="24"/>
                </a:lnTo>
                <a:lnTo>
                  <a:pt x="0" y="96"/>
                </a:lnTo>
                <a:lnTo>
                  <a:pt x="96" y="192"/>
                </a:lnTo>
                <a:lnTo>
                  <a:pt x="240" y="19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500" name="Freeform 20"/>
          <p:cNvSpPr>
            <a:spLocks/>
          </p:cNvSpPr>
          <p:nvPr/>
        </p:nvSpPr>
        <p:spPr bwMode="auto">
          <a:xfrm>
            <a:off x="838200" y="1536700"/>
            <a:ext cx="260350" cy="292100"/>
          </a:xfrm>
          <a:custGeom>
            <a:avLst/>
            <a:gdLst>
              <a:gd name="T0" fmla="*/ 2147483647 w 164"/>
              <a:gd name="T1" fmla="*/ 0 h 184"/>
              <a:gd name="T2" fmla="*/ 0 w 164"/>
              <a:gd name="T3" fmla="*/ 2147483647 h 184"/>
              <a:gd name="T4" fmla="*/ 2147483647 w 164"/>
              <a:gd name="T5" fmla="*/ 2147483647 h 184"/>
              <a:gd name="T6" fmla="*/ 2147483647 w 164"/>
              <a:gd name="T7" fmla="*/ 2147483647 h 184"/>
              <a:gd name="T8" fmla="*/ 2147483647 w 164"/>
              <a:gd name="T9" fmla="*/ 2147483647 h 184"/>
              <a:gd name="T10" fmla="*/ 2147483647 w 164"/>
              <a:gd name="T11" fmla="*/ 0 h 1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4"/>
              <a:gd name="T19" fmla="*/ 0 h 184"/>
              <a:gd name="T20" fmla="*/ 164 w 164"/>
              <a:gd name="T21" fmla="*/ 184 h 1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4" h="184">
                <a:moveTo>
                  <a:pt x="32" y="0"/>
                </a:moveTo>
                <a:lnTo>
                  <a:pt x="0" y="136"/>
                </a:lnTo>
                <a:lnTo>
                  <a:pt x="48" y="184"/>
                </a:lnTo>
                <a:lnTo>
                  <a:pt x="148" y="176"/>
                </a:lnTo>
                <a:lnTo>
                  <a:pt x="164" y="36"/>
                </a:lnTo>
                <a:lnTo>
                  <a:pt x="32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501" name="Freeform 21"/>
          <p:cNvSpPr>
            <a:spLocks/>
          </p:cNvSpPr>
          <p:nvPr/>
        </p:nvSpPr>
        <p:spPr bwMode="auto">
          <a:xfrm>
            <a:off x="5905500" y="2667000"/>
            <a:ext cx="336550" cy="698500"/>
          </a:xfrm>
          <a:custGeom>
            <a:avLst/>
            <a:gdLst>
              <a:gd name="T0" fmla="*/ 2147483647 w 212"/>
              <a:gd name="T1" fmla="*/ 2147483647 h 440"/>
              <a:gd name="T2" fmla="*/ 2147483647 w 212"/>
              <a:gd name="T3" fmla="*/ 2147483647 h 440"/>
              <a:gd name="T4" fmla="*/ 0 w 212"/>
              <a:gd name="T5" fmla="*/ 2147483647 h 440"/>
              <a:gd name="T6" fmla="*/ 2147483647 w 212"/>
              <a:gd name="T7" fmla="*/ 2147483647 h 440"/>
              <a:gd name="T8" fmla="*/ 2147483647 w 212"/>
              <a:gd name="T9" fmla="*/ 0 h 440"/>
              <a:gd name="T10" fmla="*/ 2147483647 w 212"/>
              <a:gd name="T11" fmla="*/ 2147483647 h 4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2"/>
              <a:gd name="T19" fmla="*/ 0 h 440"/>
              <a:gd name="T20" fmla="*/ 212 w 212"/>
              <a:gd name="T21" fmla="*/ 440 h 4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2" h="440">
                <a:moveTo>
                  <a:pt x="72" y="16"/>
                </a:moveTo>
                <a:lnTo>
                  <a:pt x="24" y="112"/>
                </a:lnTo>
                <a:lnTo>
                  <a:pt x="0" y="400"/>
                </a:lnTo>
                <a:lnTo>
                  <a:pt x="132" y="440"/>
                </a:lnTo>
                <a:lnTo>
                  <a:pt x="212" y="0"/>
                </a:lnTo>
                <a:lnTo>
                  <a:pt x="72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502" name="Freeform 22"/>
          <p:cNvSpPr>
            <a:spLocks/>
          </p:cNvSpPr>
          <p:nvPr/>
        </p:nvSpPr>
        <p:spPr bwMode="auto">
          <a:xfrm>
            <a:off x="3854450" y="1371600"/>
            <a:ext cx="368300" cy="298450"/>
          </a:xfrm>
          <a:custGeom>
            <a:avLst/>
            <a:gdLst>
              <a:gd name="T0" fmla="*/ 2147483647 w 232"/>
              <a:gd name="T1" fmla="*/ 2147483647 h 188"/>
              <a:gd name="T2" fmla="*/ 2147483647 w 232"/>
              <a:gd name="T3" fmla="*/ 2147483647 h 188"/>
              <a:gd name="T4" fmla="*/ 0 w 232"/>
              <a:gd name="T5" fmla="*/ 2147483647 h 188"/>
              <a:gd name="T6" fmla="*/ 2147483647 w 232"/>
              <a:gd name="T7" fmla="*/ 2147483647 h 188"/>
              <a:gd name="T8" fmla="*/ 2147483647 w 232"/>
              <a:gd name="T9" fmla="*/ 2147483647 h 188"/>
              <a:gd name="T10" fmla="*/ 2147483647 w 232"/>
              <a:gd name="T11" fmla="*/ 2147483647 h 188"/>
              <a:gd name="T12" fmla="*/ 2147483647 w 232"/>
              <a:gd name="T13" fmla="*/ 0 h 188"/>
              <a:gd name="T14" fmla="*/ 2147483647 w 232"/>
              <a:gd name="T15" fmla="*/ 2147483647 h 1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32"/>
              <a:gd name="T25" fmla="*/ 0 h 188"/>
              <a:gd name="T26" fmla="*/ 232 w 232"/>
              <a:gd name="T27" fmla="*/ 188 h 1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32" h="188">
                <a:moveTo>
                  <a:pt x="68" y="16"/>
                </a:moveTo>
                <a:lnTo>
                  <a:pt x="20" y="112"/>
                </a:lnTo>
                <a:lnTo>
                  <a:pt x="0" y="164"/>
                </a:lnTo>
                <a:lnTo>
                  <a:pt x="56" y="188"/>
                </a:lnTo>
                <a:lnTo>
                  <a:pt x="136" y="148"/>
                </a:lnTo>
                <a:lnTo>
                  <a:pt x="232" y="80"/>
                </a:lnTo>
                <a:lnTo>
                  <a:pt x="192" y="0"/>
                </a:lnTo>
                <a:lnTo>
                  <a:pt x="68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503" name="Freeform 23"/>
          <p:cNvSpPr>
            <a:spLocks/>
          </p:cNvSpPr>
          <p:nvPr/>
        </p:nvSpPr>
        <p:spPr bwMode="auto">
          <a:xfrm>
            <a:off x="3200400" y="1828800"/>
            <a:ext cx="381000" cy="260350"/>
          </a:xfrm>
          <a:custGeom>
            <a:avLst/>
            <a:gdLst>
              <a:gd name="T0" fmla="*/ 2147483647 w 240"/>
              <a:gd name="T1" fmla="*/ 2147483647 h 164"/>
              <a:gd name="T2" fmla="*/ 2147483647 w 240"/>
              <a:gd name="T3" fmla="*/ 2147483647 h 164"/>
              <a:gd name="T4" fmla="*/ 0 w 240"/>
              <a:gd name="T5" fmla="*/ 2147483647 h 164"/>
              <a:gd name="T6" fmla="*/ 2147483647 w 240"/>
              <a:gd name="T7" fmla="*/ 2147483647 h 164"/>
              <a:gd name="T8" fmla="*/ 2147483647 w 240"/>
              <a:gd name="T9" fmla="*/ 2147483647 h 164"/>
              <a:gd name="T10" fmla="*/ 2147483647 w 240"/>
              <a:gd name="T11" fmla="*/ 0 h 164"/>
              <a:gd name="T12" fmla="*/ 2147483647 w 240"/>
              <a:gd name="T13" fmla="*/ 2147483647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164"/>
              <a:gd name="T23" fmla="*/ 240 w 240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164">
                <a:moveTo>
                  <a:pt x="76" y="16"/>
                </a:moveTo>
                <a:lnTo>
                  <a:pt x="28" y="112"/>
                </a:lnTo>
                <a:lnTo>
                  <a:pt x="0" y="156"/>
                </a:lnTo>
                <a:lnTo>
                  <a:pt x="104" y="164"/>
                </a:lnTo>
                <a:lnTo>
                  <a:pt x="240" y="80"/>
                </a:lnTo>
                <a:lnTo>
                  <a:pt x="200" y="0"/>
                </a:lnTo>
                <a:lnTo>
                  <a:pt x="76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704" name="Text Box 24"/>
          <p:cNvSpPr txBox="1">
            <a:spLocks noChangeArrowheads="1"/>
          </p:cNvSpPr>
          <p:nvPr/>
        </p:nvSpPr>
        <p:spPr bwMode="auto">
          <a:xfrm>
            <a:off x="3733800" y="1349375"/>
            <a:ext cx="30321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711705" name="Text Box 25"/>
          <p:cNvSpPr txBox="1">
            <a:spLocks noChangeArrowheads="1"/>
          </p:cNvSpPr>
          <p:nvPr/>
        </p:nvSpPr>
        <p:spPr bwMode="auto">
          <a:xfrm>
            <a:off x="59436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711706" name="Text Box 26"/>
          <p:cNvSpPr txBox="1">
            <a:spLocks noChangeArrowheads="1"/>
          </p:cNvSpPr>
          <p:nvPr/>
        </p:nvSpPr>
        <p:spPr bwMode="auto">
          <a:xfrm>
            <a:off x="3124200" y="1752600"/>
            <a:ext cx="30321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711707" name="Text Box 27"/>
          <p:cNvSpPr txBox="1">
            <a:spLocks noChangeArrowheads="1"/>
          </p:cNvSpPr>
          <p:nvPr/>
        </p:nvSpPr>
        <p:spPr bwMode="auto">
          <a:xfrm>
            <a:off x="58674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711708" name="Oval 28"/>
          <p:cNvSpPr>
            <a:spLocks noChangeArrowheads="1"/>
          </p:cNvSpPr>
          <p:nvPr/>
        </p:nvSpPr>
        <p:spPr bwMode="auto">
          <a:xfrm>
            <a:off x="4592638" y="12255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4419600" y="914400"/>
            <a:ext cx="304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711710" name="Text Box 30"/>
          <p:cNvSpPr txBox="1">
            <a:spLocks noChangeArrowheads="1"/>
          </p:cNvSpPr>
          <p:nvPr/>
        </p:nvSpPr>
        <p:spPr bwMode="auto">
          <a:xfrm>
            <a:off x="4343400" y="914400"/>
            <a:ext cx="4572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7CF4-79CC-6A48-A466-8C20EA113E4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5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83" grpId="0" autoUpdateAnimBg="0"/>
      <p:bldP spid="711684" grpId="0" autoUpdateAnimBg="0"/>
      <p:bldP spid="711685" grpId="0" animBg="1"/>
      <p:bldP spid="711686" grpId="0" animBg="1"/>
      <p:bldP spid="711687" grpId="0" animBg="1" autoUpdateAnimBg="0"/>
      <p:bldP spid="711688" grpId="0" animBg="1"/>
      <p:bldP spid="711689" grpId="0" animBg="1"/>
      <p:bldP spid="711690" grpId="0" animBg="1"/>
      <p:bldP spid="711691" grpId="0" animBg="1"/>
      <p:bldP spid="711692" grpId="0" animBg="1"/>
      <p:bldP spid="711693" grpId="0" animBg="1"/>
      <p:bldP spid="711698" grpId="0"/>
      <p:bldP spid="711704" grpId="0" animBg="1"/>
      <p:bldP spid="711705" grpId="0"/>
      <p:bldP spid="711706" grpId="0" animBg="1"/>
      <p:bldP spid="711707" grpId="0"/>
      <p:bldP spid="711708" grpId="0" animBg="1"/>
      <p:bldP spid="7117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Epipolar constraint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8800"/>
            <a:ext cx="9144000" cy="29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6735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x-none"/>
              <a:t>The Cross Product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x-none" dirty="0"/>
              <a:t>Given two nonzero vectors </a:t>
            </a:r>
            <a:r>
              <a:rPr lang="en-US" altLang="x-none" b="1" dirty="0"/>
              <a:t>a</a:t>
            </a:r>
            <a:r>
              <a:rPr lang="en-US" altLang="x-none" dirty="0"/>
              <a:t> = </a:t>
            </a:r>
            <a:r>
              <a:rPr lang="en-US" altLang="x-none" b="1" dirty="0">
                <a:sym typeface="Symbol" charset="2"/>
              </a:rPr>
              <a:t></a:t>
            </a:r>
            <a:r>
              <a:rPr lang="en-US" altLang="x-none" i="1" dirty="0">
                <a:sym typeface="Symbol" charset="2"/>
              </a:rPr>
              <a:t>a</a:t>
            </a:r>
            <a:r>
              <a:rPr lang="en-US" altLang="x-none" baseline="-25000" dirty="0">
                <a:sym typeface="Symbol" charset="2"/>
              </a:rPr>
              <a:t>1</a:t>
            </a:r>
            <a:r>
              <a:rPr lang="en-US" altLang="x-none" dirty="0">
                <a:sym typeface="Symbol" charset="2"/>
              </a:rPr>
              <a:t>, </a:t>
            </a:r>
            <a:r>
              <a:rPr lang="en-US" altLang="x-none" i="1" dirty="0">
                <a:sym typeface="Symbol" charset="2"/>
              </a:rPr>
              <a:t>a</a:t>
            </a:r>
            <a:r>
              <a:rPr lang="en-US" altLang="x-none" baseline="-25000" dirty="0">
                <a:sym typeface="Symbol" charset="2"/>
              </a:rPr>
              <a:t>2</a:t>
            </a:r>
            <a:r>
              <a:rPr lang="en-US" altLang="x-none" dirty="0">
                <a:sym typeface="Symbol" charset="2"/>
              </a:rPr>
              <a:t>, </a:t>
            </a:r>
            <a:r>
              <a:rPr lang="en-US" altLang="x-none" i="1" dirty="0">
                <a:sym typeface="Symbol" charset="2"/>
              </a:rPr>
              <a:t>a</a:t>
            </a:r>
            <a:r>
              <a:rPr lang="en-US" altLang="x-none" baseline="-25000" dirty="0">
                <a:sym typeface="Symbol" charset="2"/>
              </a:rPr>
              <a:t>3</a:t>
            </a:r>
            <a:r>
              <a:rPr lang="en-US" altLang="x-none" b="1" dirty="0">
                <a:sym typeface="Symbol" charset="2"/>
              </a:rPr>
              <a:t></a:t>
            </a:r>
            <a:r>
              <a:rPr lang="en-US" altLang="x-none" dirty="0"/>
              <a:t> and </a:t>
            </a:r>
            <a:br>
              <a:rPr lang="en-US" altLang="x-none" dirty="0"/>
            </a:br>
            <a:r>
              <a:rPr lang="en-US" altLang="x-none" i="1" dirty="0"/>
              <a:t>b</a:t>
            </a:r>
            <a:r>
              <a:rPr lang="en-US" altLang="x-none" dirty="0"/>
              <a:t> = </a:t>
            </a:r>
            <a:r>
              <a:rPr lang="en-US" altLang="x-none" b="1" dirty="0">
                <a:sym typeface="Symbol" charset="2"/>
              </a:rPr>
              <a:t></a:t>
            </a:r>
            <a:r>
              <a:rPr lang="en-US" altLang="x-none" i="1" dirty="0">
                <a:sym typeface="Symbol" charset="2"/>
              </a:rPr>
              <a:t>b</a:t>
            </a:r>
            <a:r>
              <a:rPr lang="en-US" altLang="x-none" baseline="-25000" dirty="0">
                <a:sym typeface="Symbol" charset="2"/>
              </a:rPr>
              <a:t>1</a:t>
            </a:r>
            <a:r>
              <a:rPr lang="en-US" altLang="x-none" dirty="0">
                <a:sym typeface="Symbol" charset="2"/>
              </a:rPr>
              <a:t>, </a:t>
            </a:r>
            <a:r>
              <a:rPr lang="en-US" altLang="x-none" i="1" dirty="0">
                <a:sym typeface="Symbol" charset="2"/>
              </a:rPr>
              <a:t>b</a:t>
            </a:r>
            <a:r>
              <a:rPr lang="en-US" altLang="x-none" baseline="-25000" dirty="0">
                <a:sym typeface="Symbol" charset="2"/>
              </a:rPr>
              <a:t>2</a:t>
            </a:r>
            <a:r>
              <a:rPr lang="en-US" altLang="x-none" dirty="0">
                <a:sym typeface="Symbol" charset="2"/>
              </a:rPr>
              <a:t>, </a:t>
            </a:r>
            <a:r>
              <a:rPr lang="en-US" altLang="x-none" i="1" dirty="0">
                <a:sym typeface="Symbol" charset="2"/>
              </a:rPr>
              <a:t>b</a:t>
            </a:r>
            <a:r>
              <a:rPr lang="en-US" altLang="x-none" baseline="-25000" dirty="0">
                <a:sym typeface="Symbol" charset="2"/>
              </a:rPr>
              <a:t>3</a:t>
            </a:r>
            <a:r>
              <a:rPr lang="en-US" altLang="x-none" b="1" dirty="0">
                <a:sym typeface="Symbol" charset="2"/>
              </a:rPr>
              <a:t></a:t>
            </a:r>
            <a:r>
              <a:rPr lang="en-US" altLang="x-none" dirty="0"/>
              <a:t>, it is very useful to be able to find a nonzero vector </a:t>
            </a:r>
            <a:r>
              <a:rPr lang="en-US" altLang="x-none" b="1" dirty="0"/>
              <a:t>c</a:t>
            </a:r>
            <a:r>
              <a:rPr lang="en-US" altLang="x-none" dirty="0"/>
              <a:t> that is perpendicular to both </a:t>
            </a:r>
            <a:r>
              <a:rPr lang="en-US" altLang="x-none" b="1" dirty="0"/>
              <a:t>a</a:t>
            </a:r>
            <a:r>
              <a:rPr lang="en-US" altLang="x-none" dirty="0"/>
              <a:t> and </a:t>
            </a:r>
            <a:r>
              <a:rPr lang="en-US" altLang="x-none" b="1" dirty="0"/>
              <a:t>b</a:t>
            </a:r>
            <a:r>
              <a:rPr lang="en-US" altLang="x-none" dirty="0"/>
              <a:t>.</a:t>
            </a:r>
          </a:p>
          <a:p>
            <a:pPr eaLnBrk="1" hangingPunct="1">
              <a:defRPr/>
            </a:pPr>
            <a:endParaRPr lang="en-US" altLang="x-none" dirty="0"/>
          </a:p>
          <a:p>
            <a:pPr eaLnBrk="1" hangingPunct="1">
              <a:defRPr/>
            </a:pPr>
            <a:r>
              <a:rPr lang="en-US" altLang="x-none" dirty="0"/>
              <a:t>If </a:t>
            </a:r>
            <a:r>
              <a:rPr lang="en-US" altLang="x-none" b="1" dirty="0"/>
              <a:t>c</a:t>
            </a:r>
            <a:r>
              <a:rPr lang="en-US" altLang="x-none" dirty="0"/>
              <a:t> = </a:t>
            </a:r>
            <a:r>
              <a:rPr lang="en-US" altLang="x-none" b="1" dirty="0">
                <a:sym typeface="Symbol" charset="2"/>
              </a:rPr>
              <a:t></a:t>
            </a:r>
            <a:r>
              <a:rPr lang="en-US" altLang="x-none" i="1" dirty="0">
                <a:sym typeface="Symbol" charset="2"/>
              </a:rPr>
              <a:t>c</a:t>
            </a:r>
            <a:r>
              <a:rPr lang="en-US" altLang="x-none" baseline="-25000" dirty="0">
                <a:sym typeface="Symbol" charset="2"/>
              </a:rPr>
              <a:t>1</a:t>
            </a:r>
            <a:r>
              <a:rPr lang="en-US" altLang="x-none" dirty="0">
                <a:sym typeface="Symbol" charset="2"/>
              </a:rPr>
              <a:t>, </a:t>
            </a:r>
            <a:r>
              <a:rPr lang="en-US" altLang="x-none" i="1" dirty="0">
                <a:sym typeface="Symbol" charset="2"/>
              </a:rPr>
              <a:t>c</a:t>
            </a:r>
            <a:r>
              <a:rPr lang="en-US" altLang="x-none" baseline="-25000" dirty="0">
                <a:sym typeface="Symbol" charset="2"/>
              </a:rPr>
              <a:t>2</a:t>
            </a:r>
            <a:r>
              <a:rPr lang="en-US" altLang="x-none" dirty="0">
                <a:sym typeface="Symbol" charset="2"/>
              </a:rPr>
              <a:t>, </a:t>
            </a:r>
            <a:r>
              <a:rPr lang="en-US" altLang="x-none" i="1" dirty="0">
                <a:sym typeface="Symbol" charset="2"/>
              </a:rPr>
              <a:t>c</a:t>
            </a:r>
            <a:r>
              <a:rPr lang="en-US" altLang="x-none" baseline="-25000" dirty="0">
                <a:sym typeface="Symbol" charset="2"/>
              </a:rPr>
              <a:t>3</a:t>
            </a:r>
            <a:r>
              <a:rPr lang="en-US" altLang="x-none" b="1" dirty="0">
                <a:sym typeface="Symbol" charset="2"/>
              </a:rPr>
              <a:t></a:t>
            </a:r>
            <a:r>
              <a:rPr lang="en-US" altLang="x-none" dirty="0"/>
              <a:t> is such a vector, then </a:t>
            </a:r>
            <a:r>
              <a:rPr lang="en-US" altLang="x-none" b="1" dirty="0"/>
              <a:t>a</a:t>
            </a:r>
            <a:r>
              <a:rPr lang="en-US" altLang="x-none" dirty="0"/>
              <a:t> </a:t>
            </a:r>
            <a:r>
              <a:rPr lang="en-US" altLang="x-none" sz="2000" b="1" dirty="0">
                <a:sym typeface="Wingdings 2" charset="2"/>
              </a:rPr>
              <a:t></a:t>
            </a:r>
            <a:r>
              <a:rPr lang="en-US" altLang="x-none" dirty="0"/>
              <a:t> </a:t>
            </a:r>
            <a:r>
              <a:rPr lang="en-US" altLang="x-none" b="1" dirty="0"/>
              <a:t>c</a:t>
            </a:r>
            <a:r>
              <a:rPr lang="en-US" altLang="x-none" dirty="0"/>
              <a:t> = 0 and </a:t>
            </a:r>
            <a:br>
              <a:rPr lang="en-US" altLang="x-none" dirty="0"/>
            </a:br>
            <a:r>
              <a:rPr lang="en-US" altLang="x-none" b="1" dirty="0"/>
              <a:t>b</a:t>
            </a:r>
            <a:r>
              <a:rPr lang="en-US" altLang="x-none" dirty="0"/>
              <a:t> </a:t>
            </a:r>
            <a:r>
              <a:rPr lang="en-US" altLang="x-none" sz="2000" b="1" dirty="0">
                <a:sym typeface="Wingdings 2" charset="2"/>
              </a:rPr>
              <a:t></a:t>
            </a:r>
            <a:r>
              <a:rPr lang="en-US" altLang="x-none" dirty="0"/>
              <a:t> </a:t>
            </a:r>
            <a:r>
              <a:rPr lang="en-US" altLang="x-none" b="1" dirty="0"/>
              <a:t>c</a:t>
            </a:r>
            <a:r>
              <a:rPr lang="en-US" altLang="x-none" dirty="0"/>
              <a:t> = 0.</a:t>
            </a:r>
          </a:p>
          <a:p>
            <a:pPr eaLnBrk="1" hangingPunct="1">
              <a:defRPr/>
            </a:pPr>
            <a:endParaRPr lang="en-US" altLang="x-none" dirty="0"/>
          </a:p>
          <a:p>
            <a:pPr eaLnBrk="1" hangingPunct="1">
              <a:defRPr/>
            </a:pPr>
            <a:endParaRPr lang="en-US" altLang="x-none" dirty="0"/>
          </a:p>
          <a:p>
            <a:pPr eaLnBrk="1" hangingPunct="1">
              <a:defRPr/>
            </a:pPr>
            <a:endParaRPr lang="en-US" altLang="x-none" dirty="0"/>
          </a:p>
          <a:p>
            <a:pPr eaLnBrk="1" hangingPunct="1">
              <a:defRPr/>
            </a:pPr>
            <a:r>
              <a:rPr lang="en-US" altLang="x-none" i="1" dirty="0"/>
              <a:t>                           </a:t>
            </a:r>
            <a:endParaRPr lang="en-US" altLang="x-none" dirty="0"/>
          </a:p>
        </p:txBody>
      </p:sp>
      <p:sp>
        <p:nvSpPr>
          <p:cNvPr id="2" name="Rectangle 1"/>
          <p:cNvSpPr/>
          <p:nvPr/>
        </p:nvSpPr>
        <p:spPr>
          <a:xfrm>
            <a:off x="481148" y="4267200"/>
            <a:ext cx="8205652" cy="171739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x-none" sz="2400" b="1" u="sng" dirty="0">
                <a:solidFill>
                  <a:srgbClr val="000000"/>
                </a:solidFill>
              </a:rPr>
              <a:t>c</a:t>
            </a:r>
            <a:r>
              <a:rPr lang="en-US" altLang="x-none" sz="2400" u="sng" dirty="0">
                <a:solidFill>
                  <a:srgbClr val="000000"/>
                </a:solidFill>
              </a:rPr>
              <a:t> = </a:t>
            </a:r>
            <a:r>
              <a:rPr lang="en-US" altLang="x-none" sz="2400" b="1" u="sng" dirty="0">
                <a:solidFill>
                  <a:srgbClr val="000000"/>
                </a:solidFill>
              </a:rPr>
              <a:t>a </a:t>
            </a:r>
            <a:r>
              <a:rPr lang="en-US" altLang="x-none" sz="2400" b="1" u="sng" dirty="0">
                <a:solidFill>
                  <a:srgbClr val="000000"/>
                </a:solidFill>
                <a:sym typeface="Symbol" charset="2"/>
              </a:rPr>
              <a:t></a:t>
            </a:r>
            <a:r>
              <a:rPr lang="en-US" altLang="x-none" sz="2400" u="sng" dirty="0">
                <a:solidFill>
                  <a:srgbClr val="000000"/>
                </a:solidFill>
              </a:rPr>
              <a:t> </a:t>
            </a:r>
            <a:r>
              <a:rPr lang="en-US" altLang="x-none" sz="2400" b="1" u="sng" dirty="0">
                <a:solidFill>
                  <a:srgbClr val="000000"/>
                </a:solidFill>
              </a:rPr>
              <a:t>b </a:t>
            </a:r>
            <a:endParaRPr lang="en-US" altLang="x-none" sz="2400" dirty="0">
              <a:solidFill>
                <a:srgbClr val="000000"/>
              </a:solidFill>
            </a:endParaRPr>
          </a:p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x-none" sz="2400" dirty="0">
                <a:solidFill>
                  <a:srgbClr val="000000"/>
                </a:solidFill>
              </a:rPr>
              <a:t>The </a:t>
            </a:r>
            <a:r>
              <a:rPr lang="en-US" altLang="x-none" sz="2400" b="1" dirty="0">
                <a:solidFill>
                  <a:srgbClr val="000000"/>
                </a:solidFill>
              </a:rPr>
              <a:t>cross product a </a:t>
            </a:r>
            <a:r>
              <a:rPr lang="en-US" altLang="x-none" sz="2400" b="1" dirty="0">
                <a:solidFill>
                  <a:srgbClr val="000000"/>
                </a:solidFill>
                <a:sym typeface="Symbol" charset="2"/>
              </a:rPr>
              <a:t></a:t>
            </a:r>
            <a:r>
              <a:rPr lang="en-US" altLang="x-none" sz="2400" dirty="0">
                <a:solidFill>
                  <a:srgbClr val="000000"/>
                </a:solidFill>
              </a:rPr>
              <a:t> </a:t>
            </a:r>
            <a:r>
              <a:rPr lang="en-US" altLang="x-none" sz="2400" b="1" dirty="0">
                <a:solidFill>
                  <a:srgbClr val="000000"/>
                </a:solidFill>
              </a:rPr>
              <a:t>b </a:t>
            </a:r>
            <a:r>
              <a:rPr lang="en-US" altLang="x-none" sz="2400" dirty="0">
                <a:solidFill>
                  <a:srgbClr val="000000"/>
                </a:solidFill>
              </a:rPr>
              <a:t>of two vectors </a:t>
            </a:r>
            <a:r>
              <a:rPr lang="en-US" altLang="x-none" sz="2400" b="1" dirty="0">
                <a:solidFill>
                  <a:srgbClr val="000000"/>
                </a:solidFill>
              </a:rPr>
              <a:t>a</a:t>
            </a:r>
            <a:r>
              <a:rPr lang="en-US" altLang="x-none" sz="2400" dirty="0">
                <a:solidFill>
                  <a:srgbClr val="000000"/>
                </a:solidFill>
              </a:rPr>
              <a:t> and </a:t>
            </a:r>
            <a:r>
              <a:rPr lang="en-US" altLang="x-none" sz="2400" b="1" dirty="0">
                <a:solidFill>
                  <a:srgbClr val="000000"/>
                </a:solidFill>
              </a:rPr>
              <a:t>b</a:t>
            </a:r>
            <a:r>
              <a:rPr lang="en-US" altLang="x-none" sz="2400" dirty="0">
                <a:solidFill>
                  <a:srgbClr val="000000"/>
                </a:solidFill>
              </a:rPr>
              <a:t>, unlike the dot product, is a vector </a:t>
            </a:r>
            <a:r>
              <a:rPr lang="en-US" altLang="x-none" sz="2400" b="1" dirty="0">
                <a:solidFill>
                  <a:srgbClr val="000000"/>
                </a:solidFill>
              </a:rPr>
              <a:t>c</a:t>
            </a:r>
            <a:r>
              <a:rPr lang="en-US" altLang="x-none" sz="2400" dirty="0">
                <a:solidFill>
                  <a:srgbClr val="000000"/>
                </a:solidFill>
              </a:rPr>
              <a:t>. </a:t>
            </a:r>
          </a:p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x-none" sz="2400" dirty="0">
                <a:solidFill>
                  <a:srgbClr val="000000"/>
                </a:solidFill>
              </a:rPr>
              <a:t>The vector </a:t>
            </a:r>
            <a:r>
              <a:rPr lang="en-US" altLang="x-none" sz="2400" b="1" dirty="0">
                <a:solidFill>
                  <a:srgbClr val="000000"/>
                </a:solidFill>
              </a:rPr>
              <a:t>c</a:t>
            </a:r>
            <a:r>
              <a:rPr lang="en-US" altLang="x-none" sz="2400" dirty="0">
                <a:solidFill>
                  <a:srgbClr val="000000"/>
                </a:solidFill>
              </a:rPr>
              <a:t> is perpendicular to both </a:t>
            </a:r>
            <a:r>
              <a:rPr lang="en-US" altLang="x-none" sz="2400" b="1" dirty="0">
                <a:solidFill>
                  <a:srgbClr val="000000"/>
                </a:solidFill>
              </a:rPr>
              <a:t>a</a:t>
            </a:r>
            <a:r>
              <a:rPr lang="en-US" altLang="x-none" sz="2400" dirty="0">
                <a:solidFill>
                  <a:srgbClr val="000000"/>
                </a:solidFill>
              </a:rPr>
              <a:t> and </a:t>
            </a:r>
            <a:r>
              <a:rPr lang="en-US" altLang="x-none" sz="2400" b="1" dirty="0">
                <a:solidFill>
                  <a:srgbClr val="000000"/>
                </a:solidFill>
              </a:rPr>
              <a:t>b.</a:t>
            </a:r>
            <a:endParaRPr lang="en-US" altLang="x-none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20344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x-none"/>
              <a:t>Example 1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tabLst>
                <a:tab pos="457200" algn="l"/>
                <a:tab pos="1371600" algn="l"/>
                <a:tab pos="1547813" algn="l"/>
              </a:tabLst>
              <a:defRPr/>
            </a:pPr>
            <a:r>
              <a:rPr lang="en-US" altLang="x-none"/>
              <a:t>If </a:t>
            </a:r>
            <a:r>
              <a:rPr lang="en-US" altLang="x-none" b="1"/>
              <a:t>a</a:t>
            </a:r>
            <a:r>
              <a:rPr lang="en-US" altLang="x-none"/>
              <a:t> = </a:t>
            </a:r>
            <a:r>
              <a:rPr lang="en-US" altLang="x-none" b="1">
                <a:sym typeface="Symbol" charset="2"/>
              </a:rPr>
              <a:t></a:t>
            </a:r>
            <a:r>
              <a:rPr lang="en-US" altLang="x-none"/>
              <a:t>1, 3, 4</a:t>
            </a:r>
            <a:r>
              <a:rPr lang="en-US" altLang="x-none" b="1">
                <a:sym typeface="Symbol" charset="2"/>
              </a:rPr>
              <a:t></a:t>
            </a:r>
            <a:r>
              <a:rPr lang="en-US" altLang="x-none"/>
              <a:t> and </a:t>
            </a:r>
            <a:r>
              <a:rPr lang="en-US" altLang="x-none" b="1"/>
              <a:t>b</a:t>
            </a:r>
            <a:r>
              <a:rPr lang="en-US" altLang="x-none"/>
              <a:t> = </a:t>
            </a:r>
            <a:r>
              <a:rPr lang="en-US" altLang="x-none" b="1">
                <a:sym typeface="Symbol" charset="2"/>
              </a:rPr>
              <a:t></a:t>
            </a:r>
            <a:r>
              <a:rPr lang="en-US" altLang="x-none"/>
              <a:t>2, 7, –5</a:t>
            </a:r>
            <a:r>
              <a:rPr lang="en-US" altLang="x-none" b="1">
                <a:sym typeface="Symbol" charset="2"/>
              </a:rPr>
              <a:t></a:t>
            </a:r>
            <a:r>
              <a:rPr lang="en-US" altLang="x-none"/>
              <a:t>, then</a:t>
            </a:r>
          </a:p>
          <a:p>
            <a:pPr eaLnBrk="1" hangingPunct="1">
              <a:tabLst>
                <a:tab pos="457200" algn="l"/>
                <a:tab pos="1371600" algn="l"/>
                <a:tab pos="1547813" algn="l"/>
              </a:tabLst>
              <a:defRPr/>
            </a:pPr>
            <a:endParaRPr lang="en-US" altLang="x-none"/>
          </a:p>
          <a:p>
            <a:pPr eaLnBrk="1" hangingPunct="1">
              <a:tabLst>
                <a:tab pos="457200" algn="l"/>
                <a:tab pos="1371600" algn="l"/>
                <a:tab pos="1547813" algn="l"/>
              </a:tabLst>
              <a:defRPr/>
            </a:pPr>
            <a:endParaRPr lang="en-US" altLang="x-none"/>
          </a:p>
          <a:p>
            <a:pPr eaLnBrk="1" hangingPunct="1">
              <a:tabLst>
                <a:tab pos="457200" algn="l"/>
                <a:tab pos="1371600" algn="l"/>
                <a:tab pos="1547813" algn="l"/>
              </a:tabLst>
              <a:defRPr/>
            </a:pPr>
            <a:endParaRPr lang="en-US" altLang="x-none"/>
          </a:p>
          <a:p>
            <a:pPr eaLnBrk="1" hangingPunct="1">
              <a:tabLst>
                <a:tab pos="457200" algn="l"/>
                <a:tab pos="1371600" algn="l"/>
                <a:tab pos="1547813" algn="l"/>
              </a:tabLst>
              <a:defRPr/>
            </a:pPr>
            <a:endParaRPr lang="en-US" altLang="x-none"/>
          </a:p>
          <a:p>
            <a:pPr eaLnBrk="1" hangingPunct="1">
              <a:tabLst>
                <a:tab pos="457200" algn="l"/>
                <a:tab pos="1371600" algn="l"/>
                <a:tab pos="1547813" algn="l"/>
              </a:tabLst>
              <a:defRPr/>
            </a:pPr>
            <a:endParaRPr lang="en-US" altLang="x-none"/>
          </a:p>
          <a:p>
            <a:pPr eaLnBrk="1" hangingPunct="1">
              <a:tabLst>
                <a:tab pos="457200" algn="l"/>
                <a:tab pos="1371600" algn="l"/>
                <a:tab pos="1547813" algn="l"/>
              </a:tabLst>
              <a:defRPr/>
            </a:pPr>
            <a:endParaRPr lang="en-US" altLang="x-none"/>
          </a:p>
          <a:p>
            <a:pPr eaLnBrk="1" hangingPunct="1">
              <a:tabLst>
                <a:tab pos="457200" algn="l"/>
                <a:tab pos="1371600" algn="l"/>
                <a:tab pos="1547813" algn="l"/>
              </a:tabLst>
              <a:defRPr/>
            </a:pPr>
            <a:endParaRPr lang="en-US" altLang="x-none"/>
          </a:p>
          <a:p>
            <a:pPr eaLnBrk="1" hangingPunct="1">
              <a:tabLst>
                <a:tab pos="457200" algn="l"/>
                <a:tab pos="1371600" algn="l"/>
                <a:tab pos="1547813" algn="l"/>
              </a:tabLst>
              <a:defRPr/>
            </a:pPr>
            <a:r>
              <a:rPr lang="en-US" altLang="x-none"/>
              <a:t>                    = (–15 – 28)</a:t>
            </a:r>
            <a:r>
              <a:rPr lang="en-US" altLang="x-none" b="1"/>
              <a:t>i </a:t>
            </a:r>
            <a:r>
              <a:rPr lang="en-US" altLang="x-none"/>
              <a:t>– (–5 – 8)</a:t>
            </a:r>
            <a:r>
              <a:rPr lang="en-US" altLang="x-none" b="1"/>
              <a:t>j </a:t>
            </a:r>
            <a:r>
              <a:rPr lang="en-US" altLang="x-none"/>
              <a:t>+ (7 – 6)</a:t>
            </a:r>
            <a:r>
              <a:rPr lang="en-US" altLang="x-none" b="1"/>
              <a:t>k</a:t>
            </a:r>
          </a:p>
          <a:p>
            <a:pPr eaLnBrk="1" hangingPunct="1">
              <a:tabLst>
                <a:tab pos="457200" algn="l"/>
                <a:tab pos="1371600" algn="l"/>
                <a:tab pos="1547813" algn="l"/>
              </a:tabLst>
              <a:defRPr/>
            </a:pPr>
            <a:endParaRPr lang="en-US" altLang="x-none" b="1"/>
          </a:p>
          <a:p>
            <a:pPr eaLnBrk="1" hangingPunct="1">
              <a:tabLst>
                <a:tab pos="457200" algn="l"/>
                <a:tab pos="1371600" algn="l"/>
                <a:tab pos="1547813" algn="l"/>
              </a:tabLst>
              <a:defRPr/>
            </a:pPr>
            <a:r>
              <a:rPr lang="en-US" altLang="x-none"/>
              <a:t>                    = –43</a:t>
            </a:r>
            <a:r>
              <a:rPr lang="en-US" altLang="x-none" b="1"/>
              <a:t>i </a:t>
            </a:r>
            <a:r>
              <a:rPr lang="en-US" altLang="x-none"/>
              <a:t>+ 13</a:t>
            </a:r>
            <a:r>
              <a:rPr lang="en-US" altLang="x-none" b="1"/>
              <a:t>j </a:t>
            </a:r>
            <a:r>
              <a:rPr lang="en-US" altLang="x-none"/>
              <a:t>+ </a:t>
            </a:r>
            <a:r>
              <a:rPr lang="en-US" altLang="x-none" b="1"/>
              <a:t>k</a:t>
            </a:r>
            <a:endParaRPr lang="en-US" altLang="x-none"/>
          </a:p>
        </p:txBody>
      </p:sp>
      <p:pic>
        <p:nvPicPr>
          <p:cNvPr id="1443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24088"/>
            <a:ext cx="2724150" cy="1116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4439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3797300"/>
            <a:ext cx="46529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6457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4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4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44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4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4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44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also represent the cross product of two vectors in matrix-vector multiplication:</a:t>
                </a:r>
              </a:p>
              <a:p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charset="0"/>
                        </a:rPr>
                        <m:t>𝐚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×</m:t>
                      </m:r>
                      <m:r>
                        <a:rPr lang="en-US" b="1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𝐛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charset="0"/>
                                                    <a:cs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charset="0"/>
                                                    <a:ea typeface="Cambria Math" charset="0"/>
                                                    <a:cs typeface="Cambria Math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charset="0"/>
                                                    <a:ea typeface="Cambria Math" charset="0"/>
                                                    <a:cs typeface="Cambria Math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charset="0"/>
                                                    <a:ea typeface="Cambria Math" charset="0"/>
                                                    <a:cs typeface="Cambria Math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b="0" i="1" smtClean="0">
                                                <a:latin typeface="Cambria Math" charset="0"/>
                                                <a:ea typeface="Cambria Math" charset="0"/>
                                                <a:cs typeface="Cambria Math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charset="0"/>
                                                    <a:cs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charset="0"/>
                                                    <a:ea typeface="Cambria Math" charset="0"/>
                                                    <a:cs typeface="Cambria Math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charset="0"/>
                                                    <a:ea typeface="Cambria Math" charset="0"/>
                                                    <a:cs typeface="Cambria Math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charset="0"/>
                                                    <a:cs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charset="0"/>
                                                    <a:ea typeface="Cambria Math" charset="0"/>
                                                    <a:cs typeface="Cambria Math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charset="0"/>
                                                    <a:ea typeface="Cambria Math" charset="0"/>
                                                    <a:cs typeface="Cambria Math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charset="0"/>
                                                    <a:ea typeface="Cambria Math" charset="0"/>
                                                    <a:cs typeface="Cambria Math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111" t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9258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Rectangle 27"/>
          <p:cNvSpPr>
            <a:spLocks noChangeArrowheads="1"/>
          </p:cNvSpPr>
          <p:nvPr/>
        </p:nvSpPr>
        <p:spPr bwMode="auto">
          <a:xfrm>
            <a:off x="1060450" y="1806575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3556" name="Rectangle 28"/>
          <p:cNvSpPr>
            <a:spLocks noChangeArrowheads="1"/>
          </p:cNvSpPr>
          <p:nvPr/>
        </p:nvSpPr>
        <p:spPr bwMode="auto">
          <a:xfrm>
            <a:off x="7669213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3557" name="Text Box 29"/>
          <p:cNvSpPr txBox="1">
            <a:spLocks noChangeArrowheads="1"/>
          </p:cNvSpPr>
          <p:nvPr/>
        </p:nvSpPr>
        <p:spPr bwMode="auto">
          <a:xfrm>
            <a:off x="4391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23558" name="Freeform 30"/>
          <p:cNvSpPr>
            <a:spLocks/>
          </p:cNvSpPr>
          <p:nvPr/>
        </p:nvSpPr>
        <p:spPr bwMode="auto">
          <a:xfrm>
            <a:off x="2655888" y="2468563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3559" name="Text Box 31"/>
          <p:cNvSpPr txBox="1">
            <a:spLocks noChangeArrowheads="1"/>
          </p:cNvSpPr>
          <p:nvPr/>
        </p:nvSpPr>
        <p:spPr bwMode="auto">
          <a:xfrm>
            <a:off x="2655888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23560" name="Freeform 32"/>
          <p:cNvSpPr>
            <a:spLocks/>
          </p:cNvSpPr>
          <p:nvPr/>
        </p:nvSpPr>
        <p:spPr bwMode="auto">
          <a:xfrm>
            <a:off x="6126163" y="2446338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3561" name="Text Box 33"/>
          <p:cNvSpPr txBox="1">
            <a:spLocks noChangeArrowheads="1"/>
          </p:cNvSpPr>
          <p:nvPr/>
        </p:nvSpPr>
        <p:spPr bwMode="auto">
          <a:xfrm>
            <a:off x="6057900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23562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Epipolar constraint: Calibrated case</a:t>
            </a:r>
          </a:p>
        </p:txBody>
      </p:sp>
      <p:sp>
        <p:nvSpPr>
          <p:cNvPr id="23563" name="Rectangle 55"/>
          <p:cNvSpPr>
            <a:spLocks noGrp="1" noChangeArrowheads="1"/>
          </p:cNvSpPr>
          <p:nvPr>
            <p:ph type="body" idx="1"/>
          </p:nvPr>
        </p:nvSpPr>
        <p:spPr>
          <a:xfrm>
            <a:off x="695793" y="4191000"/>
            <a:ext cx="7772400" cy="2514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sz="2000" dirty="0">
                <a:solidFill>
                  <a:srgbClr val="0066FF"/>
                </a:solidFill>
              </a:rPr>
              <a:t>Assume that the intrinsic and extrinsic parameters of the cameras are known</a:t>
            </a:r>
          </a:p>
          <a:p>
            <a:pPr>
              <a:lnSpc>
                <a:spcPct val="90000"/>
              </a:lnSpc>
              <a:buFontTx/>
              <a:buChar char="•"/>
            </a:pPr>
            <a:endParaRPr lang="en-US" sz="1200" dirty="0">
              <a:solidFill>
                <a:srgbClr val="0066FF"/>
              </a:solidFill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000" dirty="0">
                <a:solidFill>
                  <a:srgbClr val="0066FF"/>
                </a:solidFill>
              </a:rPr>
              <a:t>Pixel locations are in </a:t>
            </a:r>
            <a:r>
              <a:rPr lang="en-US" sz="2000" u="sng" dirty="0">
                <a:solidFill>
                  <a:srgbClr val="0066FF"/>
                </a:solidFill>
              </a:rPr>
              <a:t>normalized image coordinate </a:t>
            </a:r>
          </a:p>
          <a:p>
            <a:pPr>
              <a:lnSpc>
                <a:spcPct val="90000"/>
              </a:lnSpc>
              <a:buFontTx/>
              <a:buChar char="•"/>
            </a:pPr>
            <a:endParaRPr lang="en-US" sz="1200" dirty="0">
              <a:solidFill>
                <a:srgbClr val="0066FF"/>
              </a:solidFill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000" dirty="0">
                <a:solidFill>
                  <a:srgbClr val="0066FF"/>
                </a:solidFill>
              </a:rPr>
              <a:t>We can set the world coordinate system to the coordinate system of the first camera. </a:t>
            </a:r>
            <a:r>
              <a:rPr lang="en-US" sz="2000" dirty="0"/>
              <a:t>Then the projection matrices of the two cameras can be written as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[I | 0] </a:t>
            </a:r>
            <a:r>
              <a:rPr lang="en-US" sz="2000" dirty="0">
                <a:cs typeface="Times New Roman" pitchFamily="18" charset="0"/>
              </a:rPr>
              <a:t>and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[R | t]</a:t>
            </a: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454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Normalized Image Coordinate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91300" y="6068968"/>
            <a:ext cx="2133600" cy="365125"/>
          </a:xfrm>
        </p:spPr>
        <p:txBody>
          <a:bodyPr/>
          <a:lstStyle/>
          <a:p>
            <a:fld id="{2ECA7CF4-79CC-6A48-A466-8C20EA113E4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52500" y="1288008"/>
            <a:ext cx="7429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image coordinate is “normalized” to be independent of camera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286000" y="2608454"/>
                <a:ext cx="34206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𝑃</m:t>
                          </m:r>
                        </m:e>
                        <m:sup>
                          <m:r>
                            <a:rPr lang="en-US" sz="2400" i="1">
                              <a:latin typeface="Cambria Math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𝐾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charset="0"/>
                                  </a:rPr>
                                  <m:t>𝑅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𝑇</m:t>
                                </m: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r>
                        <a:rPr lang="en-US" sz="2400" i="1">
                          <a:latin typeface="Cambria Math" charset="0"/>
                        </a:rPr>
                        <m:t>𝑀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608454"/>
                <a:ext cx="342068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341350" y="3251932"/>
            <a:ext cx="2055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intrinsic parameters</a:t>
            </a:r>
          </a:p>
        </p:txBody>
      </p:sp>
      <p:sp>
        <p:nvSpPr>
          <p:cNvPr id="8" name="Left Brace 7"/>
          <p:cNvSpPr/>
          <p:nvPr/>
        </p:nvSpPr>
        <p:spPr>
          <a:xfrm rot="16200000">
            <a:off x="3092157" y="3032471"/>
            <a:ext cx="231921" cy="264466"/>
          </a:xfrm>
          <a:prstGeom prst="leftBrac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325110" y="2018307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extrinsic parameters</a:t>
            </a:r>
          </a:p>
        </p:txBody>
      </p:sp>
      <p:sp>
        <p:nvSpPr>
          <p:cNvPr id="10" name="Left Brace 9"/>
          <p:cNvSpPr/>
          <p:nvPr/>
        </p:nvSpPr>
        <p:spPr>
          <a:xfrm rot="5400000">
            <a:off x="3607051" y="2104738"/>
            <a:ext cx="228600" cy="762002"/>
          </a:xfrm>
          <a:prstGeom prst="leftBrac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04800" y="3940282"/>
                <a:ext cx="419100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𝐾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charset="0"/>
                                  </a:rPr>
                                  <m:t>𝑅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𝑇</m:t>
                                </m: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940282"/>
                <a:ext cx="419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061039" y="4419237"/>
            <a:ext cx="1872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normalized</a:t>
            </a:r>
          </a:p>
          <a:p>
            <a:r>
              <a:rPr lang="en-US" dirty="0">
                <a:solidFill>
                  <a:srgbClr val="FF0000"/>
                </a:solidFill>
              </a:rPr>
              <a:t>image coordinate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341756" y="3845696"/>
                <a:ext cx="4495800" cy="613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𝐾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charset="0"/>
                                  </a:rPr>
                                  <m:t>𝑅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𝑇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charset="0"/>
                                  </a:rPr>
                                  <m:t>𝐼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charset="0"/>
                                  </a:rPr>
                                  <m:t>𝑅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𝑇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756" y="3845696"/>
                <a:ext cx="4495800" cy="613373"/>
              </a:xfrm>
              <a:prstGeom prst="rect">
                <a:avLst/>
              </a:prstGeom>
              <a:blipFill rotWithShape="0">
                <a:blip r:embed="rId4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341756" y="4445990"/>
            <a:ext cx="2298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projection matrix </a:t>
            </a:r>
          </a:p>
          <a:p>
            <a:r>
              <a:rPr lang="en-US" dirty="0"/>
              <a:t>for normalized camera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762" y="3864082"/>
            <a:ext cx="936378" cy="47893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341756" y="3886200"/>
            <a:ext cx="964299" cy="47893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5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0" grpId="0" animBg="1"/>
      <p:bldP spid="11" grpId="0"/>
      <p:bldP spid="12" grpId="0"/>
      <p:bldP spid="13" grpId="0"/>
      <p:bldP spid="14" grpId="0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431925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1060450" y="2019300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7669213" y="2027238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4581" name="Text Box 6"/>
          <p:cNvSpPr txBox="1">
            <a:spLocks noChangeArrowheads="1"/>
          </p:cNvSpPr>
          <p:nvPr/>
        </p:nvSpPr>
        <p:spPr bwMode="auto">
          <a:xfrm>
            <a:off x="4391025" y="1355725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24582" name="Freeform 7"/>
          <p:cNvSpPr>
            <a:spLocks/>
          </p:cNvSpPr>
          <p:nvPr/>
        </p:nvSpPr>
        <p:spPr bwMode="auto">
          <a:xfrm>
            <a:off x="2655888" y="2681288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4583" name="Text Box 8"/>
          <p:cNvSpPr txBox="1">
            <a:spLocks noChangeArrowheads="1"/>
          </p:cNvSpPr>
          <p:nvPr/>
        </p:nvSpPr>
        <p:spPr bwMode="auto">
          <a:xfrm>
            <a:off x="2655888" y="2498725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 dirty="0">
                <a:solidFill>
                  <a:srgbClr val="0000FF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24584" name="Freeform 9"/>
          <p:cNvSpPr>
            <a:spLocks/>
          </p:cNvSpPr>
          <p:nvPr/>
        </p:nvSpPr>
        <p:spPr bwMode="auto">
          <a:xfrm>
            <a:off x="6126163" y="2659063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4585" name="Text Box 10"/>
          <p:cNvSpPr txBox="1">
            <a:spLocks noChangeArrowheads="1"/>
          </p:cNvSpPr>
          <p:nvPr/>
        </p:nvSpPr>
        <p:spPr bwMode="auto">
          <a:xfrm>
            <a:off x="6057900" y="2498725"/>
            <a:ext cx="13335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 dirty="0">
                <a:solidFill>
                  <a:srgbClr val="0000FF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681995" name="Line 11"/>
          <p:cNvSpPr>
            <a:spLocks noChangeShapeType="1"/>
          </p:cNvSpPr>
          <p:nvPr/>
        </p:nvSpPr>
        <p:spPr bwMode="auto">
          <a:xfrm flipV="1">
            <a:off x="1204913" y="3925888"/>
            <a:ext cx="1911350" cy="1111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81996" name="Line 12"/>
          <p:cNvSpPr>
            <a:spLocks noChangeShapeType="1"/>
          </p:cNvSpPr>
          <p:nvPr/>
        </p:nvSpPr>
        <p:spPr bwMode="auto">
          <a:xfrm>
            <a:off x="3436938" y="3932238"/>
            <a:ext cx="2105025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81997" name="Line 13"/>
          <p:cNvSpPr>
            <a:spLocks noChangeShapeType="1"/>
          </p:cNvSpPr>
          <p:nvPr/>
        </p:nvSpPr>
        <p:spPr bwMode="auto">
          <a:xfrm>
            <a:off x="5883275" y="3932238"/>
            <a:ext cx="1909763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81998" name="Line 14"/>
          <p:cNvSpPr>
            <a:spLocks noChangeShapeType="1"/>
          </p:cNvSpPr>
          <p:nvPr/>
        </p:nvSpPr>
        <p:spPr bwMode="auto">
          <a:xfrm>
            <a:off x="6075363" y="2803525"/>
            <a:ext cx="1717675" cy="1122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stealth" w="lg" len="lg"/>
            <a:tailEnd type="none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81999" name="Line 15"/>
          <p:cNvSpPr>
            <a:spLocks noChangeShapeType="1"/>
          </p:cNvSpPr>
          <p:nvPr/>
        </p:nvSpPr>
        <p:spPr bwMode="auto">
          <a:xfrm flipV="1">
            <a:off x="1193800" y="2798763"/>
            <a:ext cx="1722438" cy="111601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4591" name="Rectangle 18"/>
          <p:cNvSpPr>
            <a:spLocks noGrp="1" noChangeArrowheads="1"/>
          </p:cNvSpPr>
          <p:nvPr>
            <p:ph type="title"/>
          </p:nvPr>
        </p:nvSpPr>
        <p:spPr>
          <a:xfrm>
            <a:off x="381000" y="288925"/>
            <a:ext cx="8534400" cy="838200"/>
          </a:xfrm>
        </p:spPr>
        <p:txBody>
          <a:bodyPr/>
          <a:lstStyle/>
          <a:p>
            <a:r>
              <a:rPr lang="en-US" dirty="0" err="1"/>
              <a:t>Epipolar</a:t>
            </a:r>
            <a:r>
              <a:rPr lang="en-US" dirty="0"/>
              <a:t> constraint: Calibrated case</a:t>
            </a:r>
          </a:p>
        </p:txBody>
      </p:sp>
      <p:sp>
        <p:nvSpPr>
          <p:cNvPr id="22548" name="Freeform 21"/>
          <p:cNvSpPr>
            <a:spLocks/>
          </p:cNvSpPr>
          <p:nvPr/>
        </p:nvSpPr>
        <p:spPr bwMode="auto">
          <a:xfrm>
            <a:off x="2819400" y="4327525"/>
            <a:ext cx="3124200" cy="609600"/>
          </a:xfrm>
          <a:custGeom>
            <a:avLst/>
            <a:gdLst>
              <a:gd name="T0" fmla="*/ 0 w 1968"/>
              <a:gd name="T1" fmla="*/ 0 h 384"/>
              <a:gd name="T2" fmla="*/ 2147483647 w 1968"/>
              <a:gd name="T3" fmla="*/ 2147483647 h 384"/>
              <a:gd name="T4" fmla="*/ 2147483647 w 1968"/>
              <a:gd name="T5" fmla="*/ 0 h 384"/>
              <a:gd name="T6" fmla="*/ 0 60000 65536"/>
              <a:gd name="T7" fmla="*/ 0 60000 65536"/>
              <a:gd name="T8" fmla="*/ 0 60000 65536"/>
              <a:gd name="T9" fmla="*/ 0 w 1968"/>
              <a:gd name="T10" fmla="*/ 0 h 384"/>
              <a:gd name="T11" fmla="*/ 1968 w 1968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68" h="384">
                <a:moveTo>
                  <a:pt x="0" y="0"/>
                </a:moveTo>
                <a:cubicBezTo>
                  <a:pt x="340" y="192"/>
                  <a:pt x="680" y="384"/>
                  <a:pt x="1008" y="384"/>
                </a:cubicBezTo>
                <a:cubicBezTo>
                  <a:pt x="1336" y="384"/>
                  <a:pt x="1652" y="192"/>
                  <a:pt x="196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stealth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2549" name="Text Box 22"/>
          <p:cNvSpPr txBox="1">
            <a:spLocks noChangeArrowheads="1"/>
          </p:cNvSpPr>
          <p:nvPr/>
        </p:nvSpPr>
        <p:spPr bwMode="auto">
          <a:xfrm>
            <a:off x="4251325" y="44450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R</a:t>
            </a:r>
          </a:p>
        </p:txBody>
      </p:sp>
      <p:sp>
        <p:nvSpPr>
          <p:cNvPr id="22550" name="Line 23"/>
          <p:cNvSpPr>
            <a:spLocks noChangeShapeType="1"/>
          </p:cNvSpPr>
          <p:nvPr/>
        </p:nvSpPr>
        <p:spPr bwMode="auto">
          <a:xfrm>
            <a:off x="3733800" y="4327525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2551" name="Text Box 24"/>
          <p:cNvSpPr txBox="1">
            <a:spLocks noChangeArrowheads="1"/>
          </p:cNvSpPr>
          <p:nvPr/>
        </p:nvSpPr>
        <p:spPr bwMode="auto">
          <a:xfrm>
            <a:off x="4343400" y="3946525"/>
            <a:ext cx="268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2009" name="Text Box 25"/>
              <p:cNvSpPr txBox="1">
                <a:spLocks noChangeArrowheads="1"/>
              </p:cNvSpPr>
              <p:nvPr/>
            </p:nvSpPr>
            <p:spPr bwMode="auto">
              <a:xfrm>
                <a:off x="914400" y="5546725"/>
                <a:ext cx="7696200" cy="1077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200" dirty="0">
                    <a:solidFill>
                      <a:srgbClr val="000000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The vectors </a:t>
                </a:r>
                <a:r>
                  <a:rPr lang="en-US" sz="3200" b="1" i="1" dirty="0">
                    <a:solidFill>
                      <a:srgbClr val="FF00FF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R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ヒラギノ明朝 ProN W3" pitchFamily="-84" charset="-128"/>
                          </a:rPr>
                        </m:ctrlPr>
                      </m:accPr>
                      <m:e>
                        <m:r>
                          <a:rPr lang="en-US" sz="3200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ヒラギノ明朝 ProN W3" pitchFamily="-84" charset="-128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3200" dirty="0">
                    <a:solidFill>
                      <a:srgbClr val="000000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, </a:t>
                </a:r>
                <a:r>
                  <a:rPr lang="en-US" sz="3200" b="1" i="1" dirty="0">
                    <a:solidFill>
                      <a:srgbClr val="66FF33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t</a:t>
                </a:r>
                <a:r>
                  <a:rPr lang="en-US" sz="3200" dirty="0">
                    <a:solidFill>
                      <a:srgbClr val="000000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200" dirty="0">
                    <a:solidFill>
                      <a:srgbClr val="000000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are coplanar 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2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endParaRPr>
              </a:p>
            </p:txBody>
          </p:sp>
        </mc:Choice>
        <mc:Fallback xmlns="">
          <p:sp>
            <p:nvSpPr>
              <p:cNvPr id="682009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5546725"/>
                <a:ext cx="7696200" cy="1077218"/>
              </a:xfrm>
              <a:prstGeom prst="rect">
                <a:avLst/>
              </a:prstGeom>
              <a:blipFill rotWithShape="0">
                <a:blip r:embed="rId4"/>
                <a:stretch>
                  <a:fillRect l="-1979" t="-791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365125"/>
          </a:xfrm>
        </p:spPr>
        <p:txBody>
          <a:bodyPr/>
          <a:lstStyle/>
          <a:p>
            <a:pPr>
              <a:defRPr/>
            </a:pPr>
            <a:fld id="{C7F2F79C-4F4E-46B8-B10B-944B55A82C5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9632" y="2997200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rgbClr val="FF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33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rgbClr val="FF3399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632" y="2997200"/>
                <a:ext cx="183320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20000" t="-26667" r="-7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341678" y="3162300"/>
                <a:ext cx="44012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78" y="3162300"/>
                <a:ext cx="440121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6667"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37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/>
      <p:bldP spid="24585" grpId="0"/>
      <p:bldP spid="68200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2" name="AutoShape 22"/>
          <p:cNvSpPr>
            <a:spLocks noChangeArrowheads="1"/>
          </p:cNvSpPr>
          <p:nvPr/>
        </p:nvSpPr>
        <p:spPr bwMode="auto">
          <a:xfrm>
            <a:off x="6781800" y="4681538"/>
            <a:ext cx="4572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75863" name="Text Box 23"/>
          <p:cNvSpPr txBox="1">
            <a:spLocks noChangeArrowheads="1"/>
          </p:cNvSpPr>
          <p:nvPr/>
        </p:nvSpPr>
        <p:spPr bwMode="auto">
          <a:xfrm>
            <a:off x="5355379" y="5222875"/>
            <a:ext cx="326082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Essential Matrix 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Longuet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-Higgins, 1981)</a:t>
            </a:r>
          </a:p>
        </p:txBody>
      </p:sp>
      <p:sp>
        <p:nvSpPr>
          <p:cNvPr id="675864" name="Rectangle 24"/>
          <p:cNvSpPr>
            <a:spLocks noChangeArrowheads="1"/>
          </p:cNvSpPr>
          <p:nvPr/>
        </p:nvSpPr>
        <p:spPr bwMode="auto">
          <a:xfrm>
            <a:off x="5181600" y="5138738"/>
            <a:ext cx="3581400" cy="1033462"/>
          </a:xfrm>
          <a:prstGeom prst="rect">
            <a:avLst/>
          </a:prstGeom>
          <a:noFill/>
          <a:ln w="28575">
            <a:solidFill>
              <a:srgbClr val="CC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031" name="Rectangle 25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763000" cy="838200"/>
          </a:xfrm>
        </p:spPr>
        <p:txBody>
          <a:bodyPr/>
          <a:lstStyle/>
          <a:p>
            <a:r>
              <a:rPr lang="en-US" dirty="0" err="1"/>
              <a:t>Epipolar</a:t>
            </a:r>
            <a:r>
              <a:rPr lang="en-US" dirty="0"/>
              <a:t> constraint: Calibrated case</a:t>
            </a:r>
          </a:p>
        </p:txBody>
      </p:sp>
      <p:sp>
        <p:nvSpPr>
          <p:cNvPr id="1047" name="AutoShape 28"/>
          <p:cNvSpPr>
            <a:spLocks noChangeArrowheads="1"/>
          </p:cNvSpPr>
          <p:nvPr/>
        </p:nvSpPr>
        <p:spPr bwMode="auto">
          <a:xfrm>
            <a:off x="3429000" y="4097128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pic>
        <p:nvPicPr>
          <p:cNvPr id="1033" name="Picture 3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Rectangle 31"/>
          <p:cNvSpPr>
            <a:spLocks noChangeArrowheads="1"/>
          </p:cNvSpPr>
          <p:nvPr/>
        </p:nvSpPr>
        <p:spPr bwMode="auto">
          <a:xfrm>
            <a:off x="1060450" y="1806575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035" name="Rectangle 32"/>
          <p:cNvSpPr>
            <a:spLocks noChangeArrowheads="1"/>
          </p:cNvSpPr>
          <p:nvPr/>
        </p:nvSpPr>
        <p:spPr bwMode="auto">
          <a:xfrm>
            <a:off x="7669213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036" name="Text Box 33"/>
          <p:cNvSpPr txBox="1">
            <a:spLocks noChangeArrowheads="1"/>
          </p:cNvSpPr>
          <p:nvPr/>
        </p:nvSpPr>
        <p:spPr bwMode="auto">
          <a:xfrm>
            <a:off x="4391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1037" name="Freeform 34"/>
          <p:cNvSpPr>
            <a:spLocks/>
          </p:cNvSpPr>
          <p:nvPr/>
        </p:nvSpPr>
        <p:spPr bwMode="auto">
          <a:xfrm>
            <a:off x="2655888" y="2468563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038" name="Text Box 35"/>
          <p:cNvSpPr txBox="1">
            <a:spLocks noChangeArrowheads="1"/>
          </p:cNvSpPr>
          <p:nvPr/>
        </p:nvSpPr>
        <p:spPr bwMode="auto">
          <a:xfrm>
            <a:off x="2655888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1039" name="Freeform 36"/>
          <p:cNvSpPr>
            <a:spLocks/>
          </p:cNvSpPr>
          <p:nvPr/>
        </p:nvSpPr>
        <p:spPr bwMode="auto">
          <a:xfrm>
            <a:off x="6126163" y="2446338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040" name="Text Box 37"/>
          <p:cNvSpPr txBox="1">
            <a:spLocks noChangeArrowheads="1"/>
          </p:cNvSpPr>
          <p:nvPr/>
        </p:nvSpPr>
        <p:spPr bwMode="auto">
          <a:xfrm>
            <a:off x="6057900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1041" name="Line 38"/>
          <p:cNvSpPr>
            <a:spLocks noChangeShapeType="1"/>
          </p:cNvSpPr>
          <p:nvPr/>
        </p:nvSpPr>
        <p:spPr bwMode="auto">
          <a:xfrm flipV="1">
            <a:off x="1204913" y="3713163"/>
            <a:ext cx="1911350" cy="1111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042" name="Line 39"/>
          <p:cNvSpPr>
            <a:spLocks noChangeShapeType="1"/>
          </p:cNvSpPr>
          <p:nvPr/>
        </p:nvSpPr>
        <p:spPr bwMode="auto">
          <a:xfrm>
            <a:off x="3436938" y="3719513"/>
            <a:ext cx="2105025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043" name="Line 40"/>
          <p:cNvSpPr>
            <a:spLocks noChangeShapeType="1"/>
          </p:cNvSpPr>
          <p:nvPr/>
        </p:nvSpPr>
        <p:spPr bwMode="auto">
          <a:xfrm>
            <a:off x="5883275" y="3719513"/>
            <a:ext cx="1909763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044" name="Line 41"/>
          <p:cNvSpPr>
            <a:spLocks noChangeShapeType="1"/>
          </p:cNvSpPr>
          <p:nvPr/>
        </p:nvSpPr>
        <p:spPr bwMode="auto">
          <a:xfrm>
            <a:off x="6075363" y="2590800"/>
            <a:ext cx="1717675" cy="1122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stealth" w="lg" len="lg"/>
            <a:tailEnd type="none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045" name="Line 42"/>
          <p:cNvSpPr>
            <a:spLocks noChangeShapeType="1"/>
          </p:cNvSpPr>
          <p:nvPr/>
        </p:nvSpPr>
        <p:spPr bwMode="auto">
          <a:xfrm flipV="1">
            <a:off x="1193800" y="2586038"/>
            <a:ext cx="1722438" cy="111601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886" name="Text Box 46"/>
              <p:cNvSpPr txBox="1">
                <a:spLocks noChangeArrowheads="1"/>
              </p:cNvSpPr>
              <p:nvPr/>
            </p:nvSpPr>
            <p:spPr bwMode="auto">
              <a:xfrm>
                <a:off x="1866900" y="6340584"/>
                <a:ext cx="61341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>
                    <a:solidFill>
                      <a:srgbClr val="000000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The vectors </a:t>
                </a:r>
                <a:r>
                  <a:rPr lang="en-US" sz="2400" b="1" i="1" dirty="0">
                    <a:solidFill>
                      <a:srgbClr val="FF00FF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R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ヒラギノ明朝 ProN W3" pitchFamily="-84" charset="-128"/>
                          </a:rPr>
                        </m:ctrlPr>
                      </m:accPr>
                      <m:e>
                        <m:r>
                          <a:rPr lang="en-US" sz="2400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ヒラギノ明朝 ProN W3" pitchFamily="-84" charset="-128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, </a:t>
                </a:r>
                <a:r>
                  <a:rPr lang="en-US" sz="2400" b="1" i="1" dirty="0">
                    <a:solidFill>
                      <a:srgbClr val="66FF33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t</a:t>
                </a:r>
                <a:r>
                  <a:rPr lang="en-US" sz="2400" dirty="0">
                    <a:solidFill>
                      <a:srgbClr val="000000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are coplanar </a:t>
                </a:r>
              </a:p>
            </p:txBody>
          </p:sp>
        </mc:Choice>
        <mc:Fallback xmlns="">
          <p:sp>
            <p:nvSpPr>
              <p:cNvPr id="675886" name="Text 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6900" y="6340584"/>
                <a:ext cx="6134100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490" t="-10526" b="-2894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F2F79C-4F4E-46B8-B10B-944B55A82C5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4" name="Oval 3"/>
          <p:cNvSpPr/>
          <p:nvPr/>
        </p:nvSpPr>
        <p:spPr bwMode="auto">
          <a:xfrm>
            <a:off x="6842097" y="3819942"/>
            <a:ext cx="1347891" cy="830997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prstClr val="black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81575" y="4011298"/>
                <a:ext cx="24892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Times New Roman" pitchFamily="18" charset="0"/>
                      </a:rPr>
                      <m:t>∙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Times New Roman" pitchFamily="18" charset="0"/>
                      </a:rPr>
                      <m:t>[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Times New Roman" pitchFamily="18" charset="0"/>
                      </a:rPr>
                      <m:t>𝒕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Times New Roman" pitchFamily="18" charset="0"/>
                      </a:rPr>
                      <m:t>×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(</a:t>
                </a:r>
                <a:r>
                  <a:rPr lang="en-US" sz="2400" b="1" i="1" dirty="0">
                    <a:solidFill>
                      <a:schemeClr val="tx1"/>
                    </a:solidFill>
                    <a:latin typeface="Times New Roman" pitchFamily="18" charset="0"/>
                    <a:ea typeface="ヒラギノ明朝 ProN W3" pitchFamily="-84" charset="-128"/>
                    <a:sym typeface="Times New Roman" pitchFamily="18" charset="0"/>
                  </a:rPr>
                  <a:t>R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ヒラギノ明朝 ProN W3" pitchFamily="-84" charset="-128"/>
                          </a:rPr>
                        </m:ctrlPr>
                      </m:acc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ヒラギノ明朝 ProN W3" pitchFamily="-84" charset="-128"/>
                          </a:rPr>
                          <m:t>𝒙</m:t>
                        </m:r>
                      </m:e>
                    </m:acc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ヒラギノ明朝 ProN W3" pitchFamily="-84" charset="-128"/>
                      </a:rPr>
                      <m:t>)]=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ヒラギノ明朝 ProN W3" pitchFamily="-84" charset="-128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75" y="4011298"/>
                <a:ext cx="2489271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73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554351" y="4023032"/>
                <a:ext cx="372589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400" b="1" i="1" baseline="30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Times New Roman" pitchFamily="18" charset="0"/>
                      </a:rPr>
                      <m:t>𝑻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Times New Roman" pitchFamily="18" charset="0"/>
                      </a:rPr>
                      <m:t>𝑬</m:t>
                    </m:r>
                    <m:acc>
                      <m:accPr>
                        <m:chr m:val="̂"/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ヒラギノ明朝 ProN W3" pitchFamily="-84" charset="-128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ヒラギノ明朝 ProN W3" pitchFamily="-84" charset="-128"/>
                      </a:rPr>
                      <m:t>𝟎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  </a:t>
                </a:r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  E=[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𝒕</m:t>
                        </m:r>
                      </m:e>
                      <m:sub>
                        <m:r>
                          <a:rPr lang="en-US" sz="24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]R</a:t>
                </a: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351" y="4023032"/>
                <a:ext cx="3725892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491" t="-11842" r="-147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589632" y="2997200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rgbClr val="FF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33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rgbClr val="FF3399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632" y="2997200"/>
                <a:ext cx="18332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20000" t="-26667" r="-7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6341678" y="3162300"/>
                <a:ext cx="44012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78" y="3162300"/>
                <a:ext cx="440121" cy="369332"/>
              </a:xfrm>
              <a:prstGeom prst="rect">
                <a:avLst/>
              </a:prstGeom>
              <a:blipFill rotWithShape="0">
                <a:blip r:embed="rId8"/>
                <a:stretch>
                  <a:fillRect t="-6667" r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13519" y="5248450"/>
                <a:ext cx="5268912" cy="5355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  <a:buFontTx/>
                  <a:buChar char="•"/>
                </a:pPr>
                <a:r>
                  <a:rPr lang="en-US" b="1" i="1" dirty="0"/>
                  <a:t>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dirty="0"/>
                  <a:t> is the </a:t>
                </a:r>
                <a:r>
                  <a:rPr lang="en-US" dirty="0" err="1"/>
                  <a:t>epipolar</a:t>
                </a:r>
                <a:r>
                  <a:rPr lang="en-US" dirty="0"/>
                  <a:t> line associated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b="1" i="1" dirty="0"/>
                  <a:t>l</a:t>
                </a:r>
                <a:r>
                  <a:rPr lang="en-US" i="1" dirty="0"/>
                  <a:t>' = </a:t>
                </a:r>
                <a:r>
                  <a:rPr lang="en-US" b="1" i="1" dirty="0"/>
                  <a:t>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  <a:endParaRPr lang="en-US" i="1" dirty="0"/>
              </a:p>
              <a:p>
                <a:pPr>
                  <a:lnSpc>
                    <a:spcPct val="80000"/>
                  </a:lnSpc>
                  <a:buFontTx/>
                  <a:buChar char="•"/>
                </a:pPr>
                <a:r>
                  <a:rPr lang="en-US" b="1" i="1" dirty="0"/>
                  <a:t>E </a:t>
                </a:r>
                <a:r>
                  <a:rPr lang="en-US" b="1" i="1" dirty="0" err="1"/>
                  <a:t>e</a:t>
                </a:r>
                <a:r>
                  <a:rPr lang="en-US" i="1" dirty="0"/>
                  <a:t> </a:t>
                </a:r>
                <a:r>
                  <a:rPr lang="en-US" dirty="0"/>
                  <a:t>= 0   and   </a:t>
                </a:r>
                <a:r>
                  <a:rPr lang="en-US" b="1" i="1" dirty="0" err="1"/>
                  <a:t>E</a:t>
                </a:r>
                <a:r>
                  <a:rPr lang="en-US" i="1" baseline="30000" dirty="0" err="1"/>
                  <a:t>T</a:t>
                </a:r>
                <a:r>
                  <a:rPr lang="en-US" b="1" i="1" dirty="0" err="1"/>
                  <a:t>e</a:t>
                </a:r>
                <a:r>
                  <a:rPr lang="en-US" i="1" dirty="0"/>
                  <a:t>' = 0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19" y="5248450"/>
                <a:ext cx="5268912" cy="535531"/>
              </a:xfrm>
              <a:prstGeom prst="rect">
                <a:avLst/>
              </a:prstGeom>
              <a:blipFill rotWithShape="0">
                <a:blip r:embed="rId9"/>
                <a:stretch>
                  <a:fillRect l="-926" t="-15909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28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2" grpId="0" animBg="1"/>
      <p:bldP spid="675863" grpId="0" autoUpdateAnimBg="0"/>
      <p:bldP spid="675864" grpId="0" animBg="1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5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74906" cy="1143000"/>
          </a:xfrm>
        </p:spPr>
        <p:txBody>
          <a:bodyPr/>
          <a:lstStyle/>
          <a:p>
            <a:r>
              <a:rPr lang="en-US" sz="3600" dirty="0" err="1"/>
              <a:t>Epipolar</a:t>
            </a:r>
            <a:r>
              <a:rPr lang="en-US" sz="3600" dirty="0"/>
              <a:t> constraint: Uncalibrated case</a:t>
            </a:r>
          </a:p>
        </p:txBody>
      </p:sp>
      <p:sp>
        <p:nvSpPr>
          <p:cNvPr id="679971" name="Rectangle 35"/>
          <p:cNvSpPr>
            <a:spLocks noGrp="1" noChangeArrowheads="1"/>
          </p:cNvSpPr>
          <p:nvPr>
            <p:ph type="body" idx="1"/>
          </p:nvPr>
        </p:nvSpPr>
        <p:spPr>
          <a:xfrm>
            <a:off x="685800" y="4267200"/>
            <a:ext cx="7772400" cy="1752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sz="2400" dirty="0"/>
              <a:t>The calibration matrices </a:t>
            </a:r>
            <a:r>
              <a:rPr lang="en-US" sz="2400" b="1" i="1" dirty="0"/>
              <a:t>K</a:t>
            </a:r>
            <a:r>
              <a:rPr lang="en-US" sz="2400" dirty="0"/>
              <a:t> and </a:t>
            </a:r>
            <a:r>
              <a:rPr lang="en-US" sz="2400" b="1" i="1" dirty="0"/>
              <a:t>K</a:t>
            </a:r>
            <a:r>
              <a:rPr lang="en-US" sz="2400" i="1" dirty="0"/>
              <a:t>’</a:t>
            </a:r>
            <a:r>
              <a:rPr lang="en-US" sz="2400" dirty="0"/>
              <a:t> of the two cameras are unknown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400" dirty="0"/>
              <a:t>We can write the </a:t>
            </a:r>
            <a:r>
              <a:rPr lang="en-US" sz="2400" dirty="0" err="1"/>
              <a:t>epipolar</a:t>
            </a:r>
            <a:r>
              <a:rPr lang="en-US" sz="2400" dirty="0"/>
              <a:t> constraint in terms of </a:t>
            </a:r>
            <a:r>
              <a:rPr lang="en-US" sz="2400" i="1" dirty="0"/>
              <a:t>unknown</a:t>
            </a:r>
            <a:r>
              <a:rPr lang="en-US" sz="2400" dirty="0"/>
              <a:t> normalized coordinates:</a:t>
            </a:r>
          </a:p>
        </p:txBody>
      </p:sp>
      <p:pic>
        <p:nvPicPr>
          <p:cNvPr id="3078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9" name="Rectangle 11"/>
          <p:cNvSpPr>
            <a:spLocks noChangeArrowheads="1"/>
          </p:cNvSpPr>
          <p:nvPr/>
        </p:nvSpPr>
        <p:spPr bwMode="auto">
          <a:xfrm>
            <a:off x="1060450" y="1806575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080" name="Rectangle 12"/>
          <p:cNvSpPr>
            <a:spLocks noChangeArrowheads="1"/>
          </p:cNvSpPr>
          <p:nvPr/>
        </p:nvSpPr>
        <p:spPr bwMode="auto">
          <a:xfrm>
            <a:off x="7669213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081" name="Text Box 13"/>
          <p:cNvSpPr txBox="1">
            <a:spLocks noChangeArrowheads="1"/>
          </p:cNvSpPr>
          <p:nvPr/>
        </p:nvSpPr>
        <p:spPr bwMode="auto">
          <a:xfrm>
            <a:off x="4391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3082" name="Freeform 14"/>
          <p:cNvSpPr>
            <a:spLocks/>
          </p:cNvSpPr>
          <p:nvPr/>
        </p:nvSpPr>
        <p:spPr bwMode="auto">
          <a:xfrm>
            <a:off x="2655888" y="2468563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083" name="Text Box 15"/>
          <p:cNvSpPr txBox="1">
            <a:spLocks noChangeArrowheads="1"/>
          </p:cNvSpPr>
          <p:nvPr/>
        </p:nvSpPr>
        <p:spPr bwMode="auto">
          <a:xfrm>
            <a:off x="2655888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3084" name="Freeform 16"/>
          <p:cNvSpPr>
            <a:spLocks/>
          </p:cNvSpPr>
          <p:nvPr/>
        </p:nvSpPr>
        <p:spPr bwMode="auto">
          <a:xfrm>
            <a:off x="6126163" y="2446338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085" name="Text Box 17"/>
          <p:cNvSpPr txBox="1">
            <a:spLocks noChangeArrowheads="1"/>
          </p:cNvSpPr>
          <p:nvPr/>
        </p:nvSpPr>
        <p:spPr bwMode="auto">
          <a:xfrm>
            <a:off x="6057900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graphicFrame>
        <p:nvGraphicFramePr>
          <p:cNvPr id="67997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257466"/>
              </p:ext>
            </p:extLst>
          </p:nvPr>
        </p:nvGraphicFramePr>
        <p:xfrm>
          <a:off x="1222375" y="5802312"/>
          <a:ext cx="19716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400" imgH="228600" progId="Equation.3">
                  <p:embed/>
                </p:oleObj>
              </mc:Choice>
              <mc:Fallback>
                <p:oleObj name="Equation" r:id="rId4" imgW="698400" imgH="228600" progId="Equation.3">
                  <p:embed/>
                  <p:pic>
                    <p:nvPicPr>
                      <p:cNvPr id="679972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5802312"/>
                        <a:ext cx="1971675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6" name="Line 38"/>
          <p:cNvSpPr>
            <a:spLocks noChangeShapeType="1"/>
          </p:cNvSpPr>
          <p:nvPr/>
        </p:nvSpPr>
        <p:spPr bwMode="auto">
          <a:xfrm flipV="1">
            <a:off x="1204913" y="3713163"/>
            <a:ext cx="1919287" cy="1111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087" name="Line 39"/>
          <p:cNvSpPr>
            <a:spLocks noChangeShapeType="1"/>
          </p:cNvSpPr>
          <p:nvPr/>
        </p:nvSpPr>
        <p:spPr bwMode="auto">
          <a:xfrm>
            <a:off x="3436938" y="3719513"/>
            <a:ext cx="2105025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088" name="Line 40"/>
          <p:cNvSpPr>
            <a:spLocks noChangeShapeType="1"/>
          </p:cNvSpPr>
          <p:nvPr/>
        </p:nvSpPr>
        <p:spPr bwMode="auto">
          <a:xfrm>
            <a:off x="5883275" y="3719513"/>
            <a:ext cx="1909763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089" name="Line 41"/>
          <p:cNvSpPr>
            <a:spLocks noChangeShapeType="1"/>
          </p:cNvSpPr>
          <p:nvPr/>
        </p:nvSpPr>
        <p:spPr bwMode="auto">
          <a:xfrm>
            <a:off x="6075363" y="2590800"/>
            <a:ext cx="1717675" cy="1122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stealth" w="lg" len="lg"/>
            <a:tailEnd type="none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090" name="Line 42"/>
          <p:cNvSpPr>
            <a:spLocks noChangeShapeType="1"/>
          </p:cNvSpPr>
          <p:nvPr/>
        </p:nvSpPr>
        <p:spPr bwMode="auto">
          <a:xfrm flipV="1">
            <a:off x="1193800" y="2586038"/>
            <a:ext cx="1722438" cy="111601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091" name="Oval 43"/>
          <p:cNvSpPr>
            <a:spLocks noChangeArrowheads="1"/>
          </p:cNvSpPr>
          <p:nvPr/>
        </p:nvSpPr>
        <p:spPr bwMode="auto">
          <a:xfrm>
            <a:off x="3055938" y="3641725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092" name="Oval 44"/>
          <p:cNvSpPr>
            <a:spLocks noChangeArrowheads="1"/>
          </p:cNvSpPr>
          <p:nvPr/>
        </p:nvSpPr>
        <p:spPr bwMode="auto">
          <a:xfrm>
            <a:off x="5786438" y="3668713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89632" y="2997200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rgbClr val="FF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33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rgbClr val="FF3399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632" y="2997200"/>
                <a:ext cx="183320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20000" t="-26667" r="-7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341678" y="3162300"/>
                <a:ext cx="44012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78" y="3162300"/>
                <a:ext cx="440121" cy="369332"/>
              </a:xfrm>
              <a:prstGeom prst="rect">
                <a:avLst/>
              </a:prstGeom>
              <a:blipFill rotWithShape="0">
                <a:blip r:embed="rId10"/>
                <a:stretch>
                  <a:fillRect t="-6667" r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8717" y="5875883"/>
                <a:ext cx="2074671" cy="532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717" y="5875883"/>
                <a:ext cx="2074671" cy="532966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924550" y="5823384"/>
                <a:ext cx="1780872" cy="532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e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550" y="5823384"/>
                <a:ext cx="1780872" cy="532966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3456790" y="6356350"/>
            <a:ext cx="1456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Normalized</a:t>
            </a:r>
          </a:p>
          <a:p>
            <a:r>
              <a:rPr lang="en-US" sz="1400" dirty="0">
                <a:solidFill>
                  <a:srgbClr val="C00000"/>
                </a:solidFill>
              </a:rPr>
              <a:t>image coordinate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497" y="5377190"/>
            <a:ext cx="1456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Un-normalized</a:t>
            </a:r>
          </a:p>
          <a:p>
            <a:r>
              <a:rPr lang="en-US" sz="1400" dirty="0">
                <a:solidFill>
                  <a:srgbClr val="C00000"/>
                </a:solidFill>
              </a:rPr>
              <a:t>image coordinate</a:t>
            </a:r>
          </a:p>
        </p:txBody>
      </p:sp>
      <p:cxnSp>
        <p:nvCxnSpPr>
          <p:cNvPr id="6" name="Curved Connector 5"/>
          <p:cNvCxnSpPr/>
          <p:nvPr/>
        </p:nvCxnSpPr>
        <p:spPr>
          <a:xfrm rot="16200000" flipH="1">
            <a:off x="3875696" y="6321232"/>
            <a:ext cx="107950" cy="702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Curved Connector 29"/>
          <p:cNvCxnSpPr/>
          <p:nvPr/>
        </p:nvCxnSpPr>
        <p:spPr>
          <a:xfrm rot="10800000" flipV="1">
            <a:off x="4413925" y="6302373"/>
            <a:ext cx="1773568" cy="29538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Curved Connector 33"/>
          <p:cNvCxnSpPr/>
          <p:nvPr/>
        </p:nvCxnSpPr>
        <p:spPr>
          <a:xfrm rot="5400000">
            <a:off x="5279217" y="5827231"/>
            <a:ext cx="232103" cy="18226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urved Connector 35"/>
          <p:cNvCxnSpPr/>
          <p:nvPr/>
        </p:nvCxnSpPr>
        <p:spPr>
          <a:xfrm>
            <a:off x="6701135" y="5616912"/>
            <a:ext cx="690265" cy="3014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89659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Epipolar</a:t>
            </a:r>
            <a:r>
              <a:rPr lang="en-US" sz="3200" dirty="0"/>
              <a:t> constraint: Uncalibrated case</a:t>
            </a:r>
          </a:p>
        </p:txBody>
      </p:sp>
      <p:pic>
        <p:nvPicPr>
          <p:cNvPr id="410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Rectangle 4"/>
          <p:cNvSpPr>
            <a:spLocks noChangeArrowheads="1"/>
          </p:cNvSpPr>
          <p:nvPr/>
        </p:nvSpPr>
        <p:spPr bwMode="auto">
          <a:xfrm>
            <a:off x="1060450" y="1806575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04" name="Rectangle 5"/>
          <p:cNvSpPr>
            <a:spLocks noChangeArrowheads="1"/>
          </p:cNvSpPr>
          <p:nvPr/>
        </p:nvSpPr>
        <p:spPr bwMode="auto">
          <a:xfrm>
            <a:off x="7669213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05" name="Text Box 6"/>
          <p:cNvSpPr txBox="1">
            <a:spLocks noChangeArrowheads="1"/>
          </p:cNvSpPr>
          <p:nvPr/>
        </p:nvSpPr>
        <p:spPr bwMode="auto">
          <a:xfrm>
            <a:off x="4391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4106" name="Freeform 7"/>
          <p:cNvSpPr>
            <a:spLocks/>
          </p:cNvSpPr>
          <p:nvPr/>
        </p:nvSpPr>
        <p:spPr bwMode="auto">
          <a:xfrm>
            <a:off x="2655888" y="2468563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07" name="Text Box 8"/>
          <p:cNvSpPr txBox="1">
            <a:spLocks noChangeArrowheads="1"/>
          </p:cNvSpPr>
          <p:nvPr/>
        </p:nvSpPr>
        <p:spPr bwMode="auto">
          <a:xfrm>
            <a:off x="2655888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4108" name="Freeform 9"/>
          <p:cNvSpPr>
            <a:spLocks/>
          </p:cNvSpPr>
          <p:nvPr/>
        </p:nvSpPr>
        <p:spPr bwMode="auto">
          <a:xfrm>
            <a:off x="6126163" y="2446338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09" name="Text Box 10"/>
          <p:cNvSpPr txBox="1">
            <a:spLocks noChangeArrowheads="1"/>
          </p:cNvSpPr>
          <p:nvPr/>
        </p:nvSpPr>
        <p:spPr bwMode="auto">
          <a:xfrm>
            <a:off x="6057900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4110" name="Line 11"/>
          <p:cNvSpPr>
            <a:spLocks noChangeShapeType="1"/>
          </p:cNvSpPr>
          <p:nvPr/>
        </p:nvSpPr>
        <p:spPr bwMode="auto">
          <a:xfrm flipV="1">
            <a:off x="1204913" y="3713163"/>
            <a:ext cx="1919287" cy="1111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11" name="Line 12"/>
          <p:cNvSpPr>
            <a:spLocks noChangeShapeType="1"/>
          </p:cNvSpPr>
          <p:nvPr/>
        </p:nvSpPr>
        <p:spPr bwMode="auto">
          <a:xfrm>
            <a:off x="3436938" y="3719513"/>
            <a:ext cx="2105025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12" name="Line 13"/>
          <p:cNvSpPr>
            <a:spLocks noChangeShapeType="1"/>
          </p:cNvSpPr>
          <p:nvPr/>
        </p:nvSpPr>
        <p:spPr bwMode="auto">
          <a:xfrm>
            <a:off x="5883275" y="3719513"/>
            <a:ext cx="1909763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13" name="Line 14"/>
          <p:cNvSpPr>
            <a:spLocks noChangeShapeType="1"/>
          </p:cNvSpPr>
          <p:nvPr/>
        </p:nvSpPr>
        <p:spPr bwMode="auto">
          <a:xfrm>
            <a:off x="6075363" y="2590800"/>
            <a:ext cx="1717675" cy="1122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stealth" w="lg" len="lg"/>
            <a:tailEnd type="none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14" name="Line 15"/>
          <p:cNvSpPr>
            <a:spLocks noChangeShapeType="1"/>
          </p:cNvSpPr>
          <p:nvPr/>
        </p:nvSpPr>
        <p:spPr bwMode="auto">
          <a:xfrm flipV="1">
            <a:off x="1193800" y="2586038"/>
            <a:ext cx="1722438" cy="111601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15" name="Oval 16"/>
          <p:cNvSpPr>
            <a:spLocks noChangeArrowheads="1"/>
          </p:cNvSpPr>
          <p:nvPr/>
        </p:nvSpPr>
        <p:spPr bwMode="auto">
          <a:xfrm>
            <a:off x="3055938" y="3641725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16" name="Oval 17"/>
          <p:cNvSpPr>
            <a:spLocks noChangeArrowheads="1"/>
          </p:cNvSpPr>
          <p:nvPr/>
        </p:nvSpPr>
        <p:spPr bwMode="auto">
          <a:xfrm>
            <a:off x="5786438" y="3668713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85074" name="Text Box 18"/>
          <p:cNvSpPr txBox="1">
            <a:spLocks noChangeArrowheads="1"/>
          </p:cNvSpPr>
          <p:nvPr/>
        </p:nvSpPr>
        <p:spPr bwMode="auto">
          <a:xfrm>
            <a:off x="5105400" y="5322888"/>
            <a:ext cx="3079750" cy="73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Fundamental Matrix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(Faugeras and Luong, 1992)</a:t>
            </a: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85075" name="Rectangle 19"/>
          <p:cNvSpPr>
            <a:spLocks noChangeArrowheads="1"/>
          </p:cNvSpPr>
          <p:nvPr/>
        </p:nvSpPr>
        <p:spPr bwMode="auto">
          <a:xfrm>
            <a:off x="4800600" y="5238750"/>
            <a:ext cx="3657600" cy="914400"/>
          </a:xfrm>
          <a:prstGeom prst="rect">
            <a:avLst/>
          </a:prstGeom>
          <a:noFill/>
          <a:ln w="28575">
            <a:solidFill>
              <a:srgbClr val="CC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85076" name="AutoShape 20"/>
          <p:cNvSpPr>
            <a:spLocks noChangeArrowheads="1"/>
          </p:cNvSpPr>
          <p:nvPr/>
        </p:nvSpPr>
        <p:spPr bwMode="auto">
          <a:xfrm>
            <a:off x="6400800" y="4629150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graphicFrame>
        <p:nvGraphicFramePr>
          <p:cNvPr id="4098" name="Object 21"/>
          <p:cNvGraphicFramePr>
            <a:graphicFrameLocks noGrp="1" noChangeAspect="1"/>
          </p:cNvGraphicFramePr>
          <p:nvPr>
            <p:ph sz="half" idx="1"/>
          </p:nvPr>
        </p:nvGraphicFramePr>
        <p:xfrm>
          <a:off x="609600" y="4060825"/>
          <a:ext cx="18288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400" imgH="228600" progId="Equation.3">
                  <p:embed/>
                </p:oleObj>
              </mc:Choice>
              <mc:Fallback>
                <p:oleObj name="Equation" r:id="rId4" imgW="698400" imgH="228600" progId="Equation.3">
                  <p:embed/>
                  <p:pic>
                    <p:nvPicPr>
                      <p:cNvPr id="409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060825"/>
                        <a:ext cx="1828800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22"/>
          <p:cNvGraphicFramePr>
            <a:graphicFrameLocks noChangeAspect="1"/>
          </p:cNvGraphicFramePr>
          <p:nvPr/>
        </p:nvGraphicFramePr>
        <p:xfrm>
          <a:off x="466725" y="4778375"/>
          <a:ext cx="206375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000" imgH="457200" progId="Equation.3">
                  <p:embed/>
                </p:oleObj>
              </mc:Choice>
              <mc:Fallback>
                <p:oleObj name="Equation" r:id="rId6" imgW="711000" imgH="457200" progId="Equation.3">
                  <p:embed/>
                  <p:pic>
                    <p:nvPicPr>
                      <p:cNvPr id="409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4778375"/>
                        <a:ext cx="2063750" cy="1376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2743200" y="4064000"/>
            <a:ext cx="6129338" cy="565150"/>
            <a:chOff x="1728" y="2560"/>
            <a:chExt cx="3861" cy="356"/>
          </a:xfrm>
        </p:grpSpPr>
        <p:sp>
          <p:nvSpPr>
            <p:cNvPr id="4121" name="AutoShape 24"/>
            <p:cNvSpPr>
              <a:spLocks noChangeArrowheads="1"/>
            </p:cNvSpPr>
            <p:nvPr/>
          </p:nvSpPr>
          <p:spPr bwMode="auto">
            <a:xfrm>
              <a:off x="1728" y="2628"/>
              <a:ext cx="432" cy="240"/>
            </a:xfrm>
            <a:prstGeom prst="rightArrow">
              <a:avLst>
                <a:gd name="adj1" fmla="val 50000"/>
                <a:gd name="adj2" fmla="val 4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graphicFrame>
          <p:nvGraphicFramePr>
            <p:cNvPr id="4100" name="Object 25"/>
            <p:cNvGraphicFramePr>
              <a:graphicFrameLocks noChangeAspect="1"/>
            </p:cNvGraphicFramePr>
            <p:nvPr/>
          </p:nvGraphicFramePr>
          <p:xfrm>
            <a:off x="2187" y="2560"/>
            <a:ext cx="3402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84120" imgH="228600" progId="Equation.3">
                    <p:embed/>
                  </p:oleObj>
                </mc:Choice>
                <mc:Fallback>
                  <p:oleObj name="Equation" r:id="rId8" imgW="2184120" imgH="228600" progId="Equation.3">
                    <p:embed/>
                    <p:pic>
                      <p:nvPicPr>
                        <p:cNvPr id="410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7" y="2560"/>
                          <a:ext cx="3402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F2F79C-4F4E-46B8-B10B-944B55A82C5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7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074" grpId="0" autoUpdateAnimBg="0"/>
      <p:bldP spid="685075" grpId="0" animBg="1"/>
      <p:bldP spid="68507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2743200" y="417195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125" name="Rectangle 6"/>
          <p:cNvSpPr>
            <a:spLocks noGrp="1" noChangeArrowheads="1"/>
          </p:cNvSpPr>
          <p:nvPr>
            <p:ph type="title"/>
          </p:nvPr>
        </p:nvSpPr>
        <p:spPr>
          <a:xfrm>
            <a:off x="229423" y="152400"/>
            <a:ext cx="7772400" cy="838200"/>
          </a:xfrm>
        </p:spPr>
        <p:txBody>
          <a:bodyPr/>
          <a:lstStyle/>
          <a:p>
            <a:r>
              <a:rPr lang="en-US" sz="3200" dirty="0" err="1"/>
              <a:t>Epipolar</a:t>
            </a:r>
            <a:r>
              <a:rPr lang="en-US" sz="3200" dirty="0"/>
              <a:t> constraint: Uncalibrated case</a:t>
            </a:r>
          </a:p>
        </p:txBody>
      </p:sp>
      <p:sp>
        <p:nvSpPr>
          <p:cNvPr id="671774" name="Rectangle 30"/>
          <p:cNvSpPr>
            <a:spLocks noChangeArrowheads="1"/>
          </p:cNvSpPr>
          <p:nvPr/>
        </p:nvSpPr>
        <p:spPr bwMode="auto">
          <a:xfrm>
            <a:off x="685800" y="4800600"/>
            <a:ext cx="7772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F x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 is the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epipolar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line associated with 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(</a:t>
            </a:r>
            <a:r>
              <a:rPr lang="en-US" sz="2800" b="1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l</a:t>
            </a:r>
            <a:r>
              <a:rPr lang="en-US" sz="2800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' = </a:t>
            </a:r>
            <a:r>
              <a:rPr lang="en-US" sz="2800" b="1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F x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)</a:t>
            </a:r>
            <a:endParaRPr lang="en-US" sz="2400" i="1" dirty="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F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is defined in terms of pixel coordinates </a:t>
            </a:r>
          </a:p>
        </p:txBody>
      </p:sp>
      <p:pic>
        <p:nvPicPr>
          <p:cNvPr id="5127" name="Picture 4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8" name="Rectangle 47"/>
          <p:cNvSpPr>
            <a:spLocks noChangeArrowheads="1"/>
          </p:cNvSpPr>
          <p:nvPr/>
        </p:nvSpPr>
        <p:spPr bwMode="auto">
          <a:xfrm>
            <a:off x="1060450" y="1806575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129" name="Rectangle 48"/>
          <p:cNvSpPr>
            <a:spLocks noChangeArrowheads="1"/>
          </p:cNvSpPr>
          <p:nvPr/>
        </p:nvSpPr>
        <p:spPr bwMode="auto">
          <a:xfrm>
            <a:off x="7669213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130" name="Text Box 49"/>
          <p:cNvSpPr txBox="1">
            <a:spLocks noChangeArrowheads="1"/>
          </p:cNvSpPr>
          <p:nvPr/>
        </p:nvSpPr>
        <p:spPr bwMode="auto">
          <a:xfrm>
            <a:off x="4391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5131" name="Freeform 50"/>
          <p:cNvSpPr>
            <a:spLocks/>
          </p:cNvSpPr>
          <p:nvPr/>
        </p:nvSpPr>
        <p:spPr bwMode="auto">
          <a:xfrm>
            <a:off x="2655888" y="2446338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132" name="Text Box 51"/>
          <p:cNvSpPr txBox="1">
            <a:spLocks noChangeArrowheads="1"/>
          </p:cNvSpPr>
          <p:nvPr/>
        </p:nvSpPr>
        <p:spPr bwMode="auto">
          <a:xfrm>
            <a:off x="2655888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5133" name="Freeform 52"/>
          <p:cNvSpPr>
            <a:spLocks/>
          </p:cNvSpPr>
          <p:nvPr/>
        </p:nvSpPr>
        <p:spPr bwMode="auto">
          <a:xfrm>
            <a:off x="6126163" y="2446338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134" name="Text Box 53"/>
          <p:cNvSpPr txBox="1">
            <a:spLocks noChangeArrowheads="1"/>
          </p:cNvSpPr>
          <p:nvPr/>
        </p:nvSpPr>
        <p:spPr bwMode="auto">
          <a:xfrm>
            <a:off x="6057900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671798" name="Line 54"/>
          <p:cNvSpPr>
            <a:spLocks noChangeShapeType="1"/>
          </p:cNvSpPr>
          <p:nvPr/>
        </p:nvSpPr>
        <p:spPr bwMode="auto">
          <a:xfrm flipH="1" flipV="1">
            <a:off x="2916238" y="2457450"/>
            <a:ext cx="238125" cy="137795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71799" name="Line 55"/>
          <p:cNvSpPr>
            <a:spLocks noChangeShapeType="1"/>
          </p:cNvSpPr>
          <p:nvPr/>
        </p:nvSpPr>
        <p:spPr bwMode="auto">
          <a:xfrm flipV="1">
            <a:off x="5837238" y="2468563"/>
            <a:ext cx="231775" cy="1382712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71800" name="Oval 56"/>
          <p:cNvSpPr>
            <a:spLocks noChangeArrowheads="1"/>
          </p:cNvSpPr>
          <p:nvPr/>
        </p:nvSpPr>
        <p:spPr bwMode="auto">
          <a:xfrm>
            <a:off x="3055938" y="3641725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71801" name="Oval 57"/>
          <p:cNvSpPr>
            <a:spLocks noChangeArrowheads="1"/>
          </p:cNvSpPr>
          <p:nvPr/>
        </p:nvSpPr>
        <p:spPr bwMode="auto">
          <a:xfrm>
            <a:off x="5786438" y="3668713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graphicFrame>
        <p:nvGraphicFramePr>
          <p:cNvPr id="21" name="Object 21"/>
          <p:cNvGraphicFramePr>
            <a:graphicFrameLocks noGrp="1" noChangeAspect="1"/>
          </p:cNvGraphicFramePr>
          <p:nvPr>
            <p:ph sz="half" idx="1"/>
          </p:nvPr>
        </p:nvGraphicFramePr>
        <p:xfrm>
          <a:off x="609600" y="4060825"/>
          <a:ext cx="18288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400" imgH="228600" progId="Equation.3">
                  <p:embed/>
                </p:oleObj>
              </mc:Choice>
              <mc:Fallback>
                <p:oleObj name="Equation" r:id="rId4" imgW="698400" imgH="228600" progId="Equation.3">
                  <p:embed/>
                  <p:pic>
                    <p:nvPicPr>
                      <p:cNvPr id="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060825"/>
                        <a:ext cx="1828800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3"/>
          <p:cNvGrpSpPr>
            <a:grpSpLocks/>
          </p:cNvGrpSpPr>
          <p:nvPr/>
        </p:nvGrpSpPr>
        <p:grpSpPr bwMode="auto">
          <a:xfrm>
            <a:off x="2743200" y="4064000"/>
            <a:ext cx="6129338" cy="565150"/>
            <a:chOff x="1728" y="2560"/>
            <a:chExt cx="3861" cy="356"/>
          </a:xfrm>
        </p:grpSpPr>
        <p:sp>
          <p:nvSpPr>
            <p:cNvPr id="23" name="AutoShape 24"/>
            <p:cNvSpPr>
              <a:spLocks noChangeArrowheads="1"/>
            </p:cNvSpPr>
            <p:nvPr/>
          </p:nvSpPr>
          <p:spPr bwMode="auto">
            <a:xfrm>
              <a:off x="1728" y="2628"/>
              <a:ext cx="432" cy="240"/>
            </a:xfrm>
            <a:prstGeom prst="rightArrow">
              <a:avLst>
                <a:gd name="adj1" fmla="val 50000"/>
                <a:gd name="adj2" fmla="val 4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graphicFrame>
          <p:nvGraphicFramePr>
            <p:cNvPr id="24" name="Object 25"/>
            <p:cNvGraphicFramePr>
              <a:graphicFrameLocks noChangeAspect="1"/>
            </p:cNvGraphicFramePr>
            <p:nvPr/>
          </p:nvGraphicFramePr>
          <p:xfrm>
            <a:off x="2187" y="2560"/>
            <a:ext cx="3402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84120" imgH="228600" progId="Equation.3">
                    <p:embed/>
                  </p:oleObj>
                </mc:Choice>
                <mc:Fallback>
                  <p:oleObj name="Equation" r:id="rId6" imgW="2184120" imgH="228600" progId="Equation.3">
                    <p:embed/>
                    <p:pic>
                      <p:nvPicPr>
                        <p:cNvPr id="24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7" y="2560"/>
                          <a:ext cx="3402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D1C0-1E7C-9F48-AB85-E04C6D2D5AB1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95643" name="Picture 59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531" y="3941762"/>
            <a:ext cx="1804987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5644" name="Picture 6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552" y="4060825"/>
            <a:ext cx="2884487" cy="56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349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74" grpId="0" build="p"/>
      <p:bldP spid="671798" grpId="0" animBg="1"/>
      <p:bldP spid="671799" grpId="0" animBg="1"/>
      <p:bldP spid="671800" grpId="0" animBg="1"/>
      <p:bldP spid="67180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2" name="AutoShape 12"/>
          <p:cNvSpPr>
            <a:spLocks noChangeArrowheads="1"/>
          </p:cNvSpPr>
          <p:nvPr/>
        </p:nvSpPr>
        <p:spPr bwMode="auto">
          <a:xfrm>
            <a:off x="4114800" y="2286000"/>
            <a:ext cx="5334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73453" name="AutoShape 13"/>
          <p:cNvSpPr>
            <a:spLocks noChangeArrowheads="1"/>
          </p:cNvSpPr>
          <p:nvPr/>
        </p:nvSpPr>
        <p:spPr bwMode="auto">
          <a:xfrm rot="8550886">
            <a:off x="4191000" y="3352800"/>
            <a:ext cx="5334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6153" name="Rectangle 16"/>
          <p:cNvSpPr>
            <a:spLocks noGrp="1" noChangeArrowheads="1"/>
          </p:cNvSpPr>
          <p:nvPr>
            <p:ph type="title"/>
          </p:nvPr>
        </p:nvSpPr>
        <p:spPr>
          <a:xfrm>
            <a:off x="419100" y="152400"/>
            <a:ext cx="8229600" cy="1143000"/>
          </a:xfrm>
        </p:spPr>
        <p:txBody>
          <a:bodyPr/>
          <a:lstStyle/>
          <a:p>
            <a:r>
              <a:rPr lang="en-US" dirty="0"/>
              <a:t>The eight-point algorithm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2971800" y="4114800"/>
            <a:ext cx="2552700" cy="2438400"/>
            <a:chOff x="4056" y="2496"/>
            <a:chExt cx="1608" cy="1536"/>
          </a:xfrm>
        </p:grpSpPr>
        <p:sp>
          <p:nvSpPr>
            <p:cNvPr id="6156" name="Text Box 9"/>
            <p:cNvSpPr txBox="1">
              <a:spLocks noChangeArrowheads="1"/>
            </p:cNvSpPr>
            <p:nvPr/>
          </p:nvSpPr>
          <p:spPr bwMode="auto">
            <a:xfrm>
              <a:off x="4112" y="2496"/>
              <a:ext cx="9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Minimize:</a:t>
              </a:r>
            </a:p>
          </p:txBody>
        </p:sp>
        <p:sp>
          <p:nvSpPr>
            <p:cNvPr id="6157" name="Text Box 10"/>
            <p:cNvSpPr txBox="1">
              <a:spLocks noChangeArrowheads="1"/>
            </p:cNvSpPr>
            <p:nvPr/>
          </p:nvSpPr>
          <p:spPr bwMode="auto">
            <a:xfrm>
              <a:off x="4174" y="3459"/>
              <a:ext cx="1401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  <a:t>under the constraint</a:t>
              </a:r>
              <a:br>
                <a:rPr lang="en-US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sym typeface="Times New Roman" pitchFamily="18" charset="0"/>
                </a:rPr>
              </a:br>
              <a:r>
                <a:rPr lang="en-US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cs typeface="Times New Roman" pitchFamily="18" charset="0"/>
                  <a:sym typeface="Times New Roman" pitchFamily="18" charset="0"/>
                </a:rPr>
                <a:t>||</a:t>
              </a:r>
              <a:r>
                <a:rPr lang="en-US" b="1" i="1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cs typeface="Times New Roman" pitchFamily="18" charset="0"/>
                  <a:sym typeface="Times New Roman" pitchFamily="18" charset="0"/>
                </a:rPr>
                <a:t>F</a:t>
              </a:r>
              <a:r>
                <a:rPr lang="en-US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cs typeface="Times New Roman" pitchFamily="18" charset="0"/>
                  <a:sym typeface="Times New Roman" pitchFamily="18" charset="0"/>
                </a:rPr>
                <a:t>||</a:t>
              </a:r>
              <a:r>
                <a:rPr lang="en-US" baseline="30000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cs typeface="Times New Roman" pitchFamily="18" charset="0"/>
                  <a:sym typeface="Times New Roman" pitchFamily="18" charset="0"/>
                </a:rPr>
                <a:t>2</a:t>
              </a:r>
              <a:r>
                <a:rPr lang="en-US" dirty="0">
                  <a:solidFill>
                    <a:srgbClr val="000000"/>
                  </a:solidFill>
                  <a:latin typeface="Times New Roman" pitchFamily="18" charset="0"/>
                  <a:ea typeface="ヒラギノ明朝 ProN W3" pitchFamily="-84" charset="-128"/>
                  <a:cs typeface="Times New Roman" pitchFamily="18" charset="0"/>
                  <a:sym typeface="Times New Roman" pitchFamily="18" charset="0"/>
                </a:rPr>
                <a:t>=1</a:t>
              </a:r>
              <a:endPara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cs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6158" name="Rectangle 15"/>
            <p:cNvSpPr>
              <a:spLocks noChangeArrowheads="1"/>
            </p:cNvSpPr>
            <p:nvPr/>
          </p:nvSpPr>
          <p:spPr bwMode="auto">
            <a:xfrm>
              <a:off x="4056" y="2496"/>
              <a:ext cx="1608" cy="1536"/>
            </a:xfrm>
            <a:prstGeom prst="rect">
              <a:avLst/>
            </a:prstGeom>
            <a:noFill/>
            <a:ln w="28575">
              <a:solidFill>
                <a:srgbClr val="CC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graphicFrame>
          <p:nvGraphicFramePr>
            <p:cNvPr id="6149" name="Object 19"/>
            <p:cNvGraphicFramePr>
              <a:graphicFrameLocks noChangeAspect="1"/>
            </p:cNvGraphicFramePr>
            <p:nvPr/>
          </p:nvGraphicFramePr>
          <p:xfrm>
            <a:off x="4166" y="2784"/>
            <a:ext cx="1367" cy="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50680" imgH="431640" progId="Equation.3">
                    <p:embed/>
                  </p:oleObj>
                </mc:Choice>
                <mc:Fallback>
                  <p:oleObj name="Equation" r:id="rId3" imgW="850680" imgH="431640" progId="Equation.3">
                    <p:embed/>
                    <p:pic>
                      <p:nvPicPr>
                        <p:cNvPr id="614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6" y="2784"/>
                          <a:ext cx="1367" cy="6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381000" y="1930400"/>
          <a:ext cx="3538538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08160" imgH="711000" progId="Equation.3">
                  <p:embed/>
                </p:oleObj>
              </mc:Choice>
              <mc:Fallback>
                <p:oleObj name="Equation" r:id="rId5" imgW="2108160" imgH="711000" progId="Equation.3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" y="1930400"/>
                        <a:ext cx="3538538" cy="119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792663" y="1038225"/>
          <a:ext cx="4243387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46240" imgH="2082600" progId="Equation.3">
                  <p:embed/>
                </p:oleObj>
              </mc:Choice>
              <mc:Fallback>
                <p:oleObj name="Equation" r:id="rId7" imgW="2946240" imgH="20826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663" y="1038225"/>
                        <a:ext cx="4243387" cy="300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91200" y="3438436"/>
            <a:ext cx="2133600" cy="1200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Smallest eigenvalue of A</a:t>
            </a:r>
            <a:r>
              <a:rPr lang="en-US" sz="2400" baseline="300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684188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32709" y="1085671"/>
                <a:ext cx="1595309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ea typeface="Cambria Math" panose="02040503050406030204" pitchFamily="18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i="1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1" i="1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b="1" dirty="0">
                    <a:ea typeface="Cambria Math" panose="02040503050406030204" pitchFamily="18" charset="0"/>
                  </a:rPr>
                  <a:t>x’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  <m:r>
                          <m:rPr>
                            <m:nor/>
                          </m:rPr>
                          <a:rPr lang="en-US" b="1" dirty="0">
                            <a:ea typeface="Cambria Math" panose="02040503050406030204" pitchFamily="18" charset="0"/>
                          </a:rPr>
                          <m:t>’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en-US" b="1" dirty="0">
                            <a:ea typeface="Cambria Math" panose="02040503050406030204" pitchFamily="18" charset="0"/>
                          </a:rPr>
                          <m:t>’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i="1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1" i="1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1" i="1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09" y="1085671"/>
                <a:ext cx="1595309" cy="1200329"/>
              </a:xfrm>
              <a:prstGeom prst="rect">
                <a:avLst/>
              </a:prstGeom>
              <a:blipFill rotWithShape="0">
                <a:blip r:embed="rId10"/>
                <a:stretch>
                  <a:fillRect l="-3448" t="-2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93404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52" grpId="0" animBg="1"/>
      <p:bldP spid="573453" grpId="0" animBg="1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5FA1574-0565-41FF-BC34-EA13F4DD98A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MASKS © 2004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70937BD6-C6C3-4994-92D9-9170E436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Invitation to 3D vision</a:t>
            </a: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80A9775E-0E0C-4FF1-BD6D-2FAF72ACC3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93763" y="76200"/>
            <a:ext cx="7793037" cy="547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Pose Recovery from the Essential Matrix</a:t>
            </a: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3595945D-5FF9-442A-B9AE-D3BEF69B9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127125"/>
            <a:ext cx="2228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Essential matrix</a:t>
            </a:r>
          </a:p>
        </p:txBody>
      </p:sp>
      <p:sp>
        <p:nvSpPr>
          <p:cNvPr id="23558" name="Rectangle 5">
            <a:extLst>
              <a:ext uri="{FF2B5EF4-FFF2-40B4-BE49-F238E27FC236}">
                <a16:creationId xmlns:a16="http://schemas.microsoft.com/office/drawing/2014/main" id="{E7EBF7A7-251B-48A1-9B65-43A6AC8F1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288" y="1600200"/>
            <a:ext cx="75850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Theorem 1a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(Pose Recovery)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There are two relative poses           with          and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corresponding to a non-zero matrix essential matrix.</a:t>
            </a:r>
          </a:p>
        </p:txBody>
      </p:sp>
      <p:sp>
        <p:nvSpPr>
          <p:cNvPr id="23559" name="Text Box 6">
            <a:extLst>
              <a:ext uri="{FF2B5EF4-FFF2-40B4-BE49-F238E27FC236}">
                <a16:creationId xmlns:a16="http://schemas.microsoft.com/office/drawing/2014/main" id="{B6371579-3092-4108-A67D-9A0690E12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99125"/>
            <a:ext cx="3233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Twisted pair ambiguity</a:t>
            </a:r>
          </a:p>
        </p:txBody>
      </p:sp>
      <p:pic>
        <p:nvPicPr>
          <p:cNvPr id="23560" name="Picture 7" descr="Edittex">
            <a:extLst>
              <a:ext uri="{FF2B5EF4-FFF2-40B4-BE49-F238E27FC236}">
                <a16:creationId xmlns:a16="http://schemas.microsoft.com/office/drawing/2014/main" id="{A80E3D1F-09B7-4886-B21C-075EF807BFDC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143000"/>
            <a:ext cx="137636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8" descr="Edittex">
            <a:extLst>
              <a:ext uri="{FF2B5EF4-FFF2-40B4-BE49-F238E27FC236}">
                <a16:creationId xmlns:a16="http://schemas.microsoft.com/office/drawing/2014/main" id="{BD7FD2D4-0075-428C-9D7F-334DFE4123C8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985963"/>
            <a:ext cx="685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2" name="Picture 9" descr="Edittex">
            <a:extLst>
              <a:ext uri="{FF2B5EF4-FFF2-40B4-BE49-F238E27FC236}">
                <a16:creationId xmlns:a16="http://schemas.microsoft.com/office/drawing/2014/main" id="{8977B345-E63F-4F00-8DD3-91B4019D5013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13" y="1963738"/>
            <a:ext cx="768350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3" name="Picture 10" descr="Edittex">
            <a:extLst>
              <a:ext uri="{FF2B5EF4-FFF2-40B4-BE49-F238E27FC236}">
                <a16:creationId xmlns:a16="http://schemas.microsoft.com/office/drawing/2014/main" id="{2C97E6D7-B38B-479B-B255-1A6D4B8D427D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2735263"/>
            <a:ext cx="1512888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4" name="Picture 11" descr="Edittex">
            <a:extLst>
              <a:ext uri="{FF2B5EF4-FFF2-40B4-BE49-F238E27FC236}">
                <a16:creationId xmlns:a16="http://schemas.microsoft.com/office/drawing/2014/main" id="{6CDC9B95-058B-4D8D-B8D7-97B3DFA86FFA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88" y="3346450"/>
            <a:ext cx="5688012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5" name="Picture 12" descr="Edittex">
            <a:extLst>
              <a:ext uri="{FF2B5EF4-FFF2-40B4-BE49-F238E27FC236}">
                <a16:creationId xmlns:a16="http://schemas.microsoft.com/office/drawing/2014/main" id="{34F5E7BE-BC37-4530-8CF1-50B2C9C07268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4792663"/>
            <a:ext cx="2400300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6" name="Picture 13" descr="Edittex">
            <a:extLst>
              <a:ext uri="{FF2B5EF4-FFF2-40B4-BE49-F238E27FC236}">
                <a16:creationId xmlns:a16="http://schemas.microsoft.com/office/drawing/2014/main" id="{673DD04C-B747-4882-AE8A-DE3FF1B3F0CF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825" y="4411663"/>
            <a:ext cx="30797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7" name="Picture 14" descr="Edittex">
            <a:extLst>
              <a:ext uri="{FF2B5EF4-FFF2-40B4-BE49-F238E27FC236}">
                <a16:creationId xmlns:a16="http://schemas.microsoft.com/office/drawing/2014/main" id="{7D21E8F2-5FEE-422B-B4E5-21E2F2B66CE4}"/>
              </a:ext>
            </a:extLst>
          </p:cNvPr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313" y="5730875"/>
            <a:ext cx="3163887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8" name="Picture 15" descr="Edittex">
            <a:extLst>
              <a:ext uri="{FF2B5EF4-FFF2-40B4-BE49-F238E27FC236}">
                <a16:creationId xmlns:a16="http://schemas.microsoft.com/office/drawing/2014/main" id="{24E3E2BA-796D-4936-B364-0050AB333194}"/>
              </a:ext>
            </a:extLst>
          </p:cNvPr>
          <p:cNvPicPr>
            <a:picLocks noGrp="1" noChangeAspect="1" noChangeArrowheads="1"/>
          </p:cNvPicPr>
          <p:nvPr>
            <p:ph idx="1"/>
            <p:custDataLst>
              <p:tags r:id="rId9"/>
            </p:custDataLst>
          </p:nvPr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81200"/>
            <a:ext cx="1295400" cy="252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Date Placeholder 3">
            <a:extLst>
              <a:ext uri="{FF2B5EF4-FFF2-40B4-BE49-F238E27FC236}">
                <a16:creationId xmlns:a16="http://schemas.microsoft.com/office/drawing/2014/main" id="{F4A3F52C-E26F-4F7E-945B-345F6412A6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MASKS © 2004</a:t>
            </a:r>
          </a:p>
        </p:txBody>
      </p:sp>
      <p:sp>
        <p:nvSpPr>
          <p:cNvPr id="63" name="Footer Placeholder 4">
            <a:extLst>
              <a:ext uri="{FF2B5EF4-FFF2-40B4-BE49-F238E27FC236}">
                <a16:creationId xmlns:a16="http://schemas.microsoft.com/office/drawing/2014/main" id="{0F709D6B-D0FC-4FFF-8722-089FD6C3B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Invitation to 3D vision</a:t>
            </a: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6E6AACAC-49F4-456F-B9A7-FA9030DC6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46163" y="76200"/>
            <a:ext cx="7793037" cy="547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Estimating Essential Matrix</a:t>
            </a:r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E8F02922-2A37-4EE6-876B-0810A098E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1676400"/>
            <a:ext cx="73945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Solution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Eigenvector associated with the smallest eigenvalue 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if                               degenerate configuration</a:t>
            </a:r>
          </a:p>
        </p:txBody>
      </p:sp>
      <p:pic>
        <p:nvPicPr>
          <p:cNvPr id="27654" name="Picture 5" descr="Edittex">
            <a:extLst>
              <a:ext uri="{FF2B5EF4-FFF2-40B4-BE49-F238E27FC236}">
                <a16:creationId xmlns:a16="http://schemas.microsoft.com/office/drawing/2014/main" id="{C573FD2F-3A76-4557-9D13-6C8F30C2A83F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775" y="1965325"/>
            <a:ext cx="560388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Picture 6" descr="Edittex">
            <a:extLst>
              <a:ext uri="{FF2B5EF4-FFF2-40B4-BE49-F238E27FC236}">
                <a16:creationId xmlns:a16="http://schemas.microsoft.com/office/drawing/2014/main" id="{C8161F0F-DAA6-4765-83C7-7F81184AFAFE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2308225"/>
            <a:ext cx="22098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56" name="Group 7">
            <a:extLst>
              <a:ext uri="{FF2B5EF4-FFF2-40B4-BE49-F238E27FC236}">
                <a16:creationId xmlns:a16="http://schemas.microsoft.com/office/drawing/2014/main" id="{BD1A63D9-7E2C-4820-B155-D86D96A65C48}"/>
              </a:ext>
            </a:extLst>
          </p:cNvPr>
          <p:cNvGrpSpPr>
            <a:grpSpLocks/>
          </p:cNvGrpSpPr>
          <p:nvPr/>
        </p:nvGrpSpPr>
        <p:grpSpPr bwMode="auto">
          <a:xfrm>
            <a:off x="5897563" y="2514600"/>
            <a:ext cx="2895600" cy="1981200"/>
            <a:chOff x="1008" y="2346"/>
            <a:chExt cx="2256" cy="1782"/>
          </a:xfrm>
        </p:grpSpPr>
        <p:sp>
          <p:nvSpPr>
            <p:cNvPr id="27669" name="Arc 8">
              <a:extLst>
                <a:ext uri="{FF2B5EF4-FFF2-40B4-BE49-F238E27FC236}">
                  <a16:creationId xmlns:a16="http://schemas.microsoft.com/office/drawing/2014/main" id="{D0D3E621-EFC1-415E-8AB0-0461455AB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3414"/>
              <a:ext cx="1012" cy="360"/>
            </a:xfrm>
            <a:custGeom>
              <a:avLst/>
              <a:gdLst>
                <a:gd name="T0" fmla="*/ 0 w 19866"/>
                <a:gd name="T1" fmla="*/ 0 h 21599"/>
                <a:gd name="T2" fmla="*/ 0 w 19866"/>
                <a:gd name="T3" fmla="*/ 0 h 21599"/>
                <a:gd name="T4" fmla="*/ 0 w 19866"/>
                <a:gd name="T5" fmla="*/ 0 h 21599"/>
                <a:gd name="T6" fmla="*/ 0 60000 65536"/>
                <a:gd name="T7" fmla="*/ 0 60000 65536"/>
                <a:gd name="T8" fmla="*/ 0 60000 65536"/>
                <a:gd name="T9" fmla="*/ 0 w 19866"/>
                <a:gd name="T10" fmla="*/ 0 h 21599"/>
                <a:gd name="T11" fmla="*/ 19866 w 19866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866" h="21599" fill="none" extrusionOk="0">
                  <a:moveTo>
                    <a:pt x="196" y="-1"/>
                  </a:moveTo>
                  <a:cubicBezTo>
                    <a:pt x="8776" y="77"/>
                    <a:pt x="16497" y="5227"/>
                    <a:pt x="19865" y="13119"/>
                  </a:cubicBezTo>
                </a:path>
                <a:path w="19866" h="21599" stroke="0" extrusionOk="0">
                  <a:moveTo>
                    <a:pt x="196" y="-1"/>
                  </a:moveTo>
                  <a:cubicBezTo>
                    <a:pt x="8776" y="77"/>
                    <a:pt x="16497" y="5227"/>
                    <a:pt x="19865" y="13119"/>
                  </a:cubicBezTo>
                  <a:lnTo>
                    <a:pt x="0" y="21599"/>
                  </a:lnTo>
                  <a:lnTo>
                    <a:pt x="196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HK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70" name="Line 9">
              <a:extLst>
                <a:ext uri="{FF2B5EF4-FFF2-40B4-BE49-F238E27FC236}">
                  <a16:creationId xmlns:a16="http://schemas.microsoft.com/office/drawing/2014/main" id="{C2B9C7DC-793E-4F49-B52B-793626031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5" y="342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HK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71" name="Arc 10">
              <a:extLst>
                <a:ext uri="{FF2B5EF4-FFF2-40B4-BE49-F238E27FC236}">
                  <a16:creationId xmlns:a16="http://schemas.microsoft.com/office/drawing/2014/main" id="{700D6B14-0CF8-4B68-94DD-C61A6C407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" y="3217"/>
              <a:ext cx="484" cy="412"/>
            </a:xfrm>
            <a:custGeom>
              <a:avLst/>
              <a:gdLst>
                <a:gd name="T0" fmla="*/ 0 w 21825"/>
                <a:gd name="T1" fmla="*/ 0 h 21600"/>
                <a:gd name="T2" fmla="*/ 0 w 21825"/>
                <a:gd name="T3" fmla="*/ 0 h 21600"/>
                <a:gd name="T4" fmla="*/ 0 w 2182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825"/>
                <a:gd name="T10" fmla="*/ 0 h 21600"/>
                <a:gd name="T11" fmla="*/ 21825 w 2182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825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21675" y="0"/>
                    <a:pt x="21750" y="0"/>
                    <a:pt x="21824" y="1"/>
                  </a:cubicBezTo>
                </a:path>
                <a:path w="21825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21675" y="0"/>
                    <a:pt x="21750" y="0"/>
                    <a:pt x="21824" y="1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HK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72" name="Arc 11">
              <a:extLst>
                <a:ext uri="{FF2B5EF4-FFF2-40B4-BE49-F238E27FC236}">
                  <a16:creationId xmlns:a16="http://schemas.microsoft.com/office/drawing/2014/main" id="{0D07E61E-2D3B-4F54-87A1-61E109E81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2960"/>
              <a:ext cx="670" cy="463"/>
            </a:xfrm>
            <a:custGeom>
              <a:avLst/>
              <a:gdLst>
                <a:gd name="T0" fmla="*/ 0 w 21600"/>
                <a:gd name="T1" fmla="*/ 0 h 21577"/>
                <a:gd name="T2" fmla="*/ 0 w 21600"/>
                <a:gd name="T3" fmla="*/ 0 h 21577"/>
                <a:gd name="T4" fmla="*/ 0 w 21600"/>
                <a:gd name="T5" fmla="*/ 0 h 2157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77"/>
                <a:gd name="T11" fmla="*/ 21600 w 21600"/>
                <a:gd name="T12" fmla="*/ 21577 h 215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77" fill="none" extrusionOk="0">
                  <a:moveTo>
                    <a:pt x="0" y="21577"/>
                  </a:moveTo>
                  <a:cubicBezTo>
                    <a:pt x="0" y="10034"/>
                    <a:pt x="9074" y="531"/>
                    <a:pt x="20604" y="-1"/>
                  </a:cubicBezTo>
                </a:path>
                <a:path w="21600" h="21577" stroke="0" extrusionOk="0">
                  <a:moveTo>
                    <a:pt x="0" y="21577"/>
                  </a:moveTo>
                  <a:cubicBezTo>
                    <a:pt x="0" y="10034"/>
                    <a:pt x="9074" y="531"/>
                    <a:pt x="20604" y="-1"/>
                  </a:cubicBezTo>
                  <a:lnTo>
                    <a:pt x="21600" y="21577"/>
                  </a:lnTo>
                  <a:lnTo>
                    <a:pt x="0" y="21577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HK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73" name="Arc 12">
              <a:extLst>
                <a:ext uri="{FF2B5EF4-FFF2-40B4-BE49-F238E27FC236}">
                  <a16:creationId xmlns:a16="http://schemas.microsoft.com/office/drawing/2014/main" id="{F33B07B5-DC64-420C-BA74-830C33D9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1" y="2960"/>
              <a:ext cx="862" cy="257"/>
            </a:xfrm>
            <a:custGeom>
              <a:avLst/>
              <a:gdLst>
                <a:gd name="T0" fmla="*/ 0 w 21625"/>
                <a:gd name="T1" fmla="*/ 0 h 21600"/>
                <a:gd name="T2" fmla="*/ 0 w 21625"/>
                <a:gd name="T3" fmla="*/ 0 h 21600"/>
                <a:gd name="T4" fmla="*/ 0 w 2162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25"/>
                <a:gd name="T10" fmla="*/ 0 h 21600"/>
                <a:gd name="T11" fmla="*/ 21625 w 2162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25" h="21600" fill="none" extrusionOk="0">
                  <a:moveTo>
                    <a:pt x="0" y="0"/>
                  </a:moveTo>
                  <a:cubicBezTo>
                    <a:pt x="8" y="0"/>
                    <a:pt x="16" y="-1"/>
                    <a:pt x="25" y="0"/>
                  </a:cubicBezTo>
                  <a:cubicBezTo>
                    <a:pt x="11954" y="0"/>
                    <a:pt x="21625" y="9670"/>
                    <a:pt x="21625" y="21600"/>
                  </a:cubicBezTo>
                </a:path>
                <a:path w="21625" h="21600" stroke="0" extrusionOk="0">
                  <a:moveTo>
                    <a:pt x="0" y="0"/>
                  </a:moveTo>
                  <a:cubicBezTo>
                    <a:pt x="8" y="0"/>
                    <a:pt x="16" y="-1"/>
                    <a:pt x="25" y="0"/>
                  </a:cubicBezTo>
                  <a:cubicBezTo>
                    <a:pt x="11954" y="0"/>
                    <a:pt x="21625" y="9670"/>
                    <a:pt x="21625" y="21600"/>
                  </a:cubicBezTo>
                  <a:lnTo>
                    <a:pt x="25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HK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74" name="Line 13">
              <a:extLst>
                <a:ext uri="{FF2B5EF4-FFF2-40B4-BE49-F238E27FC236}">
                  <a16:creationId xmlns:a16="http://schemas.microsoft.com/office/drawing/2014/main" id="{BC5C5D3E-BC70-465D-9440-48D9A7F9BF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5" y="2496"/>
              <a:ext cx="0" cy="6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HK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75" name="Line 14">
              <a:extLst>
                <a:ext uri="{FF2B5EF4-FFF2-40B4-BE49-F238E27FC236}">
                  <a16:creationId xmlns:a16="http://schemas.microsoft.com/office/drawing/2014/main" id="{32AED8EB-6A89-409F-B190-D687081E13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5" y="3730"/>
              <a:ext cx="1729" cy="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HK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76" name="Line 15">
              <a:extLst>
                <a:ext uri="{FF2B5EF4-FFF2-40B4-BE49-F238E27FC236}">
                  <a16:creationId xmlns:a16="http://schemas.microsoft.com/office/drawing/2014/main" id="{D7BE0019-74A3-40D8-8926-A2FE544802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730"/>
              <a:ext cx="527" cy="3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HK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77" name="Oval 16">
              <a:extLst>
                <a:ext uri="{FF2B5EF4-FFF2-40B4-BE49-F238E27FC236}">
                  <a16:creationId xmlns:a16="http://schemas.microsoft.com/office/drawing/2014/main" id="{078B6994-1772-4092-8716-BA13654B2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" y="3022"/>
              <a:ext cx="327" cy="185"/>
            </a:xfrm>
            <a:prstGeom prst="ellipse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78" name="Oval 17">
              <a:extLst>
                <a:ext uri="{FF2B5EF4-FFF2-40B4-BE49-F238E27FC236}">
                  <a16:creationId xmlns:a16="http://schemas.microsoft.com/office/drawing/2014/main" id="{3881595E-A3FD-4EA0-A003-D1AA9D0A3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053"/>
              <a:ext cx="146" cy="91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79" name="Line 18">
              <a:extLst>
                <a:ext uri="{FF2B5EF4-FFF2-40B4-BE49-F238E27FC236}">
                  <a16:creationId xmlns:a16="http://schemas.microsoft.com/office/drawing/2014/main" id="{0C49569D-3B40-416A-BDD9-374932A6C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9" y="2892"/>
              <a:ext cx="151" cy="1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HK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80" name="Line 19">
              <a:extLst>
                <a:ext uri="{FF2B5EF4-FFF2-40B4-BE49-F238E27FC236}">
                  <a16:creationId xmlns:a16="http://schemas.microsoft.com/office/drawing/2014/main" id="{266506B7-A6A1-4BE0-BC08-15CC590E7F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2580"/>
              <a:ext cx="0" cy="5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HK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681" name="Oval 20">
              <a:extLst>
                <a:ext uri="{FF2B5EF4-FFF2-40B4-BE49-F238E27FC236}">
                  <a16:creationId xmlns:a16="http://schemas.microsoft.com/office/drawing/2014/main" id="{24C6097C-82F4-4D9C-979D-3601FC909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554"/>
              <a:ext cx="30" cy="3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pic>
          <p:nvPicPr>
            <p:cNvPr id="27682" name="Picture 21" descr="Edittex">
              <a:extLst>
                <a:ext uri="{FF2B5EF4-FFF2-40B4-BE49-F238E27FC236}">
                  <a16:creationId xmlns:a16="http://schemas.microsoft.com/office/drawing/2014/main" id="{617B8A79-49AE-4362-AD67-219BBD0D6A1B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2346"/>
              <a:ext cx="144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83" name="Picture 22" descr="Edittex">
              <a:extLst>
                <a:ext uri="{FF2B5EF4-FFF2-40B4-BE49-F238E27FC236}">
                  <a16:creationId xmlns:a16="http://schemas.microsoft.com/office/drawing/2014/main" id="{FFA5CD4A-E496-4CBC-AF0C-BD339DE8EE11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3360"/>
              <a:ext cx="144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657" name="Rectangle 23">
            <a:extLst>
              <a:ext uri="{FF2B5EF4-FFF2-40B4-BE49-F238E27FC236}">
                <a16:creationId xmlns:a16="http://schemas.microsoft.com/office/drawing/2014/main" id="{1D855081-8A5D-453D-8BEC-D67A61300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4572000"/>
            <a:ext cx="6691312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Theorem 2a 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(Project to Essential Manifold)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If the SVD of a matrix                is given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then the essential matrix       which minimizes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Frobenius distance                 is given by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with </a:t>
            </a:r>
          </a:p>
        </p:txBody>
      </p:sp>
      <p:pic>
        <p:nvPicPr>
          <p:cNvPr id="27658" name="Picture 24" descr="Edittex">
            <a:extLst>
              <a:ext uri="{FF2B5EF4-FFF2-40B4-BE49-F238E27FC236}">
                <a16:creationId xmlns:a16="http://schemas.microsoft.com/office/drawing/2014/main" id="{1C003238-6801-4673-868B-DE67E1CC8F6D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763" y="4946650"/>
            <a:ext cx="1039812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9" name="Picture 25" descr="Edittex">
            <a:extLst>
              <a:ext uri="{FF2B5EF4-FFF2-40B4-BE49-F238E27FC236}">
                <a16:creationId xmlns:a16="http://schemas.microsoft.com/office/drawing/2014/main" id="{93789606-C2F9-4EF6-9496-D300A147D372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4953000"/>
            <a:ext cx="28797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0" name="Picture 26" descr="Edittex">
            <a:extLst>
              <a:ext uri="{FF2B5EF4-FFF2-40B4-BE49-F238E27FC236}">
                <a16:creationId xmlns:a16="http://schemas.microsoft.com/office/drawing/2014/main" id="{6EE4BA46-28D2-478A-961F-29F53DAF9FB0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488" y="5546725"/>
            <a:ext cx="11318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1" name="Picture 27" descr="Edittex">
            <a:extLst>
              <a:ext uri="{FF2B5EF4-FFF2-40B4-BE49-F238E27FC236}">
                <a16:creationId xmlns:a16="http://schemas.microsoft.com/office/drawing/2014/main" id="{B4B6493E-81AB-4A06-A025-F23EE15820CE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63" y="5276850"/>
            <a:ext cx="228600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2" name="Picture 28" descr="Edittex">
            <a:extLst>
              <a:ext uri="{FF2B5EF4-FFF2-40B4-BE49-F238E27FC236}">
                <a16:creationId xmlns:a16="http://schemas.microsoft.com/office/drawing/2014/main" id="{EABC57F7-40DB-4AE2-9D5F-A4095B57536C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450" y="5561013"/>
            <a:ext cx="2495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3" name="Picture 29" descr="Edittex">
            <a:extLst>
              <a:ext uri="{FF2B5EF4-FFF2-40B4-BE49-F238E27FC236}">
                <a16:creationId xmlns:a16="http://schemas.microsoft.com/office/drawing/2014/main" id="{7F0BD4EB-9E4E-40DA-B03B-F75A56769196}"/>
              </a:ext>
            </a:extLst>
          </p:cNvPr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0" y="5840413"/>
            <a:ext cx="119221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8206" name="Rectangle 30">
            <a:extLst>
              <a:ext uri="{FF2B5EF4-FFF2-40B4-BE49-F238E27FC236}">
                <a16:creationId xmlns:a16="http://schemas.microsoft.com/office/drawing/2014/main" id="{F7662F9A-55A0-4893-86C0-995C4AFEC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57600"/>
            <a:ext cx="5106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Projection on to Essential Space</a:t>
            </a:r>
          </a:p>
        </p:txBody>
      </p:sp>
      <p:sp>
        <p:nvSpPr>
          <p:cNvPr id="27665" name="AutoShape 31">
            <a:extLst>
              <a:ext uri="{FF2B5EF4-FFF2-40B4-BE49-F238E27FC236}">
                <a16:creationId xmlns:a16="http://schemas.microsoft.com/office/drawing/2014/main" id="{6AE84DA2-EFED-4333-A792-627E3BC69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563" y="1296988"/>
            <a:ext cx="976312" cy="381000"/>
          </a:xfrm>
          <a:prstGeom prst="rightArrow">
            <a:avLst>
              <a:gd name="adj1" fmla="val 50000"/>
              <a:gd name="adj2" fmla="val 64062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27666" name="Picture 33" descr="Edittex">
            <a:extLst>
              <a:ext uri="{FF2B5EF4-FFF2-40B4-BE49-F238E27FC236}">
                <a16:creationId xmlns:a16="http://schemas.microsoft.com/office/drawing/2014/main" id="{990B105E-E5B8-4839-9C3D-5FDBF174721C}"/>
              </a:ext>
            </a:extLst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775" y="1219200"/>
            <a:ext cx="2341563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7" name="Picture 34" descr="Edittex">
            <a:extLst>
              <a:ext uri="{FF2B5EF4-FFF2-40B4-BE49-F238E27FC236}">
                <a16:creationId xmlns:a16="http://schemas.microsoft.com/office/drawing/2014/main" id="{36F75CD7-B5EB-4B95-80EF-E5A5D2119081}"/>
              </a:ext>
            </a:extLst>
          </p:cNvPr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75" y="1217613"/>
            <a:ext cx="2879725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Rectangle 30">
            <a:extLst>
              <a:ext uri="{FF2B5EF4-FFF2-40B4-BE49-F238E27FC236}">
                <a16:creationId xmlns:a16="http://schemas.microsoft.com/office/drawing/2014/main" id="{A97FB978-3280-45D6-AE31-9BDE5CF20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967038"/>
            <a:ext cx="55070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F is a matrix in the null space of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2C539E48-3909-48BC-AA62-79715837BD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MASKS © 2004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4E069B6-053F-4F9B-A873-D5AA0E9B4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Invitation to 3D vision</a:t>
            </a: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2549931C-EE22-45EB-BEF4-01A4C3F8B21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00200" y="0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Pose recovery: eight-point algorithm</a:t>
            </a:r>
          </a:p>
        </p:txBody>
      </p:sp>
      <p:pic>
        <p:nvPicPr>
          <p:cNvPr id="29701" name="Picture 4">
            <a:extLst>
              <a:ext uri="{FF2B5EF4-FFF2-40B4-BE49-F238E27FC236}">
                <a16:creationId xmlns:a16="http://schemas.microsoft.com/office/drawing/2014/main" id="{0E8797F2-75F6-4686-B2F0-426C91FB4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447800"/>
            <a:ext cx="90678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B19E0BBA-AA3E-4630-B85B-C7917564C30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MASKS © 2004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FA31BAD-3A6F-4711-B5E8-D8E2A2A0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Invitation to 3D vision</a:t>
            </a:r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46E4C87B-B4DE-4893-B80F-46EA1D714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9800"/>
            <a:ext cx="9144000" cy="261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87FF99D-7689-4465-BC24-AB3183E52A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MASKS © 2004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F287711-64E9-4CC6-BDD2-A98BD714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Invitation to 3D vision</a:t>
            </a:r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247659C5-664D-46BB-904F-A79B6073D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2362200"/>
            <a:ext cx="8910637" cy="269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AB15A75-6821-4A07-A5DB-D24C3709EE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MASKS © 2004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84E2FCF-2ADD-40FF-9F27-FD271C4A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Invitation to 3D vision</a:t>
            </a: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881EA433-1D4C-426C-978A-4F28F86BF283}"/>
              </a:ext>
            </a:extLst>
          </p:cNvPr>
          <p:cNvSpPr>
            <a:spLocks noChangeArrowheads="1"/>
          </p:cNvSpPr>
          <p:nvPr>
            <p:ph type="title"/>
          </p:nvPr>
        </p:nvSpPr>
        <p:spPr bwMode="auto">
          <a:xfrm>
            <a:off x="969963" y="76200"/>
            <a:ext cx="7793037" cy="547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3D structure recovery</a:t>
            </a:r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42402D3E-3A72-41C2-BEC2-022E1FEFF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600200"/>
            <a:ext cx="381000" cy="76200"/>
          </a:xfrm>
          <a:prstGeom prst="rect">
            <a:avLst/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35846" name="Rectangle 5">
            <a:extLst>
              <a:ext uri="{FF2B5EF4-FFF2-40B4-BE49-F238E27FC236}">
                <a16:creationId xmlns:a16="http://schemas.microsoft.com/office/drawing/2014/main" id="{E1FDF1CB-B892-40C7-9292-77F461E91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600200"/>
            <a:ext cx="381000" cy="76200"/>
          </a:xfrm>
          <a:prstGeom prst="rect">
            <a:avLst/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35847" name="Rectangle 6">
            <a:extLst>
              <a:ext uri="{FF2B5EF4-FFF2-40B4-BE49-F238E27FC236}">
                <a16:creationId xmlns:a16="http://schemas.microsoft.com/office/drawing/2014/main" id="{8D0C3EAC-BFC9-492C-B05E-1D57E60C0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600200"/>
            <a:ext cx="381000" cy="76200"/>
          </a:xfrm>
          <a:prstGeom prst="rect">
            <a:avLst/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35848" name="Text Box 7">
            <a:extLst>
              <a:ext uri="{FF2B5EF4-FFF2-40B4-BE49-F238E27FC236}">
                <a16:creationId xmlns:a16="http://schemas.microsoft.com/office/drawing/2014/main" id="{2DBF2054-6B17-433F-8935-904AE4243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768475"/>
            <a:ext cx="3903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Eliminate one of the scale’s</a:t>
            </a:r>
          </a:p>
        </p:txBody>
      </p:sp>
      <p:sp>
        <p:nvSpPr>
          <p:cNvPr id="35849" name="Text Box 8">
            <a:extLst>
              <a:ext uri="{FF2B5EF4-FFF2-40B4-BE49-F238E27FC236}">
                <a16:creationId xmlns:a16="http://schemas.microsoft.com/office/drawing/2014/main" id="{AC622170-5E1A-48C1-BEA1-A562B6B24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76600"/>
            <a:ext cx="3040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Solve  LLSE problem</a:t>
            </a:r>
          </a:p>
        </p:txBody>
      </p:sp>
      <p:pic>
        <p:nvPicPr>
          <p:cNvPr id="35850" name="Picture 9" descr="Edittex">
            <a:extLst>
              <a:ext uri="{FF2B5EF4-FFF2-40B4-BE49-F238E27FC236}">
                <a16:creationId xmlns:a16="http://schemas.microsoft.com/office/drawing/2014/main" id="{7F76097B-CBA7-43D5-BB09-2B9B4F2EA8D7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219200"/>
            <a:ext cx="350996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1" name="Picture 10" descr="Edittex">
            <a:extLst>
              <a:ext uri="{FF2B5EF4-FFF2-40B4-BE49-F238E27FC236}">
                <a16:creationId xmlns:a16="http://schemas.microsoft.com/office/drawing/2014/main" id="{A096FA1F-9227-44A3-AE29-66D10CFF95F6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362200"/>
            <a:ext cx="6705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2" name="Picture 11" descr="Edittex">
            <a:extLst>
              <a:ext uri="{FF2B5EF4-FFF2-40B4-BE49-F238E27FC236}">
                <a16:creationId xmlns:a16="http://schemas.microsoft.com/office/drawing/2014/main" id="{70834C38-FE46-4FEA-8BAE-D1F4A1D937B3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886200"/>
            <a:ext cx="5334000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3" name="Rectangle 12">
            <a:extLst>
              <a:ext uri="{FF2B5EF4-FFF2-40B4-BE49-F238E27FC236}">
                <a16:creationId xmlns:a16="http://schemas.microsoft.com/office/drawing/2014/main" id="{EFB33E4C-4D43-4227-B403-4C0A6B515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181600"/>
            <a:ext cx="8839200" cy="762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17547"/>
              </a:buClr>
              <a:buSzPct val="70000"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If the 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configuration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is non-critical, the Euclidean structure of then points and motion of the camera can be reconstructed up to a universal scale.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75" y="76200"/>
            <a:ext cx="8229600" cy="1143000"/>
          </a:xfrm>
        </p:spPr>
        <p:txBody>
          <a:bodyPr/>
          <a:lstStyle/>
          <a:p>
            <a:r>
              <a:rPr lang="en-US" dirty="0"/>
              <a:t>Moving on to stereo…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175" y="1013618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	Fuse a calibrated binocular stereo pair to produce a depth image</a:t>
            </a:r>
          </a:p>
        </p:txBody>
      </p:sp>
      <p:sp>
        <p:nvSpPr>
          <p:cNvPr id="38916" name="Text Box 10"/>
          <p:cNvSpPr txBox="1">
            <a:spLocks noChangeArrowheads="1"/>
          </p:cNvSpPr>
          <p:nvPr/>
        </p:nvSpPr>
        <p:spPr bwMode="auto">
          <a:xfrm>
            <a:off x="2432050" y="1919288"/>
            <a:ext cx="996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image 1</a:t>
            </a:r>
            <a:endParaRPr lang="en-GB" sz="2400" dirty="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8917" name="Text Box 11"/>
          <p:cNvSpPr txBox="1">
            <a:spLocks noChangeArrowheads="1"/>
          </p:cNvSpPr>
          <p:nvPr/>
        </p:nvSpPr>
        <p:spPr bwMode="auto">
          <a:xfrm>
            <a:off x="5556250" y="1919288"/>
            <a:ext cx="996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image 2</a:t>
            </a:r>
            <a:endParaRPr lang="en-GB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8918" name="Text Box 12"/>
          <p:cNvSpPr txBox="1">
            <a:spLocks noChangeArrowheads="1"/>
          </p:cNvSpPr>
          <p:nvPr/>
        </p:nvSpPr>
        <p:spPr bwMode="auto">
          <a:xfrm>
            <a:off x="3433763" y="4357688"/>
            <a:ext cx="1987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Dense depth map</a:t>
            </a:r>
            <a:endParaRPr lang="en-GB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pic>
        <p:nvPicPr>
          <p:cNvPr id="38919" name="Picture 13" descr="rect_006_007_lef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31938" y="2371725"/>
            <a:ext cx="2741612" cy="201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20" name="Picture 14" descr="rect_006_007_righ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9950" y="2344829"/>
            <a:ext cx="2749550" cy="201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21" name="Picture 15" descr="disparity_006_007_l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24200" y="4768850"/>
            <a:ext cx="2749550" cy="201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188165" y="4698208"/>
            <a:ext cx="2749550" cy="1952625"/>
          </a:xfrm>
        </p:spPr>
        <p:txBody>
          <a:bodyPr/>
          <a:lstStyle/>
          <a:p>
            <a:pPr algn="l"/>
            <a:r>
              <a:rPr lang="en-US" sz="1600" b="1" dirty="0">
                <a:solidFill>
                  <a:schemeClr val="tx1"/>
                </a:solidFill>
              </a:rPr>
              <a:t>Disparity map vs. depth map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Disparity is the horizontal displacement of a point's projections between the left and the right image for stereo vision. Whereas, depth refers to the z coordinate (usually z) of a point located in the real 3D world (x, y, z).</a:t>
            </a:r>
          </a:p>
        </p:txBody>
      </p:sp>
    </p:spTree>
    <p:extLst>
      <p:ext uri="{BB962C8B-B14F-4D97-AF65-F5344CB8AC3E}">
        <p14:creationId xmlns:p14="http://schemas.microsoft.com/office/powerpoint/2010/main" val="9372695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/>
              <a:t>Basic stereo matching algorithm</a:t>
            </a:r>
          </a:p>
        </p:txBody>
      </p:sp>
      <p:pic>
        <p:nvPicPr>
          <p:cNvPr id="46083" name="Picture 3" descr="lincoln_ful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066800"/>
            <a:ext cx="5029200" cy="289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1140" name="Line 4"/>
          <p:cNvSpPr>
            <a:spLocks noChangeShapeType="1"/>
          </p:cNvSpPr>
          <p:nvPr/>
        </p:nvSpPr>
        <p:spPr bwMode="auto">
          <a:xfrm>
            <a:off x="4572000" y="3124200"/>
            <a:ext cx="2514600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352800" y="2971800"/>
            <a:ext cx="304800" cy="304800"/>
            <a:chOff x="2112" y="1872"/>
            <a:chExt cx="192" cy="192"/>
          </a:xfrm>
        </p:grpSpPr>
        <p:sp>
          <p:nvSpPr>
            <p:cNvPr id="46096" name="Oval 6"/>
            <p:cNvSpPr>
              <a:spLocks noChangeArrowheads="1"/>
            </p:cNvSpPr>
            <p:nvPr/>
          </p:nvSpPr>
          <p:spPr bwMode="auto">
            <a:xfrm>
              <a:off x="2174" y="1941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6097" name="Rectangle 7"/>
            <p:cNvSpPr>
              <a:spLocks noChangeArrowheads="1"/>
            </p:cNvSpPr>
            <p:nvPr/>
          </p:nvSpPr>
          <p:spPr bwMode="auto">
            <a:xfrm>
              <a:off x="2112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257800" y="2971800"/>
            <a:ext cx="304800" cy="304800"/>
            <a:chOff x="3600" y="1872"/>
            <a:chExt cx="192" cy="192"/>
          </a:xfrm>
        </p:grpSpPr>
        <p:sp>
          <p:nvSpPr>
            <p:cNvPr id="46094" name="Oval 9"/>
            <p:cNvSpPr>
              <a:spLocks noChangeArrowheads="1"/>
            </p:cNvSpPr>
            <p:nvPr/>
          </p:nvSpPr>
          <p:spPr bwMode="auto">
            <a:xfrm>
              <a:off x="3675" y="1947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6095" name="Rectangle 10"/>
            <p:cNvSpPr>
              <a:spLocks noChangeArrowheads="1"/>
            </p:cNvSpPr>
            <p:nvPr/>
          </p:nvSpPr>
          <p:spPr bwMode="auto">
            <a:xfrm>
              <a:off x="3600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</p:grpSp>
      <p:sp>
        <p:nvSpPr>
          <p:cNvPr id="731147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304800" y="4114800"/>
            <a:ext cx="8686800" cy="2438400"/>
          </a:xfrm>
        </p:spPr>
        <p:txBody>
          <a:bodyPr>
            <a:normAutofit fontScale="85000" lnSpcReduction="20000"/>
          </a:bodyPr>
          <a:lstStyle/>
          <a:p>
            <a:pPr>
              <a:buFontTx/>
              <a:buChar char="•"/>
              <a:defRPr/>
            </a:pPr>
            <a:r>
              <a:rPr lang="en-US" dirty="0"/>
              <a:t>If necessary, </a:t>
            </a:r>
            <a:r>
              <a:rPr lang="en-US" dirty="0">
                <a:solidFill>
                  <a:srgbClr val="FF0000"/>
                </a:solidFill>
              </a:rPr>
              <a:t>rectify</a:t>
            </a:r>
            <a:r>
              <a:rPr lang="en-US" dirty="0"/>
              <a:t> the two stereo images to transform </a:t>
            </a:r>
            <a:r>
              <a:rPr lang="en-US" dirty="0" err="1"/>
              <a:t>epipolar</a:t>
            </a:r>
            <a:r>
              <a:rPr lang="en-US" dirty="0"/>
              <a:t> lines into </a:t>
            </a:r>
            <a:r>
              <a:rPr lang="en-US" dirty="0" err="1"/>
              <a:t>scanlines</a:t>
            </a:r>
            <a:endParaRPr lang="en-US" dirty="0"/>
          </a:p>
          <a:p>
            <a:pPr>
              <a:buFontTx/>
              <a:buChar char="•"/>
              <a:defRPr/>
            </a:pPr>
            <a:r>
              <a:rPr lang="en-US" dirty="0"/>
              <a:t>For each pixel x in the first image</a:t>
            </a:r>
          </a:p>
          <a:p>
            <a:pPr lvl="1">
              <a:defRPr/>
            </a:pPr>
            <a:r>
              <a:rPr lang="en-US" dirty="0"/>
              <a:t>Find corresponding </a:t>
            </a:r>
            <a:r>
              <a:rPr lang="en-US" dirty="0" err="1"/>
              <a:t>epipolar</a:t>
            </a:r>
            <a:r>
              <a:rPr lang="en-US" dirty="0"/>
              <a:t> </a:t>
            </a:r>
            <a:r>
              <a:rPr lang="en-US" dirty="0" err="1"/>
              <a:t>scanline</a:t>
            </a:r>
            <a:r>
              <a:rPr lang="en-US" dirty="0"/>
              <a:t> in the right image</a:t>
            </a:r>
          </a:p>
          <a:p>
            <a:pPr lvl="1">
              <a:defRPr/>
            </a:pPr>
            <a:r>
              <a:rPr lang="en-US" dirty="0"/>
              <a:t>Search the </a:t>
            </a:r>
            <a:r>
              <a:rPr lang="en-US" dirty="0" err="1"/>
              <a:t>scanline</a:t>
            </a:r>
            <a:r>
              <a:rPr lang="en-US" dirty="0"/>
              <a:t> and pick the best match x’</a:t>
            </a:r>
          </a:p>
          <a:p>
            <a:pPr lvl="1">
              <a:defRPr/>
            </a:pPr>
            <a:r>
              <a:rPr lang="en-US" dirty="0"/>
              <a:t>Compute disparity x-x’ and set depth(x) = </a:t>
            </a:r>
            <a:r>
              <a:rPr lang="en-US" dirty="0" err="1"/>
              <a:t>fB</a:t>
            </a:r>
            <a:r>
              <a:rPr lang="en-US" dirty="0"/>
              <a:t>/(x-x’)</a:t>
            </a: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4800600" y="2971800"/>
            <a:ext cx="304800" cy="304800"/>
            <a:chOff x="3600" y="1872"/>
            <a:chExt cx="192" cy="192"/>
          </a:xfrm>
        </p:grpSpPr>
        <p:sp>
          <p:nvSpPr>
            <p:cNvPr id="46092" name="Oval 13"/>
            <p:cNvSpPr>
              <a:spLocks noChangeArrowheads="1"/>
            </p:cNvSpPr>
            <p:nvPr/>
          </p:nvSpPr>
          <p:spPr bwMode="auto">
            <a:xfrm>
              <a:off x="3675" y="1947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6093" name="Rectangle 14"/>
            <p:cNvSpPr>
              <a:spLocks noChangeArrowheads="1"/>
            </p:cNvSpPr>
            <p:nvPr/>
          </p:nvSpPr>
          <p:spPr bwMode="auto">
            <a:xfrm>
              <a:off x="3600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5715000" y="2971800"/>
            <a:ext cx="304800" cy="304800"/>
            <a:chOff x="3600" y="1872"/>
            <a:chExt cx="192" cy="192"/>
          </a:xfrm>
        </p:grpSpPr>
        <p:sp>
          <p:nvSpPr>
            <p:cNvPr id="46090" name="Oval 16"/>
            <p:cNvSpPr>
              <a:spLocks noChangeArrowheads="1"/>
            </p:cNvSpPr>
            <p:nvPr/>
          </p:nvSpPr>
          <p:spPr bwMode="auto">
            <a:xfrm>
              <a:off x="3675" y="1947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6091" name="Rectangle 17"/>
            <p:cNvSpPr>
              <a:spLocks noChangeArrowheads="1"/>
            </p:cNvSpPr>
            <p:nvPr/>
          </p:nvSpPr>
          <p:spPr bwMode="auto">
            <a:xfrm>
              <a:off x="3600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030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40" grpId="0" animBg="1"/>
      <p:bldP spid="731147" grpId="0" build="p" bldLvl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Case: Parallel images</a:t>
            </a:r>
          </a:p>
        </p:txBody>
      </p:sp>
      <p:graphicFrame>
        <p:nvGraphicFramePr>
          <p:cNvPr id="12290" name="Object 34"/>
          <p:cNvGraphicFramePr>
            <a:graphicFrameLocks noGrp="1" noChangeAspect="1"/>
          </p:cNvGraphicFramePr>
          <p:nvPr>
            <p:ph sz="half" idx="1"/>
          </p:nvPr>
        </p:nvGraphicFramePr>
        <p:xfrm>
          <a:off x="4438650" y="1438275"/>
          <a:ext cx="32575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228600" progId="Equation.3">
                  <p:embed/>
                </p:oleObj>
              </mc:Choice>
              <mc:Fallback>
                <p:oleObj name="Equation" r:id="rId3" imgW="1371600" imgH="228600" progId="Equation.3">
                  <p:embed/>
                  <p:pic>
                    <p:nvPicPr>
                      <p:cNvPr id="1229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1438275"/>
                        <a:ext cx="325755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460875" y="3219450"/>
          <a:ext cx="327025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3880" imgH="698400" progId="Equation.3">
                  <p:embed/>
                </p:oleObj>
              </mc:Choice>
              <mc:Fallback>
                <p:oleObj name="Equation" r:id="rId5" imgW="1523880" imgH="698400" progId="Equation.3">
                  <p:embed/>
                  <p:pic>
                    <p:nvPicPr>
                      <p:cNvPr id="1229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3219450"/>
                        <a:ext cx="3270250" cy="149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33"/>
          <p:cNvSpPr txBox="1">
            <a:spLocks noChangeArrowheads="1"/>
          </p:cNvSpPr>
          <p:nvPr/>
        </p:nvSpPr>
        <p:spPr bwMode="auto">
          <a:xfrm>
            <a:off x="4595813" y="989013"/>
            <a:ext cx="26164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Epipolar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constraint:</a:t>
            </a:r>
          </a:p>
        </p:txBody>
      </p:sp>
      <p:graphicFrame>
        <p:nvGraphicFramePr>
          <p:cNvPr id="616484" name="Object 3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4800" y="4953000"/>
          <a:ext cx="81534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14800" imgH="711000" progId="Equation.3">
                  <p:embed/>
                </p:oleObj>
              </mc:Choice>
              <mc:Fallback>
                <p:oleObj name="Equation" r:id="rId7" imgW="4114800" imgH="711000" progId="Equation.3">
                  <p:embed/>
                  <p:pic>
                    <p:nvPicPr>
                      <p:cNvPr id="616484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953000"/>
                        <a:ext cx="8153400" cy="1409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Text Box 38"/>
          <p:cNvSpPr txBox="1">
            <a:spLocks noChangeArrowheads="1"/>
          </p:cNvSpPr>
          <p:nvPr/>
        </p:nvSpPr>
        <p:spPr bwMode="auto">
          <a:xfrm>
            <a:off x="4953000" y="2286000"/>
            <a:ext cx="279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R = I	    t</a:t>
            </a:r>
            <a:r>
              <a: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= (</a:t>
            </a:r>
            <a:r>
              <a:rPr lang="en-US" sz="2400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T</a:t>
            </a:r>
            <a:r>
              <a: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, 0, 0)</a:t>
            </a:r>
          </a:p>
        </p:txBody>
      </p:sp>
      <p:sp>
        <p:nvSpPr>
          <p:cNvPr id="616489" name="Text Box 41"/>
          <p:cNvSpPr txBox="1">
            <a:spLocks noChangeArrowheads="1"/>
          </p:cNvSpPr>
          <p:nvPr/>
        </p:nvSpPr>
        <p:spPr bwMode="auto">
          <a:xfrm>
            <a:off x="685800" y="6364288"/>
            <a:ext cx="7024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The y-coordinates of corresponding points are the same</a:t>
            </a:r>
          </a:p>
        </p:txBody>
      </p:sp>
      <p:grpSp>
        <p:nvGrpSpPr>
          <p:cNvPr id="12297" name="Group 42"/>
          <p:cNvGrpSpPr>
            <a:grpSpLocks/>
          </p:cNvGrpSpPr>
          <p:nvPr/>
        </p:nvGrpSpPr>
        <p:grpSpPr bwMode="auto">
          <a:xfrm>
            <a:off x="533400" y="1033463"/>
            <a:ext cx="3124200" cy="3690937"/>
            <a:chOff x="336" y="603"/>
            <a:chExt cx="2832" cy="3477"/>
          </a:xfrm>
        </p:grpSpPr>
        <p:sp>
          <p:nvSpPr>
            <p:cNvPr id="12302" name="Freeform 43"/>
            <p:cNvSpPr>
              <a:spLocks/>
            </p:cNvSpPr>
            <p:nvPr/>
          </p:nvSpPr>
          <p:spPr bwMode="auto">
            <a:xfrm>
              <a:off x="2193" y="603"/>
              <a:ext cx="769" cy="529"/>
            </a:xfrm>
            <a:custGeom>
              <a:avLst/>
              <a:gdLst>
                <a:gd name="T0" fmla="*/ 42 w 865"/>
                <a:gd name="T1" fmla="*/ 0 h 529"/>
                <a:gd name="T2" fmla="*/ 36 w 865"/>
                <a:gd name="T3" fmla="*/ 24 h 529"/>
                <a:gd name="T4" fmla="*/ 36 w 865"/>
                <a:gd name="T5" fmla="*/ 48 h 529"/>
                <a:gd name="T6" fmla="*/ 24 w 865"/>
                <a:gd name="T7" fmla="*/ 72 h 529"/>
                <a:gd name="T8" fmla="*/ 18 w 865"/>
                <a:gd name="T9" fmla="*/ 96 h 529"/>
                <a:gd name="T10" fmla="*/ 18 w 865"/>
                <a:gd name="T11" fmla="*/ 120 h 529"/>
                <a:gd name="T12" fmla="*/ 18 w 865"/>
                <a:gd name="T13" fmla="*/ 144 h 529"/>
                <a:gd name="T14" fmla="*/ 12 w 865"/>
                <a:gd name="T15" fmla="*/ 168 h 529"/>
                <a:gd name="T16" fmla="*/ 6 w 865"/>
                <a:gd name="T17" fmla="*/ 192 h 529"/>
                <a:gd name="T18" fmla="*/ 0 w 865"/>
                <a:gd name="T19" fmla="*/ 216 h 529"/>
                <a:gd name="T20" fmla="*/ 0 w 865"/>
                <a:gd name="T21" fmla="*/ 240 h 529"/>
                <a:gd name="T22" fmla="*/ 0 w 865"/>
                <a:gd name="T23" fmla="*/ 264 h 529"/>
                <a:gd name="T24" fmla="*/ 6 w 865"/>
                <a:gd name="T25" fmla="*/ 288 h 529"/>
                <a:gd name="T26" fmla="*/ 6 w 865"/>
                <a:gd name="T27" fmla="*/ 312 h 529"/>
                <a:gd name="T28" fmla="*/ 12 w 865"/>
                <a:gd name="T29" fmla="*/ 336 h 529"/>
                <a:gd name="T30" fmla="*/ 12 w 865"/>
                <a:gd name="T31" fmla="*/ 360 h 529"/>
                <a:gd name="T32" fmla="*/ 18 w 865"/>
                <a:gd name="T33" fmla="*/ 384 h 529"/>
                <a:gd name="T34" fmla="*/ 18 w 865"/>
                <a:gd name="T35" fmla="*/ 408 h 529"/>
                <a:gd name="T36" fmla="*/ 24 w 865"/>
                <a:gd name="T37" fmla="*/ 432 h 529"/>
                <a:gd name="T38" fmla="*/ 29 w 865"/>
                <a:gd name="T39" fmla="*/ 456 h 529"/>
                <a:gd name="T40" fmla="*/ 421 w 865"/>
                <a:gd name="T41" fmla="*/ 528 h 529"/>
                <a:gd name="T42" fmla="*/ 397 w 865"/>
                <a:gd name="T43" fmla="*/ 480 h 529"/>
                <a:gd name="T44" fmla="*/ 391 w 865"/>
                <a:gd name="T45" fmla="*/ 456 h 529"/>
                <a:gd name="T46" fmla="*/ 385 w 865"/>
                <a:gd name="T47" fmla="*/ 420 h 529"/>
                <a:gd name="T48" fmla="*/ 380 w 865"/>
                <a:gd name="T49" fmla="*/ 396 h 529"/>
                <a:gd name="T50" fmla="*/ 373 w 865"/>
                <a:gd name="T51" fmla="*/ 372 h 529"/>
                <a:gd name="T52" fmla="*/ 367 w 865"/>
                <a:gd name="T53" fmla="*/ 348 h 529"/>
                <a:gd name="T54" fmla="*/ 367 w 865"/>
                <a:gd name="T55" fmla="*/ 324 h 529"/>
                <a:gd name="T56" fmla="*/ 367 w 865"/>
                <a:gd name="T57" fmla="*/ 288 h 529"/>
                <a:gd name="T58" fmla="*/ 367 w 865"/>
                <a:gd name="T59" fmla="*/ 264 h 529"/>
                <a:gd name="T60" fmla="*/ 367 w 865"/>
                <a:gd name="T61" fmla="*/ 240 h 529"/>
                <a:gd name="T62" fmla="*/ 380 w 865"/>
                <a:gd name="T63" fmla="*/ 216 h 529"/>
                <a:gd name="T64" fmla="*/ 380 w 865"/>
                <a:gd name="T65" fmla="*/ 192 h 529"/>
                <a:gd name="T66" fmla="*/ 385 w 865"/>
                <a:gd name="T67" fmla="*/ 168 h 529"/>
                <a:gd name="T68" fmla="*/ 397 w 865"/>
                <a:gd name="T69" fmla="*/ 156 h 529"/>
                <a:gd name="T70" fmla="*/ 397 w 865"/>
                <a:gd name="T71" fmla="*/ 132 h 529"/>
                <a:gd name="T72" fmla="*/ 409 w 865"/>
                <a:gd name="T73" fmla="*/ 108 h 529"/>
                <a:gd name="T74" fmla="*/ 421 w 865"/>
                <a:gd name="T75" fmla="*/ 96 h 529"/>
                <a:gd name="T76" fmla="*/ 427 w 865"/>
                <a:gd name="T77" fmla="*/ 72 h 529"/>
                <a:gd name="T78" fmla="*/ 42 w 865"/>
                <a:gd name="T79" fmla="*/ 0 h 52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65"/>
                <a:gd name="T121" fmla="*/ 0 h 529"/>
                <a:gd name="T122" fmla="*/ 865 w 865"/>
                <a:gd name="T123" fmla="*/ 529 h 52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65" h="529">
                  <a:moveTo>
                    <a:pt x="84" y="0"/>
                  </a:moveTo>
                  <a:lnTo>
                    <a:pt x="72" y="24"/>
                  </a:lnTo>
                  <a:lnTo>
                    <a:pt x="72" y="48"/>
                  </a:lnTo>
                  <a:lnTo>
                    <a:pt x="48" y="72"/>
                  </a:lnTo>
                  <a:lnTo>
                    <a:pt x="36" y="96"/>
                  </a:lnTo>
                  <a:lnTo>
                    <a:pt x="36" y="120"/>
                  </a:lnTo>
                  <a:lnTo>
                    <a:pt x="36" y="144"/>
                  </a:lnTo>
                  <a:lnTo>
                    <a:pt x="24" y="168"/>
                  </a:lnTo>
                  <a:lnTo>
                    <a:pt x="12" y="192"/>
                  </a:lnTo>
                  <a:lnTo>
                    <a:pt x="0" y="216"/>
                  </a:lnTo>
                  <a:lnTo>
                    <a:pt x="0" y="240"/>
                  </a:lnTo>
                  <a:lnTo>
                    <a:pt x="0" y="264"/>
                  </a:lnTo>
                  <a:lnTo>
                    <a:pt x="12" y="288"/>
                  </a:lnTo>
                  <a:lnTo>
                    <a:pt x="12" y="312"/>
                  </a:lnTo>
                  <a:lnTo>
                    <a:pt x="24" y="336"/>
                  </a:lnTo>
                  <a:lnTo>
                    <a:pt x="24" y="360"/>
                  </a:lnTo>
                  <a:lnTo>
                    <a:pt x="36" y="384"/>
                  </a:lnTo>
                  <a:lnTo>
                    <a:pt x="36" y="408"/>
                  </a:lnTo>
                  <a:lnTo>
                    <a:pt x="48" y="432"/>
                  </a:lnTo>
                  <a:lnTo>
                    <a:pt x="60" y="456"/>
                  </a:lnTo>
                  <a:lnTo>
                    <a:pt x="852" y="528"/>
                  </a:lnTo>
                  <a:lnTo>
                    <a:pt x="804" y="480"/>
                  </a:lnTo>
                  <a:lnTo>
                    <a:pt x="792" y="456"/>
                  </a:lnTo>
                  <a:lnTo>
                    <a:pt x="780" y="420"/>
                  </a:lnTo>
                  <a:lnTo>
                    <a:pt x="768" y="396"/>
                  </a:lnTo>
                  <a:lnTo>
                    <a:pt x="756" y="372"/>
                  </a:lnTo>
                  <a:lnTo>
                    <a:pt x="744" y="348"/>
                  </a:lnTo>
                  <a:lnTo>
                    <a:pt x="744" y="324"/>
                  </a:lnTo>
                  <a:lnTo>
                    <a:pt x="744" y="288"/>
                  </a:lnTo>
                  <a:lnTo>
                    <a:pt x="744" y="264"/>
                  </a:lnTo>
                  <a:lnTo>
                    <a:pt x="744" y="240"/>
                  </a:lnTo>
                  <a:lnTo>
                    <a:pt x="768" y="216"/>
                  </a:lnTo>
                  <a:lnTo>
                    <a:pt x="768" y="192"/>
                  </a:lnTo>
                  <a:lnTo>
                    <a:pt x="780" y="168"/>
                  </a:lnTo>
                  <a:lnTo>
                    <a:pt x="804" y="156"/>
                  </a:lnTo>
                  <a:lnTo>
                    <a:pt x="804" y="132"/>
                  </a:lnTo>
                  <a:lnTo>
                    <a:pt x="828" y="108"/>
                  </a:lnTo>
                  <a:lnTo>
                    <a:pt x="852" y="96"/>
                  </a:lnTo>
                  <a:lnTo>
                    <a:pt x="864" y="72"/>
                  </a:lnTo>
                  <a:lnTo>
                    <a:pt x="84" y="0"/>
                  </a:lnTo>
                </a:path>
              </a:pathLst>
            </a:custGeom>
            <a:gradFill rotWithShape="0">
              <a:gsLst>
                <a:gs pos="0">
                  <a:srgbClr val="012501"/>
                </a:gs>
                <a:gs pos="100000">
                  <a:srgbClr val="037C03"/>
                </a:gs>
              </a:gsLst>
              <a:lin ang="18900000" scaled="1"/>
            </a:gra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03" name="Line 44"/>
            <p:cNvSpPr>
              <a:spLocks noChangeShapeType="1"/>
            </p:cNvSpPr>
            <p:nvPr/>
          </p:nvSpPr>
          <p:spPr bwMode="auto">
            <a:xfrm>
              <a:off x="561" y="2715"/>
              <a:ext cx="2048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04" name="Freeform 45"/>
            <p:cNvSpPr>
              <a:spLocks/>
            </p:cNvSpPr>
            <p:nvPr/>
          </p:nvSpPr>
          <p:spPr bwMode="auto">
            <a:xfrm>
              <a:off x="966" y="768"/>
              <a:ext cx="1557" cy="1551"/>
            </a:xfrm>
            <a:custGeom>
              <a:avLst/>
              <a:gdLst>
                <a:gd name="T0" fmla="*/ 0 w 1557"/>
                <a:gd name="T1" fmla="*/ 1551 h 1551"/>
                <a:gd name="T2" fmla="*/ 1557 w 1557"/>
                <a:gd name="T3" fmla="*/ 0 h 1551"/>
                <a:gd name="T4" fmla="*/ 0 60000 65536"/>
                <a:gd name="T5" fmla="*/ 0 60000 65536"/>
                <a:gd name="T6" fmla="*/ 0 w 1557"/>
                <a:gd name="T7" fmla="*/ 0 h 1551"/>
                <a:gd name="T8" fmla="*/ 1557 w 1557"/>
                <a:gd name="T9" fmla="*/ 1551 h 15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57" h="1551">
                  <a:moveTo>
                    <a:pt x="0" y="1551"/>
                  </a:moveTo>
                  <a:lnTo>
                    <a:pt x="1557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05" name="Freeform 46"/>
            <p:cNvSpPr>
              <a:spLocks/>
            </p:cNvSpPr>
            <p:nvPr/>
          </p:nvSpPr>
          <p:spPr bwMode="auto">
            <a:xfrm>
              <a:off x="433" y="1569"/>
              <a:ext cx="769" cy="1261"/>
            </a:xfrm>
            <a:custGeom>
              <a:avLst/>
              <a:gdLst>
                <a:gd name="T0" fmla="*/ 0 w 865"/>
                <a:gd name="T1" fmla="*/ 828 h 1261"/>
                <a:gd name="T2" fmla="*/ 427 w 865"/>
                <a:gd name="T3" fmla="*/ 1260 h 1261"/>
                <a:gd name="T4" fmla="*/ 427 w 865"/>
                <a:gd name="T5" fmla="*/ 414 h 1261"/>
                <a:gd name="T6" fmla="*/ 0 w 865"/>
                <a:gd name="T7" fmla="*/ 0 h 1261"/>
                <a:gd name="T8" fmla="*/ 0 w 865"/>
                <a:gd name="T9" fmla="*/ 828 h 12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5"/>
                <a:gd name="T16" fmla="*/ 0 h 1261"/>
                <a:gd name="T17" fmla="*/ 865 w 865"/>
                <a:gd name="T18" fmla="*/ 1261 h 12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5" h="1261">
                  <a:moveTo>
                    <a:pt x="0" y="828"/>
                  </a:moveTo>
                  <a:lnTo>
                    <a:pt x="864" y="1260"/>
                  </a:lnTo>
                  <a:lnTo>
                    <a:pt x="864" y="414"/>
                  </a:lnTo>
                  <a:lnTo>
                    <a:pt x="0" y="0"/>
                  </a:lnTo>
                  <a:lnTo>
                    <a:pt x="0" y="828"/>
                  </a:lnTo>
                </a:path>
              </a:pathLst>
            </a:custGeom>
            <a:solidFill>
              <a:srgbClr val="FEBF02"/>
            </a:solidFill>
            <a:ln w="127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06" name="Freeform 47"/>
            <p:cNvSpPr>
              <a:spLocks/>
            </p:cNvSpPr>
            <p:nvPr/>
          </p:nvSpPr>
          <p:spPr bwMode="auto">
            <a:xfrm>
              <a:off x="2514" y="768"/>
              <a:ext cx="74" cy="2463"/>
            </a:xfrm>
            <a:custGeom>
              <a:avLst/>
              <a:gdLst>
                <a:gd name="T0" fmla="*/ 74 w 74"/>
                <a:gd name="T1" fmla="*/ 2463 h 2463"/>
                <a:gd name="T2" fmla="*/ 0 w 74"/>
                <a:gd name="T3" fmla="*/ 0 h 2463"/>
                <a:gd name="T4" fmla="*/ 0 60000 65536"/>
                <a:gd name="T5" fmla="*/ 0 60000 65536"/>
                <a:gd name="T6" fmla="*/ 0 w 74"/>
                <a:gd name="T7" fmla="*/ 0 h 2463"/>
                <a:gd name="T8" fmla="*/ 74 w 74"/>
                <a:gd name="T9" fmla="*/ 2463 h 24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4" h="2463">
                  <a:moveTo>
                    <a:pt x="74" y="246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07" name="Freeform 48"/>
            <p:cNvSpPr>
              <a:spLocks/>
            </p:cNvSpPr>
            <p:nvPr/>
          </p:nvSpPr>
          <p:spPr bwMode="auto">
            <a:xfrm>
              <a:off x="2396" y="2651"/>
              <a:ext cx="769" cy="1261"/>
            </a:xfrm>
            <a:custGeom>
              <a:avLst/>
              <a:gdLst>
                <a:gd name="T0" fmla="*/ 0 w 865"/>
                <a:gd name="T1" fmla="*/ 828 h 1261"/>
                <a:gd name="T2" fmla="*/ 427 w 865"/>
                <a:gd name="T3" fmla="*/ 1260 h 1261"/>
                <a:gd name="T4" fmla="*/ 427 w 865"/>
                <a:gd name="T5" fmla="*/ 414 h 1261"/>
                <a:gd name="T6" fmla="*/ 0 w 865"/>
                <a:gd name="T7" fmla="*/ 0 h 1261"/>
                <a:gd name="T8" fmla="*/ 0 w 865"/>
                <a:gd name="T9" fmla="*/ 828 h 12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5"/>
                <a:gd name="T16" fmla="*/ 0 h 1261"/>
                <a:gd name="T17" fmla="*/ 865 w 865"/>
                <a:gd name="T18" fmla="*/ 1261 h 12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5" h="1261">
                  <a:moveTo>
                    <a:pt x="0" y="828"/>
                  </a:moveTo>
                  <a:lnTo>
                    <a:pt x="864" y="1260"/>
                  </a:lnTo>
                  <a:lnTo>
                    <a:pt x="864" y="414"/>
                  </a:lnTo>
                  <a:lnTo>
                    <a:pt x="0" y="0"/>
                  </a:lnTo>
                  <a:lnTo>
                    <a:pt x="0" y="828"/>
                  </a:lnTo>
                </a:path>
              </a:pathLst>
            </a:custGeom>
            <a:solidFill>
              <a:srgbClr val="FEBF02"/>
            </a:solidFill>
            <a:ln w="127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08" name="Line 49"/>
            <p:cNvSpPr>
              <a:spLocks noChangeShapeType="1"/>
            </p:cNvSpPr>
            <p:nvPr/>
          </p:nvSpPr>
          <p:spPr bwMode="auto">
            <a:xfrm flipV="1">
              <a:off x="561" y="2319"/>
              <a:ext cx="405" cy="3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09" name="Line 50"/>
            <p:cNvSpPr>
              <a:spLocks noChangeShapeType="1"/>
            </p:cNvSpPr>
            <p:nvPr/>
          </p:nvSpPr>
          <p:spPr bwMode="auto">
            <a:xfrm flipH="1" flipV="1">
              <a:off x="2588" y="3231"/>
              <a:ext cx="21" cy="6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10" name="Freeform 51"/>
            <p:cNvSpPr>
              <a:spLocks/>
            </p:cNvSpPr>
            <p:nvPr/>
          </p:nvSpPr>
          <p:spPr bwMode="auto">
            <a:xfrm>
              <a:off x="336" y="2684"/>
              <a:ext cx="248" cy="244"/>
            </a:xfrm>
            <a:custGeom>
              <a:avLst/>
              <a:gdLst>
                <a:gd name="T0" fmla="*/ 0 w 279"/>
                <a:gd name="T1" fmla="*/ 243 h 244"/>
                <a:gd name="T2" fmla="*/ 73 w 279"/>
                <a:gd name="T3" fmla="*/ 1 h 244"/>
                <a:gd name="T4" fmla="*/ 79 w 279"/>
                <a:gd name="T5" fmla="*/ 0 h 244"/>
                <a:gd name="T6" fmla="*/ 82 w 279"/>
                <a:gd name="T7" fmla="*/ 3 h 244"/>
                <a:gd name="T8" fmla="*/ 82 w 279"/>
                <a:gd name="T9" fmla="*/ 6 h 244"/>
                <a:gd name="T10" fmla="*/ 85 w 279"/>
                <a:gd name="T11" fmla="*/ 5 h 244"/>
                <a:gd name="T12" fmla="*/ 87 w 279"/>
                <a:gd name="T13" fmla="*/ 9 h 244"/>
                <a:gd name="T14" fmla="*/ 90 w 279"/>
                <a:gd name="T15" fmla="*/ 7 h 244"/>
                <a:gd name="T16" fmla="*/ 92 w 279"/>
                <a:gd name="T17" fmla="*/ 12 h 244"/>
                <a:gd name="T18" fmla="*/ 93 w 279"/>
                <a:gd name="T19" fmla="*/ 13 h 244"/>
                <a:gd name="T20" fmla="*/ 97 w 279"/>
                <a:gd name="T21" fmla="*/ 14 h 244"/>
                <a:gd name="T22" fmla="*/ 99 w 279"/>
                <a:gd name="T23" fmla="*/ 15 h 244"/>
                <a:gd name="T24" fmla="*/ 101 w 279"/>
                <a:gd name="T25" fmla="*/ 19 h 244"/>
                <a:gd name="T26" fmla="*/ 104 w 279"/>
                <a:gd name="T27" fmla="*/ 20 h 244"/>
                <a:gd name="T28" fmla="*/ 106 w 279"/>
                <a:gd name="T29" fmla="*/ 23 h 244"/>
                <a:gd name="T30" fmla="*/ 110 w 279"/>
                <a:gd name="T31" fmla="*/ 25 h 244"/>
                <a:gd name="T32" fmla="*/ 111 w 279"/>
                <a:gd name="T33" fmla="*/ 29 h 244"/>
                <a:gd name="T34" fmla="*/ 113 w 279"/>
                <a:gd name="T35" fmla="*/ 32 h 244"/>
                <a:gd name="T36" fmla="*/ 114 w 279"/>
                <a:gd name="T37" fmla="*/ 36 h 244"/>
                <a:gd name="T38" fmla="*/ 116 w 279"/>
                <a:gd name="T39" fmla="*/ 39 h 244"/>
                <a:gd name="T40" fmla="*/ 117 w 279"/>
                <a:gd name="T41" fmla="*/ 45 h 244"/>
                <a:gd name="T42" fmla="*/ 119 w 279"/>
                <a:gd name="T43" fmla="*/ 46 h 244"/>
                <a:gd name="T44" fmla="*/ 123 w 279"/>
                <a:gd name="T45" fmla="*/ 55 h 244"/>
                <a:gd name="T46" fmla="*/ 123 w 279"/>
                <a:gd name="T47" fmla="*/ 58 h 244"/>
                <a:gd name="T48" fmla="*/ 126 w 279"/>
                <a:gd name="T49" fmla="*/ 63 h 244"/>
                <a:gd name="T50" fmla="*/ 126 w 279"/>
                <a:gd name="T51" fmla="*/ 67 h 244"/>
                <a:gd name="T52" fmla="*/ 129 w 279"/>
                <a:gd name="T53" fmla="*/ 71 h 244"/>
                <a:gd name="T54" fmla="*/ 129 w 279"/>
                <a:gd name="T55" fmla="*/ 75 h 244"/>
                <a:gd name="T56" fmla="*/ 131 w 279"/>
                <a:gd name="T57" fmla="*/ 81 h 244"/>
                <a:gd name="T58" fmla="*/ 131 w 279"/>
                <a:gd name="T59" fmla="*/ 86 h 244"/>
                <a:gd name="T60" fmla="*/ 132 w 279"/>
                <a:gd name="T61" fmla="*/ 90 h 244"/>
                <a:gd name="T62" fmla="*/ 132 w 279"/>
                <a:gd name="T63" fmla="*/ 95 h 244"/>
                <a:gd name="T64" fmla="*/ 132 w 279"/>
                <a:gd name="T65" fmla="*/ 99 h 244"/>
                <a:gd name="T66" fmla="*/ 132 w 279"/>
                <a:gd name="T67" fmla="*/ 103 h 244"/>
                <a:gd name="T68" fmla="*/ 132 w 279"/>
                <a:gd name="T69" fmla="*/ 109 h 244"/>
                <a:gd name="T70" fmla="*/ 132 w 279"/>
                <a:gd name="T71" fmla="*/ 113 h 244"/>
                <a:gd name="T72" fmla="*/ 135 w 279"/>
                <a:gd name="T73" fmla="*/ 119 h 244"/>
                <a:gd name="T74" fmla="*/ 136 w 279"/>
                <a:gd name="T75" fmla="*/ 124 h 244"/>
                <a:gd name="T76" fmla="*/ 136 w 279"/>
                <a:gd name="T77" fmla="*/ 128 h 244"/>
                <a:gd name="T78" fmla="*/ 136 w 279"/>
                <a:gd name="T79" fmla="*/ 134 h 244"/>
                <a:gd name="T80" fmla="*/ 137 w 279"/>
                <a:gd name="T81" fmla="*/ 138 h 244"/>
                <a:gd name="T82" fmla="*/ 137 w 279"/>
                <a:gd name="T83" fmla="*/ 143 h 244"/>
                <a:gd name="T84" fmla="*/ 137 w 279"/>
                <a:gd name="T85" fmla="*/ 147 h 244"/>
                <a:gd name="T86" fmla="*/ 136 w 279"/>
                <a:gd name="T87" fmla="*/ 153 h 244"/>
                <a:gd name="T88" fmla="*/ 136 w 279"/>
                <a:gd name="T89" fmla="*/ 156 h 244"/>
                <a:gd name="T90" fmla="*/ 137 w 279"/>
                <a:gd name="T91" fmla="*/ 162 h 244"/>
                <a:gd name="T92" fmla="*/ 138 w 279"/>
                <a:gd name="T93" fmla="*/ 167 h 244"/>
                <a:gd name="T94" fmla="*/ 136 w 279"/>
                <a:gd name="T95" fmla="*/ 172 h 244"/>
                <a:gd name="T96" fmla="*/ 133 w 279"/>
                <a:gd name="T97" fmla="*/ 181 h 244"/>
                <a:gd name="T98" fmla="*/ 0 w 279"/>
                <a:gd name="T99" fmla="*/ 243 h 24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79"/>
                <a:gd name="T151" fmla="*/ 0 h 244"/>
                <a:gd name="T152" fmla="*/ 279 w 279"/>
                <a:gd name="T153" fmla="*/ 244 h 24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79" h="244">
                  <a:moveTo>
                    <a:pt x="0" y="243"/>
                  </a:moveTo>
                  <a:lnTo>
                    <a:pt x="148" y="1"/>
                  </a:lnTo>
                  <a:lnTo>
                    <a:pt x="160" y="0"/>
                  </a:lnTo>
                  <a:lnTo>
                    <a:pt x="167" y="3"/>
                  </a:lnTo>
                  <a:lnTo>
                    <a:pt x="168" y="6"/>
                  </a:lnTo>
                  <a:lnTo>
                    <a:pt x="173" y="5"/>
                  </a:lnTo>
                  <a:lnTo>
                    <a:pt x="177" y="9"/>
                  </a:lnTo>
                  <a:lnTo>
                    <a:pt x="182" y="7"/>
                  </a:lnTo>
                  <a:lnTo>
                    <a:pt x="184" y="12"/>
                  </a:lnTo>
                  <a:lnTo>
                    <a:pt x="190" y="13"/>
                  </a:lnTo>
                  <a:lnTo>
                    <a:pt x="196" y="14"/>
                  </a:lnTo>
                  <a:lnTo>
                    <a:pt x="201" y="15"/>
                  </a:lnTo>
                  <a:lnTo>
                    <a:pt x="205" y="19"/>
                  </a:lnTo>
                  <a:lnTo>
                    <a:pt x="210" y="20"/>
                  </a:lnTo>
                  <a:lnTo>
                    <a:pt x="215" y="23"/>
                  </a:lnTo>
                  <a:lnTo>
                    <a:pt x="222" y="25"/>
                  </a:lnTo>
                  <a:lnTo>
                    <a:pt x="226" y="29"/>
                  </a:lnTo>
                  <a:lnTo>
                    <a:pt x="229" y="32"/>
                  </a:lnTo>
                  <a:lnTo>
                    <a:pt x="231" y="36"/>
                  </a:lnTo>
                  <a:lnTo>
                    <a:pt x="235" y="39"/>
                  </a:lnTo>
                  <a:lnTo>
                    <a:pt x="238" y="45"/>
                  </a:lnTo>
                  <a:lnTo>
                    <a:pt x="242" y="46"/>
                  </a:lnTo>
                  <a:lnTo>
                    <a:pt x="248" y="55"/>
                  </a:lnTo>
                  <a:lnTo>
                    <a:pt x="249" y="58"/>
                  </a:lnTo>
                  <a:lnTo>
                    <a:pt x="255" y="63"/>
                  </a:lnTo>
                  <a:lnTo>
                    <a:pt x="256" y="67"/>
                  </a:lnTo>
                  <a:lnTo>
                    <a:pt x="261" y="71"/>
                  </a:lnTo>
                  <a:lnTo>
                    <a:pt x="261" y="75"/>
                  </a:lnTo>
                  <a:lnTo>
                    <a:pt x="264" y="81"/>
                  </a:lnTo>
                  <a:lnTo>
                    <a:pt x="264" y="86"/>
                  </a:lnTo>
                  <a:lnTo>
                    <a:pt x="266" y="90"/>
                  </a:lnTo>
                  <a:lnTo>
                    <a:pt x="266" y="95"/>
                  </a:lnTo>
                  <a:lnTo>
                    <a:pt x="268" y="99"/>
                  </a:lnTo>
                  <a:lnTo>
                    <a:pt x="267" y="103"/>
                  </a:lnTo>
                  <a:lnTo>
                    <a:pt x="268" y="109"/>
                  </a:lnTo>
                  <a:lnTo>
                    <a:pt x="269" y="113"/>
                  </a:lnTo>
                  <a:lnTo>
                    <a:pt x="273" y="119"/>
                  </a:lnTo>
                  <a:lnTo>
                    <a:pt x="274" y="124"/>
                  </a:lnTo>
                  <a:lnTo>
                    <a:pt x="275" y="128"/>
                  </a:lnTo>
                  <a:lnTo>
                    <a:pt x="276" y="134"/>
                  </a:lnTo>
                  <a:lnTo>
                    <a:pt x="277" y="138"/>
                  </a:lnTo>
                  <a:lnTo>
                    <a:pt x="277" y="143"/>
                  </a:lnTo>
                  <a:lnTo>
                    <a:pt x="277" y="147"/>
                  </a:lnTo>
                  <a:lnTo>
                    <a:pt x="274" y="153"/>
                  </a:lnTo>
                  <a:lnTo>
                    <a:pt x="276" y="156"/>
                  </a:lnTo>
                  <a:lnTo>
                    <a:pt x="277" y="162"/>
                  </a:lnTo>
                  <a:lnTo>
                    <a:pt x="278" y="167"/>
                  </a:lnTo>
                  <a:lnTo>
                    <a:pt x="275" y="172"/>
                  </a:lnTo>
                  <a:lnTo>
                    <a:pt x="271" y="181"/>
                  </a:lnTo>
                  <a:lnTo>
                    <a:pt x="0" y="243"/>
                  </a:lnTo>
                </a:path>
              </a:pathLst>
            </a:custGeom>
            <a:noFill/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11" name="Arc 52"/>
            <p:cNvSpPr>
              <a:spLocks/>
            </p:cNvSpPr>
            <p:nvPr/>
          </p:nvSpPr>
          <p:spPr bwMode="auto">
            <a:xfrm rot="720000">
              <a:off x="462" y="2694"/>
              <a:ext cx="133" cy="149"/>
            </a:xfrm>
            <a:custGeom>
              <a:avLst/>
              <a:gdLst>
                <a:gd name="T0" fmla="*/ 0 w 21745"/>
                <a:gd name="T1" fmla="*/ 0 h 21600"/>
                <a:gd name="T2" fmla="*/ 0 w 21745"/>
                <a:gd name="T3" fmla="*/ 0 h 21600"/>
                <a:gd name="T4" fmla="*/ 0 w 2174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45"/>
                <a:gd name="T10" fmla="*/ 0 h 21600"/>
                <a:gd name="T11" fmla="*/ 21745 w 2174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45" h="21600" fill="none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</a:path>
                <a:path w="21745" h="21600" stroke="0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  <a:lnTo>
                    <a:pt x="145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12" name="Line 53"/>
            <p:cNvSpPr>
              <a:spLocks noChangeShapeType="1"/>
            </p:cNvSpPr>
            <p:nvPr/>
          </p:nvSpPr>
          <p:spPr bwMode="auto">
            <a:xfrm flipH="1">
              <a:off x="336" y="2580"/>
              <a:ext cx="191" cy="3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13" name="Oval 54"/>
            <p:cNvSpPr>
              <a:spLocks noChangeArrowheads="1"/>
            </p:cNvSpPr>
            <p:nvPr/>
          </p:nvSpPr>
          <p:spPr bwMode="auto">
            <a:xfrm rot="-1860000">
              <a:off x="511" y="2697"/>
              <a:ext cx="63" cy="1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14" name="Line 55"/>
            <p:cNvSpPr>
              <a:spLocks noChangeShapeType="1"/>
            </p:cNvSpPr>
            <p:nvPr/>
          </p:nvSpPr>
          <p:spPr bwMode="auto">
            <a:xfrm flipV="1">
              <a:off x="336" y="2836"/>
              <a:ext cx="350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15" name="Freeform 56"/>
            <p:cNvSpPr>
              <a:spLocks/>
            </p:cNvSpPr>
            <p:nvPr/>
          </p:nvSpPr>
          <p:spPr bwMode="auto">
            <a:xfrm>
              <a:off x="2384" y="3836"/>
              <a:ext cx="248" cy="244"/>
            </a:xfrm>
            <a:custGeom>
              <a:avLst/>
              <a:gdLst>
                <a:gd name="T0" fmla="*/ 0 w 279"/>
                <a:gd name="T1" fmla="*/ 243 h 244"/>
                <a:gd name="T2" fmla="*/ 73 w 279"/>
                <a:gd name="T3" fmla="*/ 1 h 244"/>
                <a:gd name="T4" fmla="*/ 79 w 279"/>
                <a:gd name="T5" fmla="*/ 0 h 244"/>
                <a:gd name="T6" fmla="*/ 82 w 279"/>
                <a:gd name="T7" fmla="*/ 3 h 244"/>
                <a:gd name="T8" fmla="*/ 82 w 279"/>
                <a:gd name="T9" fmla="*/ 6 h 244"/>
                <a:gd name="T10" fmla="*/ 85 w 279"/>
                <a:gd name="T11" fmla="*/ 5 h 244"/>
                <a:gd name="T12" fmla="*/ 87 w 279"/>
                <a:gd name="T13" fmla="*/ 9 h 244"/>
                <a:gd name="T14" fmla="*/ 90 w 279"/>
                <a:gd name="T15" fmla="*/ 7 h 244"/>
                <a:gd name="T16" fmla="*/ 92 w 279"/>
                <a:gd name="T17" fmla="*/ 12 h 244"/>
                <a:gd name="T18" fmla="*/ 93 w 279"/>
                <a:gd name="T19" fmla="*/ 13 h 244"/>
                <a:gd name="T20" fmla="*/ 97 w 279"/>
                <a:gd name="T21" fmla="*/ 14 h 244"/>
                <a:gd name="T22" fmla="*/ 99 w 279"/>
                <a:gd name="T23" fmla="*/ 15 h 244"/>
                <a:gd name="T24" fmla="*/ 101 w 279"/>
                <a:gd name="T25" fmla="*/ 19 h 244"/>
                <a:gd name="T26" fmla="*/ 104 w 279"/>
                <a:gd name="T27" fmla="*/ 20 h 244"/>
                <a:gd name="T28" fmla="*/ 106 w 279"/>
                <a:gd name="T29" fmla="*/ 23 h 244"/>
                <a:gd name="T30" fmla="*/ 110 w 279"/>
                <a:gd name="T31" fmla="*/ 25 h 244"/>
                <a:gd name="T32" fmla="*/ 111 w 279"/>
                <a:gd name="T33" fmla="*/ 29 h 244"/>
                <a:gd name="T34" fmla="*/ 113 w 279"/>
                <a:gd name="T35" fmla="*/ 32 h 244"/>
                <a:gd name="T36" fmla="*/ 114 w 279"/>
                <a:gd name="T37" fmla="*/ 36 h 244"/>
                <a:gd name="T38" fmla="*/ 116 w 279"/>
                <a:gd name="T39" fmla="*/ 39 h 244"/>
                <a:gd name="T40" fmla="*/ 117 w 279"/>
                <a:gd name="T41" fmla="*/ 45 h 244"/>
                <a:gd name="T42" fmla="*/ 119 w 279"/>
                <a:gd name="T43" fmla="*/ 46 h 244"/>
                <a:gd name="T44" fmla="*/ 123 w 279"/>
                <a:gd name="T45" fmla="*/ 55 h 244"/>
                <a:gd name="T46" fmla="*/ 123 w 279"/>
                <a:gd name="T47" fmla="*/ 58 h 244"/>
                <a:gd name="T48" fmla="*/ 126 w 279"/>
                <a:gd name="T49" fmla="*/ 63 h 244"/>
                <a:gd name="T50" fmla="*/ 126 w 279"/>
                <a:gd name="T51" fmla="*/ 67 h 244"/>
                <a:gd name="T52" fmla="*/ 129 w 279"/>
                <a:gd name="T53" fmla="*/ 71 h 244"/>
                <a:gd name="T54" fmla="*/ 129 w 279"/>
                <a:gd name="T55" fmla="*/ 75 h 244"/>
                <a:gd name="T56" fmla="*/ 131 w 279"/>
                <a:gd name="T57" fmla="*/ 81 h 244"/>
                <a:gd name="T58" fmla="*/ 131 w 279"/>
                <a:gd name="T59" fmla="*/ 86 h 244"/>
                <a:gd name="T60" fmla="*/ 132 w 279"/>
                <a:gd name="T61" fmla="*/ 90 h 244"/>
                <a:gd name="T62" fmla="*/ 132 w 279"/>
                <a:gd name="T63" fmla="*/ 95 h 244"/>
                <a:gd name="T64" fmla="*/ 132 w 279"/>
                <a:gd name="T65" fmla="*/ 99 h 244"/>
                <a:gd name="T66" fmla="*/ 132 w 279"/>
                <a:gd name="T67" fmla="*/ 103 h 244"/>
                <a:gd name="T68" fmla="*/ 132 w 279"/>
                <a:gd name="T69" fmla="*/ 109 h 244"/>
                <a:gd name="T70" fmla="*/ 132 w 279"/>
                <a:gd name="T71" fmla="*/ 113 h 244"/>
                <a:gd name="T72" fmla="*/ 135 w 279"/>
                <a:gd name="T73" fmla="*/ 119 h 244"/>
                <a:gd name="T74" fmla="*/ 136 w 279"/>
                <a:gd name="T75" fmla="*/ 124 h 244"/>
                <a:gd name="T76" fmla="*/ 136 w 279"/>
                <a:gd name="T77" fmla="*/ 128 h 244"/>
                <a:gd name="T78" fmla="*/ 136 w 279"/>
                <a:gd name="T79" fmla="*/ 134 h 244"/>
                <a:gd name="T80" fmla="*/ 137 w 279"/>
                <a:gd name="T81" fmla="*/ 138 h 244"/>
                <a:gd name="T82" fmla="*/ 137 w 279"/>
                <a:gd name="T83" fmla="*/ 143 h 244"/>
                <a:gd name="T84" fmla="*/ 137 w 279"/>
                <a:gd name="T85" fmla="*/ 147 h 244"/>
                <a:gd name="T86" fmla="*/ 136 w 279"/>
                <a:gd name="T87" fmla="*/ 153 h 244"/>
                <a:gd name="T88" fmla="*/ 136 w 279"/>
                <a:gd name="T89" fmla="*/ 156 h 244"/>
                <a:gd name="T90" fmla="*/ 137 w 279"/>
                <a:gd name="T91" fmla="*/ 162 h 244"/>
                <a:gd name="T92" fmla="*/ 138 w 279"/>
                <a:gd name="T93" fmla="*/ 167 h 244"/>
                <a:gd name="T94" fmla="*/ 136 w 279"/>
                <a:gd name="T95" fmla="*/ 172 h 244"/>
                <a:gd name="T96" fmla="*/ 133 w 279"/>
                <a:gd name="T97" fmla="*/ 181 h 244"/>
                <a:gd name="T98" fmla="*/ 0 w 279"/>
                <a:gd name="T99" fmla="*/ 243 h 24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79"/>
                <a:gd name="T151" fmla="*/ 0 h 244"/>
                <a:gd name="T152" fmla="*/ 279 w 279"/>
                <a:gd name="T153" fmla="*/ 244 h 24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79" h="244">
                  <a:moveTo>
                    <a:pt x="0" y="243"/>
                  </a:moveTo>
                  <a:lnTo>
                    <a:pt x="148" y="1"/>
                  </a:lnTo>
                  <a:lnTo>
                    <a:pt x="160" y="0"/>
                  </a:lnTo>
                  <a:lnTo>
                    <a:pt x="167" y="3"/>
                  </a:lnTo>
                  <a:lnTo>
                    <a:pt x="168" y="6"/>
                  </a:lnTo>
                  <a:lnTo>
                    <a:pt x="173" y="5"/>
                  </a:lnTo>
                  <a:lnTo>
                    <a:pt x="177" y="9"/>
                  </a:lnTo>
                  <a:lnTo>
                    <a:pt x="182" y="7"/>
                  </a:lnTo>
                  <a:lnTo>
                    <a:pt x="184" y="12"/>
                  </a:lnTo>
                  <a:lnTo>
                    <a:pt x="190" y="13"/>
                  </a:lnTo>
                  <a:lnTo>
                    <a:pt x="196" y="14"/>
                  </a:lnTo>
                  <a:lnTo>
                    <a:pt x="201" y="15"/>
                  </a:lnTo>
                  <a:lnTo>
                    <a:pt x="205" y="19"/>
                  </a:lnTo>
                  <a:lnTo>
                    <a:pt x="210" y="20"/>
                  </a:lnTo>
                  <a:lnTo>
                    <a:pt x="215" y="23"/>
                  </a:lnTo>
                  <a:lnTo>
                    <a:pt x="222" y="25"/>
                  </a:lnTo>
                  <a:lnTo>
                    <a:pt x="226" y="29"/>
                  </a:lnTo>
                  <a:lnTo>
                    <a:pt x="229" y="32"/>
                  </a:lnTo>
                  <a:lnTo>
                    <a:pt x="231" y="36"/>
                  </a:lnTo>
                  <a:lnTo>
                    <a:pt x="235" y="39"/>
                  </a:lnTo>
                  <a:lnTo>
                    <a:pt x="238" y="45"/>
                  </a:lnTo>
                  <a:lnTo>
                    <a:pt x="242" y="46"/>
                  </a:lnTo>
                  <a:lnTo>
                    <a:pt x="248" y="55"/>
                  </a:lnTo>
                  <a:lnTo>
                    <a:pt x="249" y="58"/>
                  </a:lnTo>
                  <a:lnTo>
                    <a:pt x="255" y="63"/>
                  </a:lnTo>
                  <a:lnTo>
                    <a:pt x="256" y="67"/>
                  </a:lnTo>
                  <a:lnTo>
                    <a:pt x="261" y="71"/>
                  </a:lnTo>
                  <a:lnTo>
                    <a:pt x="261" y="75"/>
                  </a:lnTo>
                  <a:lnTo>
                    <a:pt x="264" y="81"/>
                  </a:lnTo>
                  <a:lnTo>
                    <a:pt x="264" y="86"/>
                  </a:lnTo>
                  <a:lnTo>
                    <a:pt x="266" y="90"/>
                  </a:lnTo>
                  <a:lnTo>
                    <a:pt x="266" y="95"/>
                  </a:lnTo>
                  <a:lnTo>
                    <a:pt x="268" y="99"/>
                  </a:lnTo>
                  <a:lnTo>
                    <a:pt x="267" y="103"/>
                  </a:lnTo>
                  <a:lnTo>
                    <a:pt x="268" y="109"/>
                  </a:lnTo>
                  <a:lnTo>
                    <a:pt x="269" y="113"/>
                  </a:lnTo>
                  <a:lnTo>
                    <a:pt x="273" y="119"/>
                  </a:lnTo>
                  <a:lnTo>
                    <a:pt x="274" y="124"/>
                  </a:lnTo>
                  <a:lnTo>
                    <a:pt x="275" y="128"/>
                  </a:lnTo>
                  <a:lnTo>
                    <a:pt x="276" y="134"/>
                  </a:lnTo>
                  <a:lnTo>
                    <a:pt x="277" y="138"/>
                  </a:lnTo>
                  <a:lnTo>
                    <a:pt x="277" y="143"/>
                  </a:lnTo>
                  <a:lnTo>
                    <a:pt x="277" y="147"/>
                  </a:lnTo>
                  <a:lnTo>
                    <a:pt x="274" y="153"/>
                  </a:lnTo>
                  <a:lnTo>
                    <a:pt x="276" y="156"/>
                  </a:lnTo>
                  <a:lnTo>
                    <a:pt x="277" y="162"/>
                  </a:lnTo>
                  <a:lnTo>
                    <a:pt x="278" y="167"/>
                  </a:lnTo>
                  <a:lnTo>
                    <a:pt x="275" y="172"/>
                  </a:lnTo>
                  <a:lnTo>
                    <a:pt x="271" y="181"/>
                  </a:lnTo>
                  <a:lnTo>
                    <a:pt x="0" y="243"/>
                  </a:lnTo>
                </a:path>
              </a:pathLst>
            </a:custGeom>
            <a:noFill/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16" name="Arc 57"/>
            <p:cNvSpPr>
              <a:spLocks/>
            </p:cNvSpPr>
            <p:nvPr/>
          </p:nvSpPr>
          <p:spPr bwMode="auto">
            <a:xfrm rot="720000">
              <a:off x="2510" y="3846"/>
              <a:ext cx="133" cy="149"/>
            </a:xfrm>
            <a:custGeom>
              <a:avLst/>
              <a:gdLst>
                <a:gd name="T0" fmla="*/ 0 w 21745"/>
                <a:gd name="T1" fmla="*/ 0 h 21600"/>
                <a:gd name="T2" fmla="*/ 0 w 21745"/>
                <a:gd name="T3" fmla="*/ 0 h 21600"/>
                <a:gd name="T4" fmla="*/ 0 w 2174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45"/>
                <a:gd name="T10" fmla="*/ 0 h 21600"/>
                <a:gd name="T11" fmla="*/ 21745 w 2174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45" h="21600" fill="none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</a:path>
                <a:path w="21745" h="21600" stroke="0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  <a:lnTo>
                    <a:pt x="145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17" name="Line 58"/>
            <p:cNvSpPr>
              <a:spLocks noChangeShapeType="1"/>
            </p:cNvSpPr>
            <p:nvPr/>
          </p:nvSpPr>
          <p:spPr bwMode="auto">
            <a:xfrm flipH="1">
              <a:off x="2384" y="3732"/>
              <a:ext cx="191" cy="3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18" name="Oval 59"/>
            <p:cNvSpPr>
              <a:spLocks noChangeArrowheads="1"/>
            </p:cNvSpPr>
            <p:nvPr/>
          </p:nvSpPr>
          <p:spPr bwMode="auto">
            <a:xfrm rot="-1860000">
              <a:off x="2559" y="3849"/>
              <a:ext cx="63" cy="1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19" name="Line 60"/>
            <p:cNvSpPr>
              <a:spLocks noChangeShapeType="1"/>
            </p:cNvSpPr>
            <p:nvPr/>
          </p:nvSpPr>
          <p:spPr bwMode="auto">
            <a:xfrm flipV="1">
              <a:off x="2384" y="3988"/>
              <a:ext cx="350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20" name="Line 61"/>
            <p:cNvSpPr>
              <a:spLocks noChangeShapeType="1"/>
            </p:cNvSpPr>
            <p:nvPr/>
          </p:nvSpPr>
          <p:spPr bwMode="auto">
            <a:xfrm>
              <a:off x="1207" y="1989"/>
              <a:ext cx="1193" cy="6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21" name="Line 62"/>
            <p:cNvSpPr>
              <a:spLocks noChangeShapeType="1"/>
            </p:cNvSpPr>
            <p:nvPr/>
          </p:nvSpPr>
          <p:spPr bwMode="auto">
            <a:xfrm>
              <a:off x="1202" y="2827"/>
              <a:ext cx="1193" cy="6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22" name="Line 63"/>
            <p:cNvSpPr>
              <a:spLocks noChangeShapeType="1"/>
            </p:cNvSpPr>
            <p:nvPr/>
          </p:nvSpPr>
          <p:spPr bwMode="auto">
            <a:xfrm>
              <a:off x="433" y="2021"/>
              <a:ext cx="762" cy="4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23" name="Line 64"/>
            <p:cNvSpPr>
              <a:spLocks noChangeShapeType="1"/>
            </p:cNvSpPr>
            <p:nvPr/>
          </p:nvSpPr>
          <p:spPr bwMode="auto">
            <a:xfrm>
              <a:off x="2406" y="3121"/>
              <a:ext cx="762" cy="4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24" name="Line 65"/>
            <p:cNvSpPr>
              <a:spLocks noChangeShapeType="1"/>
            </p:cNvSpPr>
            <p:nvPr/>
          </p:nvSpPr>
          <p:spPr bwMode="auto">
            <a:xfrm>
              <a:off x="1207" y="2453"/>
              <a:ext cx="1193" cy="6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25" name="Oval 66"/>
            <p:cNvSpPr>
              <a:spLocks noChangeArrowheads="1"/>
            </p:cNvSpPr>
            <p:nvPr/>
          </p:nvSpPr>
          <p:spPr bwMode="auto">
            <a:xfrm>
              <a:off x="2570" y="3201"/>
              <a:ext cx="36" cy="40"/>
            </a:xfrm>
            <a:prstGeom prst="ellipse">
              <a:avLst/>
            </a:prstGeom>
            <a:solidFill>
              <a:srgbClr val="037C03"/>
            </a:solidFill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12326" name="Oval 67"/>
            <p:cNvSpPr>
              <a:spLocks noChangeArrowheads="1"/>
            </p:cNvSpPr>
            <p:nvPr/>
          </p:nvSpPr>
          <p:spPr bwMode="auto">
            <a:xfrm>
              <a:off x="948" y="2299"/>
              <a:ext cx="36" cy="40"/>
            </a:xfrm>
            <a:prstGeom prst="ellipse">
              <a:avLst/>
            </a:prstGeom>
            <a:solidFill>
              <a:srgbClr val="037C03"/>
            </a:solidFill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</p:grpSp>
      <p:sp>
        <p:nvSpPr>
          <p:cNvPr id="12298" name="Line 68"/>
          <p:cNvSpPr>
            <a:spLocks noChangeShapeType="1"/>
          </p:cNvSpPr>
          <p:nvPr/>
        </p:nvSpPr>
        <p:spPr bwMode="auto">
          <a:xfrm flipH="1" flipV="1">
            <a:off x="1371600" y="38862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12299" name="Text Box 69"/>
          <p:cNvSpPr txBox="1">
            <a:spLocks noChangeArrowheads="1"/>
          </p:cNvSpPr>
          <p:nvPr/>
        </p:nvSpPr>
        <p:spPr bwMode="auto">
          <a:xfrm>
            <a:off x="1431925" y="4076700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t</a:t>
            </a:r>
          </a:p>
        </p:txBody>
      </p:sp>
      <p:sp>
        <p:nvSpPr>
          <p:cNvPr id="12300" name="Text Box 70"/>
          <p:cNvSpPr txBox="1">
            <a:spLocks noChangeArrowheads="1"/>
          </p:cNvSpPr>
          <p:nvPr/>
        </p:nvSpPr>
        <p:spPr bwMode="auto">
          <a:xfrm>
            <a:off x="1143000" y="251460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</a:t>
            </a:r>
          </a:p>
        </p:txBody>
      </p:sp>
      <p:sp>
        <p:nvSpPr>
          <p:cNvPr id="12301" name="Text Box 71"/>
          <p:cNvSpPr txBox="1">
            <a:spLocks noChangeArrowheads="1"/>
          </p:cNvSpPr>
          <p:nvPr/>
        </p:nvSpPr>
        <p:spPr bwMode="auto">
          <a:xfrm>
            <a:off x="2990850" y="3505200"/>
            <a:ext cx="361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i="1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x’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F2F79C-4F4E-46B8-B10B-944B55A82C54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3" name="Rectangle 2"/>
          <p:cNvSpPr/>
          <p:nvPr/>
        </p:nvSpPr>
        <p:spPr bwMode="auto">
          <a:xfrm>
            <a:off x="4198140" y="4953000"/>
            <a:ext cx="4488660" cy="140335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prstClr val="black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350000" y="1473359"/>
                <a:ext cx="1652803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charset="0"/>
                        </a:rPr>
                        <m:t>𝑅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1473359"/>
                <a:ext cx="1652803" cy="43088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095124" y="3766006"/>
                <a:ext cx="1652803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charset="0"/>
                        </a:rPr>
                        <m:t>𝑅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124" y="3766006"/>
                <a:ext cx="1652803" cy="43088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39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8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reeform 2"/>
          <p:cNvSpPr>
            <a:spLocks/>
          </p:cNvSpPr>
          <p:nvPr/>
        </p:nvSpPr>
        <p:spPr bwMode="auto">
          <a:xfrm>
            <a:off x="6418263" y="685800"/>
            <a:ext cx="1220787" cy="839788"/>
          </a:xfrm>
          <a:custGeom>
            <a:avLst/>
            <a:gdLst>
              <a:gd name="T0" fmla="*/ 2147483647 w 865"/>
              <a:gd name="T1" fmla="*/ 0 h 529"/>
              <a:gd name="T2" fmla="*/ 2147483647 w 865"/>
              <a:gd name="T3" fmla="*/ 2147483647 h 529"/>
              <a:gd name="T4" fmla="*/ 2147483647 w 865"/>
              <a:gd name="T5" fmla="*/ 2147483647 h 529"/>
              <a:gd name="T6" fmla="*/ 2147483647 w 865"/>
              <a:gd name="T7" fmla="*/ 2147483647 h 529"/>
              <a:gd name="T8" fmla="*/ 2147483647 w 865"/>
              <a:gd name="T9" fmla="*/ 2147483647 h 529"/>
              <a:gd name="T10" fmla="*/ 2147483647 w 865"/>
              <a:gd name="T11" fmla="*/ 2147483647 h 529"/>
              <a:gd name="T12" fmla="*/ 2147483647 w 865"/>
              <a:gd name="T13" fmla="*/ 2147483647 h 529"/>
              <a:gd name="T14" fmla="*/ 2147483647 w 865"/>
              <a:gd name="T15" fmla="*/ 2147483647 h 529"/>
              <a:gd name="T16" fmla="*/ 2147483647 w 865"/>
              <a:gd name="T17" fmla="*/ 2147483647 h 529"/>
              <a:gd name="T18" fmla="*/ 0 w 865"/>
              <a:gd name="T19" fmla="*/ 2147483647 h 529"/>
              <a:gd name="T20" fmla="*/ 0 w 865"/>
              <a:gd name="T21" fmla="*/ 2147483647 h 529"/>
              <a:gd name="T22" fmla="*/ 0 w 865"/>
              <a:gd name="T23" fmla="*/ 2147483647 h 529"/>
              <a:gd name="T24" fmla="*/ 2147483647 w 865"/>
              <a:gd name="T25" fmla="*/ 2147483647 h 529"/>
              <a:gd name="T26" fmla="*/ 2147483647 w 865"/>
              <a:gd name="T27" fmla="*/ 2147483647 h 529"/>
              <a:gd name="T28" fmla="*/ 2147483647 w 865"/>
              <a:gd name="T29" fmla="*/ 2147483647 h 529"/>
              <a:gd name="T30" fmla="*/ 2147483647 w 865"/>
              <a:gd name="T31" fmla="*/ 2147483647 h 529"/>
              <a:gd name="T32" fmla="*/ 2147483647 w 865"/>
              <a:gd name="T33" fmla="*/ 2147483647 h 529"/>
              <a:gd name="T34" fmla="*/ 2147483647 w 865"/>
              <a:gd name="T35" fmla="*/ 2147483647 h 529"/>
              <a:gd name="T36" fmla="*/ 2147483647 w 865"/>
              <a:gd name="T37" fmla="*/ 2147483647 h 529"/>
              <a:gd name="T38" fmla="*/ 2147483647 w 865"/>
              <a:gd name="T39" fmla="*/ 2147483647 h 529"/>
              <a:gd name="T40" fmla="*/ 2147483647 w 865"/>
              <a:gd name="T41" fmla="*/ 2147483647 h 529"/>
              <a:gd name="T42" fmla="*/ 2147483647 w 865"/>
              <a:gd name="T43" fmla="*/ 2147483647 h 529"/>
              <a:gd name="T44" fmla="*/ 2147483647 w 865"/>
              <a:gd name="T45" fmla="*/ 2147483647 h 529"/>
              <a:gd name="T46" fmla="*/ 2147483647 w 865"/>
              <a:gd name="T47" fmla="*/ 2147483647 h 529"/>
              <a:gd name="T48" fmla="*/ 2147483647 w 865"/>
              <a:gd name="T49" fmla="*/ 2147483647 h 529"/>
              <a:gd name="T50" fmla="*/ 2147483647 w 865"/>
              <a:gd name="T51" fmla="*/ 2147483647 h 529"/>
              <a:gd name="T52" fmla="*/ 2147483647 w 865"/>
              <a:gd name="T53" fmla="*/ 2147483647 h 529"/>
              <a:gd name="T54" fmla="*/ 2147483647 w 865"/>
              <a:gd name="T55" fmla="*/ 2147483647 h 529"/>
              <a:gd name="T56" fmla="*/ 2147483647 w 865"/>
              <a:gd name="T57" fmla="*/ 2147483647 h 529"/>
              <a:gd name="T58" fmla="*/ 2147483647 w 865"/>
              <a:gd name="T59" fmla="*/ 2147483647 h 529"/>
              <a:gd name="T60" fmla="*/ 2147483647 w 865"/>
              <a:gd name="T61" fmla="*/ 2147483647 h 529"/>
              <a:gd name="T62" fmla="*/ 2147483647 w 865"/>
              <a:gd name="T63" fmla="*/ 2147483647 h 529"/>
              <a:gd name="T64" fmla="*/ 2147483647 w 865"/>
              <a:gd name="T65" fmla="*/ 2147483647 h 529"/>
              <a:gd name="T66" fmla="*/ 2147483647 w 865"/>
              <a:gd name="T67" fmla="*/ 2147483647 h 529"/>
              <a:gd name="T68" fmla="*/ 2147483647 w 865"/>
              <a:gd name="T69" fmla="*/ 2147483647 h 529"/>
              <a:gd name="T70" fmla="*/ 2147483647 w 865"/>
              <a:gd name="T71" fmla="*/ 2147483647 h 529"/>
              <a:gd name="T72" fmla="*/ 2147483647 w 865"/>
              <a:gd name="T73" fmla="*/ 2147483647 h 529"/>
              <a:gd name="T74" fmla="*/ 2147483647 w 865"/>
              <a:gd name="T75" fmla="*/ 2147483647 h 529"/>
              <a:gd name="T76" fmla="*/ 2147483647 w 865"/>
              <a:gd name="T77" fmla="*/ 2147483647 h 529"/>
              <a:gd name="T78" fmla="*/ 2147483647 w 865"/>
              <a:gd name="T79" fmla="*/ 0 h 52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865"/>
              <a:gd name="T121" fmla="*/ 0 h 529"/>
              <a:gd name="T122" fmla="*/ 865 w 865"/>
              <a:gd name="T123" fmla="*/ 529 h 529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865" h="529">
                <a:moveTo>
                  <a:pt x="84" y="0"/>
                </a:moveTo>
                <a:lnTo>
                  <a:pt x="72" y="24"/>
                </a:lnTo>
                <a:lnTo>
                  <a:pt x="72" y="48"/>
                </a:lnTo>
                <a:lnTo>
                  <a:pt x="48" y="72"/>
                </a:lnTo>
                <a:lnTo>
                  <a:pt x="36" y="96"/>
                </a:lnTo>
                <a:lnTo>
                  <a:pt x="36" y="120"/>
                </a:lnTo>
                <a:lnTo>
                  <a:pt x="36" y="144"/>
                </a:lnTo>
                <a:lnTo>
                  <a:pt x="24" y="168"/>
                </a:lnTo>
                <a:lnTo>
                  <a:pt x="12" y="192"/>
                </a:lnTo>
                <a:lnTo>
                  <a:pt x="0" y="216"/>
                </a:lnTo>
                <a:lnTo>
                  <a:pt x="0" y="240"/>
                </a:lnTo>
                <a:lnTo>
                  <a:pt x="0" y="264"/>
                </a:lnTo>
                <a:lnTo>
                  <a:pt x="12" y="288"/>
                </a:lnTo>
                <a:lnTo>
                  <a:pt x="12" y="312"/>
                </a:lnTo>
                <a:lnTo>
                  <a:pt x="24" y="336"/>
                </a:lnTo>
                <a:lnTo>
                  <a:pt x="24" y="360"/>
                </a:lnTo>
                <a:lnTo>
                  <a:pt x="36" y="384"/>
                </a:lnTo>
                <a:lnTo>
                  <a:pt x="36" y="408"/>
                </a:lnTo>
                <a:lnTo>
                  <a:pt x="48" y="432"/>
                </a:lnTo>
                <a:lnTo>
                  <a:pt x="60" y="456"/>
                </a:lnTo>
                <a:lnTo>
                  <a:pt x="852" y="528"/>
                </a:lnTo>
                <a:lnTo>
                  <a:pt x="804" y="480"/>
                </a:lnTo>
                <a:lnTo>
                  <a:pt x="792" y="456"/>
                </a:lnTo>
                <a:lnTo>
                  <a:pt x="780" y="420"/>
                </a:lnTo>
                <a:lnTo>
                  <a:pt x="768" y="396"/>
                </a:lnTo>
                <a:lnTo>
                  <a:pt x="756" y="372"/>
                </a:lnTo>
                <a:lnTo>
                  <a:pt x="744" y="348"/>
                </a:lnTo>
                <a:lnTo>
                  <a:pt x="744" y="324"/>
                </a:lnTo>
                <a:lnTo>
                  <a:pt x="744" y="288"/>
                </a:lnTo>
                <a:lnTo>
                  <a:pt x="744" y="264"/>
                </a:lnTo>
                <a:lnTo>
                  <a:pt x="744" y="240"/>
                </a:lnTo>
                <a:lnTo>
                  <a:pt x="768" y="216"/>
                </a:lnTo>
                <a:lnTo>
                  <a:pt x="768" y="192"/>
                </a:lnTo>
                <a:lnTo>
                  <a:pt x="780" y="168"/>
                </a:lnTo>
                <a:lnTo>
                  <a:pt x="804" y="156"/>
                </a:lnTo>
                <a:lnTo>
                  <a:pt x="804" y="132"/>
                </a:lnTo>
                <a:lnTo>
                  <a:pt x="828" y="108"/>
                </a:lnTo>
                <a:lnTo>
                  <a:pt x="852" y="96"/>
                </a:lnTo>
                <a:lnTo>
                  <a:pt x="864" y="72"/>
                </a:lnTo>
                <a:lnTo>
                  <a:pt x="84" y="0"/>
                </a:lnTo>
              </a:path>
            </a:pathLst>
          </a:custGeom>
          <a:gradFill rotWithShape="0">
            <a:gsLst>
              <a:gs pos="0">
                <a:srgbClr val="012501"/>
              </a:gs>
              <a:gs pos="100000">
                <a:srgbClr val="037C03"/>
              </a:gs>
            </a:gsLst>
            <a:lin ang="18900000" scaled="1"/>
          </a:gradFill>
          <a:ln w="9525" cap="rnd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11" name="Line 3"/>
          <p:cNvSpPr>
            <a:spLocks noChangeShapeType="1"/>
          </p:cNvSpPr>
          <p:nvPr/>
        </p:nvSpPr>
        <p:spPr bwMode="auto">
          <a:xfrm>
            <a:off x="3827463" y="4038600"/>
            <a:ext cx="325120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12" name="Line 4"/>
          <p:cNvSpPr>
            <a:spLocks noChangeShapeType="1"/>
          </p:cNvSpPr>
          <p:nvPr/>
        </p:nvSpPr>
        <p:spPr bwMode="auto">
          <a:xfrm flipV="1">
            <a:off x="5148263" y="990600"/>
            <a:ext cx="1795462" cy="1771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13" name="Freeform 5"/>
          <p:cNvSpPr>
            <a:spLocks/>
          </p:cNvSpPr>
          <p:nvPr/>
        </p:nvSpPr>
        <p:spPr bwMode="auto">
          <a:xfrm>
            <a:off x="3759200" y="1447800"/>
            <a:ext cx="1695450" cy="1601788"/>
          </a:xfrm>
          <a:custGeom>
            <a:avLst/>
            <a:gdLst>
              <a:gd name="T0" fmla="*/ 2147483647 w 1201"/>
              <a:gd name="T1" fmla="*/ 2147483647 h 1009"/>
              <a:gd name="T2" fmla="*/ 2147483647 w 1201"/>
              <a:gd name="T3" fmla="*/ 2147483647 h 1009"/>
              <a:gd name="T4" fmla="*/ 2147483647 w 1201"/>
              <a:gd name="T5" fmla="*/ 2147483647 h 1009"/>
              <a:gd name="T6" fmla="*/ 0 w 1201"/>
              <a:gd name="T7" fmla="*/ 0 h 1009"/>
              <a:gd name="T8" fmla="*/ 2147483647 w 1201"/>
              <a:gd name="T9" fmla="*/ 2147483647 h 10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009"/>
              <a:gd name="T17" fmla="*/ 1201 w 1201"/>
              <a:gd name="T18" fmla="*/ 1009 h 100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1" h="1009">
                <a:moveTo>
                  <a:pt x="336" y="576"/>
                </a:moveTo>
                <a:lnTo>
                  <a:pt x="1200" y="1008"/>
                </a:lnTo>
                <a:lnTo>
                  <a:pt x="864" y="432"/>
                </a:lnTo>
                <a:lnTo>
                  <a:pt x="0" y="0"/>
                </a:lnTo>
                <a:lnTo>
                  <a:pt x="336" y="576"/>
                </a:lnTo>
              </a:path>
            </a:pathLst>
          </a:custGeom>
          <a:solidFill>
            <a:srgbClr val="919191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14" name="Line 6"/>
          <p:cNvSpPr>
            <a:spLocks noChangeShapeType="1"/>
          </p:cNvSpPr>
          <p:nvPr/>
        </p:nvSpPr>
        <p:spPr bwMode="auto">
          <a:xfrm flipH="1" flipV="1">
            <a:off x="6943725" y="990600"/>
            <a:ext cx="66675" cy="2438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15" name="Line 7"/>
          <p:cNvSpPr>
            <a:spLocks noChangeShapeType="1"/>
          </p:cNvSpPr>
          <p:nvPr/>
        </p:nvSpPr>
        <p:spPr bwMode="auto">
          <a:xfrm flipV="1">
            <a:off x="4470400" y="2743200"/>
            <a:ext cx="677863" cy="666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16" name="Freeform 8"/>
          <p:cNvSpPr>
            <a:spLocks/>
          </p:cNvSpPr>
          <p:nvPr/>
        </p:nvSpPr>
        <p:spPr bwMode="auto">
          <a:xfrm>
            <a:off x="6537325" y="2743200"/>
            <a:ext cx="1558925" cy="1525588"/>
          </a:xfrm>
          <a:custGeom>
            <a:avLst/>
            <a:gdLst>
              <a:gd name="T0" fmla="*/ 0 w 1105"/>
              <a:gd name="T1" fmla="*/ 2147483647 h 961"/>
              <a:gd name="T2" fmla="*/ 0 w 1105"/>
              <a:gd name="T3" fmla="*/ 2147483647 h 961"/>
              <a:gd name="T4" fmla="*/ 2147483647 w 1105"/>
              <a:gd name="T5" fmla="*/ 2147483647 h 961"/>
              <a:gd name="T6" fmla="*/ 2147483647 w 1105"/>
              <a:gd name="T7" fmla="*/ 0 h 961"/>
              <a:gd name="T8" fmla="*/ 0 w 1105"/>
              <a:gd name="T9" fmla="*/ 2147483647 h 9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5"/>
              <a:gd name="T16" fmla="*/ 0 h 961"/>
              <a:gd name="T17" fmla="*/ 1105 w 1105"/>
              <a:gd name="T18" fmla="*/ 961 h 9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5" h="961">
                <a:moveTo>
                  <a:pt x="0" y="202"/>
                </a:moveTo>
                <a:lnTo>
                  <a:pt x="0" y="960"/>
                </a:lnTo>
                <a:lnTo>
                  <a:pt x="1104" y="758"/>
                </a:lnTo>
                <a:lnTo>
                  <a:pt x="1104" y="0"/>
                </a:lnTo>
                <a:lnTo>
                  <a:pt x="0" y="202"/>
                </a:lnTo>
              </a:path>
            </a:pathLst>
          </a:custGeom>
          <a:solidFill>
            <a:srgbClr val="919191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 flipH="1" flipV="1">
            <a:off x="7010400" y="3429000"/>
            <a:ext cx="34925" cy="142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 flipV="1">
            <a:off x="3827463" y="3409950"/>
            <a:ext cx="6429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19" name="Line 11"/>
          <p:cNvSpPr>
            <a:spLocks noChangeShapeType="1"/>
          </p:cNvSpPr>
          <p:nvPr/>
        </p:nvSpPr>
        <p:spPr bwMode="auto">
          <a:xfrm flipH="1" flipV="1">
            <a:off x="7045325" y="4857750"/>
            <a:ext cx="33338" cy="1009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20" name="Freeform 14"/>
          <p:cNvSpPr>
            <a:spLocks/>
          </p:cNvSpPr>
          <p:nvPr/>
        </p:nvSpPr>
        <p:spPr bwMode="auto">
          <a:xfrm rot="-1766867">
            <a:off x="7032625" y="5854700"/>
            <a:ext cx="285750" cy="485775"/>
          </a:xfrm>
          <a:custGeom>
            <a:avLst/>
            <a:gdLst>
              <a:gd name="T0" fmla="*/ 2147483647 w 202"/>
              <a:gd name="T1" fmla="*/ 2147483647 h 306"/>
              <a:gd name="T2" fmla="*/ 0 w 202"/>
              <a:gd name="T3" fmla="*/ 2147483647 h 306"/>
              <a:gd name="T4" fmla="*/ 2147483647 w 202"/>
              <a:gd name="T5" fmla="*/ 2147483647 h 306"/>
              <a:gd name="T6" fmla="*/ 2147483647 w 202"/>
              <a:gd name="T7" fmla="*/ 2147483647 h 306"/>
              <a:gd name="T8" fmla="*/ 2147483647 w 202"/>
              <a:gd name="T9" fmla="*/ 2147483647 h 306"/>
              <a:gd name="T10" fmla="*/ 2147483647 w 202"/>
              <a:gd name="T11" fmla="*/ 2147483647 h 306"/>
              <a:gd name="T12" fmla="*/ 2147483647 w 202"/>
              <a:gd name="T13" fmla="*/ 2147483647 h 306"/>
              <a:gd name="T14" fmla="*/ 2147483647 w 202"/>
              <a:gd name="T15" fmla="*/ 2147483647 h 306"/>
              <a:gd name="T16" fmla="*/ 2147483647 w 202"/>
              <a:gd name="T17" fmla="*/ 2147483647 h 306"/>
              <a:gd name="T18" fmla="*/ 2147483647 w 202"/>
              <a:gd name="T19" fmla="*/ 2147483647 h 306"/>
              <a:gd name="T20" fmla="*/ 2147483647 w 202"/>
              <a:gd name="T21" fmla="*/ 2147483647 h 306"/>
              <a:gd name="T22" fmla="*/ 2147483647 w 202"/>
              <a:gd name="T23" fmla="*/ 2147483647 h 306"/>
              <a:gd name="T24" fmla="*/ 2147483647 w 202"/>
              <a:gd name="T25" fmla="*/ 2147483647 h 306"/>
              <a:gd name="T26" fmla="*/ 2147483647 w 202"/>
              <a:gd name="T27" fmla="*/ 2147483647 h 306"/>
              <a:gd name="T28" fmla="*/ 2147483647 w 202"/>
              <a:gd name="T29" fmla="*/ 0 h 306"/>
              <a:gd name="T30" fmla="*/ 2147483647 w 202"/>
              <a:gd name="T31" fmla="*/ 0 h 306"/>
              <a:gd name="T32" fmla="*/ 2147483647 w 202"/>
              <a:gd name="T33" fmla="*/ 2147483647 h 306"/>
              <a:gd name="T34" fmla="*/ 2147483647 w 202"/>
              <a:gd name="T35" fmla="*/ 2147483647 h 306"/>
              <a:gd name="T36" fmla="*/ 2147483647 w 202"/>
              <a:gd name="T37" fmla="*/ 2147483647 h 306"/>
              <a:gd name="T38" fmla="*/ 2147483647 w 202"/>
              <a:gd name="T39" fmla="*/ 2147483647 h 306"/>
              <a:gd name="T40" fmla="*/ 2147483647 w 202"/>
              <a:gd name="T41" fmla="*/ 2147483647 h 306"/>
              <a:gd name="T42" fmla="*/ 2147483647 w 202"/>
              <a:gd name="T43" fmla="*/ 2147483647 h 306"/>
              <a:gd name="T44" fmla="*/ 2147483647 w 202"/>
              <a:gd name="T45" fmla="*/ 2147483647 h 306"/>
              <a:gd name="T46" fmla="*/ 2147483647 w 202"/>
              <a:gd name="T47" fmla="*/ 2147483647 h 306"/>
              <a:gd name="T48" fmla="*/ 2147483647 w 202"/>
              <a:gd name="T49" fmla="*/ 2147483647 h 306"/>
              <a:gd name="T50" fmla="*/ 2147483647 w 202"/>
              <a:gd name="T51" fmla="*/ 2147483647 h 306"/>
              <a:gd name="T52" fmla="*/ 2147483647 w 202"/>
              <a:gd name="T53" fmla="*/ 2147483647 h 306"/>
              <a:gd name="T54" fmla="*/ 2147483647 w 202"/>
              <a:gd name="T55" fmla="*/ 2147483647 h 306"/>
              <a:gd name="T56" fmla="*/ 2147483647 w 202"/>
              <a:gd name="T57" fmla="*/ 2147483647 h 306"/>
              <a:gd name="T58" fmla="*/ 2147483647 w 202"/>
              <a:gd name="T59" fmla="*/ 2147483647 h 306"/>
              <a:gd name="T60" fmla="*/ 2147483647 w 202"/>
              <a:gd name="T61" fmla="*/ 2147483647 h 306"/>
              <a:gd name="T62" fmla="*/ 2147483647 w 202"/>
              <a:gd name="T63" fmla="*/ 2147483647 h 306"/>
              <a:gd name="T64" fmla="*/ 2147483647 w 202"/>
              <a:gd name="T65" fmla="*/ 2147483647 h 306"/>
              <a:gd name="T66" fmla="*/ 2147483647 w 202"/>
              <a:gd name="T67" fmla="*/ 2147483647 h 306"/>
              <a:gd name="T68" fmla="*/ 2147483647 w 202"/>
              <a:gd name="T69" fmla="*/ 2147483647 h 306"/>
              <a:gd name="T70" fmla="*/ 2147483647 w 202"/>
              <a:gd name="T71" fmla="*/ 2147483647 h 306"/>
              <a:gd name="T72" fmla="*/ 2147483647 w 202"/>
              <a:gd name="T73" fmla="*/ 2147483647 h 306"/>
              <a:gd name="T74" fmla="*/ 2147483647 w 202"/>
              <a:gd name="T75" fmla="*/ 2147483647 h 306"/>
              <a:gd name="T76" fmla="*/ 2147483647 w 202"/>
              <a:gd name="T77" fmla="*/ 2147483647 h 306"/>
              <a:gd name="T78" fmla="*/ 2147483647 w 202"/>
              <a:gd name="T79" fmla="*/ 2147483647 h 306"/>
              <a:gd name="T80" fmla="*/ 2147483647 w 202"/>
              <a:gd name="T81" fmla="*/ 2147483647 h 306"/>
              <a:gd name="T82" fmla="*/ 2147483647 w 202"/>
              <a:gd name="T83" fmla="*/ 2147483647 h 306"/>
              <a:gd name="T84" fmla="*/ 2147483647 w 202"/>
              <a:gd name="T85" fmla="*/ 2147483647 h 306"/>
              <a:gd name="T86" fmla="*/ 2147483647 w 202"/>
              <a:gd name="T87" fmla="*/ 2147483647 h 306"/>
              <a:gd name="T88" fmla="*/ 2147483647 w 202"/>
              <a:gd name="T89" fmla="*/ 2147483647 h 306"/>
              <a:gd name="T90" fmla="*/ 2147483647 w 202"/>
              <a:gd name="T91" fmla="*/ 2147483647 h 306"/>
              <a:gd name="T92" fmla="*/ 2147483647 w 202"/>
              <a:gd name="T93" fmla="*/ 2147483647 h 306"/>
              <a:gd name="T94" fmla="*/ 2147483647 w 202"/>
              <a:gd name="T95" fmla="*/ 2147483647 h 306"/>
              <a:gd name="T96" fmla="*/ 2147483647 w 202"/>
              <a:gd name="T97" fmla="*/ 2147483647 h 306"/>
              <a:gd name="T98" fmla="*/ 2147483647 w 202"/>
              <a:gd name="T99" fmla="*/ 2147483647 h 30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02"/>
              <a:gd name="T151" fmla="*/ 0 h 306"/>
              <a:gd name="T152" fmla="*/ 202 w 202"/>
              <a:gd name="T153" fmla="*/ 306 h 30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02" h="306">
                <a:moveTo>
                  <a:pt x="16" y="305"/>
                </a:moveTo>
                <a:lnTo>
                  <a:pt x="0" y="22"/>
                </a:lnTo>
                <a:lnTo>
                  <a:pt x="9" y="13"/>
                </a:lnTo>
                <a:lnTo>
                  <a:pt x="15" y="14"/>
                </a:lnTo>
                <a:lnTo>
                  <a:pt x="21" y="13"/>
                </a:lnTo>
                <a:lnTo>
                  <a:pt x="22" y="10"/>
                </a:lnTo>
                <a:lnTo>
                  <a:pt x="27" y="11"/>
                </a:lnTo>
                <a:lnTo>
                  <a:pt x="31" y="7"/>
                </a:lnTo>
                <a:lnTo>
                  <a:pt x="37" y="9"/>
                </a:lnTo>
                <a:lnTo>
                  <a:pt x="41" y="6"/>
                </a:lnTo>
                <a:lnTo>
                  <a:pt x="46" y="5"/>
                </a:lnTo>
                <a:lnTo>
                  <a:pt x="52" y="3"/>
                </a:lnTo>
                <a:lnTo>
                  <a:pt x="57" y="4"/>
                </a:lnTo>
                <a:lnTo>
                  <a:pt x="62" y="3"/>
                </a:lnTo>
                <a:lnTo>
                  <a:pt x="66" y="0"/>
                </a:lnTo>
                <a:lnTo>
                  <a:pt x="74" y="0"/>
                </a:lnTo>
                <a:lnTo>
                  <a:pt x="80" y="1"/>
                </a:lnTo>
                <a:lnTo>
                  <a:pt x="83" y="1"/>
                </a:lnTo>
                <a:lnTo>
                  <a:pt x="86" y="3"/>
                </a:lnTo>
                <a:lnTo>
                  <a:pt x="92" y="4"/>
                </a:lnTo>
                <a:lnTo>
                  <a:pt x="98" y="7"/>
                </a:lnTo>
                <a:lnTo>
                  <a:pt x="103" y="7"/>
                </a:lnTo>
                <a:lnTo>
                  <a:pt x="111" y="10"/>
                </a:lnTo>
                <a:lnTo>
                  <a:pt x="115" y="12"/>
                </a:lnTo>
                <a:lnTo>
                  <a:pt x="121" y="11"/>
                </a:lnTo>
                <a:lnTo>
                  <a:pt x="125" y="16"/>
                </a:lnTo>
                <a:lnTo>
                  <a:pt x="131" y="17"/>
                </a:lnTo>
                <a:lnTo>
                  <a:pt x="135" y="19"/>
                </a:lnTo>
                <a:lnTo>
                  <a:pt x="140" y="21"/>
                </a:lnTo>
                <a:lnTo>
                  <a:pt x="142" y="24"/>
                </a:lnTo>
                <a:lnTo>
                  <a:pt x="146" y="27"/>
                </a:lnTo>
                <a:lnTo>
                  <a:pt x="151" y="31"/>
                </a:lnTo>
                <a:lnTo>
                  <a:pt x="153" y="35"/>
                </a:lnTo>
                <a:lnTo>
                  <a:pt x="156" y="36"/>
                </a:lnTo>
                <a:lnTo>
                  <a:pt x="160" y="41"/>
                </a:lnTo>
                <a:lnTo>
                  <a:pt x="163" y="44"/>
                </a:lnTo>
                <a:lnTo>
                  <a:pt x="168" y="46"/>
                </a:lnTo>
                <a:lnTo>
                  <a:pt x="172" y="50"/>
                </a:lnTo>
                <a:lnTo>
                  <a:pt x="176" y="53"/>
                </a:lnTo>
                <a:lnTo>
                  <a:pt x="178" y="55"/>
                </a:lnTo>
                <a:lnTo>
                  <a:pt x="182" y="59"/>
                </a:lnTo>
                <a:lnTo>
                  <a:pt x="185" y="62"/>
                </a:lnTo>
                <a:lnTo>
                  <a:pt x="186" y="67"/>
                </a:lnTo>
                <a:lnTo>
                  <a:pt x="189" y="73"/>
                </a:lnTo>
                <a:lnTo>
                  <a:pt x="192" y="76"/>
                </a:lnTo>
                <a:lnTo>
                  <a:pt x="196" y="80"/>
                </a:lnTo>
                <a:lnTo>
                  <a:pt x="198" y="84"/>
                </a:lnTo>
                <a:lnTo>
                  <a:pt x="200" y="90"/>
                </a:lnTo>
                <a:lnTo>
                  <a:pt x="201" y="99"/>
                </a:lnTo>
                <a:lnTo>
                  <a:pt x="16" y="305"/>
                </a:lnTo>
              </a:path>
            </a:pathLst>
          </a:cu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21" name="Arc 15"/>
          <p:cNvSpPr>
            <a:spLocks/>
          </p:cNvSpPr>
          <p:nvPr/>
        </p:nvSpPr>
        <p:spPr bwMode="auto">
          <a:xfrm rot="-3146867">
            <a:off x="6995319" y="5838031"/>
            <a:ext cx="209550" cy="236538"/>
          </a:xfrm>
          <a:custGeom>
            <a:avLst/>
            <a:gdLst>
              <a:gd name="T0" fmla="*/ 0 w 21745"/>
              <a:gd name="T1" fmla="*/ 0 h 21600"/>
              <a:gd name="T2" fmla="*/ 2147483647 w 21745"/>
              <a:gd name="T3" fmla="*/ 2147483647 h 21600"/>
              <a:gd name="T4" fmla="*/ 1118793110 w 21745"/>
              <a:gd name="T5" fmla="*/ 2147483647 h 21600"/>
              <a:gd name="T6" fmla="*/ 0 60000 65536"/>
              <a:gd name="T7" fmla="*/ 0 60000 65536"/>
              <a:gd name="T8" fmla="*/ 0 60000 65536"/>
              <a:gd name="T9" fmla="*/ 0 w 21745"/>
              <a:gd name="T10" fmla="*/ 0 h 21600"/>
              <a:gd name="T11" fmla="*/ 21745 w 2174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45" h="21600" fill="none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</a:path>
              <a:path w="21745" h="21600" stroke="0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  <a:lnTo>
                  <a:pt x="145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22" name="Line 16"/>
          <p:cNvSpPr>
            <a:spLocks noChangeShapeType="1"/>
          </p:cNvSpPr>
          <p:nvPr/>
        </p:nvSpPr>
        <p:spPr bwMode="auto">
          <a:xfrm rot="-1766867">
            <a:off x="7002463" y="5768975"/>
            <a:ext cx="31750" cy="6461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23" name="Oval 17"/>
          <p:cNvSpPr>
            <a:spLocks noChangeArrowheads="1"/>
          </p:cNvSpPr>
          <p:nvPr/>
        </p:nvSpPr>
        <p:spPr bwMode="auto">
          <a:xfrm rot="-5726867">
            <a:off x="7038976" y="5840412"/>
            <a:ext cx="112712" cy="1762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24" name="Line 18"/>
          <p:cNvSpPr>
            <a:spLocks noChangeShapeType="1"/>
          </p:cNvSpPr>
          <p:nvPr/>
        </p:nvSpPr>
        <p:spPr bwMode="auto">
          <a:xfrm rot="19833133" flipV="1">
            <a:off x="7048500" y="5827713"/>
            <a:ext cx="381000" cy="476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25" name="Freeform 19"/>
          <p:cNvSpPr>
            <a:spLocks/>
          </p:cNvSpPr>
          <p:nvPr/>
        </p:nvSpPr>
        <p:spPr bwMode="auto">
          <a:xfrm rot="1112195">
            <a:off x="3565525" y="4025900"/>
            <a:ext cx="285750" cy="485775"/>
          </a:xfrm>
          <a:custGeom>
            <a:avLst/>
            <a:gdLst>
              <a:gd name="T0" fmla="*/ 2147483647 w 202"/>
              <a:gd name="T1" fmla="*/ 2147483647 h 306"/>
              <a:gd name="T2" fmla="*/ 0 w 202"/>
              <a:gd name="T3" fmla="*/ 2147483647 h 306"/>
              <a:gd name="T4" fmla="*/ 2147483647 w 202"/>
              <a:gd name="T5" fmla="*/ 2147483647 h 306"/>
              <a:gd name="T6" fmla="*/ 2147483647 w 202"/>
              <a:gd name="T7" fmla="*/ 2147483647 h 306"/>
              <a:gd name="T8" fmla="*/ 2147483647 w 202"/>
              <a:gd name="T9" fmla="*/ 2147483647 h 306"/>
              <a:gd name="T10" fmla="*/ 2147483647 w 202"/>
              <a:gd name="T11" fmla="*/ 2147483647 h 306"/>
              <a:gd name="T12" fmla="*/ 2147483647 w 202"/>
              <a:gd name="T13" fmla="*/ 2147483647 h 306"/>
              <a:gd name="T14" fmla="*/ 2147483647 w 202"/>
              <a:gd name="T15" fmla="*/ 2147483647 h 306"/>
              <a:gd name="T16" fmla="*/ 2147483647 w 202"/>
              <a:gd name="T17" fmla="*/ 2147483647 h 306"/>
              <a:gd name="T18" fmla="*/ 2147483647 w 202"/>
              <a:gd name="T19" fmla="*/ 2147483647 h 306"/>
              <a:gd name="T20" fmla="*/ 2147483647 w 202"/>
              <a:gd name="T21" fmla="*/ 2147483647 h 306"/>
              <a:gd name="T22" fmla="*/ 2147483647 w 202"/>
              <a:gd name="T23" fmla="*/ 2147483647 h 306"/>
              <a:gd name="T24" fmla="*/ 2147483647 w 202"/>
              <a:gd name="T25" fmla="*/ 2147483647 h 306"/>
              <a:gd name="T26" fmla="*/ 2147483647 w 202"/>
              <a:gd name="T27" fmla="*/ 2147483647 h 306"/>
              <a:gd name="T28" fmla="*/ 2147483647 w 202"/>
              <a:gd name="T29" fmla="*/ 0 h 306"/>
              <a:gd name="T30" fmla="*/ 2147483647 w 202"/>
              <a:gd name="T31" fmla="*/ 0 h 306"/>
              <a:gd name="T32" fmla="*/ 2147483647 w 202"/>
              <a:gd name="T33" fmla="*/ 2147483647 h 306"/>
              <a:gd name="T34" fmla="*/ 2147483647 w 202"/>
              <a:gd name="T35" fmla="*/ 2147483647 h 306"/>
              <a:gd name="T36" fmla="*/ 2147483647 w 202"/>
              <a:gd name="T37" fmla="*/ 2147483647 h 306"/>
              <a:gd name="T38" fmla="*/ 2147483647 w 202"/>
              <a:gd name="T39" fmla="*/ 2147483647 h 306"/>
              <a:gd name="T40" fmla="*/ 2147483647 w 202"/>
              <a:gd name="T41" fmla="*/ 2147483647 h 306"/>
              <a:gd name="T42" fmla="*/ 2147483647 w 202"/>
              <a:gd name="T43" fmla="*/ 2147483647 h 306"/>
              <a:gd name="T44" fmla="*/ 2147483647 w 202"/>
              <a:gd name="T45" fmla="*/ 2147483647 h 306"/>
              <a:gd name="T46" fmla="*/ 2147483647 w 202"/>
              <a:gd name="T47" fmla="*/ 2147483647 h 306"/>
              <a:gd name="T48" fmla="*/ 2147483647 w 202"/>
              <a:gd name="T49" fmla="*/ 2147483647 h 306"/>
              <a:gd name="T50" fmla="*/ 2147483647 w 202"/>
              <a:gd name="T51" fmla="*/ 2147483647 h 306"/>
              <a:gd name="T52" fmla="*/ 2147483647 w 202"/>
              <a:gd name="T53" fmla="*/ 2147483647 h 306"/>
              <a:gd name="T54" fmla="*/ 2147483647 w 202"/>
              <a:gd name="T55" fmla="*/ 2147483647 h 306"/>
              <a:gd name="T56" fmla="*/ 2147483647 w 202"/>
              <a:gd name="T57" fmla="*/ 2147483647 h 306"/>
              <a:gd name="T58" fmla="*/ 2147483647 w 202"/>
              <a:gd name="T59" fmla="*/ 2147483647 h 306"/>
              <a:gd name="T60" fmla="*/ 2147483647 w 202"/>
              <a:gd name="T61" fmla="*/ 2147483647 h 306"/>
              <a:gd name="T62" fmla="*/ 2147483647 w 202"/>
              <a:gd name="T63" fmla="*/ 2147483647 h 306"/>
              <a:gd name="T64" fmla="*/ 2147483647 w 202"/>
              <a:gd name="T65" fmla="*/ 2147483647 h 306"/>
              <a:gd name="T66" fmla="*/ 2147483647 w 202"/>
              <a:gd name="T67" fmla="*/ 2147483647 h 306"/>
              <a:gd name="T68" fmla="*/ 2147483647 w 202"/>
              <a:gd name="T69" fmla="*/ 2147483647 h 306"/>
              <a:gd name="T70" fmla="*/ 2147483647 w 202"/>
              <a:gd name="T71" fmla="*/ 2147483647 h 306"/>
              <a:gd name="T72" fmla="*/ 2147483647 w 202"/>
              <a:gd name="T73" fmla="*/ 2147483647 h 306"/>
              <a:gd name="T74" fmla="*/ 2147483647 w 202"/>
              <a:gd name="T75" fmla="*/ 2147483647 h 306"/>
              <a:gd name="T76" fmla="*/ 2147483647 w 202"/>
              <a:gd name="T77" fmla="*/ 2147483647 h 306"/>
              <a:gd name="T78" fmla="*/ 2147483647 w 202"/>
              <a:gd name="T79" fmla="*/ 2147483647 h 306"/>
              <a:gd name="T80" fmla="*/ 2147483647 w 202"/>
              <a:gd name="T81" fmla="*/ 2147483647 h 306"/>
              <a:gd name="T82" fmla="*/ 2147483647 w 202"/>
              <a:gd name="T83" fmla="*/ 2147483647 h 306"/>
              <a:gd name="T84" fmla="*/ 2147483647 w 202"/>
              <a:gd name="T85" fmla="*/ 2147483647 h 306"/>
              <a:gd name="T86" fmla="*/ 2147483647 w 202"/>
              <a:gd name="T87" fmla="*/ 2147483647 h 306"/>
              <a:gd name="T88" fmla="*/ 2147483647 w 202"/>
              <a:gd name="T89" fmla="*/ 2147483647 h 306"/>
              <a:gd name="T90" fmla="*/ 2147483647 w 202"/>
              <a:gd name="T91" fmla="*/ 2147483647 h 306"/>
              <a:gd name="T92" fmla="*/ 2147483647 w 202"/>
              <a:gd name="T93" fmla="*/ 2147483647 h 306"/>
              <a:gd name="T94" fmla="*/ 2147483647 w 202"/>
              <a:gd name="T95" fmla="*/ 2147483647 h 306"/>
              <a:gd name="T96" fmla="*/ 2147483647 w 202"/>
              <a:gd name="T97" fmla="*/ 2147483647 h 306"/>
              <a:gd name="T98" fmla="*/ 2147483647 w 202"/>
              <a:gd name="T99" fmla="*/ 2147483647 h 30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02"/>
              <a:gd name="T151" fmla="*/ 0 h 306"/>
              <a:gd name="T152" fmla="*/ 202 w 202"/>
              <a:gd name="T153" fmla="*/ 306 h 30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02" h="306">
                <a:moveTo>
                  <a:pt x="16" y="305"/>
                </a:moveTo>
                <a:lnTo>
                  <a:pt x="0" y="22"/>
                </a:lnTo>
                <a:lnTo>
                  <a:pt x="9" y="13"/>
                </a:lnTo>
                <a:lnTo>
                  <a:pt x="15" y="14"/>
                </a:lnTo>
                <a:lnTo>
                  <a:pt x="21" y="13"/>
                </a:lnTo>
                <a:lnTo>
                  <a:pt x="22" y="10"/>
                </a:lnTo>
                <a:lnTo>
                  <a:pt x="27" y="11"/>
                </a:lnTo>
                <a:lnTo>
                  <a:pt x="31" y="7"/>
                </a:lnTo>
                <a:lnTo>
                  <a:pt x="37" y="9"/>
                </a:lnTo>
                <a:lnTo>
                  <a:pt x="41" y="6"/>
                </a:lnTo>
                <a:lnTo>
                  <a:pt x="46" y="5"/>
                </a:lnTo>
                <a:lnTo>
                  <a:pt x="52" y="3"/>
                </a:lnTo>
                <a:lnTo>
                  <a:pt x="57" y="4"/>
                </a:lnTo>
                <a:lnTo>
                  <a:pt x="62" y="3"/>
                </a:lnTo>
                <a:lnTo>
                  <a:pt x="66" y="0"/>
                </a:lnTo>
                <a:lnTo>
                  <a:pt x="74" y="0"/>
                </a:lnTo>
                <a:lnTo>
                  <a:pt x="80" y="1"/>
                </a:lnTo>
                <a:lnTo>
                  <a:pt x="83" y="1"/>
                </a:lnTo>
                <a:lnTo>
                  <a:pt x="86" y="3"/>
                </a:lnTo>
                <a:lnTo>
                  <a:pt x="92" y="4"/>
                </a:lnTo>
                <a:lnTo>
                  <a:pt x="98" y="7"/>
                </a:lnTo>
                <a:lnTo>
                  <a:pt x="103" y="7"/>
                </a:lnTo>
                <a:lnTo>
                  <a:pt x="111" y="10"/>
                </a:lnTo>
                <a:lnTo>
                  <a:pt x="115" y="12"/>
                </a:lnTo>
                <a:lnTo>
                  <a:pt x="121" y="11"/>
                </a:lnTo>
                <a:lnTo>
                  <a:pt x="125" y="16"/>
                </a:lnTo>
                <a:lnTo>
                  <a:pt x="131" y="17"/>
                </a:lnTo>
                <a:lnTo>
                  <a:pt x="135" y="19"/>
                </a:lnTo>
                <a:lnTo>
                  <a:pt x="140" y="21"/>
                </a:lnTo>
                <a:lnTo>
                  <a:pt x="142" y="24"/>
                </a:lnTo>
                <a:lnTo>
                  <a:pt x="146" y="27"/>
                </a:lnTo>
                <a:lnTo>
                  <a:pt x="151" y="31"/>
                </a:lnTo>
                <a:lnTo>
                  <a:pt x="153" y="35"/>
                </a:lnTo>
                <a:lnTo>
                  <a:pt x="156" y="36"/>
                </a:lnTo>
                <a:lnTo>
                  <a:pt x="160" y="41"/>
                </a:lnTo>
                <a:lnTo>
                  <a:pt x="163" y="44"/>
                </a:lnTo>
                <a:lnTo>
                  <a:pt x="168" y="46"/>
                </a:lnTo>
                <a:lnTo>
                  <a:pt x="172" y="50"/>
                </a:lnTo>
                <a:lnTo>
                  <a:pt x="176" y="53"/>
                </a:lnTo>
                <a:lnTo>
                  <a:pt x="178" y="55"/>
                </a:lnTo>
                <a:lnTo>
                  <a:pt x="182" y="59"/>
                </a:lnTo>
                <a:lnTo>
                  <a:pt x="185" y="62"/>
                </a:lnTo>
                <a:lnTo>
                  <a:pt x="186" y="67"/>
                </a:lnTo>
                <a:lnTo>
                  <a:pt x="189" y="73"/>
                </a:lnTo>
                <a:lnTo>
                  <a:pt x="192" y="76"/>
                </a:lnTo>
                <a:lnTo>
                  <a:pt x="196" y="80"/>
                </a:lnTo>
                <a:lnTo>
                  <a:pt x="198" y="84"/>
                </a:lnTo>
                <a:lnTo>
                  <a:pt x="200" y="90"/>
                </a:lnTo>
                <a:lnTo>
                  <a:pt x="201" y="99"/>
                </a:lnTo>
                <a:lnTo>
                  <a:pt x="16" y="305"/>
                </a:lnTo>
              </a:path>
            </a:pathLst>
          </a:cu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26" name="Arc 20"/>
          <p:cNvSpPr>
            <a:spLocks/>
          </p:cNvSpPr>
          <p:nvPr/>
        </p:nvSpPr>
        <p:spPr bwMode="auto">
          <a:xfrm rot="-267806">
            <a:off x="3659188" y="3998913"/>
            <a:ext cx="209550" cy="236537"/>
          </a:xfrm>
          <a:custGeom>
            <a:avLst/>
            <a:gdLst>
              <a:gd name="T0" fmla="*/ 0 w 21745"/>
              <a:gd name="T1" fmla="*/ 0 h 21600"/>
              <a:gd name="T2" fmla="*/ 2147483647 w 21745"/>
              <a:gd name="T3" fmla="*/ 2147483647 h 21600"/>
              <a:gd name="T4" fmla="*/ 1118793110 w 21745"/>
              <a:gd name="T5" fmla="*/ 2147483647 h 21600"/>
              <a:gd name="T6" fmla="*/ 0 60000 65536"/>
              <a:gd name="T7" fmla="*/ 0 60000 65536"/>
              <a:gd name="T8" fmla="*/ 0 60000 65536"/>
              <a:gd name="T9" fmla="*/ 0 w 21745"/>
              <a:gd name="T10" fmla="*/ 0 h 21600"/>
              <a:gd name="T11" fmla="*/ 21745 w 2174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45" h="21600" fill="none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</a:path>
              <a:path w="21745" h="21600" stroke="0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  <a:lnTo>
                  <a:pt x="145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27" name="Line 21"/>
          <p:cNvSpPr>
            <a:spLocks noChangeShapeType="1"/>
          </p:cNvSpPr>
          <p:nvPr/>
        </p:nvSpPr>
        <p:spPr bwMode="auto">
          <a:xfrm rot="1112195">
            <a:off x="3590925" y="3824288"/>
            <a:ext cx="31750" cy="6461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28" name="Oval 22"/>
          <p:cNvSpPr>
            <a:spLocks noChangeArrowheads="1"/>
          </p:cNvSpPr>
          <p:nvPr/>
        </p:nvSpPr>
        <p:spPr bwMode="auto">
          <a:xfrm rot="-2847806">
            <a:off x="3724276" y="4008437"/>
            <a:ext cx="112712" cy="1762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29" name="Line 23"/>
          <p:cNvSpPr>
            <a:spLocks noChangeShapeType="1"/>
          </p:cNvSpPr>
          <p:nvPr/>
        </p:nvSpPr>
        <p:spPr bwMode="auto">
          <a:xfrm rot="1112195" flipV="1">
            <a:off x="3584575" y="4056063"/>
            <a:ext cx="381000" cy="476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30" name="Rectangle 24"/>
          <p:cNvSpPr>
            <a:spLocks noGrp="1" noChangeArrowheads="1"/>
          </p:cNvSpPr>
          <p:nvPr>
            <p:ph type="title"/>
          </p:nvPr>
        </p:nvSpPr>
        <p:spPr>
          <a:xfrm>
            <a:off x="355600" y="-152400"/>
            <a:ext cx="8229600" cy="1143000"/>
          </a:xfrm>
          <a:noFill/>
        </p:spPr>
        <p:txBody>
          <a:bodyPr/>
          <a:lstStyle/>
          <a:p>
            <a:r>
              <a:rPr lang="en-US" dirty="0"/>
              <a:t>Stereo image rectification</a:t>
            </a:r>
          </a:p>
        </p:txBody>
      </p:sp>
      <p:sp>
        <p:nvSpPr>
          <p:cNvPr id="43031" name="Oval 12"/>
          <p:cNvSpPr>
            <a:spLocks noChangeArrowheads="1"/>
          </p:cNvSpPr>
          <p:nvPr/>
        </p:nvSpPr>
        <p:spPr bwMode="auto">
          <a:xfrm>
            <a:off x="6983413" y="3397250"/>
            <a:ext cx="55562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3032" name="Oval 13"/>
          <p:cNvSpPr>
            <a:spLocks noChangeArrowheads="1"/>
          </p:cNvSpPr>
          <p:nvPr/>
        </p:nvSpPr>
        <p:spPr bwMode="auto">
          <a:xfrm>
            <a:off x="5119688" y="2730500"/>
            <a:ext cx="57150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23149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reeform 2"/>
          <p:cNvSpPr>
            <a:spLocks/>
          </p:cNvSpPr>
          <p:nvPr/>
        </p:nvSpPr>
        <p:spPr bwMode="auto">
          <a:xfrm>
            <a:off x="7291388" y="685800"/>
            <a:ext cx="1220787" cy="839788"/>
          </a:xfrm>
          <a:custGeom>
            <a:avLst/>
            <a:gdLst>
              <a:gd name="T0" fmla="*/ 2147483647 w 865"/>
              <a:gd name="T1" fmla="*/ 0 h 529"/>
              <a:gd name="T2" fmla="*/ 2147483647 w 865"/>
              <a:gd name="T3" fmla="*/ 2147483647 h 529"/>
              <a:gd name="T4" fmla="*/ 2147483647 w 865"/>
              <a:gd name="T5" fmla="*/ 2147483647 h 529"/>
              <a:gd name="T6" fmla="*/ 2147483647 w 865"/>
              <a:gd name="T7" fmla="*/ 2147483647 h 529"/>
              <a:gd name="T8" fmla="*/ 2147483647 w 865"/>
              <a:gd name="T9" fmla="*/ 2147483647 h 529"/>
              <a:gd name="T10" fmla="*/ 2147483647 w 865"/>
              <a:gd name="T11" fmla="*/ 2147483647 h 529"/>
              <a:gd name="T12" fmla="*/ 2147483647 w 865"/>
              <a:gd name="T13" fmla="*/ 2147483647 h 529"/>
              <a:gd name="T14" fmla="*/ 2147483647 w 865"/>
              <a:gd name="T15" fmla="*/ 2147483647 h 529"/>
              <a:gd name="T16" fmla="*/ 2147483647 w 865"/>
              <a:gd name="T17" fmla="*/ 2147483647 h 529"/>
              <a:gd name="T18" fmla="*/ 0 w 865"/>
              <a:gd name="T19" fmla="*/ 2147483647 h 529"/>
              <a:gd name="T20" fmla="*/ 0 w 865"/>
              <a:gd name="T21" fmla="*/ 2147483647 h 529"/>
              <a:gd name="T22" fmla="*/ 0 w 865"/>
              <a:gd name="T23" fmla="*/ 2147483647 h 529"/>
              <a:gd name="T24" fmla="*/ 2147483647 w 865"/>
              <a:gd name="T25" fmla="*/ 2147483647 h 529"/>
              <a:gd name="T26" fmla="*/ 2147483647 w 865"/>
              <a:gd name="T27" fmla="*/ 2147483647 h 529"/>
              <a:gd name="T28" fmla="*/ 2147483647 w 865"/>
              <a:gd name="T29" fmla="*/ 2147483647 h 529"/>
              <a:gd name="T30" fmla="*/ 2147483647 w 865"/>
              <a:gd name="T31" fmla="*/ 2147483647 h 529"/>
              <a:gd name="T32" fmla="*/ 2147483647 w 865"/>
              <a:gd name="T33" fmla="*/ 2147483647 h 529"/>
              <a:gd name="T34" fmla="*/ 2147483647 w 865"/>
              <a:gd name="T35" fmla="*/ 2147483647 h 529"/>
              <a:gd name="T36" fmla="*/ 2147483647 w 865"/>
              <a:gd name="T37" fmla="*/ 2147483647 h 529"/>
              <a:gd name="T38" fmla="*/ 2147483647 w 865"/>
              <a:gd name="T39" fmla="*/ 2147483647 h 529"/>
              <a:gd name="T40" fmla="*/ 2147483647 w 865"/>
              <a:gd name="T41" fmla="*/ 2147483647 h 529"/>
              <a:gd name="T42" fmla="*/ 2147483647 w 865"/>
              <a:gd name="T43" fmla="*/ 2147483647 h 529"/>
              <a:gd name="T44" fmla="*/ 2147483647 w 865"/>
              <a:gd name="T45" fmla="*/ 2147483647 h 529"/>
              <a:gd name="T46" fmla="*/ 2147483647 w 865"/>
              <a:gd name="T47" fmla="*/ 2147483647 h 529"/>
              <a:gd name="T48" fmla="*/ 2147483647 w 865"/>
              <a:gd name="T49" fmla="*/ 2147483647 h 529"/>
              <a:gd name="T50" fmla="*/ 2147483647 w 865"/>
              <a:gd name="T51" fmla="*/ 2147483647 h 529"/>
              <a:gd name="T52" fmla="*/ 2147483647 w 865"/>
              <a:gd name="T53" fmla="*/ 2147483647 h 529"/>
              <a:gd name="T54" fmla="*/ 2147483647 w 865"/>
              <a:gd name="T55" fmla="*/ 2147483647 h 529"/>
              <a:gd name="T56" fmla="*/ 2147483647 w 865"/>
              <a:gd name="T57" fmla="*/ 2147483647 h 529"/>
              <a:gd name="T58" fmla="*/ 2147483647 w 865"/>
              <a:gd name="T59" fmla="*/ 2147483647 h 529"/>
              <a:gd name="T60" fmla="*/ 2147483647 w 865"/>
              <a:gd name="T61" fmla="*/ 2147483647 h 529"/>
              <a:gd name="T62" fmla="*/ 2147483647 w 865"/>
              <a:gd name="T63" fmla="*/ 2147483647 h 529"/>
              <a:gd name="T64" fmla="*/ 2147483647 w 865"/>
              <a:gd name="T65" fmla="*/ 2147483647 h 529"/>
              <a:gd name="T66" fmla="*/ 2147483647 w 865"/>
              <a:gd name="T67" fmla="*/ 2147483647 h 529"/>
              <a:gd name="T68" fmla="*/ 2147483647 w 865"/>
              <a:gd name="T69" fmla="*/ 2147483647 h 529"/>
              <a:gd name="T70" fmla="*/ 2147483647 w 865"/>
              <a:gd name="T71" fmla="*/ 2147483647 h 529"/>
              <a:gd name="T72" fmla="*/ 2147483647 w 865"/>
              <a:gd name="T73" fmla="*/ 2147483647 h 529"/>
              <a:gd name="T74" fmla="*/ 2147483647 w 865"/>
              <a:gd name="T75" fmla="*/ 2147483647 h 529"/>
              <a:gd name="T76" fmla="*/ 2147483647 w 865"/>
              <a:gd name="T77" fmla="*/ 2147483647 h 529"/>
              <a:gd name="T78" fmla="*/ 2147483647 w 865"/>
              <a:gd name="T79" fmla="*/ 0 h 52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865"/>
              <a:gd name="T121" fmla="*/ 0 h 529"/>
              <a:gd name="T122" fmla="*/ 865 w 865"/>
              <a:gd name="T123" fmla="*/ 529 h 529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865" h="529">
                <a:moveTo>
                  <a:pt x="84" y="0"/>
                </a:moveTo>
                <a:lnTo>
                  <a:pt x="72" y="24"/>
                </a:lnTo>
                <a:lnTo>
                  <a:pt x="72" y="48"/>
                </a:lnTo>
                <a:lnTo>
                  <a:pt x="48" y="72"/>
                </a:lnTo>
                <a:lnTo>
                  <a:pt x="36" y="96"/>
                </a:lnTo>
                <a:lnTo>
                  <a:pt x="36" y="120"/>
                </a:lnTo>
                <a:lnTo>
                  <a:pt x="36" y="144"/>
                </a:lnTo>
                <a:lnTo>
                  <a:pt x="24" y="168"/>
                </a:lnTo>
                <a:lnTo>
                  <a:pt x="12" y="192"/>
                </a:lnTo>
                <a:lnTo>
                  <a:pt x="0" y="216"/>
                </a:lnTo>
                <a:lnTo>
                  <a:pt x="0" y="240"/>
                </a:lnTo>
                <a:lnTo>
                  <a:pt x="0" y="264"/>
                </a:lnTo>
                <a:lnTo>
                  <a:pt x="12" y="288"/>
                </a:lnTo>
                <a:lnTo>
                  <a:pt x="12" y="312"/>
                </a:lnTo>
                <a:lnTo>
                  <a:pt x="24" y="336"/>
                </a:lnTo>
                <a:lnTo>
                  <a:pt x="24" y="360"/>
                </a:lnTo>
                <a:lnTo>
                  <a:pt x="36" y="384"/>
                </a:lnTo>
                <a:lnTo>
                  <a:pt x="36" y="408"/>
                </a:lnTo>
                <a:lnTo>
                  <a:pt x="48" y="432"/>
                </a:lnTo>
                <a:lnTo>
                  <a:pt x="60" y="456"/>
                </a:lnTo>
                <a:lnTo>
                  <a:pt x="852" y="528"/>
                </a:lnTo>
                <a:lnTo>
                  <a:pt x="804" y="480"/>
                </a:lnTo>
                <a:lnTo>
                  <a:pt x="792" y="456"/>
                </a:lnTo>
                <a:lnTo>
                  <a:pt x="780" y="420"/>
                </a:lnTo>
                <a:lnTo>
                  <a:pt x="768" y="396"/>
                </a:lnTo>
                <a:lnTo>
                  <a:pt x="756" y="372"/>
                </a:lnTo>
                <a:lnTo>
                  <a:pt x="744" y="348"/>
                </a:lnTo>
                <a:lnTo>
                  <a:pt x="744" y="324"/>
                </a:lnTo>
                <a:lnTo>
                  <a:pt x="744" y="288"/>
                </a:lnTo>
                <a:lnTo>
                  <a:pt x="744" y="264"/>
                </a:lnTo>
                <a:lnTo>
                  <a:pt x="744" y="240"/>
                </a:lnTo>
                <a:lnTo>
                  <a:pt x="768" y="216"/>
                </a:lnTo>
                <a:lnTo>
                  <a:pt x="768" y="192"/>
                </a:lnTo>
                <a:lnTo>
                  <a:pt x="780" y="168"/>
                </a:lnTo>
                <a:lnTo>
                  <a:pt x="804" y="156"/>
                </a:lnTo>
                <a:lnTo>
                  <a:pt x="804" y="132"/>
                </a:lnTo>
                <a:lnTo>
                  <a:pt x="828" y="108"/>
                </a:lnTo>
                <a:lnTo>
                  <a:pt x="852" y="96"/>
                </a:lnTo>
                <a:lnTo>
                  <a:pt x="864" y="72"/>
                </a:lnTo>
                <a:lnTo>
                  <a:pt x="84" y="0"/>
                </a:lnTo>
              </a:path>
            </a:pathLst>
          </a:custGeom>
          <a:gradFill rotWithShape="0">
            <a:gsLst>
              <a:gs pos="0">
                <a:srgbClr val="012501"/>
              </a:gs>
              <a:gs pos="100000">
                <a:srgbClr val="037C03"/>
              </a:gs>
            </a:gsLst>
            <a:lin ang="18900000" scaled="1"/>
          </a:gradFill>
          <a:ln w="9525" cap="rnd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35" name="Line 3"/>
          <p:cNvSpPr>
            <a:spLocks noChangeShapeType="1"/>
          </p:cNvSpPr>
          <p:nvPr/>
        </p:nvSpPr>
        <p:spPr bwMode="auto">
          <a:xfrm>
            <a:off x="4700588" y="4038600"/>
            <a:ext cx="325120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auto">
          <a:xfrm flipV="1">
            <a:off x="6021388" y="990600"/>
            <a:ext cx="1795462" cy="1771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37" name="Freeform 5"/>
          <p:cNvSpPr>
            <a:spLocks/>
          </p:cNvSpPr>
          <p:nvPr/>
        </p:nvSpPr>
        <p:spPr bwMode="auto">
          <a:xfrm>
            <a:off x="4632325" y="1447800"/>
            <a:ext cx="1695450" cy="1601788"/>
          </a:xfrm>
          <a:custGeom>
            <a:avLst/>
            <a:gdLst>
              <a:gd name="T0" fmla="*/ 2147483647 w 1201"/>
              <a:gd name="T1" fmla="*/ 2147483647 h 1009"/>
              <a:gd name="T2" fmla="*/ 2147483647 w 1201"/>
              <a:gd name="T3" fmla="*/ 2147483647 h 1009"/>
              <a:gd name="T4" fmla="*/ 2147483647 w 1201"/>
              <a:gd name="T5" fmla="*/ 2147483647 h 1009"/>
              <a:gd name="T6" fmla="*/ 0 w 1201"/>
              <a:gd name="T7" fmla="*/ 0 h 1009"/>
              <a:gd name="T8" fmla="*/ 2147483647 w 1201"/>
              <a:gd name="T9" fmla="*/ 2147483647 h 10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009"/>
              <a:gd name="T17" fmla="*/ 1201 w 1201"/>
              <a:gd name="T18" fmla="*/ 1009 h 100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1" h="1009">
                <a:moveTo>
                  <a:pt x="336" y="576"/>
                </a:moveTo>
                <a:lnTo>
                  <a:pt x="1200" y="1008"/>
                </a:lnTo>
                <a:lnTo>
                  <a:pt x="864" y="432"/>
                </a:lnTo>
                <a:lnTo>
                  <a:pt x="0" y="0"/>
                </a:lnTo>
                <a:lnTo>
                  <a:pt x="336" y="576"/>
                </a:lnTo>
              </a:path>
            </a:pathLst>
          </a:custGeom>
          <a:solidFill>
            <a:srgbClr val="919191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38" name="Line 6"/>
          <p:cNvSpPr>
            <a:spLocks noChangeShapeType="1"/>
          </p:cNvSpPr>
          <p:nvPr/>
        </p:nvSpPr>
        <p:spPr bwMode="auto">
          <a:xfrm flipH="1" flipV="1">
            <a:off x="7816850" y="990600"/>
            <a:ext cx="66675" cy="2438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flipV="1">
            <a:off x="5343525" y="2743200"/>
            <a:ext cx="677863" cy="666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40" name="Freeform 8"/>
          <p:cNvSpPr>
            <a:spLocks/>
          </p:cNvSpPr>
          <p:nvPr/>
        </p:nvSpPr>
        <p:spPr bwMode="auto">
          <a:xfrm>
            <a:off x="4497388" y="2219325"/>
            <a:ext cx="1220787" cy="2001838"/>
          </a:xfrm>
          <a:custGeom>
            <a:avLst/>
            <a:gdLst>
              <a:gd name="T0" fmla="*/ 0 w 865"/>
              <a:gd name="T1" fmla="*/ 2147483647 h 1261"/>
              <a:gd name="T2" fmla="*/ 2147483647 w 865"/>
              <a:gd name="T3" fmla="*/ 2147483647 h 1261"/>
              <a:gd name="T4" fmla="*/ 2147483647 w 865"/>
              <a:gd name="T5" fmla="*/ 2147483647 h 1261"/>
              <a:gd name="T6" fmla="*/ 0 w 865"/>
              <a:gd name="T7" fmla="*/ 0 h 1261"/>
              <a:gd name="T8" fmla="*/ 0 w 865"/>
              <a:gd name="T9" fmla="*/ 2147483647 h 12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5"/>
              <a:gd name="T16" fmla="*/ 0 h 1261"/>
              <a:gd name="T17" fmla="*/ 865 w 865"/>
              <a:gd name="T18" fmla="*/ 1261 h 12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5" h="1261">
                <a:moveTo>
                  <a:pt x="0" y="828"/>
                </a:moveTo>
                <a:lnTo>
                  <a:pt x="864" y="1260"/>
                </a:lnTo>
                <a:lnTo>
                  <a:pt x="864" y="414"/>
                </a:lnTo>
                <a:lnTo>
                  <a:pt x="0" y="0"/>
                </a:lnTo>
                <a:lnTo>
                  <a:pt x="0" y="828"/>
                </a:lnTo>
              </a:path>
            </a:pathLst>
          </a:custGeom>
          <a:solidFill>
            <a:srgbClr val="FEBF02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41" name="Freeform 9"/>
          <p:cNvSpPr>
            <a:spLocks/>
          </p:cNvSpPr>
          <p:nvPr/>
        </p:nvSpPr>
        <p:spPr bwMode="auto">
          <a:xfrm>
            <a:off x="7410450" y="2743200"/>
            <a:ext cx="1558925" cy="1525588"/>
          </a:xfrm>
          <a:custGeom>
            <a:avLst/>
            <a:gdLst>
              <a:gd name="T0" fmla="*/ 0 w 1105"/>
              <a:gd name="T1" fmla="*/ 2147483647 h 961"/>
              <a:gd name="T2" fmla="*/ 0 w 1105"/>
              <a:gd name="T3" fmla="*/ 2147483647 h 961"/>
              <a:gd name="T4" fmla="*/ 2147483647 w 1105"/>
              <a:gd name="T5" fmla="*/ 2147483647 h 961"/>
              <a:gd name="T6" fmla="*/ 2147483647 w 1105"/>
              <a:gd name="T7" fmla="*/ 0 h 961"/>
              <a:gd name="T8" fmla="*/ 0 w 1105"/>
              <a:gd name="T9" fmla="*/ 2147483647 h 9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5"/>
              <a:gd name="T16" fmla="*/ 0 h 961"/>
              <a:gd name="T17" fmla="*/ 1105 w 1105"/>
              <a:gd name="T18" fmla="*/ 961 h 9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5" h="961">
                <a:moveTo>
                  <a:pt x="0" y="202"/>
                </a:moveTo>
                <a:lnTo>
                  <a:pt x="0" y="960"/>
                </a:lnTo>
                <a:lnTo>
                  <a:pt x="1104" y="758"/>
                </a:lnTo>
                <a:lnTo>
                  <a:pt x="1104" y="0"/>
                </a:lnTo>
                <a:lnTo>
                  <a:pt x="0" y="202"/>
                </a:lnTo>
              </a:path>
            </a:pathLst>
          </a:custGeom>
          <a:solidFill>
            <a:srgbClr val="919191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 flipH="1" flipV="1">
            <a:off x="7883525" y="3429000"/>
            <a:ext cx="34925" cy="142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43" name="Freeform 11"/>
          <p:cNvSpPr>
            <a:spLocks/>
          </p:cNvSpPr>
          <p:nvPr/>
        </p:nvSpPr>
        <p:spPr bwMode="auto">
          <a:xfrm>
            <a:off x="7613650" y="3937000"/>
            <a:ext cx="1220788" cy="2001838"/>
          </a:xfrm>
          <a:custGeom>
            <a:avLst/>
            <a:gdLst>
              <a:gd name="T0" fmla="*/ 0 w 865"/>
              <a:gd name="T1" fmla="*/ 2147483647 h 1261"/>
              <a:gd name="T2" fmla="*/ 2147483647 w 865"/>
              <a:gd name="T3" fmla="*/ 2147483647 h 1261"/>
              <a:gd name="T4" fmla="*/ 2147483647 w 865"/>
              <a:gd name="T5" fmla="*/ 2147483647 h 1261"/>
              <a:gd name="T6" fmla="*/ 0 w 865"/>
              <a:gd name="T7" fmla="*/ 0 h 1261"/>
              <a:gd name="T8" fmla="*/ 0 w 865"/>
              <a:gd name="T9" fmla="*/ 2147483647 h 12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5"/>
              <a:gd name="T16" fmla="*/ 0 h 1261"/>
              <a:gd name="T17" fmla="*/ 865 w 865"/>
              <a:gd name="T18" fmla="*/ 1261 h 12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5" h="1261">
                <a:moveTo>
                  <a:pt x="0" y="828"/>
                </a:moveTo>
                <a:lnTo>
                  <a:pt x="864" y="1260"/>
                </a:lnTo>
                <a:lnTo>
                  <a:pt x="864" y="414"/>
                </a:lnTo>
                <a:lnTo>
                  <a:pt x="0" y="0"/>
                </a:lnTo>
                <a:lnTo>
                  <a:pt x="0" y="828"/>
                </a:lnTo>
              </a:path>
            </a:pathLst>
          </a:custGeom>
          <a:solidFill>
            <a:srgbClr val="FEBF02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44" name="Line 12"/>
          <p:cNvSpPr>
            <a:spLocks noChangeShapeType="1"/>
          </p:cNvSpPr>
          <p:nvPr/>
        </p:nvSpPr>
        <p:spPr bwMode="auto">
          <a:xfrm flipV="1">
            <a:off x="4700588" y="3409950"/>
            <a:ext cx="6429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45" name="Line 13"/>
          <p:cNvSpPr>
            <a:spLocks noChangeShapeType="1"/>
          </p:cNvSpPr>
          <p:nvPr/>
        </p:nvSpPr>
        <p:spPr bwMode="auto">
          <a:xfrm flipH="1" flipV="1">
            <a:off x="7918450" y="4857750"/>
            <a:ext cx="33338" cy="1009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46" name="Oval 16"/>
          <p:cNvSpPr>
            <a:spLocks noChangeArrowheads="1"/>
          </p:cNvSpPr>
          <p:nvPr/>
        </p:nvSpPr>
        <p:spPr bwMode="auto">
          <a:xfrm>
            <a:off x="7856538" y="3397250"/>
            <a:ext cx="55562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47" name="Oval 17"/>
          <p:cNvSpPr>
            <a:spLocks noChangeArrowheads="1"/>
          </p:cNvSpPr>
          <p:nvPr/>
        </p:nvSpPr>
        <p:spPr bwMode="auto">
          <a:xfrm>
            <a:off x="5992813" y="2730500"/>
            <a:ext cx="57150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48" name="Freeform 18"/>
          <p:cNvSpPr>
            <a:spLocks/>
          </p:cNvSpPr>
          <p:nvPr/>
        </p:nvSpPr>
        <p:spPr bwMode="auto">
          <a:xfrm>
            <a:off x="4343400" y="3989388"/>
            <a:ext cx="393700" cy="387350"/>
          </a:xfrm>
          <a:custGeom>
            <a:avLst/>
            <a:gdLst>
              <a:gd name="T0" fmla="*/ 0 w 279"/>
              <a:gd name="T1" fmla="*/ 2147483647 h 244"/>
              <a:gd name="T2" fmla="*/ 2147483647 w 279"/>
              <a:gd name="T3" fmla="*/ 2147483647 h 244"/>
              <a:gd name="T4" fmla="*/ 2147483647 w 279"/>
              <a:gd name="T5" fmla="*/ 0 h 244"/>
              <a:gd name="T6" fmla="*/ 2147483647 w 279"/>
              <a:gd name="T7" fmla="*/ 2147483647 h 244"/>
              <a:gd name="T8" fmla="*/ 2147483647 w 279"/>
              <a:gd name="T9" fmla="*/ 2147483647 h 244"/>
              <a:gd name="T10" fmla="*/ 2147483647 w 279"/>
              <a:gd name="T11" fmla="*/ 2147483647 h 244"/>
              <a:gd name="T12" fmla="*/ 2147483647 w 279"/>
              <a:gd name="T13" fmla="*/ 2147483647 h 244"/>
              <a:gd name="T14" fmla="*/ 2147483647 w 279"/>
              <a:gd name="T15" fmla="*/ 2147483647 h 244"/>
              <a:gd name="T16" fmla="*/ 2147483647 w 279"/>
              <a:gd name="T17" fmla="*/ 2147483647 h 244"/>
              <a:gd name="T18" fmla="*/ 2147483647 w 279"/>
              <a:gd name="T19" fmla="*/ 2147483647 h 244"/>
              <a:gd name="T20" fmla="*/ 2147483647 w 279"/>
              <a:gd name="T21" fmla="*/ 2147483647 h 244"/>
              <a:gd name="T22" fmla="*/ 2147483647 w 279"/>
              <a:gd name="T23" fmla="*/ 2147483647 h 244"/>
              <a:gd name="T24" fmla="*/ 2147483647 w 279"/>
              <a:gd name="T25" fmla="*/ 2147483647 h 244"/>
              <a:gd name="T26" fmla="*/ 2147483647 w 279"/>
              <a:gd name="T27" fmla="*/ 2147483647 h 244"/>
              <a:gd name="T28" fmla="*/ 2147483647 w 279"/>
              <a:gd name="T29" fmla="*/ 2147483647 h 244"/>
              <a:gd name="T30" fmla="*/ 2147483647 w 279"/>
              <a:gd name="T31" fmla="*/ 2147483647 h 244"/>
              <a:gd name="T32" fmla="*/ 2147483647 w 279"/>
              <a:gd name="T33" fmla="*/ 2147483647 h 244"/>
              <a:gd name="T34" fmla="*/ 2147483647 w 279"/>
              <a:gd name="T35" fmla="*/ 2147483647 h 244"/>
              <a:gd name="T36" fmla="*/ 2147483647 w 279"/>
              <a:gd name="T37" fmla="*/ 2147483647 h 244"/>
              <a:gd name="T38" fmla="*/ 2147483647 w 279"/>
              <a:gd name="T39" fmla="*/ 2147483647 h 244"/>
              <a:gd name="T40" fmla="*/ 2147483647 w 279"/>
              <a:gd name="T41" fmla="*/ 2147483647 h 244"/>
              <a:gd name="T42" fmla="*/ 2147483647 w 279"/>
              <a:gd name="T43" fmla="*/ 2147483647 h 244"/>
              <a:gd name="T44" fmla="*/ 2147483647 w 279"/>
              <a:gd name="T45" fmla="*/ 2147483647 h 244"/>
              <a:gd name="T46" fmla="*/ 2147483647 w 279"/>
              <a:gd name="T47" fmla="*/ 2147483647 h 244"/>
              <a:gd name="T48" fmla="*/ 2147483647 w 279"/>
              <a:gd name="T49" fmla="*/ 2147483647 h 244"/>
              <a:gd name="T50" fmla="*/ 2147483647 w 279"/>
              <a:gd name="T51" fmla="*/ 2147483647 h 244"/>
              <a:gd name="T52" fmla="*/ 2147483647 w 279"/>
              <a:gd name="T53" fmla="*/ 2147483647 h 244"/>
              <a:gd name="T54" fmla="*/ 2147483647 w 279"/>
              <a:gd name="T55" fmla="*/ 2147483647 h 244"/>
              <a:gd name="T56" fmla="*/ 2147483647 w 279"/>
              <a:gd name="T57" fmla="*/ 2147483647 h 244"/>
              <a:gd name="T58" fmla="*/ 2147483647 w 279"/>
              <a:gd name="T59" fmla="*/ 2147483647 h 244"/>
              <a:gd name="T60" fmla="*/ 2147483647 w 279"/>
              <a:gd name="T61" fmla="*/ 2147483647 h 244"/>
              <a:gd name="T62" fmla="*/ 2147483647 w 279"/>
              <a:gd name="T63" fmla="*/ 2147483647 h 244"/>
              <a:gd name="T64" fmla="*/ 2147483647 w 279"/>
              <a:gd name="T65" fmla="*/ 2147483647 h 244"/>
              <a:gd name="T66" fmla="*/ 2147483647 w 279"/>
              <a:gd name="T67" fmla="*/ 2147483647 h 244"/>
              <a:gd name="T68" fmla="*/ 2147483647 w 279"/>
              <a:gd name="T69" fmla="*/ 2147483647 h 244"/>
              <a:gd name="T70" fmla="*/ 2147483647 w 279"/>
              <a:gd name="T71" fmla="*/ 2147483647 h 244"/>
              <a:gd name="T72" fmla="*/ 2147483647 w 279"/>
              <a:gd name="T73" fmla="*/ 2147483647 h 244"/>
              <a:gd name="T74" fmla="*/ 2147483647 w 279"/>
              <a:gd name="T75" fmla="*/ 2147483647 h 244"/>
              <a:gd name="T76" fmla="*/ 2147483647 w 279"/>
              <a:gd name="T77" fmla="*/ 2147483647 h 244"/>
              <a:gd name="T78" fmla="*/ 2147483647 w 279"/>
              <a:gd name="T79" fmla="*/ 2147483647 h 244"/>
              <a:gd name="T80" fmla="*/ 2147483647 w 279"/>
              <a:gd name="T81" fmla="*/ 2147483647 h 244"/>
              <a:gd name="T82" fmla="*/ 2147483647 w 279"/>
              <a:gd name="T83" fmla="*/ 2147483647 h 244"/>
              <a:gd name="T84" fmla="*/ 2147483647 w 279"/>
              <a:gd name="T85" fmla="*/ 2147483647 h 244"/>
              <a:gd name="T86" fmla="*/ 2147483647 w 279"/>
              <a:gd name="T87" fmla="*/ 2147483647 h 244"/>
              <a:gd name="T88" fmla="*/ 2147483647 w 279"/>
              <a:gd name="T89" fmla="*/ 2147483647 h 244"/>
              <a:gd name="T90" fmla="*/ 2147483647 w 279"/>
              <a:gd name="T91" fmla="*/ 2147483647 h 244"/>
              <a:gd name="T92" fmla="*/ 2147483647 w 279"/>
              <a:gd name="T93" fmla="*/ 2147483647 h 244"/>
              <a:gd name="T94" fmla="*/ 2147483647 w 279"/>
              <a:gd name="T95" fmla="*/ 2147483647 h 244"/>
              <a:gd name="T96" fmla="*/ 2147483647 w 279"/>
              <a:gd name="T97" fmla="*/ 2147483647 h 244"/>
              <a:gd name="T98" fmla="*/ 0 w 279"/>
              <a:gd name="T99" fmla="*/ 2147483647 h 244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79"/>
              <a:gd name="T151" fmla="*/ 0 h 244"/>
              <a:gd name="T152" fmla="*/ 279 w 279"/>
              <a:gd name="T153" fmla="*/ 244 h 244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79" h="244">
                <a:moveTo>
                  <a:pt x="0" y="243"/>
                </a:moveTo>
                <a:lnTo>
                  <a:pt x="148" y="1"/>
                </a:lnTo>
                <a:lnTo>
                  <a:pt x="160" y="0"/>
                </a:lnTo>
                <a:lnTo>
                  <a:pt x="167" y="3"/>
                </a:lnTo>
                <a:lnTo>
                  <a:pt x="168" y="6"/>
                </a:lnTo>
                <a:lnTo>
                  <a:pt x="173" y="5"/>
                </a:lnTo>
                <a:lnTo>
                  <a:pt x="177" y="9"/>
                </a:lnTo>
                <a:lnTo>
                  <a:pt x="182" y="7"/>
                </a:lnTo>
                <a:lnTo>
                  <a:pt x="184" y="12"/>
                </a:lnTo>
                <a:lnTo>
                  <a:pt x="190" y="13"/>
                </a:lnTo>
                <a:lnTo>
                  <a:pt x="196" y="14"/>
                </a:lnTo>
                <a:lnTo>
                  <a:pt x="201" y="15"/>
                </a:lnTo>
                <a:lnTo>
                  <a:pt x="205" y="19"/>
                </a:lnTo>
                <a:lnTo>
                  <a:pt x="210" y="20"/>
                </a:lnTo>
                <a:lnTo>
                  <a:pt x="215" y="23"/>
                </a:lnTo>
                <a:lnTo>
                  <a:pt x="222" y="25"/>
                </a:lnTo>
                <a:lnTo>
                  <a:pt x="226" y="29"/>
                </a:lnTo>
                <a:lnTo>
                  <a:pt x="229" y="32"/>
                </a:lnTo>
                <a:lnTo>
                  <a:pt x="231" y="36"/>
                </a:lnTo>
                <a:lnTo>
                  <a:pt x="235" y="39"/>
                </a:lnTo>
                <a:lnTo>
                  <a:pt x="238" y="45"/>
                </a:lnTo>
                <a:lnTo>
                  <a:pt x="242" y="46"/>
                </a:lnTo>
                <a:lnTo>
                  <a:pt x="248" y="55"/>
                </a:lnTo>
                <a:lnTo>
                  <a:pt x="249" y="58"/>
                </a:lnTo>
                <a:lnTo>
                  <a:pt x="255" y="63"/>
                </a:lnTo>
                <a:lnTo>
                  <a:pt x="256" y="67"/>
                </a:lnTo>
                <a:lnTo>
                  <a:pt x="261" y="71"/>
                </a:lnTo>
                <a:lnTo>
                  <a:pt x="261" y="75"/>
                </a:lnTo>
                <a:lnTo>
                  <a:pt x="264" y="81"/>
                </a:lnTo>
                <a:lnTo>
                  <a:pt x="264" y="86"/>
                </a:lnTo>
                <a:lnTo>
                  <a:pt x="266" y="90"/>
                </a:lnTo>
                <a:lnTo>
                  <a:pt x="266" y="95"/>
                </a:lnTo>
                <a:lnTo>
                  <a:pt x="268" y="99"/>
                </a:lnTo>
                <a:lnTo>
                  <a:pt x="267" y="103"/>
                </a:lnTo>
                <a:lnTo>
                  <a:pt x="268" y="109"/>
                </a:lnTo>
                <a:lnTo>
                  <a:pt x="269" y="113"/>
                </a:lnTo>
                <a:lnTo>
                  <a:pt x="273" y="119"/>
                </a:lnTo>
                <a:lnTo>
                  <a:pt x="274" y="124"/>
                </a:lnTo>
                <a:lnTo>
                  <a:pt x="275" y="128"/>
                </a:lnTo>
                <a:lnTo>
                  <a:pt x="276" y="134"/>
                </a:lnTo>
                <a:lnTo>
                  <a:pt x="277" y="138"/>
                </a:lnTo>
                <a:lnTo>
                  <a:pt x="277" y="143"/>
                </a:lnTo>
                <a:lnTo>
                  <a:pt x="277" y="147"/>
                </a:lnTo>
                <a:lnTo>
                  <a:pt x="274" y="153"/>
                </a:lnTo>
                <a:lnTo>
                  <a:pt x="276" y="156"/>
                </a:lnTo>
                <a:lnTo>
                  <a:pt x="277" y="162"/>
                </a:lnTo>
                <a:lnTo>
                  <a:pt x="278" y="167"/>
                </a:lnTo>
                <a:lnTo>
                  <a:pt x="275" y="172"/>
                </a:lnTo>
                <a:lnTo>
                  <a:pt x="271" y="181"/>
                </a:lnTo>
                <a:lnTo>
                  <a:pt x="0" y="243"/>
                </a:lnTo>
              </a:path>
            </a:pathLst>
          </a:custGeom>
          <a:noFill/>
          <a:ln w="9525" cap="rnd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49" name="Arc 19"/>
          <p:cNvSpPr>
            <a:spLocks/>
          </p:cNvSpPr>
          <p:nvPr/>
        </p:nvSpPr>
        <p:spPr bwMode="auto">
          <a:xfrm rot="720000">
            <a:off x="4543425" y="4005263"/>
            <a:ext cx="211138" cy="236537"/>
          </a:xfrm>
          <a:custGeom>
            <a:avLst/>
            <a:gdLst>
              <a:gd name="T0" fmla="*/ 0 w 21745"/>
              <a:gd name="T1" fmla="*/ 0 h 21600"/>
              <a:gd name="T2" fmla="*/ 2147483647 w 21745"/>
              <a:gd name="T3" fmla="*/ 2147483647 h 21600"/>
              <a:gd name="T4" fmla="*/ 1179876122 w 21745"/>
              <a:gd name="T5" fmla="*/ 2147483647 h 21600"/>
              <a:gd name="T6" fmla="*/ 0 60000 65536"/>
              <a:gd name="T7" fmla="*/ 0 60000 65536"/>
              <a:gd name="T8" fmla="*/ 0 60000 65536"/>
              <a:gd name="T9" fmla="*/ 0 w 21745"/>
              <a:gd name="T10" fmla="*/ 0 h 21600"/>
              <a:gd name="T11" fmla="*/ 21745 w 2174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45" h="21600" fill="none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</a:path>
              <a:path w="21745" h="21600" stroke="0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  <a:lnTo>
                  <a:pt x="145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50" name="Line 20"/>
          <p:cNvSpPr>
            <a:spLocks noChangeShapeType="1"/>
          </p:cNvSpPr>
          <p:nvPr/>
        </p:nvSpPr>
        <p:spPr bwMode="auto">
          <a:xfrm flipH="1">
            <a:off x="4343400" y="3824288"/>
            <a:ext cx="303213" cy="5508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51" name="Oval 21"/>
          <p:cNvSpPr>
            <a:spLocks noChangeArrowheads="1"/>
          </p:cNvSpPr>
          <p:nvPr/>
        </p:nvSpPr>
        <p:spPr bwMode="auto">
          <a:xfrm rot="-1860000">
            <a:off x="4621213" y="4010025"/>
            <a:ext cx="100012" cy="1984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52" name="Line 22"/>
          <p:cNvSpPr>
            <a:spLocks noChangeShapeType="1"/>
          </p:cNvSpPr>
          <p:nvPr/>
        </p:nvSpPr>
        <p:spPr bwMode="auto">
          <a:xfrm flipV="1">
            <a:off x="4343400" y="4230688"/>
            <a:ext cx="555625" cy="144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53" name="Freeform 23"/>
          <p:cNvSpPr>
            <a:spLocks/>
          </p:cNvSpPr>
          <p:nvPr/>
        </p:nvSpPr>
        <p:spPr bwMode="auto">
          <a:xfrm>
            <a:off x="7594600" y="5818188"/>
            <a:ext cx="393700" cy="387350"/>
          </a:xfrm>
          <a:custGeom>
            <a:avLst/>
            <a:gdLst>
              <a:gd name="T0" fmla="*/ 0 w 279"/>
              <a:gd name="T1" fmla="*/ 2147483647 h 244"/>
              <a:gd name="T2" fmla="*/ 2147483647 w 279"/>
              <a:gd name="T3" fmla="*/ 2147483647 h 244"/>
              <a:gd name="T4" fmla="*/ 2147483647 w 279"/>
              <a:gd name="T5" fmla="*/ 0 h 244"/>
              <a:gd name="T6" fmla="*/ 2147483647 w 279"/>
              <a:gd name="T7" fmla="*/ 2147483647 h 244"/>
              <a:gd name="T8" fmla="*/ 2147483647 w 279"/>
              <a:gd name="T9" fmla="*/ 2147483647 h 244"/>
              <a:gd name="T10" fmla="*/ 2147483647 w 279"/>
              <a:gd name="T11" fmla="*/ 2147483647 h 244"/>
              <a:gd name="T12" fmla="*/ 2147483647 w 279"/>
              <a:gd name="T13" fmla="*/ 2147483647 h 244"/>
              <a:gd name="T14" fmla="*/ 2147483647 w 279"/>
              <a:gd name="T15" fmla="*/ 2147483647 h 244"/>
              <a:gd name="T16" fmla="*/ 2147483647 w 279"/>
              <a:gd name="T17" fmla="*/ 2147483647 h 244"/>
              <a:gd name="T18" fmla="*/ 2147483647 w 279"/>
              <a:gd name="T19" fmla="*/ 2147483647 h 244"/>
              <a:gd name="T20" fmla="*/ 2147483647 w 279"/>
              <a:gd name="T21" fmla="*/ 2147483647 h 244"/>
              <a:gd name="T22" fmla="*/ 2147483647 w 279"/>
              <a:gd name="T23" fmla="*/ 2147483647 h 244"/>
              <a:gd name="T24" fmla="*/ 2147483647 w 279"/>
              <a:gd name="T25" fmla="*/ 2147483647 h 244"/>
              <a:gd name="T26" fmla="*/ 2147483647 w 279"/>
              <a:gd name="T27" fmla="*/ 2147483647 h 244"/>
              <a:gd name="T28" fmla="*/ 2147483647 w 279"/>
              <a:gd name="T29" fmla="*/ 2147483647 h 244"/>
              <a:gd name="T30" fmla="*/ 2147483647 w 279"/>
              <a:gd name="T31" fmla="*/ 2147483647 h 244"/>
              <a:gd name="T32" fmla="*/ 2147483647 w 279"/>
              <a:gd name="T33" fmla="*/ 2147483647 h 244"/>
              <a:gd name="T34" fmla="*/ 2147483647 w 279"/>
              <a:gd name="T35" fmla="*/ 2147483647 h 244"/>
              <a:gd name="T36" fmla="*/ 2147483647 w 279"/>
              <a:gd name="T37" fmla="*/ 2147483647 h 244"/>
              <a:gd name="T38" fmla="*/ 2147483647 w 279"/>
              <a:gd name="T39" fmla="*/ 2147483647 h 244"/>
              <a:gd name="T40" fmla="*/ 2147483647 w 279"/>
              <a:gd name="T41" fmla="*/ 2147483647 h 244"/>
              <a:gd name="T42" fmla="*/ 2147483647 w 279"/>
              <a:gd name="T43" fmla="*/ 2147483647 h 244"/>
              <a:gd name="T44" fmla="*/ 2147483647 w 279"/>
              <a:gd name="T45" fmla="*/ 2147483647 h 244"/>
              <a:gd name="T46" fmla="*/ 2147483647 w 279"/>
              <a:gd name="T47" fmla="*/ 2147483647 h 244"/>
              <a:gd name="T48" fmla="*/ 2147483647 w 279"/>
              <a:gd name="T49" fmla="*/ 2147483647 h 244"/>
              <a:gd name="T50" fmla="*/ 2147483647 w 279"/>
              <a:gd name="T51" fmla="*/ 2147483647 h 244"/>
              <a:gd name="T52" fmla="*/ 2147483647 w 279"/>
              <a:gd name="T53" fmla="*/ 2147483647 h 244"/>
              <a:gd name="T54" fmla="*/ 2147483647 w 279"/>
              <a:gd name="T55" fmla="*/ 2147483647 h 244"/>
              <a:gd name="T56" fmla="*/ 2147483647 w 279"/>
              <a:gd name="T57" fmla="*/ 2147483647 h 244"/>
              <a:gd name="T58" fmla="*/ 2147483647 w 279"/>
              <a:gd name="T59" fmla="*/ 2147483647 h 244"/>
              <a:gd name="T60" fmla="*/ 2147483647 w 279"/>
              <a:gd name="T61" fmla="*/ 2147483647 h 244"/>
              <a:gd name="T62" fmla="*/ 2147483647 w 279"/>
              <a:gd name="T63" fmla="*/ 2147483647 h 244"/>
              <a:gd name="T64" fmla="*/ 2147483647 w 279"/>
              <a:gd name="T65" fmla="*/ 2147483647 h 244"/>
              <a:gd name="T66" fmla="*/ 2147483647 w 279"/>
              <a:gd name="T67" fmla="*/ 2147483647 h 244"/>
              <a:gd name="T68" fmla="*/ 2147483647 w 279"/>
              <a:gd name="T69" fmla="*/ 2147483647 h 244"/>
              <a:gd name="T70" fmla="*/ 2147483647 w 279"/>
              <a:gd name="T71" fmla="*/ 2147483647 h 244"/>
              <a:gd name="T72" fmla="*/ 2147483647 w 279"/>
              <a:gd name="T73" fmla="*/ 2147483647 h 244"/>
              <a:gd name="T74" fmla="*/ 2147483647 w 279"/>
              <a:gd name="T75" fmla="*/ 2147483647 h 244"/>
              <a:gd name="T76" fmla="*/ 2147483647 w 279"/>
              <a:gd name="T77" fmla="*/ 2147483647 h 244"/>
              <a:gd name="T78" fmla="*/ 2147483647 w 279"/>
              <a:gd name="T79" fmla="*/ 2147483647 h 244"/>
              <a:gd name="T80" fmla="*/ 2147483647 w 279"/>
              <a:gd name="T81" fmla="*/ 2147483647 h 244"/>
              <a:gd name="T82" fmla="*/ 2147483647 w 279"/>
              <a:gd name="T83" fmla="*/ 2147483647 h 244"/>
              <a:gd name="T84" fmla="*/ 2147483647 w 279"/>
              <a:gd name="T85" fmla="*/ 2147483647 h 244"/>
              <a:gd name="T86" fmla="*/ 2147483647 w 279"/>
              <a:gd name="T87" fmla="*/ 2147483647 h 244"/>
              <a:gd name="T88" fmla="*/ 2147483647 w 279"/>
              <a:gd name="T89" fmla="*/ 2147483647 h 244"/>
              <a:gd name="T90" fmla="*/ 2147483647 w 279"/>
              <a:gd name="T91" fmla="*/ 2147483647 h 244"/>
              <a:gd name="T92" fmla="*/ 2147483647 w 279"/>
              <a:gd name="T93" fmla="*/ 2147483647 h 244"/>
              <a:gd name="T94" fmla="*/ 2147483647 w 279"/>
              <a:gd name="T95" fmla="*/ 2147483647 h 244"/>
              <a:gd name="T96" fmla="*/ 2147483647 w 279"/>
              <a:gd name="T97" fmla="*/ 2147483647 h 244"/>
              <a:gd name="T98" fmla="*/ 0 w 279"/>
              <a:gd name="T99" fmla="*/ 2147483647 h 244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79"/>
              <a:gd name="T151" fmla="*/ 0 h 244"/>
              <a:gd name="T152" fmla="*/ 279 w 279"/>
              <a:gd name="T153" fmla="*/ 244 h 244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79" h="244">
                <a:moveTo>
                  <a:pt x="0" y="243"/>
                </a:moveTo>
                <a:lnTo>
                  <a:pt x="148" y="1"/>
                </a:lnTo>
                <a:lnTo>
                  <a:pt x="160" y="0"/>
                </a:lnTo>
                <a:lnTo>
                  <a:pt x="167" y="3"/>
                </a:lnTo>
                <a:lnTo>
                  <a:pt x="168" y="6"/>
                </a:lnTo>
                <a:lnTo>
                  <a:pt x="173" y="5"/>
                </a:lnTo>
                <a:lnTo>
                  <a:pt x="177" y="9"/>
                </a:lnTo>
                <a:lnTo>
                  <a:pt x="182" y="7"/>
                </a:lnTo>
                <a:lnTo>
                  <a:pt x="184" y="12"/>
                </a:lnTo>
                <a:lnTo>
                  <a:pt x="190" y="13"/>
                </a:lnTo>
                <a:lnTo>
                  <a:pt x="196" y="14"/>
                </a:lnTo>
                <a:lnTo>
                  <a:pt x="201" y="15"/>
                </a:lnTo>
                <a:lnTo>
                  <a:pt x="205" y="19"/>
                </a:lnTo>
                <a:lnTo>
                  <a:pt x="210" y="20"/>
                </a:lnTo>
                <a:lnTo>
                  <a:pt x="215" y="23"/>
                </a:lnTo>
                <a:lnTo>
                  <a:pt x="222" y="25"/>
                </a:lnTo>
                <a:lnTo>
                  <a:pt x="226" y="29"/>
                </a:lnTo>
                <a:lnTo>
                  <a:pt x="229" y="32"/>
                </a:lnTo>
                <a:lnTo>
                  <a:pt x="231" y="36"/>
                </a:lnTo>
                <a:lnTo>
                  <a:pt x="235" y="39"/>
                </a:lnTo>
                <a:lnTo>
                  <a:pt x="238" y="45"/>
                </a:lnTo>
                <a:lnTo>
                  <a:pt x="242" y="46"/>
                </a:lnTo>
                <a:lnTo>
                  <a:pt x="248" y="55"/>
                </a:lnTo>
                <a:lnTo>
                  <a:pt x="249" y="58"/>
                </a:lnTo>
                <a:lnTo>
                  <a:pt x="255" y="63"/>
                </a:lnTo>
                <a:lnTo>
                  <a:pt x="256" y="67"/>
                </a:lnTo>
                <a:lnTo>
                  <a:pt x="261" y="71"/>
                </a:lnTo>
                <a:lnTo>
                  <a:pt x="261" y="75"/>
                </a:lnTo>
                <a:lnTo>
                  <a:pt x="264" y="81"/>
                </a:lnTo>
                <a:lnTo>
                  <a:pt x="264" y="86"/>
                </a:lnTo>
                <a:lnTo>
                  <a:pt x="266" y="90"/>
                </a:lnTo>
                <a:lnTo>
                  <a:pt x="266" y="95"/>
                </a:lnTo>
                <a:lnTo>
                  <a:pt x="268" y="99"/>
                </a:lnTo>
                <a:lnTo>
                  <a:pt x="267" y="103"/>
                </a:lnTo>
                <a:lnTo>
                  <a:pt x="268" y="109"/>
                </a:lnTo>
                <a:lnTo>
                  <a:pt x="269" y="113"/>
                </a:lnTo>
                <a:lnTo>
                  <a:pt x="273" y="119"/>
                </a:lnTo>
                <a:lnTo>
                  <a:pt x="274" y="124"/>
                </a:lnTo>
                <a:lnTo>
                  <a:pt x="275" y="128"/>
                </a:lnTo>
                <a:lnTo>
                  <a:pt x="276" y="134"/>
                </a:lnTo>
                <a:lnTo>
                  <a:pt x="277" y="138"/>
                </a:lnTo>
                <a:lnTo>
                  <a:pt x="277" y="143"/>
                </a:lnTo>
                <a:lnTo>
                  <a:pt x="277" y="147"/>
                </a:lnTo>
                <a:lnTo>
                  <a:pt x="274" y="153"/>
                </a:lnTo>
                <a:lnTo>
                  <a:pt x="276" y="156"/>
                </a:lnTo>
                <a:lnTo>
                  <a:pt x="277" y="162"/>
                </a:lnTo>
                <a:lnTo>
                  <a:pt x="278" y="167"/>
                </a:lnTo>
                <a:lnTo>
                  <a:pt x="275" y="172"/>
                </a:lnTo>
                <a:lnTo>
                  <a:pt x="271" y="181"/>
                </a:lnTo>
                <a:lnTo>
                  <a:pt x="0" y="243"/>
                </a:lnTo>
              </a:path>
            </a:pathLst>
          </a:custGeom>
          <a:noFill/>
          <a:ln w="9525" cap="rnd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54" name="Arc 24"/>
          <p:cNvSpPr>
            <a:spLocks/>
          </p:cNvSpPr>
          <p:nvPr/>
        </p:nvSpPr>
        <p:spPr bwMode="auto">
          <a:xfrm rot="720000">
            <a:off x="7794625" y="5834063"/>
            <a:ext cx="211138" cy="236537"/>
          </a:xfrm>
          <a:custGeom>
            <a:avLst/>
            <a:gdLst>
              <a:gd name="T0" fmla="*/ 0 w 21745"/>
              <a:gd name="T1" fmla="*/ 0 h 21600"/>
              <a:gd name="T2" fmla="*/ 2147483647 w 21745"/>
              <a:gd name="T3" fmla="*/ 2147483647 h 21600"/>
              <a:gd name="T4" fmla="*/ 1179876122 w 21745"/>
              <a:gd name="T5" fmla="*/ 2147483647 h 21600"/>
              <a:gd name="T6" fmla="*/ 0 60000 65536"/>
              <a:gd name="T7" fmla="*/ 0 60000 65536"/>
              <a:gd name="T8" fmla="*/ 0 60000 65536"/>
              <a:gd name="T9" fmla="*/ 0 w 21745"/>
              <a:gd name="T10" fmla="*/ 0 h 21600"/>
              <a:gd name="T11" fmla="*/ 21745 w 2174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45" h="21600" fill="none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</a:path>
              <a:path w="21745" h="21600" stroke="0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  <a:lnTo>
                  <a:pt x="145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55" name="Line 25"/>
          <p:cNvSpPr>
            <a:spLocks noChangeShapeType="1"/>
          </p:cNvSpPr>
          <p:nvPr/>
        </p:nvSpPr>
        <p:spPr bwMode="auto">
          <a:xfrm flipH="1">
            <a:off x="7594600" y="5653088"/>
            <a:ext cx="303213" cy="5508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56" name="Oval 26"/>
          <p:cNvSpPr>
            <a:spLocks noChangeArrowheads="1"/>
          </p:cNvSpPr>
          <p:nvPr/>
        </p:nvSpPr>
        <p:spPr bwMode="auto">
          <a:xfrm rot="-1860000">
            <a:off x="7872413" y="5838825"/>
            <a:ext cx="100012" cy="1984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57" name="Line 27"/>
          <p:cNvSpPr>
            <a:spLocks noChangeShapeType="1"/>
          </p:cNvSpPr>
          <p:nvPr/>
        </p:nvSpPr>
        <p:spPr bwMode="auto">
          <a:xfrm flipV="1">
            <a:off x="7594600" y="6059488"/>
            <a:ext cx="555625" cy="144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58" name="Rectangle 28"/>
          <p:cNvSpPr>
            <a:spLocks noGrp="1" noChangeArrowheads="1"/>
          </p:cNvSpPr>
          <p:nvPr>
            <p:ph type="title"/>
          </p:nvPr>
        </p:nvSpPr>
        <p:spPr>
          <a:xfrm>
            <a:off x="-17491" y="0"/>
            <a:ext cx="8229600" cy="1143000"/>
          </a:xfrm>
          <a:noFill/>
        </p:spPr>
        <p:txBody>
          <a:bodyPr/>
          <a:lstStyle/>
          <a:p>
            <a:r>
              <a:rPr lang="en-US" dirty="0"/>
              <a:t>Stereo image rectification</a:t>
            </a:r>
          </a:p>
        </p:txBody>
      </p:sp>
      <p:sp>
        <p:nvSpPr>
          <p:cNvPr id="416797" name="Rectangle 29"/>
          <p:cNvSpPr>
            <a:spLocks noGrp="1" noChangeArrowheads="1"/>
          </p:cNvSpPr>
          <p:nvPr>
            <p:ph type="body" idx="1"/>
          </p:nvPr>
        </p:nvSpPr>
        <p:spPr>
          <a:xfrm>
            <a:off x="76200" y="1219200"/>
            <a:ext cx="4191000" cy="5541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Char char="•"/>
              <a:defRPr/>
            </a:pPr>
            <a:r>
              <a:rPr lang="en-US" sz="2800" dirty="0" err="1"/>
              <a:t>Reproject</a:t>
            </a:r>
            <a:r>
              <a:rPr lang="en-US" sz="2800" dirty="0"/>
              <a:t> image planes onto a common plane parallel to the line between camera centers</a:t>
            </a:r>
          </a:p>
          <a:p>
            <a:pPr>
              <a:lnSpc>
                <a:spcPct val="80000"/>
              </a:lnSpc>
              <a:buFontTx/>
              <a:buChar char="•"/>
              <a:defRPr/>
            </a:pPr>
            <a:endParaRPr lang="en-US" sz="2800" dirty="0"/>
          </a:p>
          <a:p>
            <a:pPr>
              <a:lnSpc>
                <a:spcPct val="80000"/>
              </a:lnSpc>
              <a:buFontTx/>
              <a:buChar char="•"/>
              <a:defRPr/>
            </a:pPr>
            <a:r>
              <a:rPr lang="en-US" sz="2800" dirty="0"/>
              <a:t>Pixel motion is horizontal after this transformation</a:t>
            </a:r>
          </a:p>
          <a:p>
            <a:pPr>
              <a:lnSpc>
                <a:spcPct val="80000"/>
              </a:lnSpc>
              <a:buFontTx/>
              <a:buChar char="•"/>
              <a:defRPr/>
            </a:pPr>
            <a:endParaRPr lang="en-US" sz="2800" dirty="0"/>
          </a:p>
          <a:p>
            <a:pPr>
              <a:lnSpc>
                <a:spcPct val="80000"/>
              </a:lnSpc>
              <a:buFontTx/>
              <a:buChar char="•"/>
              <a:defRPr/>
            </a:pPr>
            <a:endParaRPr lang="en-US" sz="2800" dirty="0"/>
          </a:p>
          <a:p>
            <a:pPr>
              <a:lnSpc>
                <a:spcPct val="80000"/>
              </a:lnSpc>
              <a:buFontTx/>
              <a:buChar char="•"/>
              <a:defRPr/>
            </a:pPr>
            <a:r>
              <a:rPr lang="en-US" sz="2800" dirty="0"/>
              <a:t>Two </a:t>
            </a:r>
            <a:r>
              <a:rPr lang="en-US" sz="2800" dirty="0" err="1"/>
              <a:t>homographies</a:t>
            </a:r>
            <a:r>
              <a:rPr lang="en-US" sz="2800" dirty="0"/>
              <a:t> (3x3 transform), one for each input image </a:t>
            </a:r>
            <a:r>
              <a:rPr lang="en-US" sz="2800" dirty="0" err="1"/>
              <a:t>reprojection</a:t>
            </a:r>
            <a:endParaRPr lang="en-US" sz="2800" dirty="0"/>
          </a:p>
          <a:p>
            <a:pPr>
              <a:lnSpc>
                <a:spcPct val="80000"/>
              </a:lnSpc>
              <a:buFont typeface="Wingdings" pitchFamily="2" charset="2"/>
              <a:buChar char="Ø"/>
              <a:defRPr/>
            </a:pPr>
            <a:endParaRPr lang="en-US" sz="2000" dirty="0"/>
          </a:p>
          <a:p>
            <a:pPr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2000" dirty="0"/>
              <a:t>C. Loop and Z. Zhang. </a:t>
            </a:r>
            <a:r>
              <a:rPr lang="en-US" sz="2000" dirty="0">
                <a:hlinkClick r:id="rId3"/>
              </a:rPr>
              <a:t>Computing Rectifying </a:t>
            </a:r>
            <a:r>
              <a:rPr lang="en-US" sz="2000" dirty="0" err="1">
                <a:hlinkClick r:id="rId3"/>
              </a:rPr>
              <a:t>Homographies</a:t>
            </a:r>
            <a:r>
              <a:rPr lang="en-US" sz="2000" dirty="0">
                <a:hlinkClick r:id="rId3"/>
              </a:rPr>
              <a:t> for Stereo Vision</a:t>
            </a:r>
            <a:r>
              <a:rPr lang="en-US" sz="2000" dirty="0"/>
              <a:t>. IEEE Conf. Computer Vision and Pattern Recognition, 1999</a:t>
            </a:r>
            <a:r>
              <a:rPr lang="en-US" sz="2400" dirty="0"/>
              <a:t>.</a:t>
            </a:r>
          </a:p>
        </p:txBody>
      </p:sp>
      <p:sp>
        <p:nvSpPr>
          <p:cNvPr id="44060" name="Line 35"/>
          <p:cNvSpPr>
            <a:spLocks noChangeShapeType="1"/>
          </p:cNvSpPr>
          <p:nvPr/>
        </p:nvSpPr>
        <p:spPr bwMode="auto">
          <a:xfrm>
            <a:off x="5726113" y="2886075"/>
            <a:ext cx="1893887" cy="10461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61" name="Line 36"/>
          <p:cNvSpPr>
            <a:spLocks noChangeShapeType="1"/>
          </p:cNvSpPr>
          <p:nvPr/>
        </p:nvSpPr>
        <p:spPr bwMode="auto">
          <a:xfrm>
            <a:off x="5718175" y="4216400"/>
            <a:ext cx="1893888" cy="10461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6798" name="Line 30"/>
          <p:cNvSpPr>
            <a:spLocks noChangeShapeType="1"/>
          </p:cNvSpPr>
          <p:nvPr/>
        </p:nvSpPr>
        <p:spPr bwMode="auto">
          <a:xfrm>
            <a:off x="4497388" y="2936875"/>
            <a:ext cx="1209675" cy="668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6799" name="Line 31"/>
          <p:cNvSpPr>
            <a:spLocks noChangeShapeType="1"/>
          </p:cNvSpPr>
          <p:nvPr/>
        </p:nvSpPr>
        <p:spPr bwMode="auto">
          <a:xfrm>
            <a:off x="7629525" y="4683125"/>
            <a:ext cx="1209675" cy="668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16806" name="Line 38"/>
          <p:cNvSpPr>
            <a:spLocks noChangeShapeType="1"/>
          </p:cNvSpPr>
          <p:nvPr/>
        </p:nvSpPr>
        <p:spPr bwMode="auto">
          <a:xfrm>
            <a:off x="5726113" y="3622675"/>
            <a:ext cx="1893887" cy="10461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65" name="Oval 14"/>
          <p:cNvSpPr>
            <a:spLocks noChangeArrowheads="1"/>
          </p:cNvSpPr>
          <p:nvPr/>
        </p:nvSpPr>
        <p:spPr bwMode="auto">
          <a:xfrm>
            <a:off x="7889875" y="4810125"/>
            <a:ext cx="57150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4066" name="Oval 15"/>
          <p:cNvSpPr>
            <a:spLocks noChangeArrowheads="1"/>
          </p:cNvSpPr>
          <p:nvPr/>
        </p:nvSpPr>
        <p:spPr bwMode="auto">
          <a:xfrm>
            <a:off x="5314950" y="3378200"/>
            <a:ext cx="57150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714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6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6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1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6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6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6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67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98" grpId="0" animBg="1"/>
      <p:bldP spid="416799" grpId="0" animBg="1"/>
      <p:bldP spid="41680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57200" y="1428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Example</a:t>
            </a:r>
          </a:p>
        </p:txBody>
      </p:sp>
      <p:pic>
        <p:nvPicPr>
          <p:cNvPr id="29699" name="Picture 2" descr="http://www.ifp.illinois.edu/~yuhuang/rectify/orig_4_5_bd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914400"/>
            <a:ext cx="7724775" cy="28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4" descr="http://www.ifp.illinois.edu/~yuhuang/rectify/rectif_4_5_bd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86200"/>
            <a:ext cx="7772400" cy="285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701" name="Straight Connector 4"/>
          <p:cNvCxnSpPr>
            <a:cxnSpLocks noChangeShapeType="1"/>
          </p:cNvCxnSpPr>
          <p:nvPr/>
        </p:nvCxnSpPr>
        <p:spPr bwMode="auto">
          <a:xfrm>
            <a:off x="733425" y="1600200"/>
            <a:ext cx="7724775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9702" name="Straight Connector 7"/>
          <p:cNvCxnSpPr>
            <a:cxnSpLocks noChangeShapeType="1"/>
          </p:cNvCxnSpPr>
          <p:nvPr/>
        </p:nvCxnSpPr>
        <p:spPr bwMode="auto">
          <a:xfrm>
            <a:off x="733425" y="2152650"/>
            <a:ext cx="7724775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9703" name="Straight Connector 8"/>
          <p:cNvCxnSpPr>
            <a:cxnSpLocks noChangeShapeType="1"/>
          </p:cNvCxnSpPr>
          <p:nvPr/>
        </p:nvCxnSpPr>
        <p:spPr bwMode="auto">
          <a:xfrm>
            <a:off x="733425" y="3527425"/>
            <a:ext cx="7724775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733425" y="928688"/>
            <a:ext cx="2590800" cy="45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 err="1">
                <a:solidFill>
                  <a:prstClr val="white"/>
                </a:solidFill>
                <a:sym typeface="Times New Roman" pitchFamily="18" charset="0"/>
              </a:rPr>
              <a:t>Unrectified</a:t>
            </a:r>
            <a:endParaRPr lang="en-US" sz="2400" dirty="0">
              <a:solidFill>
                <a:prstClr val="white"/>
              </a:solidFill>
              <a:sym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5325" y="3886200"/>
            <a:ext cx="2590800" cy="45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prstClr val="white"/>
                </a:solidFill>
                <a:sym typeface="Times New Roman" pitchFamily="18" charset="0"/>
              </a:rPr>
              <a:t>Rectified</a:t>
            </a:r>
          </a:p>
        </p:txBody>
      </p:sp>
      <p:cxnSp>
        <p:nvCxnSpPr>
          <p:cNvPr id="29706" name="Straight Connector 14"/>
          <p:cNvCxnSpPr>
            <a:cxnSpLocks noChangeShapeType="1"/>
          </p:cNvCxnSpPr>
          <p:nvPr/>
        </p:nvCxnSpPr>
        <p:spPr bwMode="auto">
          <a:xfrm>
            <a:off x="709613" y="4357688"/>
            <a:ext cx="7724775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9707" name="Straight Connector 15"/>
          <p:cNvCxnSpPr>
            <a:cxnSpLocks noChangeShapeType="1"/>
          </p:cNvCxnSpPr>
          <p:nvPr/>
        </p:nvCxnSpPr>
        <p:spPr bwMode="auto">
          <a:xfrm>
            <a:off x="693738" y="4840288"/>
            <a:ext cx="7724775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9708" name="Straight Connector 16"/>
          <p:cNvCxnSpPr>
            <a:cxnSpLocks noChangeShapeType="1"/>
          </p:cNvCxnSpPr>
          <p:nvPr/>
        </p:nvCxnSpPr>
        <p:spPr bwMode="auto">
          <a:xfrm>
            <a:off x="709613" y="5322888"/>
            <a:ext cx="7724775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9709" name="Straight Connector 17"/>
          <p:cNvCxnSpPr>
            <a:cxnSpLocks noChangeShapeType="1"/>
          </p:cNvCxnSpPr>
          <p:nvPr/>
        </p:nvCxnSpPr>
        <p:spPr bwMode="auto">
          <a:xfrm>
            <a:off x="709613" y="5799138"/>
            <a:ext cx="7724775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9710" name="Straight Connector 18"/>
          <p:cNvCxnSpPr>
            <a:cxnSpLocks noChangeShapeType="1"/>
          </p:cNvCxnSpPr>
          <p:nvPr/>
        </p:nvCxnSpPr>
        <p:spPr bwMode="auto">
          <a:xfrm>
            <a:off x="695325" y="6280150"/>
            <a:ext cx="7724775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44424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reeform 5"/>
          <p:cNvSpPr>
            <a:spLocks/>
          </p:cNvSpPr>
          <p:nvPr/>
        </p:nvSpPr>
        <p:spPr bwMode="auto">
          <a:xfrm>
            <a:off x="5705475" y="3859213"/>
            <a:ext cx="1884363" cy="314325"/>
          </a:xfrm>
          <a:custGeom>
            <a:avLst/>
            <a:gdLst>
              <a:gd name="T0" fmla="*/ 0 w 1468"/>
              <a:gd name="T1" fmla="*/ 2147483647 h 252"/>
              <a:gd name="T2" fmla="*/ 2147483647 w 1468"/>
              <a:gd name="T3" fmla="*/ 2147483647 h 252"/>
              <a:gd name="T4" fmla="*/ 2147483647 w 1468"/>
              <a:gd name="T5" fmla="*/ 2147483647 h 252"/>
              <a:gd name="T6" fmla="*/ 2147483647 w 1468"/>
              <a:gd name="T7" fmla="*/ 2147483647 h 252"/>
              <a:gd name="T8" fmla="*/ 2147483647 w 1468"/>
              <a:gd name="T9" fmla="*/ 2147483647 h 252"/>
              <a:gd name="T10" fmla="*/ 2147483647 w 1468"/>
              <a:gd name="T11" fmla="*/ 0 h 252"/>
              <a:gd name="T12" fmla="*/ 2147483647 w 1468"/>
              <a:gd name="T13" fmla="*/ 2147483647 h 252"/>
              <a:gd name="T14" fmla="*/ 2147483647 w 1468"/>
              <a:gd name="T15" fmla="*/ 2147483647 h 252"/>
              <a:gd name="T16" fmla="*/ 2147483647 w 1468"/>
              <a:gd name="T17" fmla="*/ 2147483647 h 252"/>
              <a:gd name="T18" fmla="*/ 2147483647 w 1468"/>
              <a:gd name="T19" fmla="*/ 2147483647 h 252"/>
              <a:gd name="T20" fmla="*/ 2147483647 w 1468"/>
              <a:gd name="T21" fmla="*/ 2147483647 h 252"/>
              <a:gd name="T22" fmla="*/ 2147483647 w 1468"/>
              <a:gd name="T23" fmla="*/ 2147483647 h 252"/>
              <a:gd name="T24" fmla="*/ 2147483647 w 1468"/>
              <a:gd name="T25" fmla="*/ 2147483647 h 252"/>
              <a:gd name="T26" fmla="*/ 2147483647 w 1468"/>
              <a:gd name="T27" fmla="*/ 2147483647 h 252"/>
              <a:gd name="T28" fmla="*/ 2147483647 w 1468"/>
              <a:gd name="T29" fmla="*/ 2147483647 h 252"/>
              <a:gd name="T30" fmla="*/ 2147483647 w 1468"/>
              <a:gd name="T31" fmla="*/ 2147483647 h 252"/>
              <a:gd name="T32" fmla="*/ 2147483647 w 1468"/>
              <a:gd name="T33" fmla="*/ 2147483647 h 252"/>
              <a:gd name="T34" fmla="*/ 2147483647 w 1468"/>
              <a:gd name="T35" fmla="*/ 2147483647 h 252"/>
              <a:gd name="T36" fmla="*/ 2147483647 w 1468"/>
              <a:gd name="T37" fmla="*/ 2147483647 h 252"/>
              <a:gd name="T38" fmla="*/ 2147483647 w 1468"/>
              <a:gd name="T39" fmla="*/ 2147483647 h 252"/>
              <a:gd name="T40" fmla="*/ 2147483647 w 1468"/>
              <a:gd name="T41" fmla="*/ 2147483647 h 252"/>
              <a:gd name="T42" fmla="*/ 2147483647 w 1468"/>
              <a:gd name="T43" fmla="*/ 2147483647 h 252"/>
              <a:gd name="T44" fmla="*/ 2147483647 w 1468"/>
              <a:gd name="T45" fmla="*/ 2147483647 h 252"/>
              <a:gd name="T46" fmla="*/ 2147483647 w 1468"/>
              <a:gd name="T47" fmla="*/ 2147483647 h 252"/>
              <a:gd name="T48" fmla="*/ 2147483647 w 1468"/>
              <a:gd name="T49" fmla="*/ 2147483647 h 252"/>
              <a:gd name="T50" fmla="*/ 2147483647 w 1468"/>
              <a:gd name="T51" fmla="*/ 2147483647 h 252"/>
              <a:gd name="T52" fmla="*/ 2147483647 w 1468"/>
              <a:gd name="T53" fmla="*/ 2147483647 h 252"/>
              <a:gd name="T54" fmla="*/ 2147483647 w 1468"/>
              <a:gd name="T55" fmla="*/ 2147483647 h 252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468"/>
              <a:gd name="T85" fmla="*/ 0 h 252"/>
              <a:gd name="T86" fmla="*/ 1468 w 1468"/>
              <a:gd name="T87" fmla="*/ 252 h 252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468" h="252">
                <a:moveTo>
                  <a:pt x="0" y="5"/>
                </a:moveTo>
                <a:cubicBezTo>
                  <a:pt x="22" y="20"/>
                  <a:pt x="30" y="32"/>
                  <a:pt x="56" y="41"/>
                </a:cubicBezTo>
                <a:cubicBezTo>
                  <a:pt x="61" y="39"/>
                  <a:pt x="67" y="39"/>
                  <a:pt x="71" y="36"/>
                </a:cubicBezTo>
                <a:cubicBezTo>
                  <a:pt x="75" y="33"/>
                  <a:pt x="77" y="27"/>
                  <a:pt x="81" y="25"/>
                </a:cubicBezTo>
                <a:cubicBezTo>
                  <a:pt x="95" y="18"/>
                  <a:pt x="112" y="15"/>
                  <a:pt x="127" y="10"/>
                </a:cubicBezTo>
                <a:cubicBezTo>
                  <a:pt x="137" y="7"/>
                  <a:pt x="157" y="0"/>
                  <a:pt x="157" y="0"/>
                </a:cubicBezTo>
                <a:cubicBezTo>
                  <a:pt x="196" y="13"/>
                  <a:pt x="233" y="31"/>
                  <a:pt x="273" y="41"/>
                </a:cubicBezTo>
                <a:cubicBezTo>
                  <a:pt x="283" y="40"/>
                  <a:pt x="353" y="26"/>
                  <a:pt x="369" y="30"/>
                </a:cubicBezTo>
                <a:cubicBezTo>
                  <a:pt x="390" y="54"/>
                  <a:pt x="366" y="30"/>
                  <a:pt x="395" y="46"/>
                </a:cubicBezTo>
                <a:cubicBezTo>
                  <a:pt x="406" y="52"/>
                  <a:pt x="450" y="137"/>
                  <a:pt x="455" y="121"/>
                </a:cubicBezTo>
                <a:cubicBezTo>
                  <a:pt x="486" y="168"/>
                  <a:pt x="519" y="233"/>
                  <a:pt x="576" y="252"/>
                </a:cubicBezTo>
                <a:cubicBezTo>
                  <a:pt x="603" y="245"/>
                  <a:pt x="593" y="186"/>
                  <a:pt x="615" y="171"/>
                </a:cubicBezTo>
                <a:cubicBezTo>
                  <a:pt x="618" y="161"/>
                  <a:pt x="624" y="139"/>
                  <a:pt x="627" y="129"/>
                </a:cubicBezTo>
                <a:cubicBezTo>
                  <a:pt x="629" y="124"/>
                  <a:pt x="646" y="102"/>
                  <a:pt x="651" y="99"/>
                </a:cubicBezTo>
                <a:cubicBezTo>
                  <a:pt x="661" y="92"/>
                  <a:pt x="681" y="78"/>
                  <a:pt x="681" y="78"/>
                </a:cubicBezTo>
                <a:cubicBezTo>
                  <a:pt x="694" y="59"/>
                  <a:pt x="724" y="71"/>
                  <a:pt x="747" y="78"/>
                </a:cubicBezTo>
                <a:cubicBezTo>
                  <a:pt x="768" y="86"/>
                  <a:pt x="791" y="116"/>
                  <a:pt x="809" y="126"/>
                </a:cubicBezTo>
                <a:cubicBezTo>
                  <a:pt x="824" y="127"/>
                  <a:pt x="854" y="137"/>
                  <a:pt x="854" y="137"/>
                </a:cubicBezTo>
                <a:cubicBezTo>
                  <a:pt x="919" y="131"/>
                  <a:pt x="895" y="133"/>
                  <a:pt x="935" y="106"/>
                </a:cubicBezTo>
                <a:cubicBezTo>
                  <a:pt x="954" y="94"/>
                  <a:pt x="979" y="98"/>
                  <a:pt x="1001" y="96"/>
                </a:cubicBezTo>
                <a:cubicBezTo>
                  <a:pt x="1020" y="83"/>
                  <a:pt x="1042" y="78"/>
                  <a:pt x="1062" y="66"/>
                </a:cubicBezTo>
                <a:cubicBezTo>
                  <a:pt x="1096" y="71"/>
                  <a:pt x="1169" y="82"/>
                  <a:pt x="1198" y="101"/>
                </a:cubicBezTo>
                <a:cubicBezTo>
                  <a:pt x="1221" y="117"/>
                  <a:pt x="1247" y="133"/>
                  <a:pt x="1274" y="142"/>
                </a:cubicBezTo>
                <a:cubicBezTo>
                  <a:pt x="1291" y="159"/>
                  <a:pt x="1312" y="170"/>
                  <a:pt x="1334" y="177"/>
                </a:cubicBezTo>
                <a:cubicBezTo>
                  <a:pt x="1370" y="173"/>
                  <a:pt x="1383" y="175"/>
                  <a:pt x="1410" y="157"/>
                </a:cubicBezTo>
                <a:cubicBezTo>
                  <a:pt x="1417" y="135"/>
                  <a:pt x="1429" y="117"/>
                  <a:pt x="1446" y="101"/>
                </a:cubicBezTo>
                <a:cubicBezTo>
                  <a:pt x="1448" y="96"/>
                  <a:pt x="1447" y="90"/>
                  <a:pt x="1451" y="86"/>
                </a:cubicBezTo>
                <a:cubicBezTo>
                  <a:pt x="1468" y="69"/>
                  <a:pt x="1466" y="90"/>
                  <a:pt x="1466" y="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grpSp>
        <p:nvGrpSpPr>
          <p:cNvPr id="47107" name="Group 6"/>
          <p:cNvGrpSpPr>
            <a:grpSpLocks/>
          </p:cNvGrpSpPr>
          <p:nvPr/>
        </p:nvGrpSpPr>
        <p:grpSpPr bwMode="auto">
          <a:xfrm>
            <a:off x="5708650" y="3721100"/>
            <a:ext cx="1909763" cy="477838"/>
            <a:chOff x="2064" y="2160"/>
            <a:chExt cx="1488" cy="384"/>
          </a:xfrm>
        </p:grpSpPr>
        <p:sp>
          <p:nvSpPr>
            <p:cNvPr id="47126" name="Line 7"/>
            <p:cNvSpPr>
              <a:spLocks noChangeShapeType="1"/>
            </p:cNvSpPr>
            <p:nvPr/>
          </p:nvSpPr>
          <p:spPr bwMode="auto">
            <a:xfrm flipV="1">
              <a:off x="2064" y="21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7127" name="Line 8"/>
            <p:cNvSpPr>
              <a:spLocks noChangeShapeType="1"/>
            </p:cNvSpPr>
            <p:nvPr/>
          </p:nvSpPr>
          <p:spPr bwMode="auto">
            <a:xfrm>
              <a:off x="2064" y="2544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</p:grpSp>
      <p:sp>
        <p:nvSpPr>
          <p:cNvPr id="47108" name="Text Box 9"/>
          <p:cNvSpPr txBox="1">
            <a:spLocks noChangeArrowheads="1"/>
          </p:cNvSpPr>
          <p:nvPr/>
        </p:nvSpPr>
        <p:spPr bwMode="auto">
          <a:xfrm>
            <a:off x="4343400" y="3581400"/>
            <a:ext cx="13446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1F497D"/>
                </a:solidFill>
                <a:latin typeface="Times New Roman" pitchFamily="18" charset="0"/>
                <a:ea typeface="SimSun" pitchFamily="2" charset="-122"/>
                <a:sym typeface="Times New Roman" pitchFamily="18" charset="0"/>
              </a:rPr>
              <a:t>Matching cost</a:t>
            </a:r>
          </a:p>
        </p:txBody>
      </p:sp>
      <p:sp>
        <p:nvSpPr>
          <p:cNvPr id="47109" name="Text Box 10"/>
          <p:cNvSpPr txBox="1">
            <a:spLocks noChangeArrowheads="1"/>
          </p:cNvSpPr>
          <p:nvPr/>
        </p:nvSpPr>
        <p:spPr bwMode="auto">
          <a:xfrm>
            <a:off x="7635875" y="3962400"/>
            <a:ext cx="898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1F497D"/>
                </a:solidFill>
                <a:latin typeface="Times New Roman" pitchFamily="18" charset="0"/>
                <a:ea typeface="SimSun" pitchFamily="2" charset="-122"/>
                <a:sym typeface="Times New Roman" pitchFamily="18" charset="0"/>
              </a:rPr>
              <a:t>disparity</a:t>
            </a:r>
          </a:p>
        </p:txBody>
      </p:sp>
      <p:pic>
        <p:nvPicPr>
          <p:cNvPr id="47110" name="Picture 11" descr="lef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4013" y="1212850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1" name="Picture 12" descr="righ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11738" y="1212850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2" name="Line 13"/>
          <p:cNvSpPr>
            <a:spLocks noChangeShapeType="1"/>
          </p:cNvSpPr>
          <p:nvPr/>
        </p:nvSpPr>
        <p:spPr bwMode="auto">
          <a:xfrm>
            <a:off x="1439863" y="2108200"/>
            <a:ext cx="671353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7113" name="Rectangle 14"/>
          <p:cNvSpPr>
            <a:spLocks noChangeArrowheads="1"/>
          </p:cNvSpPr>
          <p:nvPr/>
        </p:nvSpPr>
        <p:spPr bwMode="auto">
          <a:xfrm>
            <a:off x="3017838" y="2049463"/>
            <a:ext cx="123825" cy="119062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grpSp>
        <p:nvGrpSpPr>
          <p:cNvPr id="47114" name="Group 15"/>
          <p:cNvGrpSpPr>
            <a:grpSpLocks/>
          </p:cNvGrpSpPr>
          <p:nvPr/>
        </p:nvGrpSpPr>
        <p:grpSpPr bwMode="auto">
          <a:xfrm>
            <a:off x="6021388" y="2049463"/>
            <a:ext cx="862012" cy="119062"/>
            <a:chOff x="3111" y="3838"/>
            <a:chExt cx="672" cy="96"/>
          </a:xfrm>
        </p:grpSpPr>
        <p:sp>
          <p:nvSpPr>
            <p:cNvPr id="47121" name="Rectangle 16"/>
            <p:cNvSpPr>
              <a:spLocks noChangeArrowheads="1"/>
            </p:cNvSpPr>
            <p:nvPr/>
          </p:nvSpPr>
          <p:spPr bwMode="auto">
            <a:xfrm>
              <a:off x="3399" y="3838"/>
              <a:ext cx="96" cy="96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7122" name="Rectangle 17"/>
            <p:cNvSpPr>
              <a:spLocks noChangeArrowheads="1"/>
            </p:cNvSpPr>
            <p:nvPr/>
          </p:nvSpPr>
          <p:spPr bwMode="auto">
            <a:xfrm>
              <a:off x="3111" y="3838"/>
              <a:ext cx="96" cy="96"/>
            </a:xfrm>
            <a:prstGeom prst="rect">
              <a:avLst/>
            </a:prstGeom>
            <a:noFill/>
            <a:ln w="15875">
              <a:solidFill>
                <a:srgbClr val="00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7123" name="Rectangle 18"/>
            <p:cNvSpPr>
              <a:spLocks noChangeArrowheads="1"/>
            </p:cNvSpPr>
            <p:nvPr/>
          </p:nvSpPr>
          <p:spPr bwMode="auto">
            <a:xfrm>
              <a:off x="3255" y="3838"/>
              <a:ext cx="96" cy="96"/>
            </a:xfrm>
            <a:prstGeom prst="rect">
              <a:avLst/>
            </a:prstGeom>
            <a:noFill/>
            <a:ln w="15875">
              <a:solidFill>
                <a:srgbClr val="00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7124" name="Rectangle 19"/>
            <p:cNvSpPr>
              <a:spLocks noChangeArrowheads="1"/>
            </p:cNvSpPr>
            <p:nvPr/>
          </p:nvSpPr>
          <p:spPr bwMode="auto">
            <a:xfrm>
              <a:off x="3543" y="3838"/>
              <a:ext cx="96" cy="96"/>
            </a:xfrm>
            <a:prstGeom prst="rect">
              <a:avLst/>
            </a:prstGeom>
            <a:noFill/>
            <a:ln w="15875">
              <a:solidFill>
                <a:srgbClr val="00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  <p:sp>
          <p:nvSpPr>
            <p:cNvPr id="47125" name="Rectangle 20"/>
            <p:cNvSpPr>
              <a:spLocks noChangeArrowheads="1"/>
            </p:cNvSpPr>
            <p:nvPr/>
          </p:nvSpPr>
          <p:spPr bwMode="auto">
            <a:xfrm>
              <a:off x="3687" y="3838"/>
              <a:ext cx="96" cy="96"/>
            </a:xfrm>
            <a:prstGeom prst="rect">
              <a:avLst/>
            </a:prstGeom>
            <a:noFill/>
            <a:ln w="15875">
              <a:solidFill>
                <a:srgbClr val="00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endParaRPr>
            </a:p>
          </p:txBody>
        </p:sp>
      </p:grpSp>
      <p:sp>
        <p:nvSpPr>
          <p:cNvPr id="47115" name="Text Box 21"/>
          <p:cNvSpPr txBox="1">
            <a:spLocks noChangeArrowheads="1"/>
          </p:cNvSpPr>
          <p:nvPr/>
        </p:nvSpPr>
        <p:spPr bwMode="auto">
          <a:xfrm>
            <a:off x="2925763" y="914400"/>
            <a:ext cx="523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1F497D"/>
                </a:solidFill>
                <a:latin typeface="Times New Roman" pitchFamily="18" charset="0"/>
                <a:ea typeface="SimSun" pitchFamily="2" charset="-122"/>
                <a:sym typeface="Times New Roman" pitchFamily="18" charset="0"/>
              </a:rPr>
              <a:t>Left</a:t>
            </a:r>
          </a:p>
        </p:txBody>
      </p:sp>
      <p:sp>
        <p:nvSpPr>
          <p:cNvPr id="47116" name="Text Box 22"/>
          <p:cNvSpPr txBox="1">
            <a:spLocks noChangeArrowheads="1"/>
          </p:cNvSpPr>
          <p:nvPr/>
        </p:nvSpPr>
        <p:spPr bwMode="auto">
          <a:xfrm>
            <a:off x="6223000" y="914400"/>
            <a:ext cx="636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1F497D"/>
                </a:solidFill>
                <a:latin typeface="Times New Roman" pitchFamily="18" charset="0"/>
                <a:ea typeface="SimSun" pitchFamily="2" charset="-122"/>
                <a:sym typeface="Times New Roman" pitchFamily="18" charset="0"/>
              </a:rPr>
              <a:t>Right</a:t>
            </a:r>
          </a:p>
        </p:txBody>
      </p:sp>
      <p:sp>
        <p:nvSpPr>
          <p:cNvPr id="47117" name="Freeform 23"/>
          <p:cNvSpPr>
            <a:spLocks/>
          </p:cNvSpPr>
          <p:nvPr/>
        </p:nvSpPr>
        <p:spPr bwMode="auto">
          <a:xfrm>
            <a:off x="6430963" y="1212850"/>
            <a:ext cx="23812" cy="3219450"/>
          </a:xfrm>
          <a:custGeom>
            <a:avLst/>
            <a:gdLst>
              <a:gd name="T0" fmla="*/ 2147483647 w 18"/>
              <a:gd name="T1" fmla="*/ 0 h 2587"/>
              <a:gd name="T2" fmla="*/ 0 w 18"/>
              <a:gd name="T3" fmla="*/ 2147483647 h 2587"/>
              <a:gd name="T4" fmla="*/ 0 60000 65536"/>
              <a:gd name="T5" fmla="*/ 0 60000 65536"/>
              <a:gd name="T6" fmla="*/ 0 w 18"/>
              <a:gd name="T7" fmla="*/ 0 h 2587"/>
              <a:gd name="T8" fmla="*/ 18 w 18"/>
              <a:gd name="T9" fmla="*/ 2587 h 258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" h="2587">
                <a:moveTo>
                  <a:pt x="18" y="0"/>
                </a:moveTo>
                <a:lnTo>
                  <a:pt x="0" y="2587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7118" name="Text Box 24"/>
          <p:cNvSpPr txBox="1">
            <a:spLocks noChangeArrowheads="1"/>
          </p:cNvSpPr>
          <p:nvPr/>
        </p:nvSpPr>
        <p:spPr bwMode="auto">
          <a:xfrm>
            <a:off x="595313" y="1905000"/>
            <a:ext cx="8524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1F497D"/>
                </a:solidFill>
                <a:latin typeface="Times New Roman" pitchFamily="18" charset="0"/>
                <a:ea typeface="SimSun" pitchFamily="2" charset="-122"/>
                <a:sym typeface="Times New Roman" pitchFamily="18" charset="0"/>
              </a:rPr>
              <a:t>scanline</a:t>
            </a:r>
          </a:p>
        </p:txBody>
      </p:sp>
      <p:sp>
        <p:nvSpPr>
          <p:cNvPr id="25616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0"/>
            <a:ext cx="7772400" cy="1981200"/>
          </a:xfrm>
        </p:spPr>
        <p:txBody>
          <a:bodyPr>
            <a:normAutofit fontScale="85000" lnSpcReduction="20000"/>
          </a:bodyPr>
          <a:lstStyle/>
          <a:p>
            <a:pPr>
              <a:buFontTx/>
              <a:buChar char="•"/>
              <a:defRPr/>
            </a:pPr>
            <a:r>
              <a:rPr lang="en-US" dirty="0"/>
              <a:t>Slide a window along the right scanline and compare contents of that window with the reference window in the left image</a:t>
            </a:r>
          </a:p>
          <a:p>
            <a:pPr>
              <a:buFontTx/>
              <a:buChar char="•"/>
              <a:defRPr/>
            </a:pPr>
            <a:r>
              <a:rPr lang="en-US" dirty="0">
                <a:solidFill>
                  <a:srgbClr val="FF0000"/>
                </a:solidFill>
              </a:rPr>
              <a:t>Matching cost: SSD, SAD, or normalized cross correlation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36573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8" descr="lef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4013" y="1212850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1" name="Picture 9" descr="righ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11738" y="1212850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2" name="Line 10"/>
          <p:cNvSpPr>
            <a:spLocks noChangeShapeType="1"/>
          </p:cNvSpPr>
          <p:nvPr/>
        </p:nvSpPr>
        <p:spPr bwMode="auto">
          <a:xfrm>
            <a:off x="1439863" y="2108200"/>
            <a:ext cx="671353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8133" name="Rectangle 11"/>
          <p:cNvSpPr>
            <a:spLocks noChangeArrowheads="1"/>
          </p:cNvSpPr>
          <p:nvPr/>
        </p:nvSpPr>
        <p:spPr bwMode="auto">
          <a:xfrm>
            <a:off x="3017838" y="2049463"/>
            <a:ext cx="123825" cy="119062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8134" name="Text Box 18"/>
          <p:cNvSpPr txBox="1">
            <a:spLocks noChangeArrowheads="1"/>
          </p:cNvSpPr>
          <p:nvPr/>
        </p:nvSpPr>
        <p:spPr bwMode="auto">
          <a:xfrm>
            <a:off x="2925763" y="914400"/>
            <a:ext cx="523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1F497D"/>
                </a:solidFill>
                <a:latin typeface="Times New Roman" pitchFamily="18" charset="0"/>
                <a:ea typeface="SimSun" pitchFamily="2" charset="-122"/>
                <a:sym typeface="Times New Roman" pitchFamily="18" charset="0"/>
              </a:rPr>
              <a:t>Left</a:t>
            </a:r>
          </a:p>
        </p:txBody>
      </p:sp>
      <p:sp>
        <p:nvSpPr>
          <p:cNvPr id="48135" name="Text Box 19"/>
          <p:cNvSpPr txBox="1">
            <a:spLocks noChangeArrowheads="1"/>
          </p:cNvSpPr>
          <p:nvPr/>
        </p:nvSpPr>
        <p:spPr bwMode="auto">
          <a:xfrm>
            <a:off x="6223000" y="914400"/>
            <a:ext cx="636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1F497D"/>
                </a:solidFill>
                <a:latin typeface="Times New Roman" pitchFamily="18" charset="0"/>
                <a:ea typeface="SimSun" pitchFamily="2" charset="-122"/>
                <a:sym typeface="Times New Roman" pitchFamily="18" charset="0"/>
              </a:rPr>
              <a:t>Right</a:t>
            </a:r>
          </a:p>
        </p:txBody>
      </p:sp>
      <p:sp>
        <p:nvSpPr>
          <p:cNvPr id="48136" name="Text Box 21"/>
          <p:cNvSpPr txBox="1">
            <a:spLocks noChangeArrowheads="1"/>
          </p:cNvSpPr>
          <p:nvPr/>
        </p:nvSpPr>
        <p:spPr bwMode="auto">
          <a:xfrm>
            <a:off x="595313" y="1905000"/>
            <a:ext cx="8524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1F497D"/>
                </a:solidFill>
                <a:latin typeface="Times New Roman" pitchFamily="18" charset="0"/>
                <a:ea typeface="SimSun" pitchFamily="2" charset="-122"/>
                <a:sym typeface="Times New Roman" pitchFamily="18" charset="0"/>
              </a:rPr>
              <a:t>scanline</a:t>
            </a:r>
          </a:p>
        </p:txBody>
      </p:sp>
      <p:sp>
        <p:nvSpPr>
          <p:cNvPr id="48137" name="Rectangle 2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8382000" cy="838200"/>
          </a:xfrm>
        </p:spPr>
        <p:txBody>
          <a:bodyPr/>
          <a:lstStyle/>
          <a:p>
            <a:r>
              <a:rPr lang="en-US" sz="3000"/>
              <a:t>Correspondence search</a:t>
            </a:r>
          </a:p>
        </p:txBody>
      </p:sp>
      <p:pic>
        <p:nvPicPr>
          <p:cNvPr id="48138" name="Picture 2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16488" y="3733800"/>
            <a:ext cx="3200400" cy="239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9" name="Text Box 26"/>
          <p:cNvSpPr txBox="1">
            <a:spLocks noChangeArrowheads="1"/>
          </p:cNvSpPr>
          <p:nvPr/>
        </p:nvSpPr>
        <p:spPr bwMode="auto">
          <a:xfrm>
            <a:off x="6127750" y="6262688"/>
            <a:ext cx="654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SSD</a:t>
            </a:r>
          </a:p>
        </p:txBody>
      </p:sp>
      <p:sp>
        <p:nvSpPr>
          <p:cNvPr id="48140" name="Freeform 27"/>
          <p:cNvSpPr>
            <a:spLocks/>
          </p:cNvSpPr>
          <p:nvPr/>
        </p:nvSpPr>
        <p:spPr bwMode="auto">
          <a:xfrm>
            <a:off x="6454775" y="1212850"/>
            <a:ext cx="4763" cy="5043488"/>
          </a:xfrm>
          <a:custGeom>
            <a:avLst/>
            <a:gdLst>
              <a:gd name="T0" fmla="*/ 0 w 3"/>
              <a:gd name="T1" fmla="*/ 0 h 3177"/>
              <a:gd name="T2" fmla="*/ 2147483647 w 3"/>
              <a:gd name="T3" fmla="*/ 2147483647 h 3177"/>
              <a:gd name="T4" fmla="*/ 0 60000 65536"/>
              <a:gd name="T5" fmla="*/ 0 60000 65536"/>
              <a:gd name="T6" fmla="*/ 0 w 3"/>
              <a:gd name="T7" fmla="*/ 0 h 3177"/>
              <a:gd name="T8" fmla="*/ 3 w 3"/>
              <a:gd name="T9" fmla="*/ 3177 h 317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177">
                <a:moveTo>
                  <a:pt x="0" y="0"/>
                </a:moveTo>
                <a:lnTo>
                  <a:pt x="3" y="3177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2449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lef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4013" y="1212850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5" name="Picture 3" descr="righ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11738" y="1212850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6" name="Line 4"/>
          <p:cNvSpPr>
            <a:spLocks noChangeShapeType="1"/>
          </p:cNvSpPr>
          <p:nvPr/>
        </p:nvSpPr>
        <p:spPr bwMode="auto">
          <a:xfrm>
            <a:off x="1439863" y="2108200"/>
            <a:ext cx="671353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3017838" y="2049463"/>
            <a:ext cx="123825" cy="119062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2925763" y="914400"/>
            <a:ext cx="523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1F497D"/>
                </a:solidFill>
                <a:latin typeface="Times New Roman" pitchFamily="18" charset="0"/>
                <a:ea typeface="SimSun" pitchFamily="2" charset="-122"/>
                <a:sym typeface="Times New Roman" pitchFamily="18" charset="0"/>
              </a:rPr>
              <a:t>Left</a:t>
            </a:r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6223000" y="914400"/>
            <a:ext cx="636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1F497D"/>
                </a:solidFill>
                <a:latin typeface="Times New Roman" pitchFamily="18" charset="0"/>
                <a:ea typeface="SimSun" pitchFamily="2" charset="-122"/>
                <a:sym typeface="Times New Roman" pitchFamily="18" charset="0"/>
              </a:rPr>
              <a:t>Right</a:t>
            </a:r>
          </a:p>
        </p:txBody>
      </p:sp>
      <p:sp>
        <p:nvSpPr>
          <p:cNvPr id="49160" name="Text Box 8"/>
          <p:cNvSpPr txBox="1">
            <a:spLocks noChangeArrowheads="1"/>
          </p:cNvSpPr>
          <p:nvPr/>
        </p:nvSpPr>
        <p:spPr bwMode="auto">
          <a:xfrm>
            <a:off x="595313" y="1905000"/>
            <a:ext cx="8524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1F497D"/>
                </a:solidFill>
                <a:latin typeface="Times New Roman" pitchFamily="18" charset="0"/>
                <a:ea typeface="SimSun" pitchFamily="2" charset="-122"/>
                <a:sym typeface="Times New Roman" pitchFamily="18" charset="0"/>
              </a:rPr>
              <a:t>scanline</a:t>
            </a:r>
          </a:p>
        </p:txBody>
      </p:sp>
      <p:sp>
        <p:nvSpPr>
          <p:cNvPr id="49161" name="Rectangle 9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8382000" cy="838200"/>
          </a:xfrm>
        </p:spPr>
        <p:txBody>
          <a:bodyPr/>
          <a:lstStyle/>
          <a:p>
            <a:r>
              <a:rPr lang="en-US" sz="3000"/>
              <a:t>Correspondence search</a:t>
            </a:r>
          </a:p>
        </p:txBody>
      </p:sp>
      <p:sp>
        <p:nvSpPr>
          <p:cNvPr id="49162" name="Text Box 11"/>
          <p:cNvSpPr txBox="1">
            <a:spLocks noChangeArrowheads="1"/>
          </p:cNvSpPr>
          <p:nvPr/>
        </p:nvSpPr>
        <p:spPr bwMode="auto">
          <a:xfrm>
            <a:off x="5835650" y="6262688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    NCC</a:t>
            </a:r>
          </a:p>
        </p:txBody>
      </p:sp>
      <p:pic>
        <p:nvPicPr>
          <p:cNvPr id="49163" name="Picture 1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00613" y="3730625"/>
            <a:ext cx="3176587" cy="236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64" name="Freeform 12"/>
          <p:cNvSpPr>
            <a:spLocks/>
          </p:cNvSpPr>
          <p:nvPr/>
        </p:nvSpPr>
        <p:spPr bwMode="auto">
          <a:xfrm>
            <a:off x="6454775" y="1212850"/>
            <a:ext cx="4763" cy="5043488"/>
          </a:xfrm>
          <a:custGeom>
            <a:avLst/>
            <a:gdLst>
              <a:gd name="T0" fmla="*/ 0 w 3"/>
              <a:gd name="T1" fmla="*/ 0 h 3177"/>
              <a:gd name="T2" fmla="*/ 2147483647 w 3"/>
              <a:gd name="T3" fmla="*/ 2147483647 h 3177"/>
              <a:gd name="T4" fmla="*/ 0 60000 65536"/>
              <a:gd name="T5" fmla="*/ 0 60000 65536"/>
              <a:gd name="T6" fmla="*/ 0 w 3"/>
              <a:gd name="T7" fmla="*/ 0 h 3177"/>
              <a:gd name="T8" fmla="*/ 3 w 3"/>
              <a:gd name="T9" fmla="*/ 3177 h 317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177">
                <a:moveTo>
                  <a:pt x="0" y="0"/>
                </a:moveTo>
                <a:lnTo>
                  <a:pt x="3" y="3177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7706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title"/>
          </p:nvPr>
        </p:nvSpPr>
        <p:spPr>
          <a:xfrm>
            <a:off x="518711" y="66675"/>
            <a:ext cx="8229600" cy="1143000"/>
          </a:xfrm>
        </p:spPr>
        <p:txBody>
          <a:bodyPr/>
          <a:lstStyle/>
          <a:p>
            <a:r>
              <a:rPr lang="en-US" dirty="0"/>
              <a:t>Effect of window size</a:t>
            </a:r>
          </a:p>
        </p:txBody>
      </p:sp>
      <p:pic>
        <p:nvPicPr>
          <p:cNvPr id="50180" name="Picture 5" descr="sri2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057275"/>
            <a:ext cx="2522538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1" name="Picture 2" descr="SSDWindowSiz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52800" y="1012825"/>
            <a:ext cx="5562600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3429000" y="3573119"/>
            <a:ext cx="24541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Disparity map for W = 3</a:t>
            </a:r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6301996" y="3547646"/>
            <a:ext cx="230922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Disparity map for W = 20</a:t>
            </a:r>
          </a:p>
        </p:txBody>
      </p:sp>
      <p:pic>
        <p:nvPicPr>
          <p:cNvPr id="50184" name="Picture 9" descr="sri2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209675"/>
            <a:ext cx="2522538" cy="22955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228600" y="3886200"/>
            <a:ext cx="8229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sym typeface="Times New Roman" pitchFamily="18" charset="0"/>
              </a:rPr>
              <a:t>Smaller window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/>
            </a:pPr>
            <a:r>
              <a:rPr lang="en-US" sz="2000" dirty="0">
                <a:solidFill>
                  <a:prstClr val="black"/>
                </a:solidFill>
                <a:sym typeface="Times New Roman" pitchFamily="18" charset="0"/>
              </a:rPr>
              <a:t>+	More details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/>
            </a:pPr>
            <a:r>
              <a:rPr lang="en-US" sz="2000" dirty="0">
                <a:solidFill>
                  <a:prstClr val="black"/>
                </a:solidFill>
                <a:sym typeface="Times New Roman" pitchFamily="18" charset="0"/>
              </a:rPr>
              <a:t>More noise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endParaRPr lang="en-US" sz="2400" dirty="0">
              <a:solidFill>
                <a:prstClr val="black"/>
              </a:solidFill>
              <a:sym typeface="Times New Roman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sym typeface="Times New Roman" pitchFamily="18" charset="0"/>
              </a:rPr>
              <a:t>Larger window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/>
            </a:pPr>
            <a:r>
              <a:rPr lang="en-US" sz="2000" dirty="0">
                <a:solidFill>
                  <a:prstClr val="black"/>
                </a:solidFill>
                <a:sym typeface="Times New Roman" pitchFamily="18" charset="0"/>
              </a:rPr>
              <a:t>+	Smoother disparity maps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/>
            </a:pPr>
            <a:r>
              <a:rPr lang="en-US" sz="2000">
                <a:solidFill>
                  <a:prstClr val="black"/>
                </a:solidFill>
                <a:sym typeface="Times New Roman" pitchFamily="18" charset="0"/>
              </a:rPr>
              <a:t>Less details</a:t>
            </a:r>
            <a:endParaRPr lang="en-US" sz="2000" dirty="0">
              <a:solidFill>
                <a:prstClr val="black"/>
              </a:solidFill>
              <a:sym typeface="Times New Roman" pitchFamily="18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/>
            </a:pPr>
            <a:r>
              <a:rPr lang="en-US" sz="2000" dirty="0">
                <a:solidFill>
                  <a:srgbClr val="000000"/>
                </a:solidFill>
                <a:ea typeface="ヒラギノ明朝 ProN W3" pitchFamily="-84" charset="-128"/>
                <a:sym typeface="Times New Roman" pitchFamily="18" charset="0"/>
              </a:rPr>
              <a:t>Fails near boundaries</a:t>
            </a:r>
            <a:endParaRPr lang="en-US" sz="2000" dirty="0">
              <a:solidFill>
                <a:prstClr val="black"/>
              </a:solidFill>
              <a:sym typeface="Times New Roman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endParaRPr lang="en-US" sz="2400" dirty="0">
              <a:solidFill>
                <a:prstClr val="black"/>
              </a:solidFill>
              <a:sym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1582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3350"/>
            <a:ext cx="8229600" cy="1143000"/>
          </a:xfrm>
        </p:spPr>
        <p:txBody>
          <a:bodyPr/>
          <a:lstStyle/>
          <a:p>
            <a:r>
              <a:rPr lang="en-US" sz="3600" dirty="0"/>
              <a:t>Depth map with window-based matching</a:t>
            </a:r>
          </a:p>
        </p:txBody>
      </p:sp>
      <p:graphicFrame>
        <p:nvGraphicFramePr>
          <p:cNvPr id="14338" name="Object 3"/>
          <p:cNvGraphicFramePr>
            <a:graphicFrameLocks noChangeAspect="1"/>
          </p:cNvGraphicFramePr>
          <p:nvPr/>
        </p:nvGraphicFramePr>
        <p:xfrm>
          <a:off x="5257800" y="4332288"/>
          <a:ext cx="3276600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422167" imgH="3202259" progId="">
                  <p:embed/>
                </p:oleObj>
              </mc:Choice>
              <mc:Fallback>
                <p:oleObj name="Image" r:id="rId3" imgW="4422167" imgH="3202259" progId="">
                  <p:embed/>
                  <p:pic>
                    <p:nvPicPr>
                      <p:cNvPr id="1433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332288"/>
                        <a:ext cx="3276600" cy="2373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160589" y="3810000"/>
            <a:ext cx="48397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Depth map (window-based matching)</a:t>
            </a:r>
          </a:p>
        </p:txBody>
      </p:sp>
      <p:graphicFrame>
        <p:nvGraphicFramePr>
          <p:cNvPr id="14339" name="Object 5"/>
          <p:cNvGraphicFramePr>
            <a:graphicFrameLocks noChangeAspect="1"/>
          </p:cNvGraphicFramePr>
          <p:nvPr/>
        </p:nvGraphicFramePr>
        <p:xfrm>
          <a:off x="914400" y="4332288"/>
          <a:ext cx="3276600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4422167" imgH="3202259" progId="">
                  <p:embed/>
                </p:oleObj>
              </mc:Choice>
              <mc:Fallback>
                <p:oleObj name="Image" r:id="rId5" imgW="4422167" imgH="3202259" progId="">
                  <p:embed/>
                  <p:pic>
                    <p:nvPicPr>
                      <p:cNvPr id="1433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332288"/>
                        <a:ext cx="3276600" cy="2373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5119661" y="3810000"/>
            <a:ext cx="35846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Ground truth for depth map</a:t>
            </a:r>
          </a:p>
        </p:txBody>
      </p:sp>
      <p:pic>
        <p:nvPicPr>
          <p:cNvPr id="14343" name="Picture 7" descr="scene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48000" y="1276350"/>
            <a:ext cx="327660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4" name="Text Box 6"/>
          <p:cNvSpPr txBox="1">
            <a:spLocks noChangeArrowheads="1"/>
          </p:cNvSpPr>
          <p:nvPr/>
        </p:nvSpPr>
        <p:spPr bwMode="auto">
          <a:xfrm>
            <a:off x="4344988" y="838200"/>
            <a:ext cx="828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ヒラギノ明朝 ProN W3" pitchFamily="-84" charset="-128"/>
                <a:sym typeface="Times New Roman" pitchFamily="18" charset="0"/>
              </a:rPr>
              <a:t>Data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7CF4-79CC-6A48-A466-8C20EA113E48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78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800" dirty="0"/>
              <a:t>How can we improve window-based matching?</a:t>
            </a:r>
          </a:p>
        </p:txBody>
      </p:sp>
      <p:sp>
        <p:nvSpPr>
          <p:cNvPr id="5222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So far, matches are independent for each point</a:t>
            </a:r>
          </a:p>
          <a:p>
            <a:endParaRPr lang="en-US" dirty="0"/>
          </a:p>
          <a:p>
            <a:r>
              <a:rPr lang="en-US" dirty="0"/>
              <a:t>What constraints can we add?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2462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8229600" cy="3505200"/>
          </a:xfrm>
        </p:spPr>
        <p:txBody>
          <a:bodyPr>
            <a:normAutofit/>
          </a:bodyPr>
          <a:lstStyle/>
          <a:p>
            <a:pPr>
              <a:buFontTx/>
              <a:buChar char="•"/>
              <a:defRPr/>
            </a:pPr>
            <a:r>
              <a:rPr lang="en-US" dirty="0"/>
              <a:t>Uniqueness </a:t>
            </a:r>
          </a:p>
          <a:p>
            <a:pPr lvl="1">
              <a:defRPr/>
            </a:pPr>
            <a:r>
              <a:rPr lang="en-US" dirty="0"/>
              <a:t>For any point in one image, there should be at most one matching point in the other image</a:t>
            </a:r>
          </a:p>
          <a:p>
            <a:pPr>
              <a:buFontTx/>
              <a:buChar char="•"/>
              <a:defRPr/>
            </a:pPr>
            <a:r>
              <a:rPr lang="en-US" dirty="0"/>
              <a:t>Smoothness</a:t>
            </a:r>
          </a:p>
          <a:p>
            <a:pPr lvl="1">
              <a:defRPr/>
            </a:pPr>
            <a:r>
              <a:rPr lang="en-US" dirty="0"/>
              <a:t>We expect disparity values to change slowly (for the most part)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48497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18361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Stereo as energy minimization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4191000"/>
            <a:ext cx="7772400" cy="2133600"/>
          </a:xfrm>
        </p:spPr>
        <p:txBody>
          <a:bodyPr/>
          <a:lstStyle/>
          <a:p>
            <a:r>
              <a:rPr lang="en-US" sz="2800" dirty="0">
                <a:latin typeface="Arial" charset="0"/>
              </a:rPr>
              <a:t>What defines a good stereo correspondence?</a:t>
            </a:r>
          </a:p>
          <a:p>
            <a:pPr marL="914400" lvl="1" indent="-457200">
              <a:buFontTx/>
              <a:buAutoNum type="arabicPeriod"/>
            </a:pPr>
            <a:r>
              <a:rPr lang="en-US" sz="1800" dirty="0">
                <a:latin typeface="Arial" charset="0"/>
              </a:rPr>
              <a:t>Match quality</a:t>
            </a:r>
          </a:p>
          <a:p>
            <a:pPr marL="1314450" lvl="2" indent="-457200"/>
            <a:r>
              <a:rPr lang="en-US" sz="1800" dirty="0">
                <a:latin typeface="Arial" charset="0"/>
              </a:rPr>
              <a:t>Want each pixel to find a good match in the other image</a:t>
            </a:r>
          </a:p>
          <a:p>
            <a:pPr marL="914400" lvl="1" indent="-457200">
              <a:buFontTx/>
              <a:buAutoNum type="arabicPeriod"/>
            </a:pPr>
            <a:r>
              <a:rPr lang="en-US" sz="1800" dirty="0">
                <a:latin typeface="Arial" charset="0"/>
              </a:rPr>
              <a:t>Smoothness</a:t>
            </a:r>
          </a:p>
          <a:p>
            <a:pPr marL="1314450" lvl="2" indent="-457200"/>
            <a:r>
              <a:rPr lang="en-US" sz="1800" dirty="0">
                <a:latin typeface="Arial" charset="0"/>
              </a:rPr>
              <a:t>If two pixels are adjacent, they should (usually) move about the same amount </a:t>
            </a:r>
          </a:p>
        </p:txBody>
      </p:sp>
      <p:pic>
        <p:nvPicPr>
          <p:cNvPr id="39940" name="Picture 3" descr="lincoln_full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066800"/>
            <a:ext cx="5029200" cy="289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Oval 7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3389313" y="3040063"/>
            <a:ext cx="152400" cy="150812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9942" name="Oval 6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5792788" y="3048000"/>
            <a:ext cx="150812" cy="15081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cxnSp>
        <p:nvCxnSpPr>
          <p:cNvPr id="39943" name="Straight Arrow Connector 7"/>
          <p:cNvCxnSpPr>
            <a:cxnSpLocks noChangeShapeType="1"/>
            <a:endCxn id="39942" idx="2"/>
          </p:cNvCxnSpPr>
          <p:nvPr>
            <p:custDataLst>
              <p:tags r:id="rId6"/>
            </p:custDataLst>
          </p:nvPr>
        </p:nvCxnSpPr>
        <p:spPr bwMode="auto">
          <a:xfrm flipV="1">
            <a:off x="3581400" y="3124200"/>
            <a:ext cx="2211388" cy="6350"/>
          </a:xfrm>
          <a:prstGeom prst="straightConnector1">
            <a:avLst/>
          </a:prstGeom>
          <a:noFill/>
          <a:ln w="28575">
            <a:solidFill>
              <a:srgbClr val="FFFF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4" name="Oval 8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3276600" y="2895600"/>
            <a:ext cx="150813" cy="15081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39945" name="Oval 9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5638800" y="2895600"/>
            <a:ext cx="150813" cy="15081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cxnSp>
        <p:nvCxnSpPr>
          <p:cNvPr id="39946" name="Straight Arrow Connector 11"/>
          <p:cNvCxnSpPr>
            <a:cxnSpLocks noChangeShapeType="1"/>
          </p:cNvCxnSpPr>
          <p:nvPr>
            <p:custDataLst>
              <p:tags r:id="rId9"/>
            </p:custDataLst>
          </p:nvPr>
        </p:nvCxnSpPr>
        <p:spPr bwMode="auto">
          <a:xfrm flipV="1">
            <a:off x="3443288" y="2971800"/>
            <a:ext cx="2209800" cy="7938"/>
          </a:xfrm>
          <a:prstGeom prst="straightConnector1">
            <a:avLst/>
          </a:prstGeom>
          <a:noFill/>
          <a:ln w="28575">
            <a:solidFill>
              <a:srgbClr val="FFFF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32597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8788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Matching </a:t>
            </a:r>
            <a:r>
              <a:rPr lang="en-US">
                <a:latin typeface="Arial" charset="0"/>
              </a:rPr>
              <a:t>windows:</a:t>
            </a:r>
            <a:endParaRPr lang="en-US" dirty="0">
              <a:solidFill>
                <a:srgbClr val="FF0000"/>
              </a:solidFill>
              <a:latin typeface="Arial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310187"/>
              </p:ext>
            </p:extLst>
          </p:nvPr>
        </p:nvGraphicFramePr>
        <p:xfrm>
          <a:off x="609600" y="914400"/>
          <a:ext cx="7772400" cy="3825875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67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Similarity Measure</a:t>
                      </a:r>
                      <a:endParaRPr lang="en-US" sz="1800" dirty="0">
                        <a:effectLst/>
                      </a:endParaRPr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effectLst/>
                        </a:rPr>
                        <a:t>Formula</a:t>
                      </a:r>
                      <a:endParaRPr lang="en-US" sz="1800">
                        <a:effectLst/>
                      </a:endParaRPr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041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Sum of Absolute Differences (SAD)</a:t>
                      </a:r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0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Sum of Squared Differences (SSD)</a:t>
                      </a:r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0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</a:endParaRPr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0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Normalized Cross Correlation (NCC)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</a:endParaRPr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041"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6880" name="Picture 1" descr="Sum of Absolute Differences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447800"/>
            <a:ext cx="2155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3" name="Picture 4" descr="Sum of Squared Differences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090738"/>
            <a:ext cx="21590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4" name="Picture 7" descr="Normalized Cross Correlation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3412331"/>
            <a:ext cx="29718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5" name="Picture 9" descr="http://siddhantahuja.files.wordpress.com/2009/05/tsukubasadcorrwindow9x9disprange0-16color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48768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6" name="Picture 11" descr="http://siddhantahuja.files.wordpress.com/2009/05/tsukubassdcorrwindow9x9disprange0-16color.png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48768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7" name="Picture 13" descr="http://siddhantahuja.files.wordpress.com/2009/05/tsukubancccorrwindow9x9disprange0-16color.png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88" y="48768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8" name="Picture 15" descr="http://siddhantahuja.files.wordpress.com/2009/05/tsukubagroundtruthcolor.png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8768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964113" y="6581775"/>
            <a:ext cx="4191000" cy="27622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sym typeface="Times New Roman" pitchFamily="18" charset="0"/>
                <a:hlinkClick r:id="rId11"/>
              </a:rPr>
              <a:t>http://siddhantahuja.wordpress.com/category/stereo-vision/</a:t>
            </a:r>
            <a:r>
              <a:rPr lang="en-US" sz="1200" dirty="0">
                <a:solidFill>
                  <a:srgbClr val="000000"/>
                </a:solidFill>
                <a:sym typeface="Times New Roman" pitchFamily="18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0788" y="6242050"/>
            <a:ext cx="914400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sym typeface="Times New Roman" pitchFamily="18" charset="0"/>
              </a:rPr>
              <a:t>SAD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5788" y="6227763"/>
            <a:ext cx="9144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sym typeface="Times New Roman" pitchFamily="18" charset="0"/>
              </a:rPr>
              <a:t>SSD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0788" y="6253163"/>
            <a:ext cx="9144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sym typeface="Times New Roman" pitchFamily="18" charset="0"/>
              </a:rPr>
              <a:t>NCC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3200" y="6253163"/>
            <a:ext cx="16764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sym typeface="Times New Roman" pitchFamily="18" charset="0"/>
              </a:rPr>
              <a:t>Ground truth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912E2C-7E4E-0742-6B40-1144AA423F80}"/>
              </a:ext>
            </a:extLst>
          </p:cNvPr>
          <p:cNvSpPr txBox="1"/>
          <p:nvPr/>
        </p:nvSpPr>
        <p:spPr>
          <a:xfrm>
            <a:off x="685800" y="43434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Depth map</a:t>
            </a:r>
          </a:p>
        </p:txBody>
      </p:sp>
    </p:spTree>
    <p:extLst>
      <p:ext uri="{BB962C8B-B14F-4D97-AF65-F5344CB8AC3E}">
        <p14:creationId xmlns:p14="http://schemas.microsoft.com/office/powerpoint/2010/main" val="1241883298"/>
      </p:ext>
    </p:extLst>
  </p:cSld>
  <p:clrMapOvr>
    <a:masterClrMapping/>
  </p:clrMapOvr>
  <p:transition advClick="0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21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14260" y="3810000"/>
            <a:ext cx="78486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  <a:latin typeface="Arial" charset="0"/>
              <a:ea typeface="ヒラギノ明朝 ProN W3" pitchFamily="-84" charset="-128"/>
              <a:sym typeface="Times New Roman" pitchFamily="18" charset="0"/>
            </a:endParaRP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</a:rPr>
              <a:t>Camera calibration errors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</a:rPr>
              <a:t>Poor image resolution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</a:rPr>
              <a:t>Occlusions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</a:rPr>
              <a:t>Violations of brightness constancy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</a:rPr>
              <a:t>Low-contrast image regions</a:t>
            </a: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95300" y="15240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Stereo reconstruction pipeline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9600" y="1295400"/>
            <a:ext cx="7772400" cy="213360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>
                <a:latin typeface="Arial" charset="0"/>
              </a:rPr>
              <a:t>Steps</a:t>
            </a:r>
          </a:p>
          <a:p>
            <a:pPr lvl="1"/>
            <a:r>
              <a:rPr lang="en-US" sz="2400" dirty="0">
                <a:latin typeface="Arial" charset="0"/>
              </a:rPr>
              <a:t>Calibrate cameras</a:t>
            </a:r>
          </a:p>
          <a:p>
            <a:pPr lvl="1"/>
            <a:r>
              <a:rPr lang="en-US" sz="2400" dirty="0">
                <a:latin typeface="Arial" charset="0"/>
              </a:rPr>
              <a:t>Rectify images</a:t>
            </a:r>
          </a:p>
          <a:p>
            <a:pPr lvl="1"/>
            <a:r>
              <a:rPr lang="en-US" sz="2400" dirty="0">
                <a:latin typeface="Arial" charset="0"/>
              </a:rPr>
              <a:t>Compute disparity</a:t>
            </a:r>
          </a:p>
          <a:p>
            <a:pPr lvl="1"/>
            <a:r>
              <a:rPr lang="en-US" sz="2400" dirty="0">
                <a:latin typeface="Arial" charset="0"/>
              </a:rPr>
              <a:t>Estimate depth</a:t>
            </a:r>
          </a:p>
        </p:txBody>
      </p:sp>
      <p:sp>
        <p:nvSpPr>
          <p:cNvPr id="65541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35726" y="3810000"/>
            <a:ext cx="78486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</a:rPr>
              <a:t>What will cause errors?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59B69-6083-0D46-8CBF-CC33D581A354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801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21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Multi-view stereo ?</a:t>
            </a:r>
          </a:p>
        </p:txBody>
      </p:sp>
      <p:pic>
        <p:nvPicPr>
          <p:cNvPr id="23556" name="Picture 4" descr="multi_view_geometry"/>
          <p:cNvPicPr>
            <a:picLocks noChangeAspect="1" noChangeArrowheads="1"/>
          </p:cNvPicPr>
          <p:nvPr/>
        </p:nvPicPr>
        <p:blipFill>
          <a:blip r:embed="rId3" cstate="print"/>
          <a:srcRect l="400" t="374"/>
          <a:stretch>
            <a:fillRect/>
          </a:stretch>
        </p:blipFill>
        <p:spPr bwMode="auto">
          <a:xfrm>
            <a:off x="2084388" y="1219200"/>
            <a:ext cx="4773612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129A-E41D-479C-9971-1A57C1F71E3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10924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Using more than two images</a:t>
            </a:r>
          </a:p>
        </p:txBody>
      </p:sp>
      <p:pic>
        <p:nvPicPr>
          <p:cNvPr id="60419" name="Picture 2" descr="http://grail.cs.washington.edu/projects/mvscpc/images/NotreDameFacade_lar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435100"/>
            <a:ext cx="3705225" cy="480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0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3048000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0421" name="Picture 4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657600"/>
            <a:ext cx="3048000" cy="149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0422" name="Right Arrow 3"/>
          <p:cNvSpPr>
            <a:spLocks noChangeArrowheads="1"/>
          </p:cNvSpPr>
          <p:nvPr/>
        </p:nvSpPr>
        <p:spPr bwMode="auto">
          <a:xfrm>
            <a:off x="3810000" y="32766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ヒラギノ明朝 ProN W3" pitchFamily="-84" charset="-128"/>
              <a:sym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9250" y="5919788"/>
            <a:ext cx="4572000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  <a:hlinkClick r:id="rId5" action="ppaction://hlinkfile"/>
              </a:rPr>
              <a:t>Multi-View Stereo for Community Photo Collections</a:t>
            </a:r>
            <a:br>
              <a:rPr lang="en-US" sz="120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</a:rPr>
            </a:br>
            <a:r>
              <a:rPr lang="en-US" sz="120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</a:rPr>
              <a:t>M. Goesele, N. Snavely, B. Curless, H. Hoppe, S. Seitz</a:t>
            </a:r>
            <a:br>
              <a:rPr lang="en-US" sz="120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</a:rPr>
            </a:br>
            <a:r>
              <a:rPr lang="en-US" sz="120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</a:rPr>
              <a:t>Proceedings of </a:t>
            </a:r>
            <a:r>
              <a:rPr lang="en-US" sz="120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  <a:hlinkClick r:id="rId6"/>
              </a:rPr>
              <a:t>ICCV 2007</a:t>
            </a:r>
            <a:r>
              <a:rPr lang="en-US" sz="1200">
                <a:solidFill>
                  <a:srgbClr val="000000"/>
                </a:solidFill>
                <a:latin typeface="Arial" charset="0"/>
                <a:ea typeface="ヒラギノ明朝 ProN W3" pitchFamily="-84" charset="-128"/>
                <a:sym typeface="Times New Roman" pitchFamily="18" charset="0"/>
              </a:rPr>
              <a:t>,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129A-E41D-479C-9971-1A57C1F71E3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50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35945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E =  \hat{T}R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79"/>
  <p:tag name="PICTUREFILESIZE" val="353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(R, T)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55.875"/>
  <p:tag name="PICTUREFILESIZE" val="271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T \in {\cal R}^3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67.875"/>
  <p:tag name="PICTUREFILESIZE" val="319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E =  U \Sigma V^T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110.875"/>
  <p:tag name="PICTUREFILESIZE" val="504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{\begin{array}{rl}(\widehat{T}_1, R_1) =&amp; (UR_Z(+\frac{\pi}{2})\Sigma U^T, UR_Z^T(+\frac{\pi}{2})V^T) \\&#10;(\widehat{T}_2, R_2) =&amp; (UR_Z(-\frac{\pi}{2})\Sigma U^T, UR_Z^T(-\frac{\pi}{2})V^T) \end{array}}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416.875"/>
  <p:tag name="PICTUREFILESIZE" val="5044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\Sigma = diag([1,1,0])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175.875"/>
  <p:tag name="PICTUREFILESIZE" val="769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R_z(+\frac{\pi}{2}) = \left[ \begin{array}{ccc} 0 &amp; -1 &amp; 0 \\&#10;                                      1 &amp;  0 &amp; 0 \\&#10;                                       0 &amp; 0  &amp; 1 &#10;             \end{array} \right]&#10; 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225.875"/>
  <p:tag name="PICTUREFILESIZE" val="3702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(R_2, T_2) = (e^{{\widehat u}\pi} R_1, -T_1)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231.875"/>
  <p:tag name="PICTUREFILESIZE" val="1295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R \in SO(3)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102"/>
  <p:tag name="PICTUREFILESIZE" val="471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\chi^T \chi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38.875"/>
  <p:tag name="PICTUREFILESIZE" val="234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rank(\chi^T \chi) &lt; 8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144"/>
  <p:tag name="PICTUREFILESIZE" val="728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F \in {\cal{R}}^{3 \times 3}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92.875"/>
  <p:tag name="PICTUREFILESIZE" val="458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F  = U diag(\sigma_1,\sigma_2,\sigma_3) V^T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238.75"/>
  <p:tag name="PICTUREFILESIZE" val="1222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\| E - F \|_f^2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86.875"/>
  <p:tag name="PICTUREFILESIZE" val="582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E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49.5"/>
  <p:tag name="PICTUREFILESIZE" val="75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E  = U diag(\sigma,\sigma,0) V^T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206.875"/>
  <p:tag name="PICTUREFILESIZE" val="1032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\sigma = \frac{\sigma_1 + \sigma_2}{2}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98.875"/>
  <p:tag name="PICTUREFILESIZE" val="630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min_{E^s} \| \chi E^s \|^2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128.875"/>
  <p:tag name="PICTUREFILESIZE" val="686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min_E \sum_{j=1}^n (\x_2^{jT} E \x_1^j)^2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211"/>
  <p:tag name="PICTUREFILESIZE" val="1495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F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49.5"/>
  <p:tag name="PICTUREFILESIZE" val="75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E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49.5"/>
  <p:tag name="PICTUREFILESIZE" val="75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\lambda_2 \x_2 = R \lambda_1 \x_1 + \gamma T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194.875"/>
  <p:tag name="PICTUREFILESIZE" val="827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\lambda_1^j \widehat{\x_2^j}R\x_1^j + \gamma \widehat{\x_2^j}T = 0,&#10;\quad j = 1, 2, \ldots, n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374.875"/>
  <p:tag name="PICTUREFILESIZE" val="2848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x}{{\bf x}}&#10;\newcommand{\X}{{\bf X}}&#10;\newcommand{\bv}{{\bf v}}&#10;\newcommand{\bl}{{\bf l}}&#10;\begin{document}&#10;$&#10;M^j \bar{\lambda^j} \doteq \left[\widehat{\x_2^j}R\x_1^j, \;&#10;\widehat{\x_2^j}T \right]&#10; \left[\begin{array}{c} \lambda^j_1 \\&#10;\gamma \end{array}\right] = 0&#10;$&#10;\end{document}&#10;"/>
  <p:tag name="EXTERNALNAME" val="Edittex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320.875"/>
  <p:tag name="PICTUREFILESIZE" val="370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cKBAlgP8">
  <a:themeElements>
    <a:clrScheme name="McKBAlgP8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cKBAlgP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McKBAlgP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McKBAlgP8">
  <a:themeElements>
    <a:clrScheme name="McKBAlgP8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cKBAlgP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McKBAlgP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McKBAlgP8">
  <a:themeElements>
    <a:clrScheme name="McKBAlgP8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cKBAlgP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McKBAlgP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ustom1">
  <a:themeElements>
    <a:clrScheme name="custom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custom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custom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22860</TotalTime>
  <Words>2585</Words>
  <Application>Microsoft Office PowerPoint</Application>
  <PresentationFormat>On-screen Show (4:3)</PresentationFormat>
  <Paragraphs>521</Paragraphs>
  <Slides>50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66" baseType="lpstr">
      <vt:lpstr>Arial</vt:lpstr>
      <vt:lpstr>Calibri</vt:lpstr>
      <vt:lpstr>Cambria Math</vt:lpstr>
      <vt:lpstr>Tahoma</vt:lpstr>
      <vt:lpstr>Times New Roman</vt:lpstr>
      <vt:lpstr>Verdana</vt:lpstr>
      <vt:lpstr>Wingdings</vt:lpstr>
      <vt:lpstr>3_Office Theme</vt:lpstr>
      <vt:lpstr>McKBAlgP8</vt:lpstr>
      <vt:lpstr>1_McKBAlgP8</vt:lpstr>
      <vt:lpstr>2_McKBAlgP8</vt:lpstr>
      <vt:lpstr>custom1</vt:lpstr>
      <vt:lpstr>Blends</vt:lpstr>
      <vt:lpstr>1_Blends</vt:lpstr>
      <vt:lpstr>Equation</vt:lpstr>
      <vt:lpstr>Image</vt:lpstr>
      <vt:lpstr> CS 5187: Vision and Image Lecture 9 Stereo Vision</vt:lpstr>
      <vt:lpstr>PowerPoint Presentation</vt:lpstr>
      <vt:lpstr>Amount of horizontal movement is …</vt:lpstr>
      <vt:lpstr>Depth from Stereo</vt:lpstr>
      <vt:lpstr>PowerPoint Presentation</vt:lpstr>
      <vt:lpstr>3D from Stereo Images</vt:lpstr>
      <vt:lpstr>Quiz</vt:lpstr>
      <vt:lpstr>Depth from Stereo</vt:lpstr>
      <vt:lpstr>Correspondence Problem</vt:lpstr>
      <vt:lpstr>Key idea: Epipolar constraint</vt:lpstr>
      <vt:lpstr>Epipolar geometry: terminology</vt:lpstr>
      <vt:lpstr>Epipolar geometry: notation</vt:lpstr>
      <vt:lpstr>Epipolar constraint</vt:lpstr>
      <vt:lpstr>Epipolar constraint</vt:lpstr>
      <vt:lpstr>Epipolar constraint example</vt:lpstr>
      <vt:lpstr>The Cross Product</vt:lpstr>
      <vt:lpstr>Example 1</vt:lpstr>
      <vt:lpstr>The Cross Product</vt:lpstr>
      <vt:lpstr>Epipolar constraint: Calibrated case</vt:lpstr>
      <vt:lpstr>Normalized Image Coordinate</vt:lpstr>
      <vt:lpstr>Epipolar constraint: Calibrated case</vt:lpstr>
      <vt:lpstr>Epipolar constraint: Calibrated case</vt:lpstr>
      <vt:lpstr>Epipolar constraint: Uncalibrated case</vt:lpstr>
      <vt:lpstr>Epipolar constraint: Uncalibrated case</vt:lpstr>
      <vt:lpstr>Epipolar constraint: Uncalibrated case</vt:lpstr>
      <vt:lpstr>The eight-point algorithm</vt:lpstr>
      <vt:lpstr>Pose Recovery from the Essential Matrix</vt:lpstr>
      <vt:lpstr>Estimating Essential Matrix</vt:lpstr>
      <vt:lpstr>Pose recovery: eight-point algorithm</vt:lpstr>
      <vt:lpstr>PowerPoint Presentation</vt:lpstr>
      <vt:lpstr>PowerPoint Presentation</vt:lpstr>
      <vt:lpstr>3D structure recovery</vt:lpstr>
      <vt:lpstr>Moving on to stereo…</vt:lpstr>
      <vt:lpstr>Basic stereo matching algorithm</vt:lpstr>
      <vt:lpstr>Simplest Case: Parallel images</vt:lpstr>
      <vt:lpstr>Stereo image rectification</vt:lpstr>
      <vt:lpstr>Stereo image rectification</vt:lpstr>
      <vt:lpstr>Example</vt:lpstr>
      <vt:lpstr>PowerPoint Presentation</vt:lpstr>
      <vt:lpstr>Correspondence search</vt:lpstr>
      <vt:lpstr>Correspondence search</vt:lpstr>
      <vt:lpstr>Effect of window size</vt:lpstr>
      <vt:lpstr>Depth map with window-based matching</vt:lpstr>
      <vt:lpstr>How can we improve window-based matching?</vt:lpstr>
      <vt:lpstr>Constraints</vt:lpstr>
      <vt:lpstr>Stereo as energy minimization</vt:lpstr>
      <vt:lpstr>Matching windows:</vt:lpstr>
      <vt:lpstr>Stereo reconstruction pipeline</vt:lpstr>
      <vt:lpstr>Multi-view stereo ?</vt:lpstr>
      <vt:lpstr>Using more than two images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Prof. WU Dapeng</cp:lastModifiedBy>
  <cp:revision>903</cp:revision>
  <cp:lastPrinted>2021-03-13T07:25:17Z</cp:lastPrinted>
  <dcterms:created xsi:type="dcterms:W3CDTF">2009-08-25T02:47:59Z</dcterms:created>
  <dcterms:modified xsi:type="dcterms:W3CDTF">2025-11-09T07:31:48Z</dcterms:modified>
</cp:coreProperties>
</file>