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ts" ContentType="video/unknown"/>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71" r:id="rId4"/>
    <p:sldId id="281" r:id="rId5"/>
    <p:sldId id="282" r:id="rId6"/>
    <p:sldId id="278" r:id="rId7"/>
    <p:sldId id="279" r:id="rId8"/>
    <p:sldId id="280" r:id="rId9"/>
    <p:sldId id="275" r:id="rId10"/>
    <p:sldId id="276" r:id="rId11"/>
    <p:sldId id="263" r:id="rId12"/>
    <p:sldId id="264" r:id="rId13"/>
    <p:sldId id="265" r:id="rId14"/>
    <p:sldId id="277" r:id="rId15"/>
    <p:sldId id="266"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83" autoAdjust="0"/>
    <p:restoredTop sz="72840" autoAdjust="0"/>
  </p:normalViewPr>
  <p:slideViewPr>
    <p:cSldViewPr snapToGrid="0">
      <p:cViewPr varScale="1">
        <p:scale>
          <a:sx n="90" d="100"/>
          <a:sy n="90" d="100"/>
        </p:scale>
        <p:origin x="1552" y="200"/>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2880" units="cm"/>
          <inkml:channel name="Y" type="integer" max="1800" units="cm"/>
          <inkml:channel name="T" type="integer" max="2.14748E9" units="dev"/>
        </inkml:traceFormat>
        <inkml:channelProperties>
          <inkml:channelProperty channel="X" name="resolution" value="95.68106" units="1/cm"/>
          <inkml:channelProperty channel="Y" name="resolution" value="95.74468" units="1/cm"/>
          <inkml:channelProperty channel="T" name="resolution" value="1" units="1/dev"/>
        </inkml:channelProperties>
      </inkml:inkSource>
      <inkml:timestamp xml:id="ts0" timeString="2023-09-21T09:36:23.397"/>
    </inkml:context>
    <inkml:brush xml:id="br0">
      <inkml:brushProperty name="width" value="0.05292" units="cm"/>
      <inkml:brushProperty name="height" value="0.05292" units="cm"/>
      <inkml:brushProperty name="color" value="#FF0000"/>
    </inkml:brush>
  </inkml:definitions>
  <inkml:trace contextRef="#ctx0" brushRef="#br0">23574 13129 0</inkml:trace>
  <inkml:trace contextRef="#ctx0" brushRef="#br0" timeOffset="852.58">8798 11842 0,'0'-19'0,"0"0"16,19 19 15,0 0-31</inkml:trace>
  <inkml:trace contextRef="#ctx0" brushRef="#br0" timeOffset="1900.2">7398 11521 0,'-19'56'0</inkml:trace>
  <inkml:trace contextRef="#ctx0" brushRef="#br0" timeOffset="6149.01">21815 12164 0,'38'0'0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443296-031B-4E62-BD23-3AACAECB7C3D}" type="datetimeFigureOut">
              <a:rPr lang="en-US" smtClean="0"/>
              <a:t>9/26/24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DD91D-34FF-4F61-ABD7-E097FE4529CD}" type="slidenum">
              <a:rPr lang="en-US" smtClean="0"/>
              <a:t>‹#›</a:t>
            </a:fld>
            <a:endParaRPr lang="en-US"/>
          </a:p>
        </p:txBody>
      </p:sp>
    </p:spTree>
    <p:extLst>
      <p:ext uri="{BB962C8B-B14F-4D97-AF65-F5344CB8AC3E}">
        <p14:creationId xmlns:p14="http://schemas.microsoft.com/office/powerpoint/2010/main" val="1580447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github.com/rcrespocano/opencv-python/issues/5"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a:t>
            </a:fld>
            <a:endParaRPr lang="en-US"/>
          </a:p>
        </p:txBody>
      </p:sp>
    </p:spTree>
    <p:extLst>
      <p:ext uri="{BB962C8B-B14F-4D97-AF65-F5344CB8AC3E}">
        <p14:creationId xmlns:p14="http://schemas.microsoft.com/office/powerpoint/2010/main" val="263455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t>
            </a:r>
            <a:r>
              <a:rPr lang="en-US" altLang="zh-CN" dirty="0"/>
              <a:t>oday, I will introduce how to use OPENCV to achieve interesting examples, as we all know, </a:t>
            </a:r>
            <a:r>
              <a:rPr lang="en-US" altLang="zh-CN" dirty="0" err="1"/>
              <a:t>opencv</a:t>
            </a:r>
            <a:r>
              <a:rPr lang="en-US" altLang="zh-CN" dirty="0"/>
              <a:t> is a powerful open source computer vision and machine learning software library.</a:t>
            </a:r>
          </a:p>
          <a:p>
            <a:endParaRPr lang="en-US" altLang="zh-CN" dirty="0"/>
          </a:p>
          <a:p>
            <a:r>
              <a:rPr lang="en-US" dirty="0" err="1"/>
              <a:t>Opencv</a:t>
            </a:r>
            <a:r>
              <a:rPr lang="en-US" dirty="0"/>
              <a:t> has several strengths:</a:t>
            </a:r>
          </a:p>
          <a:p>
            <a:r>
              <a:rPr lang="en-US" dirty="0"/>
              <a:t>It can be used in different platform like  xxx</a:t>
            </a:r>
          </a:p>
          <a:p>
            <a:r>
              <a:rPr lang="en-US" dirty="0"/>
              <a:t>Besides, it is open source and free,  you can employ it to do whatever you want.</a:t>
            </a:r>
          </a:p>
          <a:p>
            <a:r>
              <a:rPr lang="en-US" dirty="0"/>
              <a:t>By the way, If you are interested in OpenCV, you can click this link to read their documentations, so that you can understand a little bit further.</a:t>
            </a:r>
          </a:p>
        </p:txBody>
      </p:sp>
      <p:sp>
        <p:nvSpPr>
          <p:cNvPr id="4" name="Slide Number Placeholder 3"/>
          <p:cNvSpPr>
            <a:spLocks noGrp="1"/>
          </p:cNvSpPr>
          <p:nvPr>
            <p:ph type="sldNum" sz="quarter" idx="10"/>
          </p:nvPr>
        </p:nvSpPr>
        <p:spPr/>
        <p:txBody>
          <a:bodyPr/>
          <a:lstStyle/>
          <a:p>
            <a:fld id="{5DE82943-30DC-A14F-A789-20101A33067A}" type="slidenum">
              <a:rPr lang="en-US" smtClean="0"/>
              <a:t>2</a:t>
            </a:fld>
            <a:endParaRPr lang="en-US"/>
          </a:p>
        </p:txBody>
      </p:sp>
    </p:spTree>
    <p:extLst>
      <p:ext uri="{BB962C8B-B14F-4D97-AF65-F5344CB8AC3E}">
        <p14:creationId xmlns:p14="http://schemas.microsoft.com/office/powerpoint/2010/main" val="1175374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dirty="0"/>
              <a:t>So, you have to install </a:t>
            </a:r>
            <a:r>
              <a:rPr lang="en-HK" dirty="0" err="1"/>
              <a:t>opencv</a:t>
            </a:r>
            <a:r>
              <a:rPr lang="en-HK" dirty="0"/>
              <a:t> library using the given links.</a:t>
            </a:r>
          </a:p>
          <a:p>
            <a:r>
              <a:rPr lang="en-HK" dirty="0"/>
              <a:t>First you should install anaconda, if you click this link, you can find this webpage with download anaconda on the top, click it and skip registration, and you can download it.</a:t>
            </a:r>
          </a:p>
          <a:p>
            <a:r>
              <a:rPr lang="en-HK" dirty="0"/>
              <a:t>We suggest you create a virtual environment in anaconda follow this user guide in this link.</a:t>
            </a:r>
          </a:p>
          <a:p>
            <a:r>
              <a:rPr lang="en-HK" dirty="0"/>
              <a:t>If you succeed, you can enter the python terminal, and use pip or </a:t>
            </a:r>
            <a:r>
              <a:rPr lang="en-HK" dirty="0" err="1"/>
              <a:t>conda</a:t>
            </a:r>
            <a:r>
              <a:rPr lang="en-HK" dirty="0"/>
              <a:t> to install </a:t>
            </a:r>
            <a:r>
              <a:rPr lang="en-HK" dirty="0" err="1"/>
              <a:t>opencv</a:t>
            </a:r>
            <a:r>
              <a:rPr lang="en-HK" dirty="0"/>
              <a:t>-python.</a:t>
            </a:r>
          </a:p>
          <a:p>
            <a:r>
              <a:rPr lang="en-HK" dirty="0"/>
              <a:t>And if you </a:t>
            </a:r>
            <a:r>
              <a:rPr lang="en-HK" dirty="0" err="1"/>
              <a:t>dont</a:t>
            </a:r>
            <a:r>
              <a:rPr lang="en-HK" dirty="0"/>
              <a:t> see </a:t>
            </a:r>
            <a:r>
              <a:rPr lang="en-HK" dirty="0" err="1"/>
              <a:t>Jupyter</a:t>
            </a:r>
            <a:r>
              <a:rPr lang="en-HK" dirty="0"/>
              <a:t> Notebook is available on your Anaconda, use this command to install one.</a:t>
            </a:r>
          </a:p>
          <a:p>
            <a:r>
              <a:rPr lang="en-HK" dirty="0"/>
              <a:t>I remember the latest version of Anaconda has already included an available </a:t>
            </a:r>
            <a:r>
              <a:rPr lang="en-HK" dirty="0" err="1"/>
              <a:t>Jupyter</a:t>
            </a:r>
            <a:r>
              <a:rPr lang="en-HK" dirty="0"/>
              <a:t>, you could skip this step.</a:t>
            </a:r>
          </a:p>
          <a:p>
            <a:endParaRPr lang="en-HK" dirty="0"/>
          </a:p>
          <a:p>
            <a:r>
              <a:rPr lang="en-HK" dirty="0"/>
              <a:t>If you want to know </a:t>
            </a:r>
            <a:r>
              <a:rPr lang="en-US" dirty="0"/>
              <a:t>what the </a:t>
            </a:r>
            <a:r>
              <a:rPr lang="en-US" dirty="0" err="1"/>
              <a:t>opencv</a:t>
            </a:r>
            <a:r>
              <a:rPr lang="en-US" dirty="0"/>
              <a:t> version is</a:t>
            </a:r>
            <a:r>
              <a:rPr lang="en-HK" dirty="0"/>
              <a:t>, you can type the following codes to check your </a:t>
            </a:r>
            <a:r>
              <a:rPr lang="en-HK" dirty="0" err="1"/>
              <a:t>opencv</a:t>
            </a:r>
            <a:r>
              <a:rPr lang="en-HK" dirty="0"/>
              <a:t> version.</a:t>
            </a:r>
          </a:p>
          <a:p>
            <a:r>
              <a:rPr lang="en-HK" dirty="0" err="1"/>
              <a:t>Ok,fine</a:t>
            </a:r>
            <a:r>
              <a:rPr lang="en-HK" dirty="0"/>
              <a:t>, Now, you can use the </a:t>
            </a:r>
            <a:r>
              <a:rPr lang="en-HK" dirty="0" err="1"/>
              <a:t>jupyter</a:t>
            </a:r>
            <a:r>
              <a:rPr lang="en-HK" dirty="0"/>
              <a:t> notebook in your laptop, click the launch button in anaconda, it will jump out a new webpage.</a:t>
            </a:r>
          </a:p>
          <a:p>
            <a:r>
              <a:rPr lang="en-HK" dirty="0"/>
              <a:t>Create a new python file with the ”plus” button, and we will use </a:t>
            </a:r>
            <a:r>
              <a:rPr lang="en-HK" dirty="0" err="1"/>
              <a:t>jupyter</a:t>
            </a:r>
            <a:r>
              <a:rPr lang="en-HK" dirty="0"/>
              <a:t> notebook to </a:t>
            </a:r>
            <a:r>
              <a:rPr lang="en-US" dirty="0"/>
              <a:t>complete the following programing tasks.</a:t>
            </a:r>
            <a:endParaRPr lang="en-HK" dirty="0"/>
          </a:p>
        </p:txBody>
      </p:sp>
      <p:sp>
        <p:nvSpPr>
          <p:cNvPr id="4" name="Slide Number Placeholder 3"/>
          <p:cNvSpPr>
            <a:spLocks noGrp="1"/>
          </p:cNvSpPr>
          <p:nvPr>
            <p:ph type="sldNum" sz="quarter" idx="5"/>
          </p:nvPr>
        </p:nvSpPr>
        <p:spPr/>
        <p:txBody>
          <a:bodyPr/>
          <a:lstStyle/>
          <a:p>
            <a:fld id="{6DFDD91D-34FF-4F61-ABD7-E097FE4529CD}" type="slidenum">
              <a:rPr lang="en-US" smtClean="0"/>
              <a:t>3</a:t>
            </a:fld>
            <a:endParaRPr lang="en-US"/>
          </a:p>
        </p:txBody>
      </p:sp>
    </p:spTree>
    <p:extLst>
      <p:ext uri="{BB962C8B-B14F-4D97-AF65-F5344CB8AC3E}">
        <p14:creationId xmlns:p14="http://schemas.microsoft.com/office/powerpoint/2010/main" val="2448364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will try a simple example, to read and change </a:t>
            </a:r>
            <a:r>
              <a:rPr lang="en-US" dirty="0" err="1"/>
              <a:t>colorspace</a:t>
            </a:r>
            <a:r>
              <a:rPr lang="en-US" dirty="0"/>
              <a:t> of a cat image.</a:t>
            </a:r>
          </a:p>
          <a:p>
            <a:r>
              <a:rPr lang="en-US" dirty="0"/>
              <a:t>Open your </a:t>
            </a:r>
            <a:r>
              <a:rPr lang="en-US" dirty="0" err="1"/>
              <a:t>jupyter</a:t>
            </a:r>
            <a:r>
              <a:rPr lang="en-US" dirty="0"/>
              <a:t> webpage, and copy or type the codes in your cell. Don’t forget to click run button,</a:t>
            </a:r>
          </a:p>
          <a:p>
            <a:r>
              <a:rPr lang="en-US" dirty="0"/>
              <a:t>And then, you will read this cat image as colorful image or gray image, it depends on the second parameter you give.</a:t>
            </a:r>
          </a:p>
          <a:p>
            <a:r>
              <a:rPr lang="en-US" dirty="0"/>
              <a:t>OK</a:t>
            </a:r>
          </a:p>
        </p:txBody>
      </p:sp>
      <p:sp>
        <p:nvSpPr>
          <p:cNvPr id="4" name="Slide Number Placeholder 3"/>
          <p:cNvSpPr>
            <a:spLocks noGrp="1"/>
          </p:cNvSpPr>
          <p:nvPr>
            <p:ph type="sldNum" sz="quarter" idx="5"/>
          </p:nvPr>
        </p:nvSpPr>
        <p:spPr/>
        <p:txBody>
          <a:bodyPr/>
          <a:lstStyle/>
          <a:p>
            <a:fld id="{6DFDD91D-34FF-4F61-ABD7-E097FE4529CD}" type="slidenum">
              <a:rPr lang="en-US" smtClean="0"/>
              <a:t>4</a:t>
            </a:fld>
            <a:endParaRPr lang="en-US"/>
          </a:p>
        </p:txBody>
      </p:sp>
    </p:spTree>
    <p:extLst>
      <p:ext uri="{BB962C8B-B14F-4D97-AF65-F5344CB8AC3E}">
        <p14:creationId xmlns:p14="http://schemas.microsoft.com/office/powerpoint/2010/main" val="3841556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Let’s move on, you can also use the flag to convert </a:t>
            </a:r>
            <a:r>
              <a:rPr lang="en-US" altLang="en-US" dirty="0">
                <a:solidFill>
                  <a:schemeClr val="folHlink"/>
                </a:solidFill>
                <a:latin typeface="Lucida Console" panose="020B0609040504020204" pitchFamily="49" charset="0"/>
              </a:rPr>
              <a:t>the </a:t>
            </a:r>
            <a:r>
              <a:rPr lang="en-US" altLang="en-US" dirty="0" err="1">
                <a:solidFill>
                  <a:schemeClr val="folHlink"/>
                </a:solidFill>
                <a:latin typeface="Lucida Console" panose="020B0609040504020204" pitchFamily="49" charset="0"/>
              </a:rPr>
              <a:t>colorspace</a:t>
            </a:r>
            <a:r>
              <a:rPr lang="en-US" altLang="en-US" dirty="0">
                <a:solidFill>
                  <a:schemeClr val="folHlink"/>
                </a:solidFill>
                <a:latin typeface="Lucida Console" panose="020B0609040504020204" pitchFamily="49" charset="0"/>
              </a:rPr>
              <a:t> of </a:t>
            </a:r>
            <a:r>
              <a:rPr lang="en-US" altLang="zh-CN" dirty="0"/>
              <a:t>picture you have read.</a:t>
            </a:r>
          </a:p>
          <a:p>
            <a:r>
              <a:rPr lang="en-US" altLang="zh-CN" dirty="0"/>
              <a:t>You could define your flag in many ways, like BGR2GRAY, BGR2RBG and so on.</a:t>
            </a:r>
            <a:r>
              <a:rPr lang="zh-CN" altLang="en-US" dirty="0"/>
              <a:t> </a:t>
            </a:r>
            <a:endParaRPr lang="en-US" altLang="zh-CN" dirty="0"/>
          </a:p>
          <a:p>
            <a:r>
              <a:rPr lang="en-US" altLang="zh-CN" dirty="0"/>
              <a:t>To be mentioned, </a:t>
            </a:r>
            <a:r>
              <a:rPr lang="en-US" altLang="zh-CN" dirty="0" err="1"/>
              <a:t>opencv</a:t>
            </a:r>
            <a:r>
              <a:rPr lang="en-US" altLang="zh-CN" dirty="0"/>
              <a:t> reads image in BGR as default.</a:t>
            </a:r>
          </a:p>
          <a:p>
            <a:r>
              <a:rPr lang="en-US" altLang="zh-CN" dirty="0"/>
              <a:t>And</a:t>
            </a:r>
            <a:r>
              <a:rPr lang="zh-CN" altLang="en-US" dirty="0"/>
              <a:t> </a:t>
            </a:r>
            <a:r>
              <a:rPr lang="en-US" altLang="zh-CN" dirty="0"/>
              <a:t>here we define</a:t>
            </a:r>
            <a:r>
              <a:rPr lang="zh-CN" altLang="en-US" dirty="0"/>
              <a:t> </a:t>
            </a:r>
            <a:r>
              <a:rPr lang="en-US" altLang="zh-CN" dirty="0"/>
              <a:t>a flag as COLOR_BGR2RGB,</a:t>
            </a:r>
          </a:p>
          <a:p>
            <a:r>
              <a:rPr lang="en-US" altLang="zh-CN" dirty="0"/>
              <a:t>and use </a:t>
            </a:r>
            <a:r>
              <a:rPr lang="en-US" altLang="zh-CN" dirty="0" err="1"/>
              <a:t>cvtColor</a:t>
            </a:r>
            <a:r>
              <a:rPr lang="en-US" altLang="zh-CN" dirty="0"/>
              <a:t>() function to adapt the change on this image.</a:t>
            </a:r>
          </a:p>
          <a:p>
            <a:r>
              <a:rPr lang="en-US" altLang="zh-CN" dirty="0"/>
              <a:t>You could use matplotlib library to visualize the images you read.</a:t>
            </a:r>
          </a:p>
        </p:txBody>
      </p:sp>
      <p:sp>
        <p:nvSpPr>
          <p:cNvPr id="4" name="灯片编号占位符 3"/>
          <p:cNvSpPr>
            <a:spLocks noGrp="1"/>
          </p:cNvSpPr>
          <p:nvPr>
            <p:ph type="sldNum" sz="quarter" idx="5"/>
          </p:nvPr>
        </p:nvSpPr>
        <p:spPr/>
        <p:txBody>
          <a:bodyPr/>
          <a:lstStyle/>
          <a:p>
            <a:fld id="{6DFDD91D-34FF-4F61-ABD7-E097FE4529CD}" type="slidenum">
              <a:rPr lang="en-US" smtClean="0"/>
              <a:t>5</a:t>
            </a:fld>
            <a:endParaRPr lang="en-US"/>
          </a:p>
        </p:txBody>
      </p:sp>
    </p:spTree>
    <p:extLst>
      <p:ext uri="{BB962C8B-B14F-4D97-AF65-F5344CB8AC3E}">
        <p14:creationId xmlns:p14="http://schemas.microsoft.com/office/powerpoint/2010/main" val="2747284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next part, we will use </a:t>
            </a:r>
            <a:r>
              <a:rPr lang="en-US" dirty="0" err="1"/>
              <a:t>opencv</a:t>
            </a:r>
            <a:r>
              <a:rPr lang="en-US" dirty="0"/>
              <a:t> to conduct image segmentation experiments. </a:t>
            </a:r>
          </a:p>
          <a:p>
            <a:r>
              <a:rPr lang="en-US" dirty="0"/>
              <a:t>Image segmentation refers to decomposing an image into a set of disjoint regions. </a:t>
            </a:r>
          </a:p>
          <a:p>
            <a:r>
              <a:rPr lang="en-US" dirty="0"/>
              <a:t>Clustering is a technique to classify a bunch of objects based on some criteria.</a:t>
            </a:r>
          </a:p>
          <a:p>
            <a:r>
              <a:rPr lang="en-US" dirty="0"/>
              <a:t>Actually, image segmentation can be regarded as a process of clustering pixel based on its RGB value.  </a:t>
            </a:r>
          </a:p>
          <a:p>
            <a:r>
              <a:rPr lang="en-US" dirty="0"/>
              <a:t>So, we can use K-means clustering method in </a:t>
            </a:r>
            <a:r>
              <a:rPr lang="en-US" dirty="0" err="1"/>
              <a:t>opencv</a:t>
            </a:r>
            <a:r>
              <a:rPr lang="en-US" dirty="0"/>
              <a:t> to achieve this goal. </a:t>
            </a:r>
          </a:p>
          <a:p>
            <a:endParaRPr lang="en-US" dirty="0"/>
          </a:p>
          <a:p>
            <a:r>
              <a:rPr lang="en-US" dirty="0"/>
              <a:t>The cv2.kemans function have several arguments, data is the image you want to read, </a:t>
            </a:r>
          </a:p>
          <a:p>
            <a:r>
              <a:rPr lang="en-US" dirty="0"/>
              <a:t>and K is the number of clusters you </a:t>
            </a:r>
            <a:r>
              <a:rPr lang="en-US" dirty="0" err="1"/>
              <a:t>require.And</a:t>
            </a:r>
            <a:r>
              <a:rPr lang="en-US" dirty="0"/>
              <a:t> this function will return the result of clustering. </a:t>
            </a:r>
          </a:p>
          <a:p>
            <a:r>
              <a:rPr lang="en-US" dirty="0"/>
              <a:t>You could read the detail description from </a:t>
            </a:r>
            <a:r>
              <a:rPr lang="en-US" dirty="0" err="1"/>
              <a:t>opencv</a:t>
            </a:r>
            <a:r>
              <a:rPr lang="en-US" dirty="0"/>
              <a:t> official documentation to learn more about it.</a:t>
            </a:r>
          </a:p>
          <a:p>
            <a:endParaRPr lang="en-US" dirty="0"/>
          </a:p>
          <a:p>
            <a:r>
              <a:rPr lang="en-US" dirty="0"/>
              <a:t>https://</a:t>
            </a:r>
            <a:r>
              <a:rPr lang="en-US" dirty="0" err="1"/>
              <a:t>docs.opencv.org</a:t>
            </a:r>
            <a:r>
              <a:rPr lang="en-US" dirty="0"/>
              <a:t>/3.4/d1/d5c/</a:t>
            </a:r>
            <a:r>
              <a:rPr lang="en-US" dirty="0" err="1"/>
              <a:t>tutorial_py_kmeans_opencv.html</a:t>
            </a:r>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6</a:t>
            </a:fld>
            <a:endParaRPr lang="en-US"/>
          </a:p>
        </p:txBody>
      </p:sp>
    </p:spTree>
    <p:extLst>
      <p:ext uri="{BB962C8B-B14F-4D97-AF65-F5344CB8AC3E}">
        <p14:creationId xmlns:p14="http://schemas.microsoft.com/office/powerpoint/2010/main" val="2899697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we focus on this code example.</a:t>
            </a:r>
          </a:p>
          <a:p>
            <a:r>
              <a:rPr lang="en-US" altLang="zh-CN" dirty="0"/>
              <a:t>First, we will take some preprocessing techniques to filter the image. </a:t>
            </a:r>
          </a:p>
          <a:p>
            <a:r>
              <a:rPr lang="en-US" altLang="zh-CN" dirty="0"/>
              <a:t>Here we choose the </a:t>
            </a:r>
            <a:r>
              <a:rPr lang="en-US" altLang="zh-CN" dirty="0" err="1"/>
              <a:t>guassianblur</a:t>
            </a:r>
            <a:r>
              <a:rPr lang="en-US" altLang="zh-CN" dirty="0"/>
              <a:t> filter to do this, and the effect of filter is shown in the bottom picture.</a:t>
            </a:r>
          </a:p>
          <a:p>
            <a:r>
              <a:rPr lang="en-US" altLang="zh-CN" dirty="0"/>
              <a:t>You can also use different filters with different kernel sizes.</a:t>
            </a:r>
          </a:p>
          <a:p>
            <a:r>
              <a:rPr lang="en-US" altLang="zh-CN" dirty="0"/>
              <a:t>After that, you should convert the image into the vector in order to feed to the </a:t>
            </a:r>
            <a:r>
              <a:rPr lang="en-US" altLang="zh-CN" dirty="0" err="1"/>
              <a:t>kmeans</a:t>
            </a:r>
            <a:r>
              <a:rPr lang="en-US" altLang="zh-CN" dirty="0"/>
              <a:t> function.</a:t>
            </a:r>
          </a:p>
          <a:p>
            <a:r>
              <a:rPr lang="en-US" altLang="zh-CN" dirty="0"/>
              <a:t>And here we convert the image to a K by 3 vector using the reshape().</a:t>
            </a:r>
          </a:p>
        </p:txBody>
      </p:sp>
      <p:sp>
        <p:nvSpPr>
          <p:cNvPr id="4" name="灯片编号占位符 3"/>
          <p:cNvSpPr>
            <a:spLocks noGrp="1"/>
          </p:cNvSpPr>
          <p:nvPr>
            <p:ph type="sldNum" sz="quarter" idx="5"/>
          </p:nvPr>
        </p:nvSpPr>
        <p:spPr/>
        <p:txBody>
          <a:bodyPr/>
          <a:lstStyle/>
          <a:p>
            <a:fld id="{6DFDD91D-34FF-4F61-ABD7-E097FE4529CD}" type="slidenum">
              <a:rPr lang="en-US" smtClean="0"/>
              <a:t>7</a:t>
            </a:fld>
            <a:endParaRPr lang="en-US"/>
          </a:p>
        </p:txBody>
      </p:sp>
    </p:spTree>
    <p:extLst>
      <p:ext uri="{BB962C8B-B14F-4D97-AF65-F5344CB8AC3E}">
        <p14:creationId xmlns:p14="http://schemas.microsoft.com/office/powerpoint/2010/main" val="35391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https://github.com/rcrespocano/opencv-python/issues/5</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choose the number 2 to define the number of segments. </a:t>
            </a:r>
          </a:p>
          <a:p>
            <a:r>
              <a:rPr lang="en-US" dirty="0"/>
              <a:t>Because this coin image has clear foreground and background, they can be easily distinguished.</a:t>
            </a:r>
          </a:p>
          <a:p>
            <a:r>
              <a:rPr lang="en-US" dirty="0"/>
              <a:t>Then, we should define the stopping criteria. Here the max iteration times is 10 and threshold of expected accuracy is 1.0.</a:t>
            </a:r>
          </a:p>
          <a:p>
            <a:r>
              <a:rPr lang="en-US" dirty="0"/>
              <a:t>Next, we can call the </a:t>
            </a:r>
            <a:r>
              <a:rPr lang="en-US" dirty="0" err="1"/>
              <a:t>kmeans</a:t>
            </a:r>
            <a:r>
              <a:rPr lang="en-US" dirty="0"/>
              <a:t> function to achieve the image segmentation.</a:t>
            </a:r>
          </a:p>
          <a:p>
            <a:r>
              <a:rPr lang="en-US" altLang="zh-CN" dirty="0"/>
              <a:t>And the result is shown in the bottom figure, you can see coins and the background are separated correctly.</a:t>
            </a:r>
            <a:endParaRPr lang="en-US" dirty="0"/>
          </a:p>
          <a:p>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8</a:t>
            </a:fld>
            <a:endParaRPr lang="en-US"/>
          </a:p>
        </p:txBody>
      </p:sp>
    </p:spTree>
    <p:extLst>
      <p:ext uri="{BB962C8B-B14F-4D97-AF65-F5344CB8AC3E}">
        <p14:creationId xmlns:p14="http://schemas.microsoft.com/office/powerpoint/2010/main" val="2261708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4D5156"/>
                </a:solidFill>
                <a:effectLst/>
                <a:latin typeface="arial" panose="020B0604020202020204" pitchFamily="34" charset="0"/>
              </a:rPr>
              <a:t>In the third example,  we will try the feature matching algorithm. </a:t>
            </a:r>
          </a:p>
          <a:p>
            <a:r>
              <a:rPr lang="en-US" altLang="zh-CN" b="0" i="0" dirty="0">
                <a:solidFill>
                  <a:srgbClr val="4D5156"/>
                </a:solidFill>
                <a:effectLst/>
                <a:latin typeface="arial" panose="020B0604020202020204" pitchFamily="34" charset="0"/>
              </a:rPr>
              <a:t>Feature matching is </a:t>
            </a:r>
            <a:r>
              <a:rPr lang="en-US" altLang="zh-CN" b="1" i="0" dirty="0">
                <a:solidFill>
                  <a:srgbClr val="5F6368"/>
                </a:solidFill>
                <a:effectLst/>
                <a:latin typeface="arial" panose="020B0604020202020204" pitchFamily="34" charset="0"/>
              </a:rPr>
              <a:t>the process of comparing two images based on their respective </a:t>
            </a:r>
            <a:r>
              <a:rPr lang="en-US" altLang="zh-CN" b="1" i="0" dirty="0" err="1">
                <a:solidFill>
                  <a:srgbClr val="5F6368"/>
                </a:solidFill>
                <a:effectLst/>
                <a:latin typeface="arial" panose="020B0604020202020204" pitchFamily="34" charset="0"/>
              </a:rPr>
              <a:t>keypoints</a:t>
            </a:r>
            <a:r>
              <a:rPr lang="en-US" altLang="zh-CN" b="1" i="0" dirty="0">
                <a:solidFill>
                  <a:srgbClr val="5F6368"/>
                </a:solidFill>
                <a:effectLst/>
                <a:latin typeface="arial" panose="020B0604020202020204" pitchFamily="34" charset="0"/>
              </a:rPr>
              <a:t>.</a:t>
            </a:r>
            <a:endParaRPr lang="en-US" altLang="zh-CN" b="1" i="0" dirty="0">
              <a:solidFill>
                <a:srgbClr val="4D5156"/>
              </a:solidFill>
              <a:effectLst/>
              <a:latin typeface="arial" panose="020B0604020202020204" pitchFamily="34" charset="0"/>
            </a:endParaRPr>
          </a:p>
          <a:p>
            <a:r>
              <a:rPr lang="en-US" altLang="zh-CN" b="0" i="0" dirty="0" err="1">
                <a:solidFill>
                  <a:srgbClr val="202124"/>
                </a:solidFill>
                <a:effectLst/>
                <a:latin typeface="Google Sans"/>
              </a:rPr>
              <a:t>Keypoints</a:t>
            </a:r>
            <a:r>
              <a:rPr lang="en-US" altLang="zh-CN" b="0" i="0" dirty="0">
                <a:solidFill>
                  <a:srgbClr val="202124"/>
                </a:solidFill>
                <a:effectLst/>
                <a:latin typeface="Google Sans"/>
              </a:rPr>
              <a:t> also can be called as </a:t>
            </a:r>
            <a:r>
              <a:rPr lang="en-US" altLang="zh-CN" b="1" i="0" dirty="0">
                <a:solidFill>
                  <a:srgbClr val="202124"/>
                </a:solidFill>
                <a:effectLst/>
                <a:latin typeface="Google Sans"/>
              </a:rPr>
              <a:t>interest points</a:t>
            </a:r>
            <a:r>
              <a:rPr lang="en-US" altLang="zh-CN" b="0" i="0" dirty="0">
                <a:solidFill>
                  <a:srgbClr val="202124"/>
                </a:solidFill>
                <a:effectLst/>
                <a:latin typeface="Google Sans"/>
              </a:rPr>
              <a:t>. They are a set of </a:t>
            </a:r>
            <a:r>
              <a:rPr lang="en-US" altLang="zh-CN" b="0" i="0" dirty="0">
                <a:solidFill>
                  <a:srgbClr val="040C28"/>
                </a:solidFill>
                <a:effectLst/>
                <a:latin typeface="Google Sans"/>
              </a:rPr>
              <a:t>spatial points in the image. </a:t>
            </a:r>
          </a:p>
          <a:p>
            <a:r>
              <a:rPr lang="en-US" altLang="zh-CN" b="0" i="0" dirty="0" err="1">
                <a:solidFill>
                  <a:srgbClr val="202124"/>
                </a:solidFill>
                <a:effectLst/>
                <a:latin typeface="Google Sans"/>
              </a:rPr>
              <a:t>Keypoints</a:t>
            </a:r>
            <a:r>
              <a:rPr lang="en-US" altLang="zh-CN" b="0" i="0" dirty="0">
                <a:solidFill>
                  <a:srgbClr val="202124"/>
                </a:solidFill>
                <a:effectLst/>
                <a:latin typeface="Google Sans"/>
              </a:rPr>
              <a:t> are invariant to image rotation, shrinkage, translation, distortion, and so on.</a:t>
            </a:r>
            <a:endParaRPr lang="en-US" altLang="zh-CN" b="0" i="0" dirty="0">
              <a:solidFill>
                <a:srgbClr val="4D5156"/>
              </a:solidFill>
              <a:effectLst/>
              <a:latin typeface="arial" panose="020B0604020202020204" pitchFamily="34" charset="0"/>
            </a:endParaRPr>
          </a:p>
          <a:p>
            <a:r>
              <a:rPr lang="en-US" altLang="zh-CN" b="0" i="0" dirty="0">
                <a:solidFill>
                  <a:srgbClr val="4D5156"/>
                </a:solidFill>
                <a:effectLst/>
                <a:latin typeface="arial" panose="020B0604020202020204" pitchFamily="34" charset="0"/>
              </a:rPr>
              <a:t>There are many feature matching methods are developed to find </a:t>
            </a:r>
            <a:r>
              <a:rPr lang="en-US" altLang="zh-CN" b="0" i="0" dirty="0" err="1">
                <a:solidFill>
                  <a:srgbClr val="4D5156"/>
                </a:solidFill>
                <a:effectLst/>
                <a:latin typeface="arial" panose="020B0604020202020204" pitchFamily="34" charset="0"/>
              </a:rPr>
              <a:t>keypoints</a:t>
            </a:r>
            <a:r>
              <a:rPr lang="en-US" altLang="zh-CN" b="0" i="0" dirty="0">
                <a:solidFill>
                  <a:srgbClr val="4D5156"/>
                </a:solidFill>
                <a:effectLst/>
                <a:latin typeface="arial" panose="020B0604020202020204" pitchFamily="34" charset="0"/>
              </a:rPr>
              <a:t>, like SIFT or ORB.</a:t>
            </a:r>
          </a:p>
          <a:p>
            <a:r>
              <a:rPr lang="en-US" altLang="zh-CN" b="0" i="0" dirty="0">
                <a:solidFill>
                  <a:srgbClr val="4D5156"/>
                </a:solidFill>
                <a:effectLst/>
                <a:latin typeface="arial" panose="020B0604020202020204" pitchFamily="34" charset="0"/>
              </a:rPr>
              <a:t>SIFT is not free, so the installed </a:t>
            </a:r>
            <a:r>
              <a:rPr lang="en-US" altLang="zh-CN" b="0" i="0" dirty="0" err="1">
                <a:solidFill>
                  <a:srgbClr val="4D5156"/>
                </a:solidFill>
                <a:effectLst/>
                <a:latin typeface="arial" panose="020B0604020202020204" pitchFamily="34" charset="0"/>
              </a:rPr>
              <a:t>Opencv</a:t>
            </a:r>
            <a:r>
              <a:rPr lang="en-US" altLang="zh-CN" b="0" i="0" dirty="0">
                <a:solidFill>
                  <a:srgbClr val="4D5156"/>
                </a:solidFill>
                <a:effectLst/>
                <a:latin typeface="arial" panose="020B0604020202020204" pitchFamily="34" charset="0"/>
              </a:rPr>
              <a:t> doesn’t include SIFT module.</a:t>
            </a:r>
          </a:p>
          <a:p>
            <a:r>
              <a:rPr lang="en-US" altLang="zh-CN" b="0" i="0" dirty="0">
                <a:solidFill>
                  <a:srgbClr val="4D5156"/>
                </a:solidFill>
                <a:effectLst/>
                <a:latin typeface="arial" panose="020B0604020202020204" pitchFamily="34" charset="0"/>
              </a:rPr>
              <a:t>And ORB is a alternative to SIFT, it’s free, and consisted in </a:t>
            </a:r>
            <a:r>
              <a:rPr lang="en-US" altLang="zh-CN" b="0" i="0" dirty="0" err="1">
                <a:solidFill>
                  <a:srgbClr val="4D5156"/>
                </a:solidFill>
                <a:effectLst/>
                <a:latin typeface="arial" panose="020B0604020202020204" pitchFamily="34" charset="0"/>
              </a:rPr>
              <a:t>opencv</a:t>
            </a:r>
            <a:r>
              <a:rPr lang="en-US" altLang="zh-CN" b="0" i="0" dirty="0">
                <a:solidFill>
                  <a:srgbClr val="4D5156"/>
                </a:solidFill>
                <a:effectLst/>
                <a:latin typeface="arial" panose="020B0604020202020204" pitchFamily="34" charset="0"/>
              </a:rPr>
              <a:t>.</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9</a:t>
            </a:fld>
            <a:endParaRPr lang="en-US"/>
          </a:p>
        </p:txBody>
      </p:sp>
    </p:spTree>
    <p:extLst>
      <p:ext uri="{BB962C8B-B14F-4D97-AF65-F5344CB8AC3E}">
        <p14:creationId xmlns:p14="http://schemas.microsoft.com/office/powerpoint/2010/main" val="340947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Feature matching consists of two key steps.</a:t>
            </a:r>
          </a:p>
          <a:p>
            <a:r>
              <a:rPr lang="en-US" altLang="zh-CN" dirty="0"/>
              <a:t>First, we should get the </a:t>
            </a:r>
            <a:r>
              <a:rPr lang="en-US" altLang="zh-CN" dirty="0" err="1"/>
              <a:t>keypoints</a:t>
            </a:r>
            <a:r>
              <a:rPr lang="en-US" altLang="zh-CN" dirty="0"/>
              <a:t> in an image, so, we use ORB method to do it.</a:t>
            </a:r>
          </a:p>
          <a:p>
            <a:r>
              <a:rPr lang="en-US" altLang="zh-CN" dirty="0"/>
              <a:t>The green circles are </a:t>
            </a:r>
            <a:r>
              <a:rPr lang="en-US" altLang="zh-CN" dirty="0" err="1"/>
              <a:t>keypoints</a:t>
            </a:r>
            <a:r>
              <a:rPr lang="en-US" altLang="zh-CN" dirty="0"/>
              <a:t> we detected.</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10</a:t>
            </a:fld>
            <a:endParaRPr lang="en-US"/>
          </a:p>
        </p:txBody>
      </p:sp>
    </p:spTree>
    <p:extLst>
      <p:ext uri="{BB962C8B-B14F-4D97-AF65-F5344CB8AC3E}">
        <p14:creationId xmlns:p14="http://schemas.microsoft.com/office/powerpoint/2010/main" val="1634328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we match these </a:t>
            </a:r>
            <a:r>
              <a:rPr lang="en-US" altLang="zh-CN" dirty="0" err="1"/>
              <a:t>keypoints</a:t>
            </a:r>
            <a:r>
              <a:rPr lang="en-US" altLang="zh-CN" dirty="0"/>
              <a:t> from these two images by using some feature matching matchers.</a:t>
            </a:r>
          </a:p>
          <a:p>
            <a:r>
              <a:rPr lang="en-US" altLang="zh-CN" dirty="0"/>
              <a:t>Here we use the Brute-force matcher, it will return the closest </a:t>
            </a:r>
            <a:r>
              <a:rPr lang="en-US" altLang="zh-CN" dirty="0" err="1"/>
              <a:t>keypoint</a:t>
            </a:r>
            <a:r>
              <a:rPr lang="en-US" altLang="zh-CN" dirty="0"/>
              <a:t> after conducting each search.</a:t>
            </a:r>
          </a:p>
          <a:p>
            <a:r>
              <a:rPr lang="en-US" altLang="zh-CN" dirty="0"/>
              <a:t>In this figure, these lines are pairs of close </a:t>
            </a:r>
            <a:r>
              <a:rPr lang="en-US" altLang="zh-CN" dirty="0" err="1"/>
              <a:t>keypoints</a:t>
            </a:r>
            <a:r>
              <a:rPr lang="en-US" altLang="zh-CN" dirty="0"/>
              <a:t> found by the matcher.</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11</a:t>
            </a:fld>
            <a:endParaRPr lang="en-US"/>
          </a:p>
        </p:txBody>
      </p:sp>
    </p:spTree>
    <p:extLst>
      <p:ext uri="{BB962C8B-B14F-4D97-AF65-F5344CB8AC3E}">
        <p14:creationId xmlns:p14="http://schemas.microsoft.com/office/powerpoint/2010/main" val="4083266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remaining part of code.</a:t>
            </a:r>
          </a:p>
          <a:p>
            <a:r>
              <a:rPr lang="en-US" altLang="zh-CN" dirty="0"/>
              <a:t>We use sort algorithm to select the first 10 closest matches, and draw them using random colors, and visualize them in the result image.</a:t>
            </a:r>
          </a:p>
        </p:txBody>
      </p:sp>
      <p:sp>
        <p:nvSpPr>
          <p:cNvPr id="4" name="灯片编号占位符 3"/>
          <p:cNvSpPr>
            <a:spLocks noGrp="1"/>
          </p:cNvSpPr>
          <p:nvPr>
            <p:ph type="sldNum" sz="quarter" idx="5"/>
          </p:nvPr>
        </p:nvSpPr>
        <p:spPr/>
        <p:txBody>
          <a:bodyPr/>
          <a:lstStyle/>
          <a:p>
            <a:fld id="{6DFDD91D-34FF-4F61-ABD7-E097FE4529CD}" type="slidenum">
              <a:rPr lang="en-US" smtClean="0"/>
              <a:t>12</a:t>
            </a:fld>
            <a:endParaRPr lang="en-US"/>
          </a:p>
        </p:txBody>
      </p:sp>
    </p:spTree>
    <p:extLst>
      <p:ext uri="{BB962C8B-B14F-4D97-AF65-F5344CB8AC3E}">
        <p14:creationId xmlns:p14="http://schemas.microsoft.com/office/powerpoint/2010/main" val="2991657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way, we can get the feature matching results of church images. </a:t>
            </a:r>
          </a:p>
          <a:p>
            <a:r>
              <a:rPr lang="en-US" altLang="zh-CN" dirty="0"/>
              <a:t>You could check your own output image.</a:t>
            </a:r>
          </a:p>
          <a:p>
            <a:r>
              <a:rPr lang="en-US" altLang="zh-CN" dirty="0"/>
              <a:t>The result may be a little bit different, that's okay</a:t>
            </a:r>
            <a:endParaRPr lang="zh-CN" altLang="en-US" dirty="0"/>
          </a:p>
        </p:txBody>
      </p:sp>
      <p:sp>
        <p:nvSpPr>
          <p:cNvPr id="4" name="灯片编号占位符 3"/>
          <p:cNvSpPr>
            <a:spLocks noGrp="1"/>
          </p:cNvSpPr>
          <p:nvPr>
            <p:ph type="sldNum" sz="quarter" idx="5"/>
          </p:nvPr>
        </p:nvSpPr>
        <p:spPr/>
        <p:txBody>
          <a:bodyPr/>
          <a:lstStyle/>
          <a:p>
            <a:fld id="{6DFDD91D-34FF-4F61-ABD7-E097FE4529CD}" type="slidenum">
              <a:rPr lang="en-US" smtClean="0"/>
              <a:t>13</a:t>
            </a:fld>
            <a:endParaRPr lang="en-US"/>
          </a:p>
        </p:txBody>
      </p:sp>
    </p:spTree>
    <p:extLst>
      <p:ext uri="{BB962C8B-B14F-4D97-AF65-F5344CB8AC3E}">
        <p14:creationId xmlns:p14="http://schemas.microsoft.com/office/powerpoint/2010/main" val="4194526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0" i="0" dirty="0">
                <a:solidFill>
                  <a:srgbClr val="202124"/>
                </a:solidFill>
                <a:effectLst/>
                <a:latin typeface="Google Sans"/>
              </a:rPr>
              <a:t>And the last example, face tracking.</a:t>
            </a:r>
          </a:p>
          <a:p>
            <a:r>
              <a:rPr lang="en-US" altLang="zh-CN" b="0" i="0" dirty="0">
                <a:solidFill>
                  <a:srgbClr val="202124"/>
                </a:solidFill>
                <a:effectLst/>
                <a:latin typeface="Google Sans"/>
              </a:rPr>
              <a:t>Face Tracking Technology can </a:t>
            </a:r>
            <a:r>
              <a:rPr lang="en-US" altLang="zh-CN" b="0" i="0" dirty="0">
                <a:solidFill>
                  <a:srgbClr val="040C28"/>
                </a:solidFill>
                <a:effectLst/>
                <a:latin typeface="Google Sans"/>
              </a:rPr>
              <a:t>detect and track  the human face in a digital video</a:t>
            </a:r>
            <a:r>
              <a:rPr lang="en-US" altLang="zh-CN" b="0" i="0" dirty="0">
                <a:solidFill>
                  <a:srgbClr val="202124"/>
                </a:solidFill>
                <a:effectLst/>
                <a:latin typeface="Google Sans"/>
              </a:rPr>
              <a:t>. </a:t>
            </a:r>
          </a:p>
          <a:p>
            <a:r>
              <a:rPr lang="en-US" b="0" i="0" dirty="0">
                <a:solidFill>
                  <a:srgbClr val="202124"/>
                </a:solidFill>
                <a:effectLst/>
                <a:latin typeface="Google Sans"/>
              </a:rPr>
              <a:t>In this part, we use </a:t>
            </a:r>
            <a:r>
              <a:rPr lang="en-US" altLang="zh-CN" b="1" dirty="0" err="1"/>
              <a:t>Haar</a:t>
            </a:r>
            <a:r>
              <a:rPr lang="en-US" altLang="zh-CN" b="1" dirty="0"/>
              <a:t> feature-based cascade classifiers to achieve this goal. </a:t>
            </a:r>
          </a:p>
          <a:p>
            <a:r>
              <a:rPr lang="en-US" altLang="zh-CN" b="0" dirty="0" err="1"/>
              <a:t>Opencv</a:t>
            </a:r>
            <a:r>
              <a:rPr lang="en-US" altLang="zh-CN" b="0" dirty="0"/>
              <a:t> contains many pre-</a:t>
            </a:r>
            <a:r>
              <a:rPr lang="en-US" altLang="zh-CN" b="0" dirty="0" err="1"/>
              <a:t>tranined</a:t>
            </a:r>
            <a:r>
              <a:rPr lang="en-US" altLang="zh-CN" b="0" dirty="0"/>
              <a:t> classifiers for different tracking tasks, </a:t>
            </a:r>
            <a:r>
              <a:rPr lang="en-US" altLang="zh-CN" b="0" dirty="0" err="1"/>
              <a:t>Haar</a:t>
            </a:r>
            <a:r>
              <a:rPr lang="en-US" altLang="zh-CN" b="0" dirty="0"/>
              <a:t> is on of them.</a:t>
            </a:r>
          </a:p>
          <a:p>
            <a:r>
              <a:rPr lang="en-US" altLang="zh-CN" b="0" dirty="0"/>
              <a:t>Those model files are stored in this directory, you could check it out.</a:t>
            </a:r>
          </a:p>
        </p:txBody>
      </p:sp>
      <p:sp>
        <p:nvSpPr>
          <p:cNvPr id="4" name="Slide Number Placeholder 3"/>
          <p:cNvSpPr>
            <a:spLocks noGrp="1"/>
          </p:cNvSpPr>
          <p:nvPr>
            <p:ph type="sldNum" sz="quarter" idx="5"/>
          </p:nvPr>
        </p:nvSpPr>
        <p:spPr/>
        <p:txBody>
          <a:bodyPr/>
          <a:lstStyle/>
          <a:p>
            <a:fld id="{6DFDD91D-34FF-4F61-ABD7-E097FE4529CD}" type="slidenum">
              <a:rPr lang="en-US" smtClean="0"/>
              <a:t>14</a:t>
            </a:fld>
            <a:endParaRPr lang="en-US"/>
          </a:p>
        </p:txBody>
      </p:sp>
    </p:spTree>
    <p:extLst>
      <p:ext uri="{BB962C8B-B14F-4D97-AF65-F5344CB8AC3E}">
        <p14:creationId xmlns:p14="http://schemas.microsoft.com/office/powerpoint/2010/main" val="1654172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https://github.com/opencv/opencv/tree/17234f82d025e3bbfbf611089637e5aa2038e7b8/data/haarcascades</a:t>
            </a:r>
          </a:p>
          <a:p>
            <a:r>
              <a:rPr lang="en-US" dirty="0"/>
              <a:t>We first load the face detector from </a:t>
            </a:r>
            <a:r>
              <a:rPr lang="en-US" dirty="0" err="1"/>
              <a:t>opencv</a:t>
            </a:r>
            <a:r>
              <a:rPr lang="en-US" dirty="0"/>
              <a:t> and the input video.</a:t>
            </a:r>
          </a:p>
          <a:p>
            <a:r>
              <a:rPr lang="en-US" dirty="0"/>
              <a:t>And define the encoding standard for the output video.</a:t>
            </a:r>
          </a:p>
          <a:p>
            <a:endParaRPr lang="en-US" dirty="0"/>
          </a:p>
        </p:txBody>
      </p:sp>
      <p:sp>
        <p:nvSpPr>
          <p:cNvPr id="4" name="Slide Number Placeholder 3"/>
          <p:cNvSpPr>
            <a:spLocks noGrp="1"/>
          </p:cNvSpPr>
          <p:nvPr>
            <p:ph type="sldNum" sz="quarter" idx="5"/>
          </p:nvPr>
        </p:nvSpPr>
        <p:spPr/>
        <p:txBody>
          <a:bodyPr/>
          <a:lstStyle/>
          <a:p>
            <a:fld id="{6DFDD91D-34FF-4F61-ABD7-E097FE4529CD}" type="slidenum">
              <a:rPr lang="en-US" smtClean="0"/>
              <a:t>15</a:t>
            </a:fld>
            <a:endParaRPr lang="en-US"/>
          </a:p>
        </p:txBody>
      </p:sp>
    </p:spTree>
    <p:extLst>
      <p:ext uri="{BB962C8B-B14F-4D97-AF65-F5344CB8AC3E}">
        <p14:creationId xmlns:p14="http://schemas.microsoft.com/office/powerpoint/2010/main" val="3384987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https://docs.opencv.org/3.4.0/d1/de5/classcv_1_1CascadeClassifier.html</a:t>
            </a:r>
          </a:p>
          <a:p>
            <a:r>
              <a:rPr lang="en-US" dirty="0"/>
              <a:t>Then, we use the detector to track the human face in the input video.</a:t>
            </a:r>
          </a:p>
          <a:p>
            <a:r>
              <a:rPr lang="en-US" dirty="0"/>
              <a:t>In this while-true iterator, we treat each frame in this video as image, </a:t>
            </a:r>
          </a:p>
          <a:p>
            <a:r>
              <a:rPr lang="en-US" dirty="0"/>
              <a:t>and use </a:t>
            </a:r>
            <a:r>
              <a:rPr lang="en-US" dirty="0" err="1"/>
              <a:t>Haar</a:t>
            </a:r>
            <a:r>
              <a:rPr lang="en-US" dirty="0"/>
              <a:t> classifier to detect human face on each frame.</a:t>
            </a:r>
          </a:p>
          <a:p>
            <a:r>
              <a:rPr lang="en-US" dirty="0"/>
              <a:t>And we use a rectangle to denote the detected face.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Following these steps, we will obtain the desired result.</a:t>
            </a:r>
          </a:p>
          <a:p>
            <a:endParaRPr lang="en-US" dirty="0"/>
          </a:p>
        </p:txBody>
      </p:sp>
      <p:sp>
        <p:nvSpPr>
          <p:cNvPr id="4" name="Slide Number Placeholder 3"/>
          <p:cNvSpPr>
            <a:spLocks noGrp="1"/>
          </p:cNvSpPr>
          <p:nvPr>
            <p:ph type="sldNum" sz="quarter" idx="10"/>
          </p:nvPr>
        </p:nvSpPr>
        <p:spPr/>
        <p:txBody>
          <a:bodyPr/>
          <a:lstStyle/>
          <a:p>
            <a:fld id="{6DFDD91D-34FF-4F61-ABD7-E097FE4529CD}" type="slidenum">
              <a:rPr lang="en-US" smtClean="0"/>
              <a:t>16</a:t>
            </a:fld>
            <a:endParaRPr lang="en-US"/>
          </a:p>
        </p:txBody>
      </p:sp>
    </p:spTree>
    <p:extLst>
      <p:ext uri="{BB962C8B-B14F-4D97-AF65-F5344CB8AC3E}">
        <p14:creationId xmlns:p14="http://schemas.microsoft.com/office/powerpoint/2010/main" val="1910356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And this is the expected result you may see after running this code.</a:t>
            </a:r>
          </a:p>
          <a:p>
            <a:r>
              <a:rPr lang="en-US" dirty="0"/>
              <a:t>Ok, </a:t>
            </a:r>
            <a:r>
              <a:rPr lang="en-US" altLang="zh-CN" b="0" i="0" dirty="0">
                <a:solidFill>
                  <a:srgbClr val="4D5156"/>
                </a:solidFill>
                <a:effectLst/>
                <a:latin typeface="arial" panose="020B0604020202020204" pitchFamily="34" charset="0"/>
              </a:rPr>
              <a:t>The part of tutorial is over, </a:t>
            </a:r>
            <a:r>
              <a:rPr lang="en-US" dirty="0"/>
              <a:t>that’s all, thank you! </a:t>
            </a:r>
          </a:p>
          <a:p>
            <a:r>
              <a:rPr lang="en-US" dirty="0"/>
              <a:t>Now you guys could run these examples by your own, so that you could understand these further.</a:t>
            </a:r>
          </a:p>
          <a:p>
            <a:r>
              <a:rPr lang="en-US" dirty="0"/>
              <a:t>These jobs are very interesting and easy, you can try them on your own data. </a:t>
            </a:r>
          </a:p>
          <a:p>
            <a:r>
              <a:rPr lang="en-US" dirty="0"/>
              <a:t>If you have any problems, feel free to contact with me by email or publish a discussion on canvas.</a:t>
            </a:r>
          </a:p>
        </p:txBody>
      </p:sp>
      <p:sp>
        <p:nvSpPr>
          <p:cNvPr id="4" name="Slide Number Placeholder 3"/>
          <p:cNvSpPr>
            <a:spLocks noGrp="1"/>
          </p:cNvSpPr>
          <p:nvPr>
            <p:ph type="sldNum" sz="quarter" idx="10"/>
          </p:nvPr>
        </p:nvSpPr>
        <p:spPr/>
        <p:txBody>
          <a:bodyPr/>
          <a:lstStyle/>
          <a:p>
            <a:fld id="{5DE82943-30DC-A14F-A789-20101A33067A}" type="slidenum">
              <a:rPr lang="en-US" smtClean="0"/>
              <a:t>17</a:t>
            </a:fld>
            <a:endParaRPr lang="en-US"/>
          </a:p>
        </p:txBody>
      </p:sp>
    </p:spTree>
    <p:extLst>
      <p:ext uri="{BB962C8B-B14F-4D97-AF65-F5344CB8AC3E}">
        <p14:creationId xmlns:p14="http://schemas.microsoft.com/office/powerpoint/2010/main" val="3527499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BE6C-6081-41BD-A829-825630A2A6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FDB92-87B9-462C-9514-17401A1C66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BDADE1-5FD4-4522-A7DE-29650262EB90}"/>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B7BA3D49-6C6A-4B65-ACAC-8728BB52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2B8D38-6A99-4FA4-B017-0A85F21738BA}"/>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53116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17FEE-49DE-4718-BBD1-984762CD5D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AC3967-7048-4A35-A6BF-A1F90250100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CB9DA9-7918-46D8-B2B9-03E00F593208}"/>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9FBA9BE3-69BD-48EE-8C73-AE1C2B2CB5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4BBE8C-6F9E-43E4-8829-074550C28AB2}"/>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670419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2FFE-53F2-43B5-938E-F302FA484F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ECB54A-E822-44D6-A13F-866D15B32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6EFC172-D64D-407A-97DD-F8D16D0FA8F8}"/>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B0E8ECD4-71C9-462B-888F-70AB16099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FEEF7-DB21-4D6B-8666-2EE9533A43FC}"/>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029378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37AA-37AD-4AE2-BE4F-32CA19F2B5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EA644C-1521-46AE-A1DB-BA84D50A9CA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7B0F4A-6FDC-4336-810E-CA3932D9F1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6F4BF8-EF45-4D32-B92F-64DED9A8B1AA}"/>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6" name="Footer Placeholder 5">
            <a:extLst>
              <a:ext uri="{FF2B5EF4-FFF2-40B4-BE49-F238E27FC236}">
                <a16:creationId xmlns:a16="http://schemas.microsoft.com/office/drawing/2014/main" id="{6EDA3F44-D76F-4FA7-9A14-25229C03A6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3BB56-1D33-4D56-9CF0-71AA83AF40F3}"/>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610597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86BCF-066B-4802-9F75-F0C87088E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1D9AA1-5A4E-49F2-AAEB-6A02193BB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7B20DD3-8C00-4C1F-8003-06194D3138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4BFE49-CD18-462F-B1F0-81E32A49D1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FD42353-25CC-4174-AEDC-5DDA9A0A04C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78073A-B76B-4923-9CEC-6A0EE5E67BC9}"/>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8" name="Footer Placeholder 7">
            <a:extLst>
              <a:ext uri="{FF2B5EF4-FFF2-40B4-BE49-F238E27FC236}">
                <a16:creationId xmlns:a16="http://schemas.microsoft.com/office/drawing/2014/main" id="{86FFA9DB-2A70-4386-AFE8-9A652334B5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3B98B5-D872-47D7-8B9B-F4C07B6E51F3}"/>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2000459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3A14A-F3AF-4593-AA6C-1FAEF34BD0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7E683-BE86-4DA6-BD28-90AC5B7978C3}"/>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4" name="Footer Placeholder 3">
            <a:extLst>
              <a:ext uri="{FF2B5EF4-FFF2-40B4-BE49-F238E27FC236}">
                <a16:creationId xmlns:a16="http://schemas.microsoft.com/office/drawing/2014/main" id="{7319EACA-874A-4E8A-B381-0F6735940D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2A5BD4-83B9-4B40-9A65-DFD183B8C87E}"/>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3499202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9B456E-771C-45C7-AD77-193903BB748B}"/>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3" name="Footer Placeholder 2">
            <a:extLst>
              <a:ext uri="{FF2B5EF4-FFF2-40B4-BE49-F238E27FC236}">
                <a16:creationId xmlns:a16="http://schemas.microsoft.com/office/drawing/2014/main" id="{C6E3D188-A925-44BF-ADBB-46EF18655F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76C1AD-EB0C-4354-B750-16B674A35716}"/>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52365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7479-2BF9-4A53-914B-41E57E37E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7E5445-3225-42CD-B073-FE48281F73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10E154-E09E-4FE9-B8AE-8F59A3F1D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FFC98AB-A144-4475-8FB0-C9C4EE1E3965}"/>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6" name="Footer Placeholder 5">
            <a:extLst>
              <a:ext uri="{FF2B5EF4-FFF2-40B4-BE49-F238E27FC236}">
                <a16:creationId xmlns:a16="http://schemas.microsoft.com/office/drawing/2014/main" id="{E543D819-8DD3-4960-824B-39AE01A522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3ADDBB-9B02-4FC8-A981-C6846802A1B0}"/>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012144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143A1-3300-4870-8D62-B5E35461FA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4A0A06-A7FA-454C-BB56-2EC3AA28E3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646A81-C108-4FAC-9BF9-8DE3560D1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CE8DA0-E148-41D0-8CBB-BD34B5B8BCAB}"/>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6" name="Footer Placeholder 5">
            <a:extLst>
              <a:ext uri="{FF2B5EF4-FFF2-40B4-BE49-F238E27FC236}">
                <a16:creationId xmlns:a16="http://schemas.microsoft.com/office/drawing/2014/main" id="{3CC554F8-131F-4839-9A03-9869169259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A90FA-09EF-4359-8896-D9E49BEBF14D}"/>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7425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A27A-08F7-4EDF-B706-E68E3EA5E6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63790A-A4DB-4F6E-A3EB-5F8D7AA8302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53F3C6-850C-4598-929B-337E23BF4BAC}"/>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7F834D4B-2FCF-4593-82AD-9F3D56C5C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32B9A2-87F7-4C6A-845F-A702DD4E8661}"/>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4105935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79153A-5A23-4E7F-AFD0-E816C321EC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F2C67A-BAC4-4676-95F6-BD7E1829FE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C2A658-AF05-48F9-A68C-C7C44A6B5E97}"/>
              </a:ext>
            </a:extLst>
          </p:cNvPr>
          <p:cNvSpPr>
            <a:spLocks noGrp="1"/>
          </p:cNvSpPr>
          <p:nvPr>
            <p:ph type="dt" sz="half" idx="10"/>
          </p:nvPr>
        </p:nvSpPr>
        <p:spPr/>
        <p:txBody>
          <a:body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5A25B455-963D-4E87-AC68-E7057D3F7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CEA89-C190-4061-9D3E-66919341C43D}"/>
              </a:ext>
            </a:extLst>
          </p:cNvPr>
          <p:cNvSpPr>
            <a:spLocks noGrp="1"/>
          </p:cNvSpPr>
          <p:nvPr>
            <p:ph type="sldNum" sz="quarter" idx="12"/>
          </p:nvPr>
        </p:nvSpPr>
        <p:spPr/>
        <p:txBody>
          <a:bodyPr/>
          <a:lstStyle/>
          <a:p>
            <a:fld id="{1F6948E9-2A6F-45EB-BBB9-B803E92A59F5}" type="slidenum">
              <a:rPr lang="en-US" smtClean="0"/>
              <a:t>‹#›</a:t>
            </a:fld>
            <a:endParaRPr lang="en-US"/>
          </a:p>
        </p:txBody>
      </p:sp>
    </p:spTree>
    <p:extLst>
      <p:ext uri="{BB962C8B-B14F-4D97-AF65-F5344CB8AC3E}">
        <p14:creationId xmlns:p14="http://schemas.microsoft.com/office/powerpoint/2010/main" val="128403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57BD20-6A77-46E9-8638-89EC66813E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594823-2E19-4092-8527-5E33989EB3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F78DF-31B6-40A5-B809-791C64B2AC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6997A6-5606-401B-9D95-BD09845BE62F}" type="datetimeFigureOut">
              <a:rPr lang="en-US" smtClean="0"/>
              <a:t>9/26/24</a:t>
            </a:fld>
            <a:endParaRPr lang="en-US"/>
          </a:p>
        </p:txBody>
      </p:sp>
      <p:sp>
        <p:nvSpPr>
          <p:cNvPr id="5" name="Footer Placeholder 4">
            <a:extLst>
              <a:ext uri="{FF2B5EF4-FFF2-40B4-BE49-F238E27FC236}">
                <a16:creationId xmlns:a16="http://schemas.microsoft.com/office/drawing/2014/main" id="{7108403A-9A99-4113-A42B-2639E6723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EF2FDCC-D600-4D74-9679-AB7DC935F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6948E9-2A6F-45EB-BBB9-B803E92A59F5}" type="slidenum">
              <a:rPr lang="en-US" smtClean="0"/>
              <a:t>‹#›</a:t>
            </a:fld>
            <a:endParaRPr lang="en-US"/>
          </a:p>
        </p:txBody>
      </p:sp>
    </p:spTree>
    <p:extLst>
      <p:ext uri="{BB962C8B-B14F-4D97-AF65-F5344CB8AC3E}">
        <p14:creationId xmlns:p14="http://schemas.microsoft.com/office/powerpoint/2010/main" val="3931286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docs.opencv.org/modules/core/doc/intro.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docs.opencv.org/trunk/d5/de5/tutorial_py_setup_in_window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docs.conda.io/projects/conda/en/latest/user-guide/tasks/manage-environments.html" TargetMode="External"/><Relationship Id="rId4" Type="http://schemas.openxmlformats.org/officeDocument/2006/relationships/hyperlink" Target="https://docs.anaconda.com/anaconda/instal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media" Target="../media/media2.ts"/><Relationship Id="rId7" Type="http://schemas.openxmlformats.org/officeDocument/2006/relationships/image" Target="../media/image1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7.xml"/><Relationship Id="rId5" Type="http://schemas.openxmlformats.org/officeDocument/2006/relationships/slideLayout" Target="../slideLayouts/slideLayout2.xml"/><Relationship Id="rId10" Type="http://schemas.openxmlformats.org/officeDocument/2006/relationships/image" Target="../media/image22.png"/><Relationship Id="rId4" Type="http://schemas.openxmlformats.org/officeDocument/2006/relationships/video" Target="../media/media2.ts"/><Relationship Id="rId9"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3/32/OpenCV_Logo_with_text_svg_version.svg/1200px-OpenCV_Logo_with_text_svg_version.svg.png">
            <a:extLst>
              <a:ext uri="{FF2B5EF4-FFF2-40B4-BE49-F238E27FC236}">
                <a16:creationId xmlns:a16="http://schemas.microsoft.com/office/drawing/2014/main" id="{79FCA91D-ABE8-4BE4-8F9D-8ACD80DFE7E4}"/>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5445573" y="3971396"/>
            <a:ext cx="1300853" cy="16024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0" y="1122363"/>
            <a:ext cx="12192000" cy="2387600"/>
          </a:xfrm>
        </p:spPr>
        <p:txBody>
          <a:bodyPr>
            <a:normAutofit/>
          </a:bodyPr>
          <a:lstStyle/>
          <a:p>
            <a:r>
              <a:rPr lang="en-US" dirty="0"/>
              <a:t>Introduction to OpenCV</a:t>
            </a:r>
          </a:p>
        </p:txBody>
      </p:sp>
    </p:spTree>
    <p:extLst>
      <p:ext uri="{BB962C8B-B14F-4D97-AF65-F5344CB8AC3E}">
        <p14:creationId xmlns:p14="http://schemas.microsoft.com/office/powerpoint/2010/main" val="1543716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4603-0141-4AED-8A20-17F0FF53CCFD}"/>
              </a:ext>
            </a:extLst>
          </p:cNvPr>
          <p:cNvSpPr>
            <a:spLocks noGrp="1"/>
          </p:cNvSpPr>
          <p:nvPr>
            <p:ph type="title"/>
          </p:nvPr>
        </p:nvSpPr>
        <p:spPr/>
        <p:txBody>
          <a:bodyPr/>
          <a:lstStyle/>
          <a:p>
            <a:r>
              <a:rPr lang="en-US" dirty="0"/>
              <a:t>OpenCV</a:t>
            </a:r>
          </a:p>
        </p:txBody>
      </p:sp>
      <p:sp>
        <p:nvSpPr>
          <p:cNvPr id="3" name="Content Placeholder 2">
            <a:extLst>
              <a:ext uri="{FF2B5EF4-FFF2-40B4-BE49-F238E27FC236}">
                <a16:creationId xmlns:a16="http://schemas.microsoft.com/office/drawing/2014/main" id="{FDDC71A5-A082-4023-8B8E-560902EF4532}"/>
              </a:ext>
            </a:extLst>
          </p:cNvPr>
          <p:cNvSpPr>
            <a:spLocks noGrp="1"/>
          </p:cNvSpPr>
          <p:nvPr>
            <p:ph idx="1"/>
          </p:nvPr>
        </p:nvSpPr>
        <p:spPr/>
        <p:txBody>
          <a:bodyPr>
            <a:normAutofit fontScale="92500" lnSpcReduction="20000"/>
          </a:bodyPr>
          <a:lstStyle/>
          <a:p>
            <a:r>
              <a:rPr lang="en-US" dirty="0"/>
              <a:t>OpenCV (Open Source Computer Vision Library) is an open source computer vision and machine learning software library</a:t>
            </a:r>
          </a:p>
          <a:p>
            <a:pPr lvl="1"/>
            <a:r>
              <a:rPr lang="en-US" dirty="0"/>
              <a:t>3.4.0 / 2.4.13.5 (Latest version: OpenCV 4.8 )</a:t>
            </a:r>
          </a:p>
          <a:p>
            <a:endParaRPr lang="en-US" dirty="0"/>
          </a:p>
          <a:p>
            <a:r>
              <a:rPr lang="en-US" dirty="0"/>
              <a:t>OpenCV-Python is the Python API of OpenCV</a:t>
            </a:r>
          </a:p>
          <a:p>
            <a:endParaRPr lang="en-US" dirty="0"/>
          </a:p>
          <a:p>
            <a:r>
              <a:rPr lang="en-US" dirty="0"/>
              <a:t>Cross-platform (Windows, Mac, Linux, Android, iOS, </a:t>
            </a:r>
            <a:r>
              <a:rPr lang="en-US" dirty="0" err="1"/>
              <a:t>etc</a:t>
            </a:r>
            <a:r>
              <a:rPr lang="en-US" dirty="0"/>
              <a:t> )</a:t>
            </a:r>
          </a:p>
          <a:p>
            <a:endParaRPr lang="en-US" dirty="0"/>
          </a:p>
          <a:p>
            <a:r>
              <a:rPr lang="en-US" dirty="0"/>
              <a:t>Open Source and free (May have some commercial packages)</a:t>
            </a:r>
          </a:p>
          <a:p>
            <a:endParaRPr lang="en-US" dirty="0"/>
          </a:p>
          <a:p>
            <a:r>
              <a:rPr lang="en-US" dirty="0"/>
              <a:t>Documentation: </a:t>
            </a:r>
            <a:r>
              <a:rPr lang="en-US" dirty="0">
                <a:hlinkClick r:id="rId3"/>
              </a:rPr>
              <a:t>http://docs.opencv.org/modules/core/doc/intro.html</a:t>
            </a:r>
            <a:endParaRPr lang="en-US" dirty="0"/>
          </a:p>
          <a:p>
            <a:endParaRPr lang="en-US" dirty="0"/>
          </a:p>
          <a:p>
            <a:endParaRPr lang="en-US" dirty="0"/>
          </a:p>
        </p:txBody>
      </p:sp>
    </p:spTree>
    <p:extLst>
      <p:ext uri="{BB962C8B-B14F-4D97-AF65-F5344CB8AC3E}">
        <p14:creationId xmlns:p14="http://schemas.microsoft.com/office/powerpoint/2010/main" val="16363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4A8F1-709D-4C94-AE59-9C9924E19535}"/>
              </a:ext>
            </a:extLst>
          </p:cNvPr>
          <p:cNvSpPr>
            <a:spLocks noGrp="1"/>
          </p:cNvSpPr>
          <p:nvPr>
            <p:ph type="title"/>
          </p:nvPr>
        </p:nvSpPr>
        <p:spPr/>
        <p:txBody>
          <a:bodyPr/>
          <a:lstStyle/>
          <a:p>
            <a:r>
              <a:rPr lang="en-US" dirty="0"/>
              <a:t>Installation</a:t>
            </a:r>
          </a:p>
        </p:txBody>
      </p:sp>
      <p:sp>
        <p:nvSpPr>
          <p:cNvPr id="3" name="Content Placeholder 2">
            <a:extLst>
              <a:ext uri="{FF2B5EF4-FFF2-40B4-BE49-F238E27FC236}">
                <a16:creationId xmlns:a16="http://schemas.microsoft.com/office/drawing/2014/main" id="{E4A7904D-A6D0-4A9B-A749-7C13C0AE7AB7}"/>
              </a:ext>
            </a:extLst>
          </p:cNvPr>
          <p:cNvSpPr>
            <a:spLocks noGrp="1"/>
          </p:cNvSpPr>
          <p:nvPr>
            <p:ph idx="1"/>
          </p:nvPr>
        </p:nvSpPr>
        <p:spPr>
          <a:xfrm>
            <a:off x="838200" y="1416471"/>
            <a:ext cx="10515600" cy="4709929"/>
          </a:xfrm>
        </p:spPr>
        <p:txBody>
          <a:bodyPr>
            <a:normAutofit lnSpcReduction="10000"/>
          </a:bodyPr>
          <a:lstStyle/>
          <a:p>
            <a:r>
              <a:rPr lang="en-US" dirty="0"/>
              <a:t>Install OpenCV-Python in Windows (</a:t>
            </a:r>
            <a:r>
              <a:rPr lang="en-US" dirty="0">
                <a:hlinkClick r:id="rId3"/>
              </a:rPr>
              <a:t>site</a:t>
            </a:r>
            <a:r>
              <a:rPr lang="en-US" dirty="0"/>
              <a:t>)</a:t>
            </a:r>
          </a:p>
          <a:p>
            <a:pPr lvl="1"/>
            <a:r>
              <a:rPr lang="en-US" dirty="0"/>
              <a:t>Install Anaconda</a:t>
            </a:r>
          </a:p>
          <a:p>
            <a:pPr lvl="2"/>
            <a:r>
              <a:rPr lang="en-US" dirty="0"/>
              <a:t>Anaconda is essentially a nicely packaged Python IDE that is equipped with very useful packages, such as NumPy, Pandas, </a:t>
            </a:r>
            <a:r>
              <a:rPr lang="en-US" dirty="0" err="1"/>
              <a:t>IPython</a:t>
            </a:r>
            <a:r>
              <a:rPr lang="en-US" dirty="0"/>
              <a:t> Notebook, etc.</a:t>
            </a:r>
          </a:p>
          <a:p>
            <a:pPr lvl="2"/>
            <a:r>
              <a:rPr lang="en-US" dirty="0"/>
              <a:t>Installation: </a:t>
            </a:r>
            <a:r>
              <a:rPr lang="en-HK" dirty="0">
                <a:hlinkClick r:id="rId4"/>
              </a:rPr>
              <a:t>https://docs.anaconda.com/anaconda/install/</a:t>
            </a:r>
            <a:endParaRPr lang="en-US" dirty="0"/>
          </a:p>
          <a:p>
            <a:pPr lvl="1"/>
            <a:r>
              <a:rPr lang="en-US" dirty="0"/>
              <a:t>Install python virtual environment on Anaconda</a:t>
            </a:r>
          </a:p>
          <a:p>
            <a:pPr lvl="2"/>
            <a:r>
              <a:rPr lang="en-HK" dirty="0">
                <a:hlinkClick r:id="rId5"/>
              </a:rPr>
              <a:t>https://docs.conda.io/projects/conda/en/latest/user-guide/tasks/manage-environments.html</a:t>
            </a:r>
            <a:endParaRPr lang="en-HK" dirty="0"/>
          </a:p>
          <a:p>
            <a:pPr lvl="1"/>
            <a:r>
              <a:rPr lang="en-US" dirty="0"/>
              <a:t>Install </a:t>
            </a:r>
            <a:r>
              <a:rPr lang="en-US" dirty="0" err="1"/>
              <a:t>opencv</a:t>
            </a:r>
            <a:r>
              <a:rPr lang="en-US" dirty="0"/>
              <a:t>-python:</a:t>
            </a:r>
          </a:p>
          <a:p>
            <a:pPr lvl="2"/>
            <a:endParaRPr lang="en-US" dirty="0"/>
          </a:p>
          <a:p>
            <a:pPr lvl="1"/>
            <a:r>
              <a:rPr lang="en-US" altLang="zh-CN" dirty="0"/>
              <a:t>Install </a:t>
            </a:r>
            <a:r>
              <a:rPr lang="en-US" altLang="zh-CN" dirty="0" err="1"/>
              <a:t>Jupyter</a:t>
            </a:r>
            <a:r>
              <a:rPr lang="en-US" altLang="zh-CN" dirty="0"/>
              <a:t> Notebook:</a:t>
            </a:r>
          </a:p>
          <a:p>
            <a:pPr lvl="1"/>
            <a:endParaRPr lang="en-US" dirty="0"/>
          </a:p>
          <a:p>
            <a:pPr lvl="1"/>
            <a:r>
              <a:rPr lang="en-US" dirty="0"/>
              <a:t>Test:</a:t>
            </a:r>
          </a:p>
          <a:p>
            <a:pPr lvl="2"/>
            <a:r>
              <a:rPr lang="en-US" dirty="0"/>
              <a:t>Open Python IDLE and type following codes in Python terminal</a:t>
            </a:r>
          </a:p>
          <a:p>
            <a:pPr lvl="2"/>
            <a:endParaRPr lang="en-US" dirty="0"/>
          </a:p>
          <a:p>
            <a:pPr lvl="2"/>
            <a:endParaRPr lang="en-US" dirty="0"/>
          </a:p>
        </p:txBody>
      </p:sp>
      <p:sp>
        <p:nvSpPr>
          <p:cNvPr id="6" name="TextBox 5">
            <a:extLst>
              <a:ext uri="{FF2B5EF4-FFF2-40B4-BE49-F238E27FC236}">
                <a16:creationId xmlns:a16="http://schemas.microsoft.com/office/drawing/2014/main" id="{9F7BB5C2-0E84-472B-85F9-118D01735804}"/>
              </a:ext>
            </a:extLst>
          </p:cNvPr>
          <p:cNvSpPr txBox="1"/>
          <p:nvPr/>
        </p:nvSpPr>
        <p:spPr>
          <a:xfrm>
            <a:off x="1854199" y="4251753"/>
            <a:ext cx="4530271" cy="400110"/>
          </a:xfrm>
          <a:prstGeom prst="rect">
            <a:avLst/>
          </a:prstGeom>
          <a:solidFill>
            <a:schemeClr val="bg2"/>
          </a:solidFill>
        </p:spPr>
        <p:txBody>
          <a:bodyPr wrap="square" rtlCol="0">
            <a:spAutoFit/>
          </a:bodyPr>
          <a:lstStyle/>
          <a:p>
            <a:r>
              <a:rPr lang="en-US" sz="2000" dirty="0"/>
              <a:t>$ pip install </a:t>
            </a:r>
            <a:r>
              <a:rPr lang="en-US" sz="2000" dirty="0" err="1"/>
              <a:t>opencv</a:t>
            </a:r>
            <a:r>
              <a:rPr lang="en-US" sz="2000" dirty="0"/>
              <a:t>-python</a:t>
            </a:r>
          </a:p>
        </p:txBody>
      </p:sp>
      <p:sp>
        <p:nvSpPr>
          <p:cNvPr id="7" name="TextBox 6">
            <a:extLst>
              <a:ext uri="{FF2B5EF4-FFF2-40B4-BE49-F238E27FC236}">
                <a16:creationId xmlns:a16="http://schemas.microsoft.com/office/drawing/2014/main" id="{CBAA16D2-ABFA-4A89-923A-24E9B4A1AD61}"/>
              </a:ext>
            </a:extLst>
          </p:cNvPr>
          <p:cNvSpPr txBox="1"/>
          <p:nvPr/>
        </p:nvSpPr>
        <p:spPr>
          <a:xfrm>
            <a:off x="1854200" y="5999022"/>
            <a:ext cx="4530270" cy="646331"/>
          </a:xfrm>
          <a:prstGeom prst="rect">
            <a:avLst/>
          </a:prstGeom>
          <a:solidFill>
            <a:schemeClr val="bg2"/>
          </a:solidFill>
        </p:spPr>
        <p:txBody>
          <a:bodyPr wrap="square" rtlCol="0">
            <a:spAutoFit/>
          </a:bodyPr>
          <a:lstStyle/>
          <a:p>
            <a:r>
              <a:rPr lang="en-US" dirty="0"/>
              <a:t>&gt;&gt;&gt; import cv2</a:t>
            </a:r>
          </a:p>
          <a:p>
            <a:r>
              <a:rPr lang="en-US" dirty="0"/>
              <a:t>&gt;&gt;&gt; print(cv2.__version__)</a:t>
            </a:r>
          </a:p>
        </p:txBody>
      </p:sp>
      <p:sp>
        <p:nvSpPr>
          <p:cNvPr id="4" name="TextBox 5">
            <a:extLst>
              <a:ext uri="{FF2B5EF4-FFF2-40B4-BE49-F238E27FC236}">
                <a16:creationId xmlns:a16="http://schemas.microsoft.com/office/drawing/2014/main" id="{49E03F84-E532-05C3-7D6A-47BA78187894}"/>
              </a:ext>
            </a:extLst>
          </p:cNvPr>
          <p:cNvSpPr txBox="1"/>
          <p:nvPr/>
        </p:nvSpPr>
        <p:spPr>
          <a:xfrm>
            <a:off x="1854200" y="5004410"/>
            <a:ext cx="4530272" cy="369332"/>
          </a:xfrm>
          <a:prstGeom prst="rect">
            <a:avLst/>
          </a:prstGeom>
          <a:solidFill>
            <a:schemeClr val="bg2"/>
          </a:solidFill>
        </p:spPr>
        <p:txBody>
          <a:bodyPr wrap="square" rtlCol="0">
            <a:spAutoFit/>
          </a:bodyPr>
          <a:lstStyle/>
          <a:p>
            <a:r>
              <a:rPr lang="en-US" dirty="0"/>
              <a:t>$ </a:t>
            </a:r>
            <a:r>
              <a:rPr lang="en-US" altLang="zh-CN" b="0" i="0" dirty="0" err="1">
                <a:solidFill>
                  <a:srgbClr val="121212"/>
                </a:solidFill>
                <a:effectLst/>
                <a:latin typeface="Menlo"/>
              </a:rPr>
              <a:t>conda</a:t>
            </a:r>
            <a:r>
              <a:rPr lang="en-US" altLang="zh-CN" b="0" i="0" dirty="0">
                <a:solidFill>
                  <a:srgbClr val="121212"/>
                </a:solidFill>
                <a:effectLst/>
                <a:latin typeface="Menlo"/>
              </a:rPr>
              <a:t> install </a:t>
            </a:r>
            <a:r>
              <a:rPr lang="en-US" altLang="zh-CN" b="0" i="0" dirty="0" err="1">
                <a:solidFill>
                  <a:srgbClr val="121212"/>
                </a:solidFill>
                <a:effectLst/>
                <a:latin typeface="Menlo"/>
              </a:rPr>
              <a:t>jupyter</a:t>
            </a:r>
            <a:r>
              <a:rPr lang="en-US" altLang="zh-CN" b="0" i="0" dirty="0">
                <a:solidFill>
                  <a:srgbClr val="121212"/>
                </a:solidFill>
                <a:effectLst/>
                <a:latin typeface="Menlo"/>
              </a:rPr>
              <a:t> notebook</a:t>
            </a:r>
            <a:endParaRPr lang="en-US" dirty="0"/>
          </a:p>
        </p:txBody>
      </p:sp>
    </p:spTree>
    <p:extLst>
      <p:ext uri="{BB962C8B-B14F-4D97-AF65-F5344CB8AC3E}">
        <p14:creationId xmlns:p14="http://schemas.microsoft.com/office/powerpoint/2010/main" val="196281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D9EBA76-6D07-466E-8CD8-085480E522CB}"/>
              </a:ext>
            </a:extLst>
          </p:cNvPr>
          <p:cNvSpPr>
            <a:spLocks noGrp="1"/>
          </p:cNvSpPr>
          <p:nvPr>
            <p:ph type="sldNum" sz="quarter" idx="12"/>
          </p:nvPr>
        </p:nvSpPr>
        <p:spPr/>
        <p:txBody>
          <a:bodyPr/>
          <a:lstStyle/>
          <a:p>
            <a:fld id="{C612C943-9E07-4580-B0EB-AC3891FA5BEA}" type="slidenum">
              <a:rPr lang="zh-CN" altLang="en-US" smtClean="0"/>
              <a:t>4</a:t>
            </a:fld>
            <a:endParaRPr lang="zh-CN" altLang="en-US"/>
          </a:p>
        </p:txBody>
      </p:sp>
      <p:sp>
        <p:nvSpPr>
          <p:cNvPr id="24" name="TextBox 3">
            <a:extLst>
              <a:ext uri="{FF2B5EF4-FFF2-40B4-BE49-F238E27FC236}">
                <a16:creationId xmlns:a16="http://schemas.microsoft.com/office/drawing/2014/main" id="{FA84859F-6370-458B-BE03-6837FF561E41}"/>
              </a:ext>
            </a:extLst>
          </p:cNvPr>
          <p:cNvSpPr txBox="1"/>
          <p:nvPr/>
        </p:nvSpPr>
        <p:spPr>
          <a:xfrm>
            <a:off x="533134" y="1843088"/>
            <a:ext cx="11430531" cy="230832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reading image:</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 default, colorful</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1) # colorful, BGR</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0) # gray-scale</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-1) # unchanged, e.g., images include alpha channel </a:t>
            </a:r>
          </a:p>
        </p:txBody>
      </p:sp>
      <p:pic>
        <p:nvPicPr>
          <p:cNvPr id="25" name="Picture 12">
            <a:extLst>
              <a:ext uri="{FF2B5EF4-FFF2-40B4-BE49-F238E27FC236}">
                <a16:creationId xmlns:a16="http://schemas.microsoft.com/office/drawing/2014/main" id="{51A6A771-3DCC-40EE-A233-12D2C513DD78}"/>
              </a:ext>
            </a:extLst>
          </p:cNvPr>
          <p:cNvPicPr>
            <a:picLocks noChangeAspect="1"/>
          </p:cNvPicPr>
          <p:nvPr/>
        </p:nvPicPr>
        <p:blipFill>
          <a:blip r:embed="rId3"/>
          <a:stretch>
            <a:fillRect/>
          </a:stretch>
        </p:blipFill>
        <p:spPr>
          <a:xfrm>
            <a:off x="6947062" y="4369071"/>
            <a:ext cx="1663538" cy="1663538"/>
          </a:xfrm>
          <a:prstGeom prst="rect">
            <a:avLst/>
          </a:prstGeom>
        </p:spPr>
      </p:pic>
      <p:pic>
        <p:nvPicPr>
          <p:cNvPr id="26" name="Content Placeholder 12">
            <a:extLst>
              <a:ext uri="{FF2B5EF4-FFF2-40B4-BE49-F238E27FC236}">
                <a16:creationId xmlns:a16="http://schemas.microsoft.com/office/drawing/2014/main" id="{8A60A6C2-1C9A-4351-95F8-76B002F5CCF6}"/>
              </a:ext>
            </a:extLst>
          </p:cNvPr>
          <p:cNvPicPr>
            <a:picLocks noChangeAspect="1"/>
          </p:cNvPicPr>
          <p:nvPr/>
        </p:nvPicPr>
        <p:blipFill>
          <a:blip r:embed="rId4"/>
          <a:stretch>
            <a:fillRect/>
          </a:stretch>
        </p:blipFill>
        <p:spPr>
          <a:xfrm>
            <a:off x="2764237" y="4345341"/>
            <a:ext cx="1687268" cy="1687268"/>
          </a:xfrm>
          <a:prstGeom prst="rect">
            <a:avLst/>
          </a:prstGeom>
        </p:spPr>
      </p:pic>
      <p:sp>
        <p:nvSpPr>
          <p:cNvPr id="9" name="Title 1">
            <a:extLst>
              <a:ext uri="{FF2B5EF4-FFF2-40B4-BE49-F238E27FC236}">
                <a16:creationId xmlns:a16="http://schemas.microsoft.com/office/drawing/2014/main" id="{5EC666F0-2B57-4CB2-862F-ECE260834C7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Reading, </a:t>
            </a:r>
            <a:r>
              <a:rPr lang="en-US" dirty="0" err="1"/>
              <a:t>Colorspace</a:t>
            </a:r>
            <a:r>
              <a:rPr lang="en-US" dirty="0"/>
              <a:t> Changing:</a:t>
            </a:r>
            <a:br>
              <a:rPr lang="en-US" dirty="0"/>
            </a:br>
            <a:endParaRPr lang="en-US" dirty="0"/>
          </a:p>
        </p:txBody>
      </p:sp>
    </p:spTree>
    <p:extLst>
      <p:ext uri="{BB962C8B-B14F-4D97-AF65-F5344CB8AC3E}">
        <p14:creationId xmlns:p14="http://schemas.microsoft.com/office/powerpoint/2010/main" val="301984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D9EBA76-6D07-466E-8CD8-085480E522CB}"/>
              </a:ext>
            </a:extLst>
          </p:cNvPr>
          <p:cNvSpPr>
            <a:spLocks noGrp="1"/>
          </p:cNvSpPr>
          <p:nvPr>
            <p:ph type="sldNum" sz="quarter" idx="12"/>
          </p:nvPr>
        </p:nvSpPr>
        <p:spPr/>
        <p:txBody>
          <a:bodyPr/>
          <a:lstStyle/>
          <a:p>
            <a:fld id="{C612C943-9E07-4580-B0EB-AC3891FA5BEA}" type="slidenum">
              <a:rPr lang="zh-CN" altLang="en-US" smtClean="0"/>
              <a:t>5</a:t>
            </a:fld>
            <a:endParaRPr lang="zh-CN" altLang="en-US"/>
          </a:p>
        </p:txBody>
      </p:sp>
      <p:sp>
        <p:nvSpPr>
          <p:cNvPr id="24" name="TextBox 3">
            <a:extLst>
              <a:ext uri="{FF2B5EF4-FFF2-40B4-BE49-F238E27FC236}">
                <a16:creationId xmlns:a16="http://schemas.microsoft.com/office/drawing/2014/main" id="{FA84859F-6370-458B-BE03-6837FF561E41}"/>
              </a:ext>
            </a:extLst>
          </p:cNvPr>
          <p:cNvSpPr txBox="1"/>
          <p:nvPr/>
        </p:nvSpPr>
        <p:spPr>
          <a:xfrm>
            <a:off x="2159546" y="1676580"/>
            <a:ext cx="8000999" cy="1754326"/>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change image </a:t>
            </a:r>
            <a:r>
              <a:rPr lang="en-US" altLang="en-US" dirty="0" err="1">
                <a:solidFill>
                  <a:schemeClr val="folHlink"/>
                </a:solidFill>
                <a:latin typeface="Lucida Console" panose="020B0609040504020204" pitchFamily="49" charset="0"/>
              </a:rPr>
              <a:t>colorspace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cv2.imread('cat.jpg') # default, BGR</a:t>
            </a:r>
          </a:p>
          <a:p>
            <a:pPr>
              <a:buFont typeface="Wingdings" panose="05000000000000000000" pitchFamily="2" charset="2"/>
              <a:buNone/>
            </a:pPr>
            <a:r>
              <a:rPr lang="en-US" altLang="en-US" dirty="0">
                <a:solidFill>
                  <a:schemeClr val="folHlink"/>
                </a:solidFill>
                <a:latin typeface="Lucida Console" panose="020B0609040504020204" pitchFamily="49" charset="0"/>
              </a:rPr>
              <a:t>flag = cv2.COLOR_BGR2RGB # </a:t>
            </a:r>
            <a:r>
              <a:rPr lang="en-US" altLang="zh-CN" dirty="0">
                <a:solidFill>
                  <a:schemeClr val="folHlink"/>
                </a:solidFill>
                <a:latin typeface="Lucida Console" panose="020B0609040504020204" pitchFamily="49" charset="0"/>
              </a:rPr>
              <a:t>Change </a:t>
            </a:r>
            <a:r>
              <a:rPr lang="en-US" altLang="zh-CN" dirty="0" err="1">
                <a:solidFill>
                  <a:schemeClr val="folHlink"/>
                </a:solidFill>
                <a:latin typeface="Lucida Console" panose="020B0609040504020204" pitchFamily="49" charset="0"/>
              </a:rPr>
              <a:t>colorspace</a:t>
            </a:r>
            <a:r>
              <a:rPr lang="en-US" altLang="zh-CN" dirty="0">
                <a:solidFill>
                  <a:schemeClr val="folHlink"/>
                </a:solidFill>
                <a:latin typeface="Lucida Console" panose="020B0609040504020204" pitchFamily="49" charset="0"/>
              </a:rPr>
              <a:t> BGR-&gt;RGB</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image2 = cv2.cvtColor(image, flag)</a:t>
            </a:r>
          </a:p>
        </p:txBody>
      </p:sp>
      <p:sp>
        <p:nvSpPr>
          <p:cNvPr id="8" name="Content Placeholder 2">
            <a:extLst>
              <a:ext uri="{FF2B5EF4-FFF2-40B4-BE49-F238E27FC236}">
                <a16:creationId xmlns:a16="http://schemas.microsoft.com/office/drawing/2014/main" id="{D0194A4E-E90E-4489-BE1F-63F529C3F6E1}"/>
              </a:ext>
            </a:extLst>
          </p:cNvPr>
          <p:cNvSpPr txBox="1">
            <a:spLocks/>
          </p:cNvSpPr>
          <p:nvPr/>
        </p:nvSpPr>
        <p:spPr>
          <a:xfrm>
            <a:off x="2935275" y="4078214"/>
            <a:ext cx="5675325" cy="16086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800" dirty="0">
                <a:latin typeface="Times New Roman" panose="02020603050405020304" pitchFamily="18" charset="0"/>
                <a:cs typeface="Times New Roman" panose="02020603050405020304" pitchFamily="18" charset="0"/>
              </a:rPr>
              <a:t>flag: </a:t>
            </a:r>
          </a:p>
          <a:p>
            <a:pPr>
              <a:lnSpc>
                <a:spcPct val="100000"/>
              </a:lnSpc>
            </a:pPr>
            <a:r>
              <a:rPr lang="en-US" altLang="zh-CN" sz="1800" dirty="0">
                <a:latin typeface="Times New Roman" panose="02020603050405020304" pitchFamily="18" charset="0"/>
                <a:cs typeface="Times New Roman" panose="02020603050405020304" pitchFamily="18" charset="0"/>
              </a:rPr>
              <a:t>BGR-&gt;Gray: cv2.COLOR_BGR2GRAY</a:t>
            </a:r>
          </a:p>
          <a:p>
            <a:pPr>
              <a:lnSpc>
                <a:spcPct val="100000"/>
              </a:lnSpc>
            </a:pPr>
            <a:r>
              <a:rPr lang="en-US" altLang="zh-CN" sz="1800" dirty="0">
                <a:latin typeface="Times New Roman" panose="02020603050405020304" pitchFamily="18" charset="0"/>
                <a:cs typeface="Times New Roman" panose="02020603050405020304" pitchFamily="18" charset="0"/>
              </a:rPr>
              <a:t>BGR-&gt;RGB: cv2.COLOR_BGR2RGB</a:t>
            </a:r>
          </a:p>
          <a:p>
            <a:pPr>
              <a:lnSpc>
                <a:spcPct val="100000"/>
              </a:lnSpc>
            </a:pPr>
            <a:r>
              <a:rPr lang="en-US" altLang="zh-CN" sz="1800" dirty="0">
                <a:latin typeface="Times New Roman" panose="02020603050405020304" pitchFamily="18" charset="0"/>
                <a:cs typeface="Times New Roman" panose="02020603050405020304" pitchFamily="18" charset="0"/>
              </a:rPr>
              <a:t>BGR-&gt;HSV: cv2.COLOR_BGR2HSV</a:t>
            </a:r>
            <a:endParaRPr lang="en-US" sz="1800" dirty="0">
              <a:latin typeface="Times New Roman" panose="02020603050405020304" pitchFamily="18" charset="0"/>
              <a:cs typeface="Times New Roman" panose="02020603050405020304" pitchFamily="18" charset="0"/>
            </a:endParaRPr>
          </a:p>
          <a:p>
            <a:pPr>
              <a:lnSpc>
                <a:spcPct val="100000"/>
              </a:lnSpc>
            </a:pPr>
            <a:endParaRPr lang="en-US" sz="1800" dirty="0">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5EC666F0-2B57-4CB2-862F-ECE260834C7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Reading, </a:t>
            </a:r>
            <a:r>
              <a:rPr lang="en-US" dirty="0" err="1"/>
              <a:t>Colorspace</a:t>
            </a:r>
            <a:r>
              <a:rPr lang="en-US" dirty="0"/>
              <a:t> Changing:</a:t>
            </a:r>
            <a:br>
              <a:rPr lang="en-US" dirty="0"/>
            </a:br>
            <a:endParaRPr lang="en-US" dirty="0"/>
          </a:p>
        </p:txBody>
      </p:sp>
    </p:spTree>
    <p:extLst>
      <p:ext uri="{BB962C8B-B14F-4D97-AF65-F5344CB8AC3E}">
        <p14:creationId xmlns:p14="http://schemas.microsoft.com/office/powerpoint/2010/main" val="1439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66F0-2B57-4CB2-862F-ECE260834C75}"/>
              </a:ext>
            </a:extLst>
          </p:cNvPr>
          <p:cNvSpPr>
            <a:spLocks noGrp="1"/>
          </p:cNvSpPr>
          <p:nvPr>
            <p:ph type="title"/>
          </p:nvPr>
        </p:nvSpPr>
        <p:spPr/>
        <p:txBody>
          <a:bodyPr/>
          <a:lstStyle/>
          <a:p>
            <a:r>
              <a:rPr lang="en-US" dirty="0"/>
              <a:t>Image Segmentation</a:t>
            </a:r>
          </a:p>
        </p:txBody>
      </p:sp>
      <p:sp>
        <p:nvSpPr>
          <p:cNvPr id="3" name="Content Placeholder 2">
            <a:extLst>
              <a:ext uri="{FF2B5EF4-FFF2-40B4-BE49-F238E27FC236}">
                <a16:creationId xmlns:a16="http://schemas.microsoft.com/office/drawing/2014/main" id="{9CF3B1B2-8FB7-434B-8AB9-24450259683D}"/>
              </a:ext>
            </a:extLst>
          </p:cNvPr>
          <p:cNvSpPr>
            <a:spLocks noGrp="1"/>
          </p:cNvSpPr>
          <p:nvPr>
            <p:ph idx="1"/>
          </p:nvPr>
        </p:nvSpPr>
        <p:spPr>
          <a:xfrm>
            <a:off x="838200" y="1825624"/>
            <a:ext cx="10515600" cy="5032376"/>
          </a:xfrm>
        </p:spPr>
        <p:txBody>
          <a:bodyPr>
            <a:normAutofit fontScale="92500" lnSpcReduction="20000"/>
          </a:bodyPr>
          <a:lstStyle/>
          <a:p>
            <a:r>
              <a:rPr lang="en-US" dirty="0"/>
              <a:t>K-means Clustering</a:t>
            </a:r>
          </a:p>
          <a:p>
            <a:pPr lvl="1"/>
            <a:r>
              <a:rPr lang="en-US" dirty="0"/>
              <a:t>It clusters the given data into k-clusters or parts based on the k-centroids</a:t>
            </a:r>
          </a:p>
          <a:p>
            <a:pPr lvl="1"/>
            <a:r>
              <a:rPr lang="en-US" dirty="0"/>
              <a:t>The motivation behind image segmentation using k-means is that we try to assign labels to each pixel based on the RGB (or HSV) values</a:t>
            </a:r>
          </a:p>
          <a:p>
            <a:r>
              <a:rPr lang="en-US" dirty="0"/>
              <a:t>OpenCV</a:t>
            </a:r>
          </a:p>
          <a:p>
            <a:pPr lvl="1"/>
            <a:r>
              <a:rPr lang="en-US" sz="1800" b="1" dirty="0"/>
              <a:t>cv2.kmeans(data, K, </a:t>
            </a:r>
            <a:r>
              <a:rPr lang="en-US" altLang="zh-CN" sz="1800" b="1" dirty="0" err="1"/>
              <a:t>bestLabels</a:t>
            </a:r>
            <a:r>
              <a:rPr lang="en-US" altLang="zh-CN" sz="1800" b="1" dirty="0"/>
              <a:t>, </a:t>
            </a:r>
            <a:r>
              <a:rPr lang="en-US" sz="1800" b="1" dirty="0"/>
              <a:t>criteria, attempts, flags [, centers]) → </a:t>
            </a:r>
            <a:r>
              <a:rPr lang="en-US" sz="1800" b="1" dirty="0" err="1"/>
              <a:t>retval</a:t>
            </a:r>
            <a:r>
              <a:rPr lang="en-US" sz="1800" b="1" dirty="0"/>
              <a:t>, </a:t>
            </a:r>
            <a:r>
              <a:rPr lang="en-US" sz="1800" b="1" dirty="0" err="1"/>
              <a:t>bestLabels</a:t>
            </a:r>
            <a:r>
              <a:rPr lang="en-US" sz="1800" b="1" dirty="0"/>
              <a:t>, centers</a:t>
            </a:r>
          </a:p>
          <a:p>
            <a:pPr lvl="1"/>
            <a:r>
              <a:rPr lang="en-US" dirty="0"/>
              <a:t>Input parameters</a:t>
            </a:r>
          </a:p>
          <a:p>
            <a:pPr lvl="2"/>
            <a:r>
              <a:rPr lang="en-US" dirty="0"/>
              <a:t>data: np.float32 data type, and each feature should be put in a single column</a:t>
            </a:r>
          </a:p>
          <a:p>
            <a:pPr lvl="2"/>
            <a:r>
              <a:rPr lang="en-US" dirty="0"/>
              <a:t>K : Number of clusters required at end</a:t>
            </a:r>
          </a:p>
          <a:p>
            <a:pPr lvl="2"/>
            <a:r>
              <a:rPr lang="en-US" dirty="0" err="1"/>
              <a:t>bestLabels</a:t>
            </a:r>
            <a:r>
              <a:rPr lang="en-US" dirty="0"/>
              <a:t> : </a:t>
            </a:r>
            <a:r>
              <a:rPr lang="en-US" altLang="zh-CN" sz="2100" dirty="0"/>
              <a:t>Input/output integer array that stores the cluster indices for every sample</a:t>
            </a:r>
            <a:endParaRPr lang="en-US" sz="2100" dirty="0"/>
          </a:p>
          <a:p>
            <a:pPr lvl="2"/>
            <a:r>
              <a:rPr lang="en-US" dirty="0"/>
              <a:t>criteria : It is the iteration termination criteria</a:t>
            </a:r>
          </a:p>
          <a:p>
            <a:pPr lvl="2"/>
            <a:r>
              <a:rPr lang="en-US" dirty="0"/>
              <a:t>attempts: Flag to specify the number of times the algorithm is executed</a:t>
            </a:r>
          </a:p>
          <a:p>
            <a:pPr lvl="2"/>
            <a:r>
              <a:rPr lang="en-US" dirty="0"/>
              <a:t>flags: how initial centers are taken</a:t>
            </a:r>
          </a:p>
          <a:p>
            <a:pPr lvl="1"/>
            <a:r>
              <a:rPr lang="en-US" dirty="0"/>
              <a:t>Output parameters</a:t>
            </a:r>
          </a:p>
          <a:p>
            <a:pPr lvl="2"/>
            <a:r>
              <a:rPr lang="en-US" dirty="0" err="1"/>
              <a:t>retval</a:t>
            </a:r>
            <a:r>
              <a:rPr lang="en-US" dirty="0"/>
              <a:t>: the sum of squared distance from each point to their corresponding centers</a:t>
            </a:r>
          </a:p>
          <a:p>
            <a:pPr lvl="2"/>
            <a:r>
              <a:rPr lang="en-US" dirty="0" err="1"/>
              <a:t>bestLabels</a:t>
            </a:r>
            <a:r>
              <a:rPr lang="en-US" dirty="0"/>
              <a:t>: the label array where each element marked ‘0’, ‘1’,......, ‘K-1’</a:t>
            </a:r>
          </a:p>
          <a:p>
            <a:pPr lvl="2"/>
            <a:r>
              <a:rPr lang="en-US" dirty="0"/>
              <a:t>centers: array of centers of clusters</a:t>
            </a:r>
          </a:p>
          <a:p>
            <a:pPr lvl="1"/>
            <a:endParaRPr lang="en-US" dirty="0"/>
          </a:p>
        </p:txBody>
      </p:sp>
    </p:spTree>
    <p:extLst>
      <p:ext uri="{BB962C8B-B14F-4D97-AF65-F5344CB8AC3E}">
        <p14:creationId xmlns:p14="http://schemas.microsoft.com/office/powerpoint/2010/main" val="435789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04A09-954C-499E-885A-2E1B075105FC}"/>
              </a:ext>
            </a:extLst>
          </p:cNvPr>
          <p:cNvSpPr>
            <a:spLocks noGrp="1"/>
          </p:cNvSpPr>
          <p:nvPr>
            <p:ph type="title"/>
          </p:nvPr>
        </p:nvSpPr>
        <p:spPr/>
        <p:txBody>
          <a:bodyPr/>
          <a:lstStyle/>
          <a:p>
            <a:r>
              <a:rPr lang="en-US" dirty="0"/>
              <a:t>Image Segmentation</a:t>
            </a:r>
          </a:p>
        </p:txBody>
      </p:sp>
      <p:sp>
        <p:nvSpPr>
          <p:cNvPr id="3" name="Content Placeholder 2">
            <a:extLst>
              <a:ext uri="{FF2B5EF4-FFF2-40B4-BE49-F238E27FC236}">
                <a16:creationId xmlns:a16="http://schemas.microsoft.com/office/drawing/2014/main" id="{984359B7-AD17-4FF4-A3C9-EA20CB80CD6E}"/>
              </a:ext>
            </a:extLst>
          </p:cNvPr>
          <p:cNvSpPr>
            <a:spLocks noGrp="1"/>
          </p:cNvSpPr>
          <p:nvPr>
            <p:ph idx="1"/>
          </p:nvPr>
        </p:nvSpPr>
        <p:spPr/>
        <p:txBody>
          <a:bodyPr/>
          <a:lstStyle/>
          <a:p>
            <a:r>
              <a:rPr lang="en-US" dirty="0"/>
              <a:t>Preprocessing</a:t>
            </a:r>
          </a:p>
          <a:p>
            <a:r>
              <a:rPr lang="en-US" dirty="0"/>
              <a:t>Convert the MxNx3 image into a Kx3 vector (K=</a:t>
            </a:r>
            <a:r>
              <a:rPr lang="en-US" dirty="0" err="1"/>
              <a:t>MxN</a:t>
            </a:r>
            <a:r>
              <a:rPr lang="en-US" dirty="0"/>
              <a:t>)</a:t>
            </a:r>
          </a:p>
          <a:p>
            <a:endParaRPr lang="en-US" dirty="0"/>
          </a:p>
        </p:txBody>
      </p:sp>
      <p:sp>
        <p:nvSpPr>
          <p:cNvPr id="4" name="TextBox 3">
            <a:extLst>
              <a:ext uri="{FF2B5EF4-FFF2-40B4-BE49-F238E27FC236}">
                <a16:creationId xmlns:a16="http://schemas.microsoft.com/office/drawing/2014/main" id="{D60A3E1C-0E97-460F-9ED3-C32B6A0BB5F1}"/>
              </a:ext>
            </a:extLst>
          </p:cNvPr>
          <p:cNvSpPr txBox="1"/>
          <p:nvPr/>
        </p:nvSpPr>
        <p:spPr>
          <a:xfrm>
            <a:off x="838201" y="3212079"/>
            <a:ext cx="8539479" cy="3416320"/>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a:t>
            </a:r>
            <a:r>
              <a:rPr lang="en-US" altLang="en-US" dirty="0" err="1">
                <a:solidFill>
                  <a:schemeClr val="folHlink"/>
                </a:solidFill>
                <a:latin typeface="Lucida Console" panose="020B0609040504020204" pitchFamily="49" charset="0"/>
              </a:rPr>
              <a:t>numpy</a:t>
            </a:r>
            <a:r>
              <a:rPr lang="en-US" altLang="en-US" dirty="0">
                <a:solidFill>
                  <a:schemeClr val="folHlink"/>
                </a:solidFill>
                <a:latin typeface="Lucida Console" panose="020B0609040504020204" pitchFamily="49" charset="0"/>
              </a:rPr>
              <a:t> as np</a:t>
            </a:r>
          </a:p>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r>
              <a:rPr lang="en-US" altLang="en-US" dirty="0">
                <a:solidFill>
                  <a:schemeClr val="folHlink"/>
                </a:solidFill>
                <a:latin typeface="Lucida Console" panose="020B0609040504020204" pitchFamily="49" charset="0"/>
              </a:rPr>
              <a:t>from </a:t>
            </a:r>
            <a:r>
              <a:rPr lang="en-US" altLang="en-US" dirty="0" err="1">
                <a:solidFill>
                  <a:schemeClr val="folHlink"/>
                </a:solidFill>
                <a:latin typeface="Lucida Console" panose="020B0609040504020204" pitchFamily="49" charset="0"/>
              </a:rPr>
              <a:t>matplotlib</a:t>
            </a:r>
            <a:r>
              <a:rPr lang="en-US" altLang="en-US" dirty="0">
                <a:solidFill>
                  <a:schemeClr val="folHlink"/>
                </a:solidFill>
                <a:latin typeface="Lucida Console" panose="020B0609040504020204" pitchFamily="49" charset="0"/>
              </a:rPr>
              <a:t> import </a:t>
            </a:r>
            <a:r>
              <a:rPr lang="en-US" altLang="en-US" dirty="0" err="1">
                <a:solidFill>
                  <a:schemeClr val="folHlink"/>
                </a:solidFill>
                <a:latin typeface="Lucida Console" panose="020B0609040504020204" pitchFamily="49" charset="0"/>
              </a:rPr>
              <a:t>pyplot</a:t>
            </a:r>
            <a:r>
              <a:rPr lang="en-US" altLang="en-US" dirty="0">
                <a:solidFill>
                  <a:schemeClr val="folHlink"/>
                </a:solidFill>
                <a:latin typeface="Lucida Console" panose="020B0609040504020204" pitchFamily="49" charset="0"/>
              </a:rPr>
              <a:t> as plt</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image = cv2.imread('coins.jpg')</a:t>
            </a:r>
          </a:p>
          <a:p>
            <a:pPr>
              <a:buFont typeface="Wingdings" panose="05000000000000000000" pitchFamily="2" charset="2"/>
              <a:buNone/>
            </a:pPr>
            <a:r>
              <a:rPr lang="en-US" altLang="en-US" dirty="0">
                <a:solidFill>
                  <a:schemeClr val="folHlink"/>
                </a:solidFill>
                <a:latin typeface="Lucida Console" panose="020B0609040504020204" pitchFamily="49" charset="0"/>
              </a:rPr>
              <a:t># reduce noise and make the image smoother</a:t>
            </a:r>
          </a:p>
          <a:p>
            <a:pPr>
              <a:buFont typeface="Wingdings" panose="05000000000000000000" pitchFamily="2" charset="2"/>
              <a:buNone/>
            </a:pPr>
            <a:r>
              <a:rPr lang="en-US" altLang="en-US" dirty="0">
                <a:solidFill>
                  <a:schemeClr val="folHlink"/>
                </a:solidFill>
                <a:latin typeface="Lucida Console" panose="020B0609040504020204" pitchFamily="49" charset="0"/>
              </a:rPr>
              <a:t>image = cv2.GaussianBlur(image, (7, 7), 0)</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each row is now a vector in the 3-D space of RGB</a:t>
            </a:r>
          </a:p>
          <a:p>
            <a:pPr>
              <a:buFont typeface="Wingdings" panose="05000000000000000000" pitchFamily="2" charset="2"/>
              <a:buNone/>
            </a:pPr>
            <a:r>
              <a:rPr lang="en-US" altLang="en-US" dirty="0">
                <a:solidFill>
                  <a:schemeClr val="folHlink"/>
                </a:solidFill>
                <a:latin typeface="Lucida Console" panose="020B0609040504020204" pitchFamily="49" charset="0"/>
              </a:rPr>
              <a:t>vectorized = </a:t>
            </a:r>
            <a:r>
              <a:rPr lang="en-US" altLang="en-US" dirty="0" err="1">
                <a:solidFill>
                  <a:schemeClr val="folHlink"/>
                </a:solidFill>
                <a:latin typeface="Lucida Console" panose="020B0609040504020204" pitchFamily="49" charset="0"/>
              </a:rPr>
              <a:t>image.reshape</a:t>
            </a:r>
            <a:r>
              <a:rPr lang="en-US" altLang="en-US" dirty="0">
                <a:solidFill>
                  <a:schemeClr val="folHlink"/>
                </a:solidFill>
                <a:latin typeface="Lucida Console" panose="020B0609040504020204" pitchFamily="49" charset="0"/>
              </a:rPr>
              <a:t>(-1, 3)</a:t>
            </a:r>
          </a:p>
          <a:p>
            <a:pPr>
              <a:buFont typeface="Wingdings" panose="05000000000000000000" pitchFamily="2" charset="2"/>
              <a:buNone/>
            </a:pPr>
            <a:r>
              <a:rPr lang="en-US" altLang="en-US" dirty="0">
                <a:solidFill>
                  <a:schemeClr val="folHlink"/>
                </a:solidFill>
                <a:latin typeface="Lucida Console" panose="020B0609040504020204" pitchFamily="49" charset="0"/>
              </a:rPr>
              <a:t># convert the unit8 values to float (cv2.kmeans requirement)</a:t>
            </a:r>
          </a:p>
          <a:p>
            <a:pPr>
              <a:buFont typeface="Wingdings" panose="05000000000000000000" pitchFamily="2" charset="2"/>
              <a:buNone/>
            </a:pPr>
            <a:r>
              <a:rPr lang="en-US" altLang="en-US" dirty="0">
                <a:solidFill>
                  <a:schemeClr val="folHlink"/>
                </a:solidFill>
                <a:latin typeface="Lucida Console" panose="020B0609040504020204" pitchFamily="49" charset="0"/>
              </a:rPr>
              <a:t>vectorized = np.float32(vectorized)</a:t>
            </a:r>
          </a:p>
        </p:txBody>
      </p:sp>
      <p:pic>
        <p:nvPicPr>
          <p:cNvPr id="6" name="Picture 5">
            <a:extLst>
              <a:ext uri="{FF2B5EF4-FFF2-40B4-BE49-F238E27FC236}">
                <a16:creationId xmlns:a16="http://schemas.microsoft.com/office/drawing/2014/main" id="{0D0BACFE-8B47-466A-840F-ABA7F052DDB7}"/>
              </a:ext>
            </a:extLst>
          </p:cNvPr>
          <p:cNvPicPr>
            <a:picLocks noChangeAspect="1"/>
          </p:cNvPicPr>
          <p:nvPr/>
        </p:nvPicPr>
        <p:blipFill>
          <a:blip r:embed="rId3"/>
          <a:stretch>
            <a:fillRect/>
          </a:stretch>
        </p:blipFill>
        <p:spPr>
          <a:xfrm>
            <a:off x="9929061" y="1825625"/>
            <a:ext cx="1424739" cy="1763963"/>
          </a:xfrm>
          <a:prstGeom prst="rect">
            <a:avLst/>
          </a:prstGeom>
        </p:spPr>
      </p:pic>
      <p:sp>
        <p:nvSpPr>
          <p:cNvPr id="7" name="TextBox 6">
            <a:extLst>
              <a:ext uri="{FF2B5EF4-FFF2-40B4-BE49-F238E27FC236}">
                <a16:creationId xmlns:a16="http://schemas.microsoft.com/office/drawing/2014/main" id="{7AA2CFB2-9195-404E-B264-C1F7E58D14C0}"/>
              </a:ext>
            </a:extLst>
          </p:cNvPr>
          <p:cNvSpPr txBox="1"/>
          <p:nvPr/>
        </p:nvSpPr>
        <p:spPr>
          <a:xfrm>
            <a:off x="10293767" y="3622379"/>
            <a:ext cx="695325" cy="369332"/>
          </a:xfrm>
          <a:prstGeom prst="rect">
            <a:avLst/>
          </a:prstGeom>
          <a:noFill/>
        </p:spPr>
        <p:txBody>
          <a:bodyPr wrap="square" rtlCol="0">
            <a:spAutoFit/>
          </a:bodyPr>
          <a:lstStyle/>
          <a:p>
            <a:r>
              <a:rPr lang="en-US" dirty="0"/>
              <a:t>Input</a:t>
            </a:r>
          </a:p>
        </p:txBody>
      </p:sp>
      <p:pic>
        <p:nvPicPr>
          <p:cNvPr id="9" name="Picture 8">
            <a:extLst>
              <a:ext uri="{FF2B5EF4-FFF2-40B4-BE49-F238E27FC236}">
                <a16:creationId xmlns:a16="http://schemas.microsoft.com/office/drawing/2014/main" id="{8EFCEDF7-7D37-4726-92B5-F3AC039C4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9060" y="4202355"/>
            <a:ext cx="1424739" cy="1763963"/>
          </a:xfrm>
          <a:prstGeom prst="rect">
            <a:avLst/>
          </a:prstGeom>
        </p:spPr>
      </p:pic>
      <p:sp>
        <p:nvSpPr>
          <p:cNvPr id="10" name="TextBox 9">
            <a:extLst>
              <a:ext uri="{FF2B5EF4-FFF2-40B4-BE49-F238E27FC236}">
                <a16:creationId xmlns:a16="http://schemas.microsoft.com/office/drawing/2014/main" id="{9E13247A-E5B7-4303-A6F6-ED6C9D7650AC}"/>
              </a:ext>
            </a:extLst>
          </p:cNvPr>
          <p:cNvSpPr txBox="1"/>
          <p:nvPr/>
        </p:nvSpPr>
        <p:spPr>
          <a:xfrm>
            <a:off x="9836879" y="5999109"/>
            <a:ext cx="1609100" cy="369332"/>
          </a:xfrm>
          <a:prstGeom prst="rect">
            <a:avLst/>
          </a:prstGeom>
          <a:noFill/>
        </p:spPr>
        <p:txBody>
          <a:bodyPr wrap="square" rtlCol="0">
            <a:spAutoFit/>
          </a:bodyPr>
          <a:lstStyle/>
          <a:p>
            <a:r>
              <a:rPr lang="en-US" dirty="0"/>
              <a:t>Noise Removal</a:t>
            </a:r>
          </a:p>
        </p:txBody>
      </p:sp>
    </p:spTree>
    <p:extLst>
      <p:ext uri="{BB962C8B-B14F-4D97-AF65-F5344CB8AC3E}">
        <p14:creationId xmlns:p14="http://schemas.microsoft.com/office/powerpoint/2010/main" val="325398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1B2CC-A2EC-4565-804E-9927DFC23536}"/>
              </a:ext>
            </a:extLst>
          </p:cNvPr>
          <p:cNvSpPr>
            <a:spLocks noGrp="1"/>
          </p:cNvSpPr>
          <p:nvPr>
            <p:ph type="title"/>
          </p:nvPr>
        </p:nvSpPr>
        <p:spPr>
          <a:xfrm>
            <a:off x="838200" y="210354"/>
            <a:ext cx="10515600" cy="1325563"/>
          </a:xfrm>
        </p:spPr>
        <p:txBody>
          <a:bodyPr/>
          <a:lstStyle/>
          <a:p>
            <a:r>
              <a:rPr lang="en-US" dirty="0"/>
              <a:t>Image Segmentation</a:t>
            </a:r>
          </a:p>
        </p:txBody>
      </p:sp>
      <p:pic>
        <p:nvPicPr>
          <p:cNvPr id="6" name="Content Placeholder 5">
            <a:extLst>
              <a:ext uri="{FF2B5EF4-FFF2-40B4-BE49-F238E27FC236}">
                <a16:creationId xmlns:a16="http://schemas.microsoft.com/office/drawing/2014/main" id="{AD547EDA-B037-4E11-98A2-5CE6DAF412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229033" y="4412171"/>
            <a:ext cx="1425409" cy="1764792"/>
          </a:xfrm>
        </p:spPr>
      </p:pic>
      <p:sp>
        <p:nvSpPr>
          <p:cNvPr id="4" name="TextBox 3">
            <a:extLst>
              <a:ext uri="{FF2B5EF4-FFF2-40B4-BE49-F238E27FC236}">
                <a16:creationId xmlns:a16="http://schemas.microsoft.com/office/drawing/2014/main" id="{C2EE6C92-3FCC-4315-99A6-C06342E1DE58}"/>
              </a:ext>
            </a:extLst>
          </p:cNvPr>
          <p:cNvSpPr txBox="1"/>
          <p:nvPr/>
        </p:nvSpPr>
        <p:spPr>
          <a:xfrm>
            <a:off x="838200" y="1779687"/>
            <a:ext cx="8124823" cy="480131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define number of segments</a:t>
            </a:r>
          </a:p>
          <a:p>
            <a:pPr>
              <a:buFont typeface="Wingdings" panose="05000000000000000000" pitchFamily="2" charset="2"/>
              <a:buNone/>
            </a:pPr>
            <a:r>
              <a:rPr lang="en-US" altLang="en-US" dirty="0">
                <a:solidFill>
                  <a:schemeClr val="folHlink"/>
                </a:solidFill>
                <a:latin typeface="Lucida Console" panose="020B0609040504020204" pitchFamily="49" charset="0"/>
              </a:rPr>
              <a:t>segments = 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r>
              <a:rPr lang="zh-CN" altLang="zh-CN" dirty="0">
                <a:solidFill>
                  <a:schemeClr val="folHlink"/>
                </a:solidFill>
                <a:latin typeface="Lucida Console" panose="020B0609040504020204" pitchFamily="49" charset="0"/>
              </a:rPr>
              <a:t># define stopping criteria</a:t>
            </a:r>
            <a:endParaRPr lang="en-US" altLang="zh-CN" dirty="0">
              <a:solidFill>
                <a:schemeClr val="folHlink"/>
              </a:solidFill>
              <a:latin typeface="Lucida Console" panose="020B0609040504020204" pitchFamily="49" charset="0"/>
            </a:endParaRPr>
          </a:p>
          <a:p>
            <a:r>
              <a:rPr lang="en-US" altLang="en-US" dirty="0">
                <a:solidFill>
                  <a:schemeClr val="folHlink"/>
                </a:solidFill>
                <a:latin typeface="Lucida Console" panose="020B0609040504020204" pitchFamily="49" charset="0"/>
              </a:rPr>
              <a:t>criteria = (cv2.TERM_CRITERIA_EPS + 	cv2.TERM_CRITERIA_MAX_ITER, 10, 1.0)</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r>
              <a:rPr lang="en-US" altLang="en-US" dirty="0">
                <a:solidFill>
                  <a:schemeClr val="folHlink"/>
                </a:solidFill>
                <a:latin typeface="Lucida Console" panose="020B0609040504020204" pitchFamily="49" charset="0"/>
              </a:rPr>
              <a:t># OpenCV  k-means function</a:t>
            </a:r>
          </a:p>
          <a:p>
            <a:pPr>
              <a:buFont typeface="Wingdings" panose="05000000000000000000" pitchFamily="2" charset="2"/>
              <a:buNone/>
            </a:pPr>
            <a:r>
              <a:rPr lang="en-US" altLang="en-US" dirty="0">
                <a:solidFill>
                  <a:schemeClr val="folHlink"/>
                </a:solidFill>
                <a:latin typeface="Lucida Console" panose="020B0609040504020204" pitchFamily="49" charset="0"/>
              </a:rPr>
              <a:t>ret, label, center = cv2.kmeans(vectorized, segments, 	None, criteria, 10, cv2.KMEANS_RANDOM_CENTERS)</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assign every pixel with a color based on the label map</a:t>
            </a:r>
          </a:p>
          <a:p>
            <a:pPr>
              <a:buFont typeface="Wingdings" panose="05000000000000000000" pitchFamily="2" charset="2"/>
              <a:buNone/>
            </a:pPr>
            <a:r>
              <a:rPr lang="en-US" altLang="en-US" dirty="0">
                <a:solidFill>
                  <a:schemeClr val="folHlink"/>
                </a:solidFill>
                <a:latin typeface="Lucida Console" panose="020B0609040504020204" pitchFamily="49" charset="0"/>
              </a:rPr>
              <a:t>res = center[</a:t>
            </a:r>
            <a:r>
              <a:rPr lang="en-US" altLang="en-US" dirty="0" err="1">
                <a:solidFill>
                  <a:schemeClr val="folHlink"/>
                </a:solidFill>
                <a:latin typeface="Lucida Console" panose="020B0609040504020204" pitchFamily="49" charset="0"/>
              </a:rPr>
              <a:t>label.flatten</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 reshape to image size</a:t>
            </a:r>
          </a:p>
          <a:p>
            <a:pPr>
              <a:buFont typeface="Wingdings" panose="05000000000000000000" pitchFamily="2" charset="2"/>
              <a:buNone/>
            </a:pPr>
            <a:r>
              <a:rPr lang="en-US" altLang="en-US" dirty="0" err="1">
                <a:solidFill>
                  <a:schemeClr val="folHlink"/>
                </a:solidFill>
                <a:latin typeface="Lucida Console" panose="020B0609040504020204" pitchFamily="49" charset="0"/>
              </a:rPr>
              <a:t>segmented_map</a:t>
            </a:r>
            <a:r>
              <a:rPr lang="en-US" altLang="en-US" dirty="0">
                <a:solidFill>
                  <a:schemeClr val="folHlink"/>
                </a:solidFill>
                <a:latin typeface="Lucida Console" panose="020B0609040504020204" pitchFamily="49" charset="0"/>
              </a:rPr>
              <a:t> = </a:t>
            </a:r>
            <a:r>
              <a:rPr lang="en-US" altLang="en-US" dirty="0" err="1">
                <a:solidFill>
                  <a:schemeClr val="folHlink"/>
                </a:solidFill>
                <a:latin typeface="Lucida Console" panose="020B0609040504020204" pitchFamily="49" charset="0"/>
              </a:rPr>
              <a:t>res.reshape</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image.shape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a:solidFill>
                  <a:schemeClr val="folHlink"/>
                </a:solidFill>
                <a:latin typeface="Lucida Console" panose="020B0609040504020204" pitchFamily="49" charset="0"/>
              </a:rPr>
              <a:t>result = </a:t>
            </a:r>
            <a:r>
              <a:rPr lang="en-US" altLang="en-US" dirty="0" err="1">
                <a:solidFill>
                  <a:schemeClr val="folHlink"/>
                </a:solidFill>
                <a:latin typeface="Lucida Console" panose="020B0609040504020204" pitchFamily="49" charset="0"/>
              </a:rPr>
              <a:t>segmented_map.astype</a:t>
            </a:r>
            <a:r>
              <a:rPr lang="en-US" altLang="en-US" dirty="0">
                <a:solidFill>
                  <a:schemeClr val="folHlink"/>
                </a:solidFill>
                <a:latin typeface="Lucida Console" panose="020B0609040504020204" pitchFamily="49" charset="0"/>
              </a:rPr>
              <a:t>(np.uint8)</a:t>
            </a:r>
          </a:p>
          <a:p>
            <a:pPr>
              <a:buFont typeface="Wingdings" panose="05000000000000000000" pitchFamily="2" charset="2"/>
              <a:buNone/>
            </a:pPr>
            <a:r>
              <a:rPr lang="en-US" altLang="en-US" dirty="0">
                <a:solidFill>
                  <a:schemeClr val="folHlink"/>
                </a:solidFill>
                <a:latin typeface="Lucida Console" panose="020B0609040504020204" pitchFamily="49" charset="0"/>
              </a:rPr>
              <a:t>cv2.imwrite("segmented.jpg", result)</a:t>
            </a:r>
          </a:p>
        </p:txBody>
      </p:sp>
      <p:sp>
        <p:nvSpPr>
          <p:cNvPr id="7" name="Content Placeholder 2">
            <a:extLst>
              <a:ext uri="{FF2B5EF4-FFF2-40B4-BE49-F238E27FC236}">
                <a16:creationId xmlns:a16="http://schemas.microsoft.com/office/drawing/2014/main" id="{A8684CDA-92A6-4A89-8ED5-9B90B8EEC269}"/>
              </a:ext>
            </a:extLst>
          </p:cNvPr>
          <p:cNvSpPr txBox="1">
            <a:spLocks/>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k-means algorithm</a:t>
            </a:r>
          </a:p>
        </p:txBody>
      </p:sp>
      <p:pic>
        <p:nvPicPr>
          <p:cNvPr id="8" name="Picture 7">
            <a:extLst>
              <a:ext uri="{FF2B5EF4-FFF2-40B4-BE49-F238E27FC236}">
                <a16:creationId xmlns:a16="http://schemas.microsoft.com/office/drawing/2014/main" id="{FDFBA748-CEF3-428B-B524-53CAB715CD5F}"/>
              </a:ext>
            </a:extLst>
          </p:cNvPr>
          <p:cNvPicPr>
            <a:picLocks noChangeAspect="1"/>
          </p:cNvPicPr>
          <p:nvPr/>
        </p:nvPicPr>
        <p:blipFill>
          <a:blip r:embed="rId4"/>
          <a:stretch>
            <a:fillRect/>
          </a:stretch>
        </p:blipFill>
        <p:spPr>
          <a:xfrm>
            <a:off x="10229851" y="1937962"/>
            <a:ext cx="1424591" cy="1764792"/>
          </a:xfrm>
          <a:prstGeom prst="rect">
            <a:avLst/>
          </a:prstGeom>
        </p:spPr>
      </p:pic>
      <p:sp>
        <p:nvSpPr>
          <p:cNvPr id="9" name="TextBox 8">
            <a:extLst>
              <a:ext uri="{FF2B5EF4-FFF2-40B4-BE49-F238E27FC236}">
                <a16:creationId xmlns:a16="http://schemas.microsoft.com/office/drawing/2014/main" id="{22E61556-3079-4F20-A49D-A214A375E985}"/>
              </a:ext>
            </a:extLst>
          </p:cNvPr>
          <p:cNvSpPr txBox="1"/>
          <p:nvPr/>
        </p:nvSpPr>
        <p:spPr>
          <a:xfrm>
            <a:off x="10322612" y="3702754"/>
            <a:ext cx="1238250" cy="369332"/>
          </a:xfrm>
          <a:prstGeom prst="rect">
            <a:avLst/>
          </a:prstGeom>
          <a:noFill/>
        </p:spPr>
        <p:txBody>
          <a:bodyPr wrap="square" rtlCol="0">
            <a:spAutoFit/>
          </a:bodyPr>
          <a:lstStyle/>
          <a:p>
            <a:r>
              <a:rPr lang="en-US" dirty="0"/>
              <a:t>Label map</a:t>
            </a:r>
          </a:p>
        </p:txBody>
      </p:sp>
      <p:sp>
        <p:nvSpPr>
          <p:cNvPr id="10" name="TextBox 9">
            <a:extLst>
              <a:ext uri="{FF2B5EF4-FFF2-40B4-BE49-F238E27FC236}">
                <a16:creationId xmlns:a16="http://schemas.microsoft.com/office/drawing/2014/main" id="{D9784B56-E9D0-40AC-A583-FE07E25139E6}"/>
              </a:ext>
            </a:extLst>
          </p:cNvPr>
          <p:cNvSpPr txBox="1"/>
          <p:nvPr/>
        </p:nvSpPr>
        <p:spPr>
          <a:xfrm>
            <a:off x="9968943" y="6176963"/>
            <a:ext cx="1945588" cy="369332"/>
          </a:xfrm>
          <a:prstGeom prst="rect">
            <a:avLst/>
          </a:prstGeom>
          <a:noFill/>
        </p:spPr>
        <p:txBody>
          <a:bodyPr wrap="square" rtlCol="0">
            <a:spAutoFit/>
          </a:bodyPr>
          <a:lstStyle/>
          <a:p>
            <a:r>
              <a:rPr lang="en-US" dirty="0"/>
              <a:t>Segmentation map</a:t>
            </a:r>
          </a:p>
        </p:txBody>
      </p:sp>
      <p:sp>
        <p:nvSpPr>
          <p:cNvPr id="3" name="Rectangle 1">
            <a:extLst>
              <a:ext uri="{FF2B5EF4-FFF2-40B4-BE49-F238E27FC236}">
                <a16:creationId xmlns:a16="http://schemas.microsoft.com/office/drawing/2014/main" id="{6C9F87A0-2D32-5FB4-0B6B-82597813156A}"/>
              </a:ext>
            </a:extLst>
          </p:cNvPr>
          <p:cNvSpPr>
            <a:spLocks noChangeArrowheads="1"/>
          </p:cNvSpPr>
          <p:nvPr/>
        </p:nvSpPr>
        <p:spPr bwMode="auto">
          <a:xfrm>
            <a:off x="0" y="90100"/>
            <a:ext cx="16090" cy="276999"/>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935" tIns="0" rIns="7935"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8899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8A8B-2A7A-4BBD-B42F-8E73A07C33DD}"/>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88710DEE-8F52-448B-95F8-553316B567CC}"/>
              </a:ext>
            </a:extLst>
          </p:cNvPr>
          <p:cNvSpPr>
            <a:spLocks noGrp="1"/>
          </p:cNvSpPr>
          <p:nvPr>
            <p:ph idx="1"/>
          </p:nvPr>
        </p:nvSpPr>
        <p:spPr/>
        <p:txBody>
          <a:bodyPr/>
          <a:lstStyle/>
          <a:p>
            <a:r>
              <a:rPr lang="en-US" dirty="0"/>
              <a:t>SIFT</a:t>
            </a:r>
          </a:p>
          <a:p>
            <a:pPr lvl="1"/>
            <a:r>
              <a:rPr lang="en-US" dirty="0"/>
              <a:t>OpenCV 3 came a big push to move many of these “</a:t>
            </a:r>
            <a:r>
              <a:rPr lang="en-US" b="1" dirty="0"/>
              <a:t>non-free</a:t>
            </a:r>
            <a:r>
              <a:rPr lang="en-US" dirty="0"/>
              <a:t>” modules out of the default OpenCV install and into the </a:t>
            </a:r>
            <a:r>
              <a:rPr lang="en-US" b="1" dirty="0" err="1"/>
              <a:t>opencv_contrib</a:t>
            </a:r>
            <a:r>
              <a:rPr lang="en-US" b="1" dirty="0"/>
              <a:t> </a:t>
            </a:r>
            <a:r>
              <a:rPr lang="en-US" dirty="0"/>
              <a:t>package</a:t>
            </a:r>
          </a:p>
          <a:p>
            <a:pPr lvl="1"/>
            <a:r>
              <a:rPr lang="en-US" dirty="0"/>
              <a:t>To get access to the original SIFT and SURF implementations found in OpenCV 2.4.X, you need to pull down both the </a:t>
            </a:r>
            <a:r>
              <a:rPr lang="en-US" b="1" dirty="0" err="1"/>
              <a:t>opencv</a:t>
            </a:r>
            <a:r>
              <a:rPr lang="en-US" dirty="0"/>
              <a:t> and </a:t>
            </a:r>
            <a:r>
              <a:rPr lang="en-US" b="1" dirty="0" err="1"/>
              <a:t>opencv_contrib</a:t>
            </a:r>
            <a:r>
              <a:rPr lang="en-US" b="1" dirty="0"/>
              <a:t> </a:t>
            </a:r>
            <a:r>
              <a:rPr lang="en-US" dirty="0"/>
              <a:t>repositories from GitHub and then compile and install OpenCV 3 from source</a:t>
            </a:r>
          </a:p>
          <a:p>
            <a:endParaRPr lang="en-US" dirty="0"/>
          </a:p>
          <a:p>
            <a:r>
              <a:rPr lang="en-US" dirty="0"/>
              <a:t>ORB</a:t>
            </a:r>
          </a:p>
          <a:p>
            <a:pPr lvl="1"/>
            <a:r>
              <a:rPr lang="en-US" dirty="0"/>
              <a:t>An efficient alternative to SIFT or SURF</a:t>
            </a:r>
          </a:p>
          <a:p>
            <a:pPr lvl="1"/>
            <a:r>
              <a:rPr lang="en-US" dirty="0"/>
              <a:t>A fusion of FAST </a:t>
            </a:r>
            <a:r>
              <a:rPr lang="en-US" dirty="0" err="1"/>
              <a:t>keypoint</a:t>
            </a:r>
            <a:r>
              <a:rPr lang="en-US" dirty="0"/>
              <a:t> detector and BRIEF descriptor</a:t>
            </a:r>
          </a:p>
        </p:txBody>
      </p:sp>
    </p:spTree>
    <p:extLst>
      <p:ext uri="{BB962C8B-B14F-4D97-AF65-F5344CB8AC3E}">
        <p14:creationId xmlns:p14="http://schemas.microsoft.com/office/powerpoint/2010/main" val="3891713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6E00-8761-47E5-9F76-7EDBBF51231A}"/>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2DC5E514-A9F3-495C-8F0D-5D073F35E3C4}"/>
              </a:ext>
            </a:extLst>
          </p:cNvPr>
          <p:cNvSpPr>
            <a:spLocks noGrp="1"/>
          </p:cNvSpPr>
          <p:nvPr>
            <p:ph idx="1"/>
          </p:nvPr>
        </p:nvSpPr>
        <p:spPr>
          <a:xfrm>
            <a:off x="838200" y="1825625"/>
            <a:ext cx="3471041" cy="4351338"/>
          </a:xfrm>
        </p:spPr>
        <p:txBody>
          <a:bodyPr/>
          <a:lstStyle/>
          <a:p>
            <a:r>
              <a:rPr lang="en-US" dirty="0"/>
              <a:t>Example</a:t>
            </a:r>
          </a:p>
        </p:txBody>
      </p:sp>
      <p:sp>
        <p:nvSpPr>
          <p:cNvPr id="4" name="TextBox 3">
            <a:extLst>
              <a:ext uri="{FF2B5EF4-FFF2-40B4-BE49-F238E27FC236}">
                <a16:creationId xmlns:a16="http://schemas.microsoft.com/office/drawing/2014/main" id="{425D5719-F13E-4200-983D-EDAC4ECF83C9}"/>
              </a:ext>
            </a:extLst>
          </p:cNvPr>
          <p:cNvSpPr txBox="1"/>
          <p:nvPr/>
        </p:nvSpPr>
        <p:spPr>
          <a:xfrm>
            <a:off x="838200" y="2592159"/>
            <a:ext cx="7239000" cy="3416320"/>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a:t>
            </a:r>
            <a:r>
              <a:rPr lang="en-US" altLang="en-US" dirty="0" err="1">
                <a:solidFill>
                  <a:schemeClr val="folHlink"/>
                </a:solidFill>
                <a:latin typeface="Lucida Console" panose="020B0609040504020204" pitchFamily="49" charset="0"/>
              </a:rPr>
              <a:t>numpy</a:t>
            </a:r>
            <a:r>
              <a:rPr lang="en-US" altLang="en-US" dirty="0">
                <a:solidFill>
                  <a:schemeClr val="folHlink"/>
                </a:solidFill>
                <a:latin typeface="Lucida Console" panose="020B0609040504020204" pitchFamily="49" charset="0"/>
              </a:rPr>
              <a:t> as np</a:t>
            </a:r>
          </a:p>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img1 = cv2.imread('church.jpg’,1)      # </a:t>
            </a:r>
            <a:r>
              <a:rPr lang="en-US" altLang="en-US" dirty="0" err="1">
                <a:solidFill>
                  <a:schemeClr val="folHlink"/>
                </a:solidFill>
                <a:latin typeface="Lucida Console" panose="020B0609040504020204" pitchFamily="49" charset="0"/>
              </a:rPr>
              <a:t>queryImage</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img2 = cv2.imread('church_part.jpg’,1) # </a:t>
            </a:r>
            <a:r>
              <a:rPr lang="en-US" altLang="en-US" dirty="0" err="1">
                <a:solidFill>
                  <a:schemeClr val="folHlink"/>
                </a:solidFill>
                <a:latin typeface="Lucida Console" panose="020B0609040504020204" pitchFamily="49" charset="0"/>
              </a:rPr>
              <a:t>trainImage</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Initiate detector</a:t>
            </a:r>
          </a:p>
          <a:p>
            <a:pPr>
              <a:buFont typeface="Wingdings" panose="05000000000000000000" pitchFamily="2" charset="2"/>
              <a:buNone/>
            </a:pPr>
            <a:r>
              <a:rPr lang="en-US" altLang="en-US" dirty="0">
                <a:solidFill>
                  <a:schemeClr val="folHlink"/>
                </a:solidFill>
                <a:latin typeface="Lucida Console" panose="020B0609040504020204" pitchFamily="49" charset="0"/>
              </a:rPr>
              <a:t>orb = cv2.ORB_create()</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find the </a:t>
            </a:r>
            <a:r>
              <a:rPr lang="en-US" altLang="en-US" dirty="0" err="1">
                <a:solidFill>
                  <a:schemeClr val="folHlink"/>
                </a:solidFill>
                <a:latin typeface="Lucida Console" panose="020B0609040504020204" pitchFamily="49" charset="0"/>
              </a:rPr>
              <a:t>keypoints</a:t>
            </a:r>
            <a:r>
              <a:rPr lang="en-US" altLang="en-US" dirty="0">
                <a:solidFill>
                  <a:schemeClr val="folHlink"/>
                </a:solidFill>
                <a:latin typeface="Lucida Console" panose="020B0609040504020204" pitchFamily="49" charset="0"/>
              </a:rPr>
              <a:t> and descriptors</a:t>
            </a:r>
          </a:p>
          <a:p>
            <a:pPr>
              <a:buFont typeface="Wingdings" panose="05000000000000000000" pitchFamily="2" charset="2"/>
              <a:buNone/>
            </a:pPr>
            <a:r>
              <a:rPr lang="en-US" altLang="en-US" dirty="0">
                <a:solidFill>
                  <a:schemeClr val="folHlink"/>
                </a:solidFill>
                <a:latin typeface="Lucida Console" panose="020B0609040504020204" pitchFamily="49" charset="0"/>
              </a:rPr>
              <a:t>kp1, des1 = </a:t>
            </a:r>
            <a:r>
              <a:rPr lang="en-US" altLang="en-US" dirty="0" err="1">
                <a:solidFill>
                  <a:schemeClr val="folHlink"/>
                </a:solidFill>
                <a:latin typeface="Lucida Console" panose="020B0609040504020204" pitchFamily="49" charset="0"/>
              </a:rPr>
              <a:t>orb.detectAndCompute</a:t>
            </a:r>
            <a:r>
              <a:rPr lang="en-US" altLang="en-US" dirty="0">
                <a:solidFill>
                  <a:schemeClr val="folHlink"/>
                </a:solidFill>
                <a:latin typeface="Lucida Console" panose="020B0609040504020204" pitchFamily="49" charset="0"/>
              </a:rPr>
              <a:t>(img1,None)</a:t>
            </a:r>
          </a:p>
          <a:p>
            <a:pPr>
              <a:buFont typeface="Wingdings" panose="05000000000000000000" pitchFamily="2" charset="2"/>
              <a:buNone/>
            </a:pPr>
            <a:r>
              <a:rPr lang="en-US" altLang="en-US" dirty="0">
                <a:solidFill>
                  <a:schemeClr val="folHlink"/>
                </a:solidFill>
                <a:latin typeface="Lucida Console" panose="020B0609040504020204" pitchFamily="49" charset="0"/>
              </a:rPr>
              <a:t>kp2, des2 = </a:t>
            </a:r>
            <a:r>
              <a:rPr lang="en-US" altLang="en-US" dirty="0" err="1">
                <a:solidFill>
                  <a:schemeClr val="folHlink"/>
                </a:solidFill>
                <a:latin typeface="Lucida Console" panose="020B0609040504020204" pitchFamily="49" charset="0"/>
              </a:rPr>
              <a:t>orb.detectAndCompute</a:t>
            </a:r>
            <a:r>
              <a:rPr lang="en-US" altLang="en-US" dirty="0">
                <a:solidFill>
                  <a:schemeClr val="folHlink"/>
                </a:solidFill>
                <a:latin typeface="Lucida Console" panose="020B0609040504020204" pitchFamily="49" charset="0"/>
              </a:rPr>
              <a:t>(img2,None)</a:t>
            </a:r>
          </a:p>
        </p:txBody>
      </p:sp>
      <p:pic>
        <p:nvPicPr>
          <p:cNvPr id="10" name="Picture 9">
            <a:extLst>
              <a:ext uri="{FF2B5EF4-FFF2-40B4-BE49-F238E27FC236}">
                <a16:creationId xmlns:a16="http://schemas.microsoft.com/office/drawing/2014/main" id="{5D1BAD61-BFE0-43EF-A578-A1027D03D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90957" y="2155223"/>
            <a:ext cx="3217644" cy="214509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8EE95D21-A812-4E38-AE10-24FC08E9F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90957" y="4563663"/>
            <a:ext cx="1664037" cy="1435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0711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6E00-8761-47E5-9F76-7EDBBF51231A}"/>
              </a:ext>
            </a:extLst>
          </p:cNvPr>
          <p:cNvSpPr>
            <a:spLocks noGrp="1"/>
          </p:cNvSpPr>
          <p:nvPr>
            <p:ph type="title"/>
          </p:nvPr>
        </p:nvSpPr>
        <p:spPr/>
        <p:txBody>
          <a:bodyPr/>
          <a:lstStyle/>
          <a:p>
            <a:r>
              <a:rPr lang="en-US" dirty="0"/>
              <a:t>Feature Matching</a:t>
            </a:r>
          </a:p>
        </p:txBody>
      </p:sp>
      <p:sp>
        <p:nvSpPr>
          <p:cNvPr id="3" name="Content Placeholder 2">
            <a:extLst>
              <a:ext uri="{FF2B5EF4-FFF2-40B4-BE49-F238E27FC236}">
                <a16:creationId xmlns:a16="http://schemas.microsoft.com/office/drawing/2014/main" id="{2DC5E514-A9F3-495C-8F0D-5D073F35E3C4}"/>
              </a:ext>
            </a:extLst>
          </p:cNvPr>
          <p:cNvSpPr>
            <a:spLocks noGrp="1"/>
          </p:cNvSpPr>
          <p:nvPr>
            <p:ph idx="1"/>
          </p:nvPr>
        </p:nvSpPr>
        <p:spPr>
          <a:xfrm>
            <a:off x="838200" y="1825625"/>
            <a:ext cx="6426200" cy="4351338"/>
          </a:xfrm>
        </p:spPr>
        <p:txBody>
          <a:bodyPr/>
          <a:lstStyle/>
          <a:p>
            <a:r>
              <a:rPr lang="en-US" dirty="0"/>
              <a:t>Brute-Force matcher</a:t>
            </a:r>
          </a:p>
          <a:p>
            <a:pPr lvl="1"/>
            <a:r>
              <a:rPr lang="en-US" dirty="0"/>
              <a:t>It takes the descriptor of one feature in first set and matches it with all other features in second set using some distance calculation</a:t>
            </a:r>
          </a:p>
          <a:p>
            <a:pPr lvl="1"/>
            <a:r>
              <a:rPr lang="en-US" dirty="0"/>
              <a:t>The closest one is returned</a:t>
            </a:r>
          </a:p>
          <a:p>
            <a:pPr lvl="1"/>
            <a:endParaRPr lang="en-US" dirty="0"/>
          </a:p>
        </p:txBody>
      </p:sp>
      <p:sp>
        <p:nvSpPr>
          <p:cNvPr id="4" name="TextBox 3">
            <a:extLst>
              <a:ext uri="{FF2B5EF4-FFF2-40B4-BE49-F238E27FC236}">
                <a16:creationId xmlns:a16="http://schemas.microsoft.com/office/drawing/2014/main" id="{425D5719-F13E-4200-983D-EDAC4ECF83C9}"/>
              </a:ext>
            </a:extLst>
          </p:cNvPr>
          <p:cNvSpPr txBox="1"/>
          <p:nvPr/>
        </p:nvSpPr>
        <p:spPr>
          <a:xfrm>
            <a:off x="838200" y="4001294"/>
            <a:ext cx="7827010" cy="2308324"/>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create </a:t>
            </a:r>
            <a:r>
              <a:rPr lang="en-US" altLang="en-US" dirty="0" err="1">
                <a:solidFill>
                  <a:schemeClr val="folHlink"/>
                </a:solidFill>
                <a:latin typeface="Lucida Console" panose="020B0609040504020204" pitchFamily="49" charset="0"/>
              </a:rPr>
              <a:t>BFMatcher</a:t>
            </a:r>
            <a:r>
              <a:rPr lang="en-US" altLang="en-US" dirty="0">
                <a:solidFill>
                  <a:schemeClr val="folHlink"/>
                </a:solidFill>
                <a:latin typeface="Lucida Console" panose="020B0609040504020204" pitchFamily="49" charset="0"/>
              </a:rPr>
              <a:t> object</a:t>
            </a:r>
          </a:p>
          <a:p>
            <a:pPr>
              <a:buFont typeface="Wingdings" panose="05000000000000000000" pitchFamily="2" charset="2"/>
              <a:buNone/>
            </a:pPr>
            <a:r>
              <a:rPr lang="en-US" altLang="en-US" dirty="0">
                <a:solidFill>
                  <a:schemeClr val="folHlink"/>
                </a:solidFill>
                <a:latin typeface="Lucida Console" panose="020B0609040504020204" pitchFamily="49" charset="0"/>
              </a:rPr>
              <a:t>bf = cv2.BFMatcher(cv2.NORM_HAMMING, </a:t>
            </a:r>
            <a:r>
              <a:rPr lang="en-US" altLang="en-US" dirty="0" err="1">
                <a:solidFill>
                  <a:schemeClr val="folHlink"/>
                </a:solidFill>
                <a:latin typeface="Lucida Console" panose="020B0609040504020204" pitchFamily="49" charset="0"/>
              </a:rPr>
              <a:t>crossCheck</a:t>
            </a:r>
            <a:r>
              <a:rPr lang="en-US" altLang="en-US" dirty="0">
                <a:solidFill>
                  <a:schemeClr val="folHlink"/>
                </a:solidFill>
                <a:latin typeface="Lucida Console" panose="020B0609040504020204" pitchFamily="49" charset="0"/>
              </a:rPr>
              <a:t>=True)</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Match descriptors</a:t>
            </a:r>
          </a:p>
          <a:p>
            <a:pPr>
              <a:buFont typeface="Wingdings" panose="05000000000000000000" pitchFamily="2" charset="2"/>
              <a:buNone/>
            </a:pPr>
            <a:r>
              <a:rPr lang="en-US" altLang="en-US" dirty="0">
                <a:solidFill>
                  <a:schemeClr val="folHlink"/>
                </a:solidFill>
                <a:latin typeface="Lucida Console" panose="020B0609040504020204" pitchFamily="49" charset="0"/>
              </a:rPr>
              <a:t>matches = </a:t>
            </a:r>
            <a:r>
              <a:rPr lang="en-US" altLang="en-US" dirty="0" err="1">
                <a:solidFill>
                  <a:schemeClr val="folHlink"/>
                </a:solidFill>
                <a:latin typeface="Lucida Console" panose="020B0609040504020204" pitchFamily="49" charset="0"/>
              </a:rPr>
              <a:t>bf.match</a:t>
            </a:r>
            <a:r>
              <a:rPr lang="en-US" altLang="en-US" dirty="0">
                <a:solidFill>
                  <a:schemeClr val="folHlink"/>
                </a:solidFill>
                <a:latin typeface="Lucida Console" panose="020B0609040504020204" pitchFamily="49" charset="0"/>
              </a:rPr>
              <a:t>(des1,des2)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Sort them in the order of their distance</a:t>
            </a:r>
          </a:p>
          <a:p>
            <a:pPr>
              <a:buFont typeface="Wingdings" panose="05000000000000000000" pitchFamily="2" charset="2"/>
              <a:buNone/>
            </a:pPr>
            <a:r>
              <a:rPr lang="en-US" altLang="en-US" dirty="0">
                <a:solidFill>
                  <a:schemeClr val="folHlink"/>
                </a:solidFill>
                <a:latin typeface="Lucida Console" panose="020B0609040504020204" pitchFamily="49" charset="0"/>
              </a:rPr>
              <a:t>matches = sorted(matches, key = lambda x:x.distance)</a:t>
            </a:r>
          </a:p>
        </p:txBody>
      </p:sp>
      <p:pic>
        <p:nvPicPr>
          <p:cNvPr id="6" name="Picture 5">
            <a:extLst>
              <a:ext uri="{FF2B5EF4-FFF2-40B4-BE49-F238E27FC236}">
                <a16:creationId xmlns:a16="http://schemas.microsoft.com/office/drawing/2014/main" id="{E22E5439-A0E9-44E8-AA4F-163893C87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4400" y="1185249"/>
            <a:ext cx="4501661" cy="21616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835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43FE9-247B-4BD2-9082-12912C13A804}"/>
              </a:ext>
            </a:extLst>
          </p:cNvPr>
          <p:cNvSpPr>
            <a:spLocks noGrp="1"/>
          </p:cNvSpPr>
          <p:nvPr>
            <p:ph type="title"/>
          </p:nvPr>
        </p:nvSpPr>
        <p:spPr>
          <a:xfrm>
            <a:off x="838200" y="365125"/>
            <a:ext cx="10515600" cy="1325563"/>
          </a:xfrm>
        </p:spPr>
        <p:txBody>
          <a:bodyPr/>
          <a:lstStyle/>
          <a:p>
            <a:r>
              <a:rPr lang="en-US" dirty="0"/>
              <a:t>Feature Matching</a:t>
            </a:r>
          </a:p>
        </p:txBody>
      </p:sp>
      <p:sp>
        <p:nvSpPr>
          <p:cNvPr id="3" name="Content Placeholder 2">
            <a:extLst>
              <a:ext uri="{FF2B5EF4-FFF2-40B4-BE49-F238E27FC236}">
                <a16:creationId xmlns:a16="http://schemas.microsoft.com/office/drawing/2014/main" id="{5A2CD356-5D17-4F8D-BA4D-60BC4DD3C931}"/>
              </a:ext>
            </a:extLst>
          </p:cNvPr>
          <p:cNvSpPr>
            <a:spLocks noGrp="1"/>
          </p:cNvSpPr>
          <p:nvPr>
            <p:ph idx="1"/>
          </p:nvPr>
        </p:nvSpPr>
        <p:spPr>
          <a:xfrm>
            <a:off x="838200" y="1825625"/>
            <a:ext cx="10515600" cy="4112380"/>
          </a:xfrm>
        </p:spPr>
        <p:txBody>
          <a:bodyPr/>
          <a:lstStyle/>
          <a:p>
            <a:endParaRPr lang="en-US" dirty="0"/>
          </a:p>
        </p:txBody>
      </p:sp>
      <p:sp>
        <p:nvSpPr>
          <p:cNvPr id="4" name="TextBox 3">
            <a:extLst>
              <a:ext uri="{FF2B5EF4-FFF2-40B4-BE49-F238E27FC236}">
                <a16:creationId xmlns:a16="http://schemas.microsoft.com/office/drawing/2014/main" id="{9F84AB7B-71D3-4CF5-BD28-BDA5CFEC1AB7}"/>
              </a:ext>
            </a:extLst>
          </p:cNvPr>
          <p:cNvSpPr txBox="1"/>
          <p:nvPr/>
        </p:nvSpPr>
        <p:spPr>
          <a:xfrm>
            <a:off x="838200" y="1690688"/>
            <a:ext cx="10718800" cy="4247317"/>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 Draw first 10 matches using random colors</a:t>
            </a:r>
          </a:p>
          <a:p>
            <a:pPr>
              <a:buFont typeface="Wingdings" panose="05000000000000000000" pitchFamily="2" charset="2"/>
              <a:buNone/>
            </a:pPr>
            <a:r>
              <a:rPr lang="en-US" altLang="en-US" dirty="0">
                <a:solidFill>
                  <a:schemeClr val="folHlink"/>
                </a:solidFill>
                <a:latin typeface="Lucida Console" panose="020B0609040504020204" pitchFamily="49" charset="0"/>
              </a:rPr>
              <a:t>h1, w1 = img1.shape[:2]</a:t>
            </a:r>
          </a:p>
          <a:p>
            <a:pPr>
              <a:buFont typeface="Wingdings" panose="05000000000000000000" pitchFamily="2" charset="2"/>
              <a:buNone/>
            </a:pPr>
            <a:r>
              <a:rPr lang="en-US" altLang="en-US" dirty="0">
                <a:solidFill>
                  <a:schemeClr val="folHlink"/>
                </a:solidFill>
                <a:latin typeface="Lucida Console" panose="020B0609040504020204" pitchFamily="49" charset="0"/>
              </a:rPr>
              <a:t>h2, w2 = img2.shape[:2]</a:t>
            </a:r>
          </a:p>
          <a:p>
            <a:pPr>
              <a:buFont typeface="Wingdings" panose="05000000000000000000" pitchFamily="2" charset="2"/>
              <a:buNone/>
            </a:pPr>
            <a:r>
              <a:rPr lang="en-US" altLang="en-US" dirty="0">
                <a:solidFill>
                  <a:schemeClr val="folHlink"/>
                </a:solidFill>
                <a:latin typeface="Lucida Console" panose="020B0609040504020204" pitchFamily="49" charset="0"/>
              </a:rPr>
              <a:t>img3 = </a:t>
            </a:r>
            <a:r>
              <a:rPr lang="en-US" altLang="en-US" dirty="0" err="1">
                <a:solidFill>
                  <a:schemeClr val="folHlink"/>
                </a:solidFill>
                <a:latin typeface="Lucida Console" panose="020B0609040504020204" pitchFamily="49" charset="0"/>
              </a:rPr>
              <a:t>np.zeros</a:t>
            </a:r>
            <a:r>
              <a:rPr lang="en-US" altLang="en-US" dirty="0">
                <a:solidFill>
                  <a:schemeClr val="folHlink"/>
                </a:solidFill>
                <a:latin typeface="Lucida Console" panose="020B0609040504020204" pitchFamily="49" charset="0"/>
              </a:rPr>
              <a:t>((max(h1, h2), w1 + w2, 3), np.uint8)</a:t>
            </a:r>
          </a:p>
          <a:p>
            <a:pPr>
              <a:buFont typeface="Wingdings" panose="05000000000000000000" pitchFamily="2" charset="2"/>
              <a:buNone/>
            </a:pPr>
            <a:r>
              <a:rPr lang="en-US" altLang="en-US" dirty="0">
                <a:solidFill>
                  <a:schemeClr val="folHlink"/>
                </a:solidFill>
                <a:latin typeface="Lucida Console" panose="020B0609040504020204" pitchFamily="49" charset="0"/>
              </a:rPr>
              <a:t>img3[:h1, :w1, :] = img1</a:t>
            </a:r>
          </a:p>
          <a:p>
            <a:pPr>
              <a:buFont typeface="Wingdings" panose="05000000000000000000" pitchFamily="2" charset="2"/>
              <a:buNone/>
            </a:pPr>
            <a:r>
              <a:rPr lang="en-US" altLang="en-US" dirty="0">
                <a:solidFill>
                  <a:schemeClr val="folHlink"/>
                </a:solidFill>
                <a:latin typeface="Lucida Console" panose="020B0609040504020204" pitchFamily="49" charset="0"/>
              </a:rPr>
              <a:t>img3[:h2, w1:, :] = img2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for m in matches[:10]:</a:t>
            </a:r>
          </a:p>
          <a:p>
            <a:pPr>
              <a:buFont typeface="Wingdings" panose="05000000000000000000" pitchFamily="2" charset="2"/>
              <a:buNone/>
            </a:pPr>
            <a:r>
              <a:rPr lang="en-US" altLang="en-US" dirty="0">
                <a:solidFill>
                  <a:schemeClr val="folHlink"/>
                </a:solidFill>
                <a:latin typeface="Lucida Console" panose="020B0609040504020204" pitchFamily="49" charset="0"/>
              </a:rPr>
              <a:t>    # draw the </a:t>
            </a:r>
            <a:r>
              <a:rPr lang="en-US" altLang="en-US" dirty="0" err="1">
                <a:solidFill>
                  <a:schemeClr val="folHlink"/>
                </a:solidFill>
                <a:latin typeface="Lucida Console" panose="020B0609040504020204" pitchFamily="49" charset="0"/>
              </a:rPr>
              <a:t>keypoints</a:t>
            </a: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color = tuple([</a:t>
            </a:r>
            <a:r>
              <a:rPr lang="en-US" altLang="en-US" dirty="0" err="1">
                <a:solidFill>
                  <a:schemeClr val="folHlink"/>
                </a:solidFill>
                <a:latin typeface="Lucida Console" panose="020B0609040504020204" pitchFamily="49" charset="0"/>
              </a:rPr>
              <a:t>np.random.randint</a:t>
            </a:r>
            <a:r>
              <a:rPr lang="en-US" altLang="en-US" dirty="0">
                <a:solidFill>
                  <a:schemeClr val="folHlink"/>
                </a:solidFill>
                <a:latin typeface="Lucida Console" panose="020B0609040504020204" pitchFamily="49" charset="0"/>
              </a:rPr>
              <a:t>(0, 255) for _ in range(3)])</a:t>
            </a:r>
          </a:p>
          <a:p>
            <a:pPr>
              <a:buFont typeface="Wingdings" panose="05000000000000000000" pitchFamily="2" charset="2"/>
              <a:buNone/>
            </a:pPr>
            <a:r>
              <a:rPr lang="en-US" altLang="en-US" dirty="0">
                <a:solidFill>
                  <a:schemeClr val="folHlink"/>
                </a:solidFill>
                <a:latin typeface="Lucida Console" panose="020B0609040504020204" pitchFamily="49" charset="0"/>
              </a:rPr>
              <a:t>    cv2.line(img3,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(kp1[</a:t>
            </a:r>
            <a:r>
              <a:rPr lang="en-US" altLang="en-US" dirty="0" err="1">
                <a:solidFill>
                  <a:schemeClr val="folHlink"/>
                </a:solidFill>
                <a:latin typeface="Lucida Console" panose="020B0609040504020204" pitchFamily="49" charset="0"/>
              </a:rPr>
              <a:t>m.queryIdx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[0]),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(kp1[</a:t>
            </a:r>
            <a:r>
              <a:rPr lang="en-US" altLang="en-US" dirty="0" err="1">
                <a:solidFill>
                  <a:schemeClr val="folHlink"/>
                </a:solidFill>
                <a:latin typeface="Lucida Console" panose="020B0609040504020204" pitchFamily="49" charset="0"/>
              </a:rPr>
              <a:t>m.queryIdx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[1])),</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(kp2[</a:t>
            </a:r>
            <a:r>
              <a:rPr lang="en-US" altLang="en-US" dirty="0" err="1">
                <a:solidFill>
                  <a:schemeClr val="folHlink"/>
                </a:solidFill>
                <a:latin typeface="Lucida Console" panose="020B0609040504020204" pitchFamily="49" charset="0"/>
              </a:rPr>
              <a:t>m.trainIdx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[0] + w1), </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int</a:t>
            </a:r>
            <a:r>
              <a:rPr lang="en-US" altLang="en-US" dirty="0">
                <a:solidFill>
                  <a:schemeClr val="folHlink"/>
                </a:solidFill>
                <a:latin typeface="Lucida Console" panose="020B0609040504020204" pitchFamily="49" charset="0"/>
              </a:rPr>
              <a:t>(kp2[</a:t>
            </a:r>
            <a:r>
              <a:rPr lang="en-US" altLang="en-US" dirty="0" err="1">
                <a:solidFill>
                  <a:schemeClr val="folHlink"/>
                </a:solidFill>
                <a:latin typeface="Lucida Console" panose="020B0609040504020204" pitchFamily="49" charset="0"/>
              </a:rPr>
              <a:t>m.trainIdx</a:t>
            </a:r>
            <a:r>
              <a:rPr lang="en-US" altLang="en-US" dirty="0">
                <a:solidFill>
                  <a:schemeClr val="folHlink"/>
                </a:solidFill>
                <a:latin typeface="Lucida Console" panose="020B0609040504020204" pitchFamily="49" charset="0"/>
              </a:rPr>
              <a:t>].</a:t>
            </a:r>
            <a:r>
              <a:rPr lang="en-US" altLang="en-US" dirty="0" err="1">
                <a:solidFill>
                  <a:schemeClr val="folHlink"/>
                </a:solidFill>
                <a:latin typeface="Lucida Console" panose="020B0609040504020204" pitchFamily="49" charset="0"/>
              </a:rPr>
              <a:t>pt</a:t>
            </a:r>
            <a:r>
              <a:rPr lang="en-US" altLang="en-US" dirty="0">
                <a:solidFill>
                  <a:schemeClr val="folHlink"/>
                </a:solidFill>
                <a:latin typeface="Lucida Console" panose="020B0609040504020204" pitchFamily="49" charset="0"/>
              </a:rPr>
              <a:t>[1])), color, 3)</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cv2.imwrite("result.jpg", img3)</a:t>
            </a:r>
          </a:p>
        </p:txBody>
      </p:sp>
    </p:spTree>
    <p:extLst>
      <p:ext uri="{BB962C8B-B14F-4D97-AF65-F5344CB8AC3E}">
        <p14:creationId xmlns:p14="http://schemas.microsoft.com/office/powerpoint/2010/main" val="2895800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63D367A-ABED-4819-883C-CEE76A0BBD1F}"/>
              </a:ext>
            </a:extLst>
          </p:cNvPr>
          <p:cNvPicPr>
            <a:picLocks noChangeAspect="1"/>
          </p:cNvPicPr>
          <p:nvPr/>
        </p:nvPicPr>
        <p:blipFill>
          <a:blip r:embed="rId3"/>
          <a:stretch>
            <a:fillRect/>
          </a:stretch>
        </p:blipFill>
        <p:spPr>
          <a:xfrm>
            <a:off x="6771730" y="2235201"/>
            <a:ext cx="4924980" cy="2364936"/>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587297C2-EE73-4C6C-B699-EE638AA4B099}"/>
              </a:ext>
            </a:extLst>
          </p:cNvPr>
          <p:cNvSpPr>
            <a:spLocks noGrp="1"/>
          </p:cNvSpPr>
          <p:nvPr>
            <p:ph type="title"/>
          </p:nvPr>
        </p:nvSpPr>
        <p:spPr/>
        <p:txBody>
          <a:bodyPr/>
          <a:lstStyle/>
          <a:p>
            <a:r>
              <a:rPr lang="en-US" dirty="0"/>
              <a:t>Feature Matching</a:t>
            </a:r>
          </a:p>
        </p:txBody>
      </p:sp>
      <p:sp>
        <p:nvSpPr>
          <p:cNvPr id="9" name="TextBox 8">
            <a:extLst>
              <a:ext uri="{FF2B5EF4-FFF2-40B4-BE49-F238E27FC236}">
                <a16:creationId xmlns:a16="http://schemas.microsoft.com/office/drawing/2014/main" id="{BCB3C79A-11C3-48F3-A4BE-458CB8387A62}"/>
              </a:ext>
            </a:extLst>
          </p:cNvPr>
          <p:cNvSpPr txBox="1"/>
          <p:nvPr/>
        </p:nvSpPr>
        <p:spPr>
          <a:xfrm>
            <a:off x="2539385" y="4863069"/>
            <a:ext cx="756605" cy="369332"/>
          </a:xfrm>
          <a:prstGeom prst="rect">
            <a:avLst/>
          </a:prstGeom>
          <a:noFill/>
        </p:spPr>
        <p:txBody>
          <a:bodyPr wrap="square" rtlCol="0">
            <a:spAutoFit/>
          </a:bodyPr>
          <a:lstStyle/>
          <a:p>
            <a:r>
              <a:rPr lang="en-US" dirty="0"/>
              <a:t>Input</a:t>
            </a:r>
          </a:p>
        </p:txBody>
      </p:sp>
      <p:sp>
        <p:nvSpPr>
          <p:cNvPr id="10" name="TextBox 9">
            <a:extLst>
              <a:ext uri="{FF2B5EF4-FFF2-40B4-BE49-F238E27FC236}">
                <a16:creationId xmlns:a16="http://schemas.microsoft.com/office/drawing/2014/main" id="{3B551F85-6C67-4630-A19E-346116A61E0D}"/>
              </a:ext>
            </a:extLst>
          </p:cNvPr>
          <p:cNvSpPr txBox="1"/>
          <p:nvPr/>
        </p:nvSpPr>
        <p:spPr>
          <a:xfrm>
            <a:off x="8749231" y="4863069"/>
            <a:ext cx="969977" cy="369332"/>
          </a:xfrm>
          <a:prstGeom prst="rect">
            <a:avLst/>
          </a:prstGeom>
          <a:noFill/>
        </p:spPr>
        <p:txBody>
          <a:bodyPr wrap="square" rtlCol="0">
            <a:spAutoFit/>
          </a:bodyPr>
          <a:lstStyle/>
          <a:p>
            <a:r>
              <a:rPr lang="en-US" dirty="0"/>
              <a:t>Output</a:t>
            </a:r>
          </a:p>
        </p:txBody>
      </p:sp>
      <p:sp>
        <p:nvSpPr>
          <p:cNvPr id="11" name="Arrow: Right 10">
            <a:extLst>
              <a:ext uri="{FF2B5EF4-FFF2-40B4-BE49-F238E27FC236}">
                <a16:creationId xmlns:a16="http://schemas.microsoft.com/office/drawing/2014/main" id="{34DFBF4A-D182-4F54-A9D2-C849334EDEB9}"/>
              </a:ext>
            </a:extLst>
          </p:cNvPr>
          <p:cNvSpPr/>
          <p:nvPr/>
        </p:nvSpPr>
        <p:spPr>
          <a:xfrm>
            <a:off x="5572094" y="3455583"/>
            <a:ext cx="1047812" cy="36786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7E409780-DBCE-4EB4-8DEA-35822A5E5FE5}"/>
              </a:ext>
            </a:extLst>
          </p:cNvPr>
          <p:cNvPicPr>
            <a:picLocks noGrp="1" noChangeAspect="1"/>
          </p:cNvPicPr>
          <p:nvPr>
            <p:ph idx="1"/>
          </p:nvPr>
        </p:nvPicPr>
        <p:blipFill>
          <a:blip r:embed="rId4"/>
          <a:stretch>
            <a:fillRect/>
          </a:stretch>
        </p:blipFill>
        <p:spPr>
          <a:xfrm>
            <a:off x="4081180" y="3326188"/>
            <a:ext cx="1326770" cy="114455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4769480D-8055-4CEA-B4EE-DAADBC111BE3}"/>
              </a:ext>
            </a:extLst>
          </p:cNvPr>
          <p:cNvPicPr>
            <a:picLocks noChangeAspect="1"/>
          </p:cNvPicPr>
          <p:nvPr/>
        </p:nvPicPr>
        <p:blipFill>
          <a:blip r:embed="rId5"/>
          <a:stretch>
            <a:fillRect/>
          </a:stretch>
        </p:blipFill>
        <p:spPr>
          <a:xfrm>
            <a:off x="546099" y="2235201"/>
            <a:ext cx="3547401" cy="23649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5848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AD54A-2E35-4514-8675-2F855667BA9A}"/>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E5B2A440-E44F-4A77-B9DA-9FBA05825CA6}"/>
              </a:ext>
            </a:extLst>
          </p:cNvPr>
          <p:cNvSpPr>
            <a:spLocks noGrp="1"/>
          </p:cNvSpPr>
          <p:nvPr>
            <p:ph idx="1"/>
          </p:nvPr>
        </p:nvSpPr>
        <p:spPr/>
        <p:txBody>
          <a:bodyPr>
            <a:normAutofit/>
          </a:bodyPr>
          <a:lstStyle/>
          <a:p>
            <a:r>
              <a:rPr lang="en-US" b="1" dirty="0" err="1"/>
              <a:t>Haar</a:t>
            </a:r>
            <a:r>
              <a:rPr lang="en-US" b="1" dirty="0"/>
              <a:t> feature-based cascade classifiers </a:t>
            </a:r>
            <a:r>
              <a:rPr lang="en-US" dirty="0"/>
              <a:t>is an effective object detection method</a:t>
            </a:r>
          </a:p>
          <a:p>
            <a:pPr lvl="1"/>
            <a:r>
              <a:rPr lang="en-US" dirty="0"/>
              <a:t>Group the features into different stages of classifiers and apply one-by-one</a:t>
            </a:r>
          </a:p>
          <a:p>
            <a:pPr lvl="1"/>
            <a:r>
              <a:rPr lang="en-US" dirty="0"/>
              <a:t>If a window fails the first stage, discard it. </a:t>
            </a:r>
          </a:p>
          <a:p>
            <a:pPr lvl="1"/>
            <a:r>
              <a:rPr lang="en-US" dirty="0"/>
              <a:t>If it passes, apply the second stage of features and continue the process</a:t>
            </a:r>
          </a:p>
          <a:p>
            <a:pPr lvl="1"/>
            <a:r>
              <a:rPr lang="en-US" dirty="0"/>
              <a:t>The window which passes all stages is a face region</a:t>
            </a:r>
          </a:p>
          <a:p>
            <a:endParaRPr lang="en-US" dirty="0"/>
          </a:p>
          <a:p>
            <a:r>
              <a:rPr lang="en-US" dirty="0"/>
              <a:t>OpenCV contains many pre-trained classifiers for face, eyes, smile etc. </a:t>
            </a:r>
          </a:p>
          <a:p>
            <a:r>
              <a:rPr lang="en-US" dirty="0"/>
              <a:t>Those XML files are stored in </a:t>
            </a:r>
            <a:r>
              <a:rPr lang="en-US" b="1" dirty="0" err="1"/>
              <a:t>opencv</a:t>
            </a:r>
            <a:r>
              <a:rPr lang="en-US" b="1" dirty="0"/>
              <a:t>/data/</a:t>
            </a:r>
            <a:r>
              <a:rPr lang="en-US" b="1" dirty="0" err="1"/>
              <a:t>haarcascades</a:t>
            </a:r>
            <a:r>
              <a:rPr lang="en-US" b="1" dirty="0"/>
              <a:t>/ </a:t>
            </a:r>
            <a:r>
              <a:rPr lang="en-US" dirty="0"/>
              <a:t>folder</a:t>
            </a:r>
          </a:p>
        </p:txBody>
      </p:sp>
    </p:spTree>
    <p:extLst>
      <p:ext uri="{BB962C8B-B14F-4D97-AF65-F5344CB8AC3E}">
        <p14:creationId xmlns:p14="http://schemas.microsoft.com/office/powerpoint/2010/main" val="1467218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p:txBody>
          <a:bodyPr/>
          <a:lstStyle/>
          <a:p>
            <a:r>
              <a:rPr lang="en-US" dirty="0"/>
              <a:t>Example</a:t>
            </a:r>
          </a:p>
          <a:p>
            <a:endParaRPr lang="en-US" dirty="0"/>
          </a:p>
        </p:txBody>
      </p:sp>
      <p:sp>
        <p:nvSpPr>
          <p:cNvPr id="4" name="TextBox 3">
            <a:extLst>
              <a:ext uri="{FF2B5EF4-FFF2-40B4-BE49-F238E27FC236}">
                <a16:creationId xmlns:a16="http://schemas.microsoft.com/office/drawing/2014/main" id="{C790E50D-79B3-4E11-BD04-BB92409216D5}"/>
              </a:ext>
            </a:extLst>
          </p:cNvPr>
          <p:cNvSpPr txBox="1"/>
          <p:nvPr/>
        </p:nvSpPr>
        <p:spPr>
          <a:xfrm>
            <a:off x="838200" y="2483644"/>
            <a:ext cx="10807700" cy="3970318"/>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import cv2</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load the face detector</a:t>
            </a:r>
          </a:p>
          <a:p>
            <a:pPr>
              <a:buFont typeface="Wingdings" panose="05000000000000000000" pitchFamily="2" charset="2"/>
              <a:buNone/>
            </a:pPr>
            <a:r>
              <a:rPr lang="en-US" altLang="en-US" dirty="0" err="1">
                <a:solidFill>
                  <a:schemeClr val="folHlink"/>
                </a:solidFill>
                <a:latin typeface="Lucida Console" panose="020B0609040504020204" pitchFamily="49" charset="0"/>
              </a:rPr>
              <a:t>faceCascade</a:t>
            </a:r>
            <a:r>
              <a:rPr lang="en-US" altLang="en-US" dirty="0">
                <a:solidFill>
                  <a:schemeClr val="folHlink"/>
                </a:solidFill>
                <a:latin typeface="Lucida Console" panose="020B0609040504020204" pitchFamily="49" charset="0"/>
              </a:rPr>
              <a:t> = cv2.CascadeClassifier(cv2.data.haarcascades </a:t>
            </a:r>
          </a:p>
          <a:p>
            <a:pPr>
              <a:buFont typeface="Wingdings" panose="05000000000000000000" pitchFamily="2" charset="2"/>
              <a:buNone/>
            </a:pPr>
            <a:r>
              <a:rPr lang="en-US" altLang="en-US" dirty="0">
                <a:solidFill>
                  <a:schemeClr val="folHlink"/>
                </a:solidFill>
                <a:latin typeface="Lucida Console" panose="020B0609040504020204" pitchFamily="49" charset="0"/>
              </a:rPr>
              <a:t>                                    + "haarcascade_frontalface_default.xml")</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use camera</a:t>
            </a:r>
          </a:p>
          <a:p>
            <a:pPr>
              <a:buFont typeface="Wingdings" panose="05000000000000000000" pitchFamily="2" charset="2"/>
              <a:buNone/>
            </a:pP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video_capture</a:t>
            </a:r>
            <a:r>
              <a:rPr lang="en-US" altLang="en-US" dirty="0">
                <a:solidFill>
                  <a:schemeClr val="folHlink"/>
                </a:solidFill>
                <a:latin typeface="Lucida Console" panose="020B0609040504020204" pitchFamily="49" charset="0"/>
              </a:rPr>
              <a:t> = cv2.VideoCapture(0)</a:t>
            </a:r>
          </a:p>
          <a:p>
            <a:pPr>
              <a:buFont typeface="Wingdings" panose="05000000000000000000" pitchFamily="2" charset="2"/>
              <a:buNone/>
            </a:pPr>
            <a:r>
              <a:rPr lang="en-US" altLang="en-US" dirty="0">
                <a:solidFill>
                  <a:schemeClr val="folHlink"/>
                </a:solidFill>
                <a:latin typeface="Lucida Console" panose="020B0609040504020204" pitchFamily="49" charset="0"/>
              </a:rPr>
              <a:t># use input video</a:t>
            </a:r>
          </a:p>
          <a:p>
            <a:pPr>
              <a:buFont typeface="Wingdings" panose="05000000000000000000" pitchFamily="2" charset="2"/>
              <a:buNone/>
            </a:pPr>
            <a:r>
              <a:rPr lang="en-US" altLang="en-US" dirty="0" err="1">
                <a:solidFill>
                  <a:schemeClr val="folHlink"/>
                </a:solidFill>
                <a:latin typeface="Lucida Console" panose="020B0609040504020204" pitchFamily="49" charset="0"/>
              </a:rPr>
              <a:t>video_capture</a:t>
            </a:r>
            <a:r>
              <a:rPr lang="en-US" altLang="en-US" dirty="0">
                <a:solidFill>
                  <a:schemeClr val="folHlink"/>
                </a:solidFill>
                <a:latin typeface="Lucida Console" panose="020B0609040504020204" pitchFamily="49" charset="0"/>
              </a:rPr>
              <a:t> = cv2.VideoCapture('input.mp4’)</a:t>
            </a:r>
          </a:p>
          <a:p>
            <a:pPr>
              <a:buFont typeface="Wingdings" panose="05000000000000000000" pitchFamily="2" charset="2"/>
              <a:buNone/>
            </a:pPr>
            <a:endParaRPr lang="en-US" altLang="en-US" dirty="0">
              <a:solidFill>
                <a:schemeClr val="folHlink"/>
              </a:solidFill>
              <a:latin typeface="Lucida Console" panose="020B0609040504020204" pitchFamily="49" charset="0"/>
            </a:endParaRPr>
          </a:p>
          <a:p>
            <a:pPr>
              <a:buFont typeface="Wingdings" panose="05000000000000000000" pitchFamily="2" charset="2"/>
              <a:buNone/>
            </a:pPr>
            <a:r>
              <a:rPr lang="en-US" altLang="en-US" dirty="0">
                <a:solidFill>
                  <a:schemeClr val="folHlink"/>
                </a:solidFill>
                <a:latin typeface="Lucida Console" panose="020B0609040504020204" pitchFamily="49" charset="0"/>
              </a:rPr>
              <a:t># Define the codec and output video</a:t>
            </a:r>
          </a:p>
          <a:p>
            <a:pPr>
              <a:buFont typeface="Wingdings" panose="05000000000000000000" pitchFamily="2" charset="2"/>
              <a:buNone/>
            </a:pPr>
            <a:r>
              <a:rPr lang="en-US" altLang="en-US" dirty="0" err="1">
                <a:solidFill>
                  <a:schemeClr val="folHlink"/>
                </a:solidFill>
                <a:latin typeface="Lucida Console" panose="020B0609040504020204" pitchFamily="49" charset="0"/>
              </a:rPr>
              <a:t>fourcc</a:t>
            </a:r>
            <a:r>
              <a:rPr lang="en-US" altLang="en-US" dirty="0">
                <a:solidFill>
                  <a:schemeClr val="folHlink"/>
                </a:solidFill>
                <a:latin typeface="Lucida Console" panose="020B0609040504020204" pitchFamily="49" charset="0"/>
              </a:rPr>
              <a:t> = cv2.VideoWriter_fourcc(*'XVID')</a:t>
            </a:r>
          </a:p>
          <a:p>
            <a:pPr>
              <a:buFont typeface="Wingdings" panose="05000000000000000000" pitchFamily="2" charset="2"/>
              <a:buNone/>
            </a:pPr>
            <a:r>
              <a:rPr lang="en-US" altLang="en-US" dirty="0">
                <a:solidFill>
                  <a:schemeClr val="folHlink"/>
                </a:solidFill>
                <a:latin typeface="Lucida Console" panose="020B0609040504020204" pitchFamily="49" charset="0"/>
              </a:rPr>
              <a:t>out = cv2.VideoWriter('output.mp4',fourcc, 20.0, (160,112))</a:t>
            </a:r>
          </a:p>
        </p:txBody>
      </p:sp>
    </p:spTree>
    <p:extLst>
      <p:ext uri="{BB962C8B-B14F-4D97-AF65-F5344CB8AC3E}">
        <p14:creationId xmlns:p14="http://schemas.microsoft.com/office/powerpoint/2010/main" val="3028308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p:txBody>
          <a:bodyPr/>
          <a:lstStyle/>
          <a:p>
            <a:endParaRPr lang="en-US"/>
          </a:p>
        </p:txBody>
      </p:sp>
      <p:sp>
        <p:nvSpPr>
          <p:cNvPr id="4" name="TextBox 3">
            <a:extLst>
              <a:ext uri="{FF2B5EF4-FFF2-40B4-BE49-F238E27FC236}">
                <a16:creationId xmlns:a16="http://schemas.microsoft.com/office/drawing/2014/main" id="{C790E50D-79B3-4E11-BD04-BB92409216D5}"/>
              </a:ext>
            </a:extLst>
          </p:cNvPr>
          <p:cNvSpPr txBox="1"/>
          <p:nvPr/>
        </p:nvSpPr>
        <p:spPr>
          <a:xfrm>
            <a:off x="838200" y="1825625"/>
            <a:ext cx="9435353" cy="4247317"/>
          </a:xfrm>
          <a:prstGeom prst="rect">
            <a:avLst/>
          </a:prstGeom>
          <a:solidFill>
            <a:schemeClr val="bg2"/>
          </a:solidFill>
        </p:spPr>
        <p:txBody>
          <a:bodyPr wrap="square" rtlCol="0">
            <a:spAutoFit/>
          </a:bodyPr>
          <a:lstStyle/>
          <a:p>
            <a:pPr>
              <a:buFont typeface="Wingdings" panose="05000000000000000000" pitchFamily="2" charset="2"/>
              <a:buNone/>
            </a:pPr>
            <a:r>
              <a:rPr lang="en-US" altLang="en-US" dirty="0">
                <a:solidFill>
                  <a:schemeClr val="folHlink"/>
                </a:solidFill>
                <a:latin typeface="Lucida Console" panose="020B0609040504020204" pitchFamily="49" charset="0"/>
              </a:rPr>
              <a:t>while True:</a:t>
            </a:r>
          </a:p>
          <a:p>
            <a:pPr>
              <a:buFont typeface="Wingdings" panose="05000000000000000000" pitchFamily="2" charset="2"/>
              <a:buNone/>
            </a:pPr>
            <a:r>
              <a:rPr lang="en-US" altLang="en-US" dirty="0">
                <a:solidFill>
                  <a:schemeClr val="folHlink"/>
                </a:solidFill>
                <a:latin typeface="Lucida Console" panose="020B0609040504020204" pitchFamily="49" charset="0"/>
              </a:rPr>
              <a:t>    # Capture frame-by-frame</a:t>
            </a:r>
          </a:p>
          <a:p>
            <a:pPr>
              <a:buFont typeface="Wingdings" panose="05000000000000000000" pitchFamily="2" charset="2"/>
              <a:buNone/>
            </a:pPr>
            <a:r>
              <a:rPr lang="en-US" altLang="en-US" dirty="0">
                <a:solidFill>
                  <a:schemeClr val="folHlink"/>
                </a:solidFill>
                <a:latin typeface="Lucida Console" panose="020B0609040504020204" pitchFamily="49" charset="0"/>
              </a:rPr>
              <a:t>    ret, frame = video_capture.read()</a:t>
            </a:r>
          </a:p>
          <a:p>
            <a:r>
              <a:rPr lang="en-US" altLang="en-US" dirty="0">
                <a:solidFill>
                  <a:schemeClr val="folHlink"/>
                </a:solidFill>
                <a:latin typeface="Lucida Console" panose="020B0609040504020204" pitchFamily="49" charset="0"/>
              </a:rPr>
              <a:t>    if frame is None:</a:t>
            </a:r>
          </a:p>
          <a:p>
            <a:r>
              <a:rPr lang="en-US" altLang="en-US" dirty="0">
                <a:solidFill>
                  <a:schemeClr val="folHlink"/>
                </a:solidFill>
                <a:latin typeface="Lucida Console" panose="020B0609040504020204" pitchFamily="49" charset="0"/>
              </a:rPr>
              <a:t>        break</a:t>
            </a:r>
          </a:p>
          <a:p>
            <a:pPr>
              <a:buFont typeface="Wingdings" panose="05000000000000000000" pitchFamily="2" charset="2"/>
              <a:buNone/>
            </a:pPr>
            <a:r>
              <a:rPr lang="en-US" altLang="en-US" dirty="0">
                <a:solidFill>
                  <a:schemeClr val="folHlink"/>
                </a:solidFill>
                <a:latin typeface="Lucida Console" panose="020B0609040504020204" pitchFamily="49" charset="0"/>
              </a:rPr>
              <a:t>    gray = cv2.cvtColor(frame, cv2.COLOR_BGR2GRAY)</a:t>
            </a:r>
          </a:p>
          <a:p>
            <a:pPr>
              <a:buFont typeface="Wingdings" panose="05000000000000000000" pitchFamily="2" charset="2"/>
              <a:buNone/>
            </a:pPr>
            <a:r>
              <a:rPr lang="en-US" altLang="en-US" dirty="0">
                <a:solidFill>
                  <a:schemeClr val="folHlink"/>
                </a:solidFill>
                <a:latin typeface="Lucida Console" panose="020B0609040504020204" pitchFamily="49" charset="0"/>
              </a:rPr>
              <a:t>    faces = </a:t>
            </a:r>
            <a:r>
              <a:rPr lang="en-US" altLang="en-US" dirty="0" err="1">
                <a:solidFill>
                  <a:schemeClr val="folHlink"/>
                </a:solidFill>
                <a:latin typeface="Lucida Console" panose="020B0609040504020204" pitchFamily="49" charset="0"/>
              </a:rPr>
              <a:t>faceCascade.detectMultiScale</a:t>
            </a:r>
            <a:r>
              <a:rPr lang="en-US" altLang="en-US" dirty="0">
                <a:solidFill>
                  <a:schemeClr val="folHlink"/>
                </a:solidFill>
                <a:latin typeface="Lucida Console" panose="020B0609040504020204" pitchFamily="49" charset="0"/>
              </a:rPr>
              <a:t>(gray, 1.3, 5)</a:t>
            </a:r>
          </a:p>
          <a:p>
            <a:pPr>
              <a:buFont typeface="Wingdings" panose="05000000000000000000" pitchFamily="2" charset="2"/>
              <a:buNone/>
            </a:pPr>
            <a:r>
              <a:rPr lang="en-US" altLang="en-US" dirty="0">
                <a:solidFill>
                  <a:schemeClr val="folHlink"/>
                </a:solidFill>
                <a:latin typeface="Lucida Console" panose="020B0609040504020204" pitchFamily="49" charset="0"/>
              </a:rPr>
              <a:t>    # Draw a rectangle around the faces</a:t>
            </a:r>
          </a:p>
          <a:p>
            <a:pPr>
              <a:buFont typeface="Wingdings" panose="05000000000000000000" pitchFamily="2" charset="2"/>
              <a:buNone/>
            </a:pPr>
            <a:r>
              <a:rPr lang="en-US" altLang="en-US" dirty="0">
                <a:solidFill>
                  <a:schemeClr val="folHlink"/>
                </a:solidFill>
                <a:latin typeface="Lucida Console" panose="020B0609040504020204" pitchFamily="49" charset="0"/>
              </a:rPr>
              <a:t>    for (x, y, w, h) in faces:</a:t>
            </a:r>
          </a:p>
          <a:p>
            <a:pPr>
              <a:buFont typeface="Wingdings" panose="05000000000000000000" pitchFamily="2" charset="2"/>
              <a:buNone/>
            </a:pPr>
            <a:r>
              <a:rPr lang="en-US" altLang="en-US" dirty="0">
                <a:solidFill>
                  <a:schemeClr val="folHlink"/>
                </a:solidFill>
                <a:latin typeface="Lucida Console" panose="020B0609040504020204" pitchFamily="49" charset="0"/>
              </a:rPr>
              <a:t>        cv2.rectangle(frame, (x, y), (</a:t>
            </a:r>
            <a:r>
              <a:rPr lang="en-US" altLang="en-US" dirty="0" err="1">
                <a:solidFill>
                  <a:schemeClr val="folHlink"/>
                </a:solidFill>
                <a:latin typeface="Lucida Console" panose="020B0609040504020204" pitchFamily="49" charset="0"/>
              </a:rPr>
              <a:t>x+w</a:t>
            </a:r>
            <a:r>
              <a:rPr lang="en-US" altLang="en-US" dirty="0">
                <a:solidFill>
                  <a:schemeClr val="folHlink"/>
                </a:solidFill>
                <a:latin typeface="Lucida Console" panose="020B0609040504020204" pitchFamily="49" charset="0"/>
              </a:rPr>
              <a:t>, </a:t>
            </a:r>
            <a:r>
              <a:rPr lang="en-US" altLang="en-US" dirty="0" err="1">
                <a:solidFill>
                  <a:schemeClr val="folHlink"/>
                </a:solidFill>
                <a:latin typeface="Lucida Console" panose="020B0609040504020204" pitchFamily="49" charset="0"/>
              </a:rPr>
              <a:t>y+h</a:t>
            </a:r>
            <a:r>
              <a:rPr lang="en-US" altLang="en-US" dirty="0">
                <a:solidFill>
                  <a:schemeClr val="folHlink"/>
                </a:solidFill>
                <a:latin typeface="Lucida Console" panose="020B0609040504020204" pitchFamily="49" charset="0"/>
              </a:rPr>
              <a:t>), (0, 255, 0), 2)</a:t>
            </a:r>
          </a:p>
          <a:p>
            <a:pPr>
              <a:buFont typeface="Wingdings" panose="05000000000000000000" pitchFamily="2" charset="2"/>
              <a:buNone/>
            </a:pPr>
            <a:r>
              <a:rPr lang="en-US" altLang="en-US" dirty="0">
                <a:solidFill>
                  <a:schemeClr val="folHlink"/>
                </a:solidFill>
                <a:latin typeface="Lucida Console" panose="020B0609040504020204" pitchFamily="49" charset="0"/>
              </a:rPr>
              <a:t>    # write frame to video</a:t>
            </a:r>
          </a:p>
          <a:p>
            <a:r>
              <a:rPr lang="en-US" altLang="en-US" dirty="0">
                <a:solidFill>
                  <a:schemeClr val="folHlink"/>
                </a:solidFill>
                <a:latin typeface="Lucida Console" panose="020B0609040504020204" pitchFamily="49" charset="0"/>
              </a:rPr>
              <a:t>    out.write(frame)</a:t>
            </a:r>
          </a:p>
          <a:p>
            <a:pPr>
              <a:buFont typeface="Wingdings" panose="05000000000000000000" pitchFamily="2" charset="2"/>
              <a:buNone/>
            </a:pPr>
            <a:r>
              <a:rPr lang="en-US" altLang="en-US" dirty="0">
                <a:solidFill>
                  <a:schemeClr val="folHlink"/>
                </a:solidFill>
                <a:latin typeface="Lucida Console" panose="020B0609040504020204" pitchFamily="49" charset="0"/>
              </a:rPr>
              <a:t># When everything is done, release the capture</a:t>
            </a:r>
          </a:p>
          <a:p>
            <a:pPr>
              <a:buFont typeface="Wingdings" panose="05000000000000000000" pitchFamily="2" charset="2"/>
              <a:buNone/>
            </a:pPr>
            <a:r>
              <a:rPr lang="en-US" altLang="en-US" dirty="0" err="1">
                <a:solidFill>
                  <a:schemeClr val="folHlink"/>
                </a:solidFill>
                <a:latin typeface="Lucida Console" panose="020B0609040504020204" pitchFamily="49" charset="0"/>
              </a:rPr>
              <a:t>video_capture.release</a:t>
            </a:r>
            <a:r>
              <a:rPr lang="en-US" altLang="en-US" dirty="0">
                <a:solidFill>
                  <a:schemeClr val="folHlink"/>
                </a:solidFill>
                <a:latin typeface="Lucida Console" panose="020B0609040504020204" pitchFamily="49" charset="0"/>
              </a:rPr>
              <a:t>()</a:t>
            </a:r>
          </a:p>
          <a:p>
            <a:pPr>
              <a:buFont typeface="Wingdings" panose="05000000000000000000" pitchFamily="2" charset="2"/>
              <a:buNone/>
            </a:pPr>
            <a:r>
              <a:rPr lang="en-US" altLang="en-US" dirty="0" err="1">
                <a:solidFill>
                  <a:schemeClr val="folHlink"/>
                </a:solidFill>
                <a:latin typeface="Lucida Console" panose="020B0609040504020204" pitchFamily="49" charset="0"/>
              </a:rPr>
              <a:t>out.release</a:t>
            </a:r>
            <a:r>
              <a:rPr lang="en-US" altLang="en-US" dirty="0">
                <a:solidFill>
                  <a:schemeClr val="folHlink"/>
                </a:solidFill>
                <a:latin typeface="Lucida Console" panose="020B0609040504020204" pitchFamily="49" charset="0"/>
              </a:rPr>
              <a:t>()</a:t>
            </a:r>
          </a:p>
        </p:txBody>
      </p:sp>
    </p:spTree>
    <p:extLst>
      <p:ext uri="{BB962C8B-B14F-4D97-AF65-F5344CB8AC3E}">
        <p14:creationId xmlns:p14="http://schemas.microsoft.com/office/powerpoint/2010/main" val="159040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E34FF-806F-4A3D-A827-5E3546F65109}"/>
              </a:ext>
            </a:extLst>
          </p:cNvPr>
          <p:cNvSpPr>
            <a:spLocks noGrp="1"/>
          </p:cNvSpPr>
          <p:nvPr>
            <p:ph type="title"/>
          </p:nvPr>
        </p:nvSpPr>
        <p:spPr/>
        <p:txBody>
          <a:bodyPr/>
          <a:lstStyle/>
          <a:p>
            <a:r>
              <a:rPr lang="en-US" dirty="0"/>
              <a:t>Face Tracking</a:t>
            </a:r>
          </a:p>
        </p:txBody>
      </p:sp>
      <p:sp>
        <p:nvSpPr>
          <p:cNvPr id="3" name="Content Placeholder 2">
            <a:extLst>
              <a:ext uri="{FF2B5EF4-FFF2-40B4-BE49-F238E27FC236}">
                <a16:creationId xmlns:a16="http://schemas.microsoft.com/office/drawing/2014/main" id="{3E576CC9-B0D4-4CF0-917C-B2CCDD07DF27}"/>
              </a:ext>
            </a:extLst>
          </p:cNvPr>
          <p:cNvSpPr>
            <a:spLocks noGrp="1"/>
          </p:cNvSpPr>
          <p:nvPr>
            <p:ph idx="1"/>
          </p:nvPr>
        </p:nvSpPr>
        <p:spPr>
          <a:xfrm>
            <a:off x="838200" y="1841684"/>
            <a:ext cx="10515600" cy="4351338"/>
          </a:xfrm>
        </p:spPr>
        <p:txBody>
          <a:bodyPr/>
          <a:lstStyle/>
          <a:p>
            <a:r>
              <a:rPr lang="en-US" dirty="0"/>
              <a:t>Result</a:t>
            </a:r>
          </a:p>
        </p:txBody>
      </p:sp>
      <p:pic>
        <p:nvPicPr>
          <p:cNvPr id="4" name="00-1">
            <a:hlinkClick r:id="" action="ppaction://media"/>
            <a:extLst>
              <a:ext uri="{FF2B5EF4-FFF2-40B4-BE49-F238E27FC236}">
                <a16:creationId xmlns:a16="http://schemas.microsoft.com/office/drawing/2014/main" id="{8A427DFE-9D1D-4B90-9327-FF74A79B3801}"/>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210235" y="2499030"/>
            <a:ext cx="3550023" cy="2662517"/>
          </a:xfrm>
          <a:prstGeom prst="rect">
            <a:avLst/>
          </a:prstGeom>
          <a:ln>
            <a:noFill/>
          </a:ln>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9389E88E-416D-4055-B2E9-A311FDCD15AD}"/>
              </a:ext>
            </a:extLst>
          </p:cNvPr>
          <p:cNvSpPr txBox="1"/>
          <p:nvPr/>
        </p:nvSpPr>
        <p:spPr>
          <a:xfrm>
            <a:off x="2606943" y="5823690"/>
            <a:ext cx="756605" cy="369332"/>
          </a:xfrm>
          <a:prstGeom prst="rect">
            <a:avLst/>
          </a:prstGeom>
          <a:noFill/>
        </p:spPr>
        <p:txBody>
          <a:bodyPr wrap="square" rtlCol="0">
            <a:spAutoFit/>
          </a:bodyPr>
          <a:lstStyle/>
          <a:p>
            <a:r>
              <a:rPr lang="en-US" dirty="0"/>
              <a:t>Input</a:t>
            </a:r>
          </a:p>
        </p:txBody>
      </p:sp>
      <p:sp>
        <p:nvSpPr>
          <p:cNvPr id="7" name="TextBox 6">
            <a:extLst>
              <a:ext uri="{FF2B5EF4-FFF2-40B4-BE49-F238E27FC236}">
                <a16:creationId xmlns:a16="http://schemas.microsoft.com/office/drawing/2014/main" id="{F3422E55-B1C5-4486-BBB8-022EB7F09D33}"/>
              </a:ext>
            </a:extLst>
          </p:cNvPr>
          <p:cNvSpPr txBox="1"/>
          <p:nvPr/>
        </p:nvSpPr>
        <p:spPr>
          <a:xfrm>
            <a:off x="8430408" y="5823690"/>
            <a:ext cx="969977" cy="369332"/>
          </a:xfrm>
          <a:prstGeom prst="rect">
            <a:avLst/>
          </a:prstGeom>
          <a:noFill/>
        </p:spPr>
        <p:txBody>
          <a:bodyPr wrap="square" rtlCol="0">
            <a:spAutoFit/>
          </a:bodyPr>
          <a:lstStyle/>
          <a:p>
            <a:r>
              <a:rPr lang="en-US" dirty="0"/>
              <a:t>Output</a:t>
            </a:r>
          </a:p>
        </p:txBody>
      </p:sp>
      <p:sp>
        <p:nvSpPr>
          <p:cNvPr id="8" name="Arrow: Right 7">
            <a:extLst>
              <a:ext uri="{FF2B5EF4-FFF2-40B4-BE49-F238E27FC236}">
                <a16:creationId xmlns:a16="http://schemas.microsoft.com/office/drawing/2014/main" id="{5060D608-F589-4893-838E-13882A54609F}"/>
              </a:ext>
            </a:extLst>
          </p:cNvPr>
          <p:cNvSpPr/>
          <p:nvPr/>
        </p:nvSpPr>
        <p:spPr>
          <a:xfrm>
            <a:off x="4999135" y="3737318"/>
            <a:ext cx="1902373" cy="367862"/>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Untitled">
            <a:hlinkClick r:id="" action="ppaction://media"/>
            <a:extLst>
              <a:ext uri="{FF2B5EF4-FFF2-40B4-BE49-F238E27FC236}">
                <a16:creationId xmlns:a16="http://schemas.microsoft.com/office/drawing/2014/main" id="{3DD414DC-8160-9359-E91D-19266EB18456}"/>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7138756" y="2487769"/>
            <a:ext cx="3553280" cy="2654487"/>
          </a:xfrm>
          <a:prstGeom prst="rect">
            <a:avLst/>
          </a:prstGeom>
          <a:effectLst>
            <a:outerShdw blurRad="50800" dist="38100" dir="2700000" algn="tl" rotWithShape="0">
              <a:prstClr val="black">
                <a:alpha val="40000"/>
              </a:prstClr>
            </a:outerShdw>
          </a:effectLst>
        </p:spPr>
      </p:pic>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7456EA56-3E6A-E98D-68AD-02F881F6D310}"/>
                  </a:ext>
                </a:extLst>
              </p14:cNvPr>
              <p14:cNvContentPartPr/>
              <p14:nvPr/>
            </p14:nvContentPartPr>
            <p14:xfrm>
              <a:off x="2656440" y="4147560"/>
              <a:ext cx="5830560" cy="579240"/>
            </p14:xfrm>
          </p:contentPart>
        </mc:Choice>
        <mc:Fallback xmlns="">
          <p:pic>
            <p:nvPicPr>
              <p:cNvPr id="5" name="墨迹 4">
                <a:extLst>
                  <a:ext uri="{FF2B5EF4-FFF2-40B4-BE49-F238E27FC236}">
                    <a16:creationId xmlns:a16="http://schemas.microsoft.com/office/drawing/2014/main" id="{7456EA56-3E6A-E98D-68AD-02F881F6D310}"/>
                  </a:ext>
                </a:extLst>
              </p:cNvPr>
              <p:cNvPicPr/>
              <p:nvPr/>
            </p:nvPicPr>
            <p:blipFill>
              <a:blip r:embed="rId10"/>
              <a:stretch>
                <a:fillRect/>
              </a:stretch>
            </p:blipFill>
            <p:spPr>
              <a:xfrm>
                <a:off x="2647080" y="4138200"/>
                <a:ext cx="5849280" cy="597960"/>
              </a:xfrm>
              <a:prstGeom prst="rect">
                <a:avLst/>
              </a:prstGeom>
            </p:spPr>
          </p:pic>
        </mc:Fallback>
      </mc:AlternateContent>
    </p:spTree>
    <p:extLst>
      <p:ext uri="{BB962C8B-B14F-4D97-AF65-F5344CB8AC3E}">
        <p14:creationId xmlns:p14="http://schemas.microsoft.com/office/powerpoint/2010/main" val="222456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14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video>
              <p:cMediaNode vol="80000" mute="1">
                <p:cTn id="8" fill="hold" display="0">
                  <p:stCondLst>
                    <p:cond delay="indefinite"/>
                  </p:stCondLst>
                </p:cTn>
                <p:tgtEl>
                  <p:spTgt spid="10"/>
                </p:tgtEl>
              </p:cMediaNode>
            </p:video>
            <p:seq concurrent="1" nextAc="seek">
              <p:cTn id="9" restart="whenNotActive" fill="hold" evtFilter="cancelBubble" nodeType="interactiveSeq">
                <p:stCondLst>
                  <p:cond evt="onClick" delay="0">
                    <p:tgtEl>
                      <p:spTgt spid="10"/>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p:cTn id="13"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3447</TotalTime>
  <Words>2927</Words>
  <Application>Microsoft Macintosh PowerPoint</Application>
  <PresentationFormat>宽屏</PresentationFormat>
  <Paragraphs>306</Paragraphs>
  <Slides>17</Slides>
  <Notes>17</Notes>
  <HiddenSlides>0</HiddenSlides>
  <MMClips>2</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Google Sans</vt:lpstr>
      <vt:lpstr>Arial</vt:lpstr>
      <vt:lpstr>Arial</vt:lpstr>
      <vt:lpstr>Calibri</vt:lpstr>
      <vt:lpstr>Calibri Light</vt:lpstr>
      <vt:lpstr>Lucida Console</vt:lpstr>
      <vt:lpstr>Menlo</vt:lpstr>
      <vt:lpstr>Times New Roman</vt:lpstr>
      <vt:lpstr>Wingdings</vt:lpstr>
      <vt:lpstr>Office Theme</vt:lpstr>
      <vt:lpstr>Introduction to OpenCV</vt:lpstr>
      <vt:lpstr>OpenCV</vt:lpstr>
      <vt:lpstr>Installation</vt:lpstr>
      <vt:lpstr>PowerPoint 演示文稿</vt:lpstr>
      <vt:lpstr>PowerPoint 演示文稿</vt:lpstr>
      <vt:lpstr>Image Segmentation</vt:lpstr>
      <vt:lpstr>Image Segmentation</vt:lpstr>
      <vt:lpstr>Image Segmentation</vt:lpstr>
      <vt:lpstr>Feature Matching</vt:lpstr>
      <vt:lpstr>Feature Matching</vt:lpstr>
      <vt:lpstr>Feature Matching</vt:lpstr>
      <vt:lpstr>Feature Matching</vt:lpstr>
      <vt:lpstr>Feature Matching</vt:lpstr>
      <vt:lpstr>Face Tracking</vt:lpstr>
      <vt:lpstr>Face Tracking</vt:lpstr>
      <vt:lpstr>Face Tracking</vt:lpstr>
      <vt:lpstr>Face Tracking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OpenCV</dc:title>
  <dc:creator>QIAO Xiaotian</dc:creator>
  <cp:lastModifiedBy>SHI Tianli</cp:lastModifiedBy>
  <cp:revision>228</cp:revision>
  <dcterms:created xsi:type="dcterms:W3CDTF">2018-01-24T04:02:56Z</dcterms:created>
  <dcterms:modified xsi:type="dcterms:W3CDTF">2024-09-26T13:49:34Z</dcterms:modified>
</cp:coreProperties>
</file>